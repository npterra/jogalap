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8" r:id="rId3"/>
    <p:sldId id="299" r:id="rId4"/>
    <p:sldId id="257" r:id="rId5"/>
    <p:sldId id="258" r:id="rId6"/>
    <p:sldId id="259" r:id="rId7"/>
    <p:sldId id="264" r:id="rId8"/>
    <p:sldId id="265" r:id="rId9"/>
    <p:sldId id="267" r:id="rId10"/>
    <p:sldId id="268" r:id="rId11"/>
    <p:sldId id="269" r:id="rId12"/>
    <p:sldId id="300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301" r:id="rId39"/>
    <p:sldId id="295" r:id="rId40"/>
    <p:sldId id="296" r:id="rId41"/>
    <p:sldId id="297" r:id="rId42"/>
  </p:sldIdLst>
  <p:sldSz cx="9144000" cy="6858000" type="screen4x3"/>
  <p:notesSz cx="9144000" cy="6858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60D35A-89D8-4DD1-A9FC-67E0994547E7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7A841EE1-5A2D-490E-BFF9-6BFD3D80FABD}">
      <dgm:prSet phldrT="[Szöveg]"/>
      <dgm:spPr/>
      <dgm:t>
        <a:bodyPr/>
        <a:lstStyle/>
        <a:p>
          <a:r>
            <a:rPr lang="hu-HU" cap="all" baseline="0" dirty="0"/>
            <a:t>Szerzői jog</a:t>
          </a:r>
        </a:p>
      </dgm:t>
    </dgm:pt>
    <dgm:pt modelId="{C12B69F7-056A-4B3E-A3A4-74C0C113EAC8}" type="parTrans" cxnId="{CBBE4F25-25A8-42EA-9C1A-B6544D78E38B}">
      <dgm:prSet/>
      <dgm:spPr/>
      <dgm:t>
        <a:bodyPr/>
        <a:lstStyle/>
        <a:p>
          <a:endParaRPr lang="hu-HU"/>
        </a:p>
      </dgm:t>
    </dgm:pt>
    <dgm:pt modelId="{84A03CF3-831E-4CA9-BE6D-87F81B4B24E4}" type="sibTrans" cxnId="{CBBE4F25-25A8-42EA-9C1A-B6544D78E38B}">
      <dgm:prSet/>
      <dgm:spPr/>
      <dgm:t>
        <a:bodyPr/>
        <a:lstStyle/>
        <a:p>
          <a:endParaRPr lang="hu-HU"/>
        </a:p>
      </dgm:t>
    </dgm:pt>
    <dgm:pt modelId="{9AD0A7BA-4CD6-42F2-9818-CA18E62AE613}">
      <dgm:prSet phldrT="[Szöveg]"/>
      <dgm:spPr/>
      <dgm:t>
        <a:bodyPr/>
        <a:lstStyle/>
        <a:p>
          <a:r>
            <a:rPr lang="hu-HU" dirty="0"/>
            <a:t>Műszaki alkotások joga</a:t>
          </a:r>
        </a:p>
      </dgm:t>
    </dgm:pt>
    <dgm:pt modelId="{469C3295-073F-46E7-A212-0DD3719BF45C}" type="parTrans" cxnId="{8712EC78-702E-436E-ADF8-9C89583B6111}">
      <dgm:prSet/>
      <dgm:spPr/>
      <dgm:t>
        <a:bodyPr/>
        <a:lstStyle/>
        <a:p>
          <a:endParaRPr lang="hu-HU"/>
        </a:p>
      </dgm:t>
    </dgm:pt>
    <dgm:pt modelId="{AD3B0513-5255-492E-86F9-44DC67D44DA6}" type="sibTrans" cxnId="{8712EC78-702E-436E-ADF8-9C89583B6111}">
      <dgm:prSet/>
      <dgm:spPr/>
      <dgm:t>
        <a:bodyPr/>
        <a:lstStyle/>
        <a:p>
          <a:endParaRPr lang="hu-HU"/>
        </a:p>
      </dgm:t>
    </dgm:pt>
    <dgm:pt modelId="{236D52F6-D7E5-4697-A75B-D395512D206D}">
      <dgm:prSet phldrT="[Szöveg]"/>
      <dgm:spPr/>
      <dgm:t>
        <a:bodyPr/>
        <a:lstStyle/>
        <a:p>
          <a:r>
            <a:rPr lang="hu-HU" dirty="0"/>
            <a:t>Vállalat- és árujelzők joga</a:t>
          </a:r>
        </a:p>
      </dgm:t>
    </dgm:pt>
    <dgm:pt modelId="{862C1BAB-F1B3-4532-87A1-009989942337}" type="parTrans" cxnId="{08C23905-9054-4E92-97FE-399E319670F6}">
      <dgm:prSet/>
      <dgm:spPr/>
      <dgm:t>
        <a:bodyPr/>
        <a:lstStyle/>
        <a:p>
          <a:endParaRPr lang="hu-HU"/>
        </a:p>
      </dgm:t>
    </dgm:pt>
    <dgm:pt modelId="{B1390525-8EBD-4AEC-B305-BAD424626745}" type="sibTrans" cxnId="{08C23905-9054-4E92-97FE-399E319670F6}">
      <dgm:prSet/>
      <dgm:spPr/>
      <dgm:t>
        <a:bodyPr/>
        <a:lstStyle/>
        <a:p>
          <a:endParaRPr lang="hu-HU"/>
        </a:p>
      </dgm:t>
    </dgm:pt>
    <dgm:pt modelId="{54844C52-BEBE-494A-AC86-793BC3377B43}">
      <dgm:prSet phldrT="[Szöveg]"/>
      <dgm:spPr/>
      <dgm:t>
        <a:bodyPr/>
        <a:lstStyle/>
        <a:p>
          <a:r>
            <a:rPr lang="hu-HU" cap="all" baseline="0" dirty="0"/>
            <a:t>Üzleti titokvédelem</a:t>
          </a:r>
        </a:p>
      </dgm:t>
    </dgm:pt>
    <dgm:pt modelId="{73EA3AE7-E1F6-4A3A-870B-347DCACE4DAB}" type="parTrans" cxnId="{F5B0355E-75F5-4546-BAEC-BC617EAB16C4}">
      <dgm:prSet/>
      <dgm:spPr/>
      <dgm:t>
        <a:bodyPr/>
        <a:lstStyle/>
        <a:p>
          <a:endParaRPr lang="hu-HU"/>
        </a:p>
      </dgm:t>
    </dgm:pt>
    <dgm:pt modelId="{1E1DF382-A09A-416F-8E1B-6F40F6146FFE}" type="sibTrans" cxnId="{F5B0355E-75F5-4546-BAEC-BC617EAB16C4}">
      <dgm:prSet/>
      <dgm:spPr/>
      <dgm:t>
        <a:bodyPr/>
        <a:lstStyle/>
        <a:p>
          <a:endParaRPr lang="hu-HU"/>
        </a:p>
      </dgm:t>
    </dgm:pt>
    <dgm:pt modelId="{CF9F51FE-B4C9-4A46-9E55-D68AFC12B1F5}">
      <dgm:prSet phldrT="[Szöveg]"/>
      <dgm:spPr/>
      <dgm:t>
        <a:bodyPr/>
        <a:lstStyle/>
        <a:p>
          <a:r>
            <a:rPr lang="hu-HU" dirty="0"/>
            <a:t>Know-how (védett ismeret)</a:t>
          </a:r>
        </a:p>
      </dgm:t>
    </dgm:pt>
    <dgm:pt modelId="{D35BAB17-4E2F-4C71-8284-042E2B38513E}" type="parTrans" cxnId="{40CE60DC-ECE3-4B26-8A3D-74662FD08B69}">
      <dgm:prSet/>
      <dgm:spPr/>
      <dgm:t>
        <a:bodyPr/>
        <a:lstStyle/>
        <a:p>
          <a:endParaRPr lang="hu-HU"/>
        </a:p>
      </dgm:t>
    </dgm:pt>
    <dgm:pt modelId="{6B9FDA23-FF71-4A91-B4D4-DEB5B5C976A9}" type="sibTrans" cxnId="{40CE60DC-ECE3-4B26-8A3D-74662FD08B69}">
      <dgm:prSet/>
      <dgm:spPr/>
      <dgm:t>
        <a:bodyPr/>
        <a:lstStyle/>
        <a:p>
          <a:endParaRPr lang="hu-HU"/>
        </a:p>
      </dgm:t>
    </dgm:pt>
    <dgm:pt modelId="{A303C92A-A94F-4613-99B9-E8A2CE408E50}">
      <dgm:prSet phldrT="[Szöveg]"/>
      <dgm:spPr/>
      <dgm:t>
        <a:bodyPr/>
        <a:lstStyle/>
        <a:p>
          <a:r>
            <a:rPr lang="hu-HU" cap="all" baseline="0" dirty="0"/>
            <a:t>Iparjogvédelem</a:t>
          </a:r>
        </a:p>
      </dgm:t>
    </dgm:pt>
    <dgm:pt modelId="{0808CFB6-F728-4D86-86DC-1BACBE8BD6E2}" type="parTrans" cxnId="{97909D67-DD2E-4C13-98E9-924D27F6BA50}">
      <dgm:prSet/>
      <dgm:spPr/>
      <dgm:t>
        <a:bodyPr/>
        <a:lstStyle/>
        <a:p>
          <a:endParaRPr lang="hu-HU"/>
        </a:p>
      </dgm:t>
    </dgm:pt>
    <dgm:pt modelId="{F9AAAD3A-0256-43E5-A14F-F81BCA360974}" type="sibTrans" cxnId="{97909D67-DD2E-4C13-98E9-924D27F6BA50}">
      <dgm:prSet/>
      <dgm:spPr/>
      <dgm:t>
        <a:bodyPr/>
        <a:lstStyle/>
        <a:p>
          <a:endParaRPr lang="hu-HU"/>
        </a:p>
      </dgm:t>
    </dgm:pt>
    <dgm:pt modelId="{CC1A7B25-329F-4654-A4FD-50ED092606E6}">
      <dgm:prSet phldrT="[Szöveg]" custT="1"/>
      <dgm:spPr/>
      <dgm:t>
        <a:bodyPr/>
        <a:lstStyle/>
        <a:p>
          <a:r>
            <a:rPr lang="hu-HU" sz="2600" dirty="0"/>
            <a:t>Szerzők joga</a:t>
          </a:r>
        </a:p>
      </dgm:t>
    </dgm:pt>
    <dgm:pt modelId="{4FBBF0CE-596A-4A0A-9D9A-7B881010AA7C}" type="parTrans" cxnId="{2FE15F47-BBDF-4415-84BE-6ADF433C5EB8}">
      <dgm:prSet/>
      <dgm:spPr/>
      <dgm:t>
        <a:bodyPr/>
        <a:lstStyle/>
        <a:p>
          <a:endParaRPr lang="hu-HU"/>
        </a:p>
      </dgm:t>
    </dgm:pt>
    <dgm:pt modelId="{30D64047-A67F-4F2D-9093-6DA1DAA47733}" type="sibTrans" cxnId="{2FE15F47-BBDF-4415-84BE-6ADF433C5EB8}">
      <dgm:prSet/>
      <dgm:spPr/>
      <dgm:t>
        <a:bodyPr/>
        <a:lstStyle/>
        <a:p>
          <a:endParaRPr lang="hu-HU"/>
        </a:p>
      </dgm:t>
    </dgm:pt>
    <dgm:pt modelId="{9540B1F8-8471-41F7-9110-9781A9D98017}">
      <dgm:prSet phldrT="[Szöveg]" custT="1"/>
      <dgm:spPr/>
      <dgm:t>
        <a:bodyPr/>
        <a:lstStyle/>
        <a:p>
          <a:r>
            <a:rPr lang="hu-HU" sz="2000" dirty="0"/>
            <a:t>Kapcsolódó jogok</a:t>
          </a:r>
        </a:p>
      </dgm:t>
    </dgm:pt>
    <dgm:pt modelId="{B01B530A-9C8E-4F79-A670-5E6F621BA6B6}" type="parTrans" cxnId="{66DBE986-5793-4F07-9303-7CFC76BA71F7}">
      <dgm:prSet/>
      <dgm:spPr/>
      <dgm:t>
        <a:bodyPr/>
        <a:lstStyle/>
        <a:p>
          <a:endParaRPr lang="hu-HU"/>
        </a:p>
      </dgm:t>
    </dgm:pt>
    <dgm:pt modelId="{616C0B69-B8E5-469A-B688-FBC3A01015CA}" type="sibTrans" cxnId="{66DBE986-5793-4F07-9303-7CFC76BA71F7}">
      <dgm:prSet/>
      <dgm:spPr/>
      <dgm:t>
        <a:bodyPr/>
        <a:lstStyle/>
        <a:p>
          <a:endParaRPr lang="hu-HU"/>
        </a:p>
      </dgm:t>
    </dgm:pt>
    <dgm:pt modelId="{1C209E00-DD18-4808-AFC5-E7A4BD3F94BF}" type="pres">
      <dgm:prSet presAssocID="{9960D35A-89D8-4DD1-A9FC-67E0994547E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D343D2-2FD9-41F6-9892-19BB94F4D23A}" type="pres">
      <dgm:prSet presAssocID="{7A841EE1-5A2D-490E-BFF9-6BFD3D80FABD}" presName="root" presStyleCnt="0"/>
      <dgm:spPr/>
    </dgm:pt>
    <dgm:pt modelId="{B4743E03-6271-4017-9052-DE5F993628EE}" type="pres">
      <dgm:prSet presAssocID="{7A841EE1-5A2D-490E-BFF9-6BFD3D80FABD}" presName="rootComposite" presStyleCnt="0"/>
      <dgm:spPr/>
    </dgm:pt>
    <dgm:pt modelId="{3ADD5BB2-F147-4BE6-A97E-696F303BDE0A}" type="pres">
      <dgm:prSet presAssocID="{7A841EE1-5A2D-490E-BFF9-6BFD3D80FABD}" presName="rootText" presStyleLbl="node1" presStyleIdx="0" presStyleCnt="3"/>
      <dgm:spPr/>
    </dgm:pt>
    <dgm:pt modelId="{7DFAB737-AB67-4E2D-868A-98575CCB3E30}" type="pres">
      <dgm:prSet presAssocID="{7A841EE1-5A2D-490E-BFF9-6BFD3D80FABD}" presName="rootConnector" presStyleLbl="node1" presStyleIdx="0" presStyleCnt="3"/>
      <dgm:spPr/>
    </dgm:pt>
    <dgm:pt modelId="{FF8E9AAF-49D7-410D-9CC5-AD5147EC08B2}" type="pres">
      <dgm:prSet presAssocID="{7A841EE1-5A2D-490E-BFF9-6BFD3D80FABD}" presName="childShape" presStyleCnt="0"/>
      <dgm:spPr/>
    </dgm:pt>
    <dgm:pt modelId="{CBA1F326-233A-4908-84F8-320439BFB6AD}" type="pres">
      <dgm:prSet presAssocID="{4FBBF0CE-596A-4A0A-9D9A-7B881010AA7C}" presName="Name13" presStyleLbl="parChTrans1D2" presStyleIdx="0" presStyleCnt="5"/>
      <dgm:spPr/>
    </dgm:pt>
    <dgm:pt modelId="{2A107C09-D7F9-4580-9DFC-3821EB1A0A4E}" type="pres">
      <dgm:prSet presAssocID="{CC1A7B25-329F-4654-A4FD-50ED092606E6}" presName="childText" presStyleLbl="bgAcc1" presStyleIdx="0" presStyleCnt="5">
        <dgm:presLayoutVars>
          <dgm:bulletEnabled val="1"/>
        </dgm:presLayoutVars>
      </dgm:prSet>
      <dgm:spPr/>
    </dgm:pt>
    <dgm:pt modelId="{2F6EECEA-8BDA-4486-AF1D-D8ADC9AD29ED}" type="pres">
      <dgm:prSet presAssocID="{B01B530A-9C8E-4F79-A670-5E6F621BA6B6}" presName="Name13" presStyleLbl="parChTrans1D2" presStyleIdx="1" presStyleCnt="5"/>
      <dgm:spPr/>
    </dgm:pt>
    <dgm:pt modelId="{340739EB-693E-4B8E-9D60-1CED0015C59D}" type="pres">
      <dgm:prSet presAssocID="{9540B1F8-8471-41F7-9110-9781A9D98017}" presName="childText" presStyleLbl="bgAcc1" presStyleIdx="1" presStyleCnt="5" custScaleX="100894">
        <dgm:presLayoutVars>
          <dgm:bulletEnabled val="1"/>
        </dgm:presLayoutVars>
      </dgm:prSet>
      <dgm:spPr/>
    </dgm:pt>
    <dgm:pt modelId="{3C808686-63A1-4690-AF47-AF7754DC1824}" type="pres">
      <dgm:prSet presAssocID="{A303C92A-A94F-4613-99B9-E8A2CE408E50}" presName="root" presStyleCnt="0"/>
      <dgm:spPr/>
    </dgm:pt>
    <dgm:pt modelId="{77DB48D5-183B-444A-B23F-BD3C9BEF70C5}" type="pres">
      <dgm:prSet presAssocID="{A303C92A-A94F-4613-99B9-E8A2CE408E50}" presName="rootComposite" presStyleCnt="0"/>
      <dgm:spPr/>
    </dgm:pt>
    <dgm:pt modelId="{7EB2146F-1244-4AEF-81D6-90C2E7A33BE9}" type="pres">
      <dgm:prSet presAssocID="{A303C92A-A94F-4613-99B9-E8A2CE408E50}" presName="rootText" presStyleLbl="node1" presStyleIdx="1" presStyleCnt="3"/>
      <dgm:spPr/>
    </dgm:pt>
    <dgm:pt modelId="{287A3655-D8D4-4841-87B2-F221FA9E0785}" type="pres">
      <dgm:prSet presAssocID="{A303C92A-A94F-4613-99B9-E8A2CE408E50}" presName="rootConnector" presStyleLbl="node1" presStyleIdx="1" presStyleCnt="3"/>
      <dgm:spPr/>
    </dgm:pt>
    <dgm:pt modelId="{B3E07953-42DA-4140-ADE6-0362483FD559}" type="pres">
      <dgm:prSet presAssocID="{A303C92A-A94F-4613-99B9-E8A2CE408E50}" presName="childShape" presStyleCnt="0"/>
      <dgm:spPr/>
    </dgm:pt>
    <dgm:pt modelId="{FC170AF0-8BCC-4901-AABE-16723A8A7BEC}" type="pres">
      <dgm:prSet presAssocID="{469C3295-073F-46E7-A212-0DD3719BF45C}" presName="Name13" presStyleLbl="parChTrans1D2" presStyleIdx="2" presStyleCnt="5"/>
      <dgm:spPr/>
    </dgm:pt>
    <dgm:pt modelId="{276A02C2-E46B-4E0C-9EBE-4A61CFAEAA1E}" type="pres">
      <dgm:prSet presAssocID="{9AD0A7BA-4CD6-42F2-9818-CA18E62AE613}" presName="childText" presStyleLbl="bgAcc1" presStyleIdx="2" presStyleCnt="5">
        <dgm:presLayoutVars>
          <dgm:bulletEnabled val="1"/>
        </dgm:presLayoutVars>
      </dgm:prSet>
      <dgm:spPr/>
    </dgm:pt>
    <dgm:pt modelId="{1451DF56-2F9E-4CF1-993C-688CE6E5B7D2}" type="pres">
      <dgm:prSet presAssocID="{862C1BAB-F1B3-4532-87A1-009989942337}" presName="Name13" presStyleLbl="parChTrans1D2" presStyleIdx="3" presStyleCnt="5"/>
      <dgm:spPr/>
    </dgm:pt>
    <dgm:pt modelId="{5DECB47D-E845-4099-8DF0-DFF733AC05DC}" type="pres">
      <dgm:prSet presAssocID="{236D52F6-D7E5-4697-A75B-D395512D206D}" presName="childText" presStyleLbl="bgAcc1" presStyleIdx="3" presStyleCnt="5">
        <dgm:presLayoutVars>
          <dgm:bulletEnabled val="1"/>
        </dgm:presLayoutVars>
      </dgm:prSet>
      <dgm:spPr/>
    </dgm:pt>
    <dgm:pt modelId="{0623A18B-36F7-43F7-8113-9FB7A6E5C2F5}" type="pres">
      <dgm:prSet presAssocID="{54844C52-BEBE-494A-AC86-793BC3377B43}" presName="root" presStyleCnt="0"/>
      <dgm:spPr/>
    </dgm:pt>
    <dgm:pt modelId="{595BC2FA-6235-4FEE-8904-9E860035DB9F}" type="pres">
      <dgm:prSet presAssocID="{54844C52-BEBE-494A-AC86-793BC3377B43}" presName="rootComposite" presStyleCnt="0"/>
      <dgm:spPr/>
    </dgm:pt>
    <dgm:pt modelId="{BAC8DF03-5EB5-463C-921B-E1D6D423C090}" type="pres">
      <dgm:prSet presAssocID="{54844C52-BEBE-494A-AC86-793BC3377B43}" presName="rootText" presStyleLbl="node1" presStyleIdx="2" presStyleCnt="3"/>
      <dgm:spPr/>
    </dgm:pt>
    <dgm:pt modelId="{ADDCB8D5-A382-4896-8C6E-D42C27C6C531}" type="pres">
      <dgm:prSet presAssocID="{54844C52-BEBE-494A-AC86-793BC3377B43}" presName="rootConnector" presStyleLbl="node1" presStyleIdx="2" presStyleCnt="3"/>
      <dgm:spPr/>
    </dgm:pt>
    <dgm:pt modelId="{A23ECCD8-3F92-4B44-9F81-896EA65A3ACA}" type="pres">
      <dgm:prSet presAssocID="{54844C52-BEBE-494A-AC86-793BC3377B43}" presName="childShape" presStyleCnt="0"/>
      <dgm:spPr/>
    </dgm:pt>
    <dgm:pt modelId="{A65E5187-664B-4AE6-A54C-64850BB78F89}" type="pres">
      <dgm:prSet presAssocID="{D35BAB17-4E2F-4C71-8284-042E2B38513E}" presName="Name13" presStyleLbl="parChTrans1D2" presStyleIdx="4" presStyleCnt="5"/>
      <dgm:spPr/>
    </dgm:pt>
    <dgm:pt modelId="{990C24A4-9B2D-430F-B227-19F5421EDBDF}" type="pres">
      <dgm:prSet presAssocID="{CF9F51FE-B4C9-4A46-9E55-D68AFC12B1F5}" presName="childText" presStyleLbl="bgAcc1" presStyleIdx="4" presStyleCnt="5">
        <dgm:presLayoutVars>
          <dgm:bulletEnabled val="1"/>
        </dgm:presLayoutVars>
      </dgm:prSet>
      <dgm:spPr/>
    </dgm:pt>
  </dgm:ptLst>
  <dgm:cxnLst>
    <dgm:cxn modelId="{08C23905-9054-4E92-97FE-399E319670F6}" srcId="{A303C92A-A94F-4613-99B9-E8A2CE408E50}" destId="{236D52F6-D7E5-4697-A75B-D395512D206D}" srcOrd="1" destOrd="0" parTransId="{862C1BAB-F1B3-4532-87A1-009989942337}" sibTransId="{B1390525-8EBD-4AEC-B305-BAD424626745}"/>
    <dgm:cxn modelId="{87887A05-5EA3-482C-9140-91C35C4A74F2}" type="presOf" srcId="{A303C92A-A94F-4613-99B9-E8A2CE408E50}" destId="{7EB2146F-1244-4AEF-81D6-90C2E7A33BE9}" srcOrd="0" destOrd="0" presId="urn:microsoft.com/office/officeart/2005/8/layout/hierarchy3"/>
    <dgm:cxn modelId="{8452E010-C73B-4AAC-B004-897C02A20029}" type="presOf" srcId="{D35BAB17-4E2F-4C71-8284-042E2B38513E}" destId="{A65E5187-664B-4AE6-A54C-64850BB78F89}" srcOrd="0" destOrd="0" presId="urn:microsoft.com/office/officeart/2005/8/layout/hierarchy3"/>
    <dgm:cxn modelId="{C75F7214-B492-4B18-83DB-7AE5A396ED0F}" type="presOf" srcId="{4FBBF0CE-596A-4A0A-9D9A-7B881010AA7C}" destId="{CBA1F326-233A-4908-84F8-320439BFB6AD}" srcOrd="0" destOrd="0" presId="urn:microsoft.com/office/officeart/2005/8/layout/hierarchy3"/>
    <dgm:cxn modelId="{F153F316-A905-4797-94A6-6A944E7C162D}" type="presOf" srcId="{A303C92A-A94F-4613-99B9-E8A2CE408E50}" destId="{287A3655-D8D4-4841-87B2-F221FA9E0785}" srcOrd="1" destOrd="0" presId="urn:microsoft.com/office/officeart/2005/8/layout/hierarchy3"/>
    <dgm:cxn modelId="{D7DA2424-96E8-4B01-B148-89CF54B96E6E}" type="presOf" srcId="{54844C52-BEBE-494A-AC86-793BC3377B43}" destId="{BAC8DF03-5EB5-463C-921B-E1D6D423C090}" srcOrd="0" destOrd="0" presId="urn:microsoft.com/office/officeart/2005/8/layout/hierarchy3"/>
    <dgm:cxn modelId="{CBBE4F25-25A8-42EA-9C1A-B6544D78E38B}" srcId="{9960D35A-89D8-4DD1-A9FC-67E0994547E7}" destId="{7A841EE1-5A2D-490E-BFF9-6BFD3D80FABD}" srcOrd="0" destOrd="0" parTransId="{C12B69F7-056A-4B3E-A3A4-74C0C113EAC8}" sibTransId="{84A03CF3-831E-4CA9-BE6D-87F81B4B24E4}"/>
    <dgm:cxn modelId="{02FC3A28-306B-40FA-8EC8-3450ADEC0D88}" type="presOf" srcId="{B01B530A-9C8E-4F79-A670-5E6F621BA6B6}" destId="{2F6EECEA-8BDA-4486-AF1D-D8ADC9AD29ED}" srcOrd="0" destOrd="0" presId="urn:microsoft.com/office/officeart/2005/8/layout/hierarchy3"/>
    <dgm:cxn modelId="{FA6A4E29-42CC-476B-B1C4-467CA9C01CEF}" type="presOf" srcId="{7A841EE1-5A2D-490E-BFF9-6BFD3D80FABD}" destId="{7DFAB737-AB67-4E2D-868A-98575CCB3E30}" srcOrd="1" destOrd="0" presId="urn:microsoft.com/office/officeart/2005/8/layout/hierarchy3"/>
    <dgm:cxn modelId="{30C1812F-38B7-47BD-B1FA-23A4981EC0D3}" type="presOf" srcId="{862C1BAB-F1B3-4532-87A1-009989942337}" destId="{1451DF56-2F9E-4CF1-993C-688CE6E5B7D2}" srcOrd="0" destOrd="0" presId="urn:microsoft.com/office/officeart/2005/8/layout/hierarchy3"/>
    <dgm:cxn modelId="{F5B0355E-75F5-4546-BAEC-BC617EAB16C4}" srcId="{9960D35A-89D8-4DD1-A9FC-67E0994547E7}" destId="{54844C52-BEBE-494A-AC86-793BC3377B43}" srcOrd="2" destOrd="0" parTransId="{73EA3AE7-E1F6-4A3A-870B-347DCACE4DAB}" sibTransId="{1E1DF382-A09A-416F-8E1B-6F40F6146FFE}"/>
    <dgm:cxn modelId="{91ADB443-F852-4066-BDEE-B7F5FFEDAFC4}" type="presOf" srcId="{7A841EE1-5A2D-490E-BFF9-6BFD3D80FABD}" destId="{3ADD5BB2-F147-4BE6-A97E-696F303BDE0A}" srcOrd="0" destOrd="0" presId="urn:microsoft.com/office/officeart/2005/8/layout/hierarchy3"/>
    <dgm:cxn modelId="{2FE15F47-BBDF-4415-84BE-6ADF433C5EB8}" srcId="{7A841EE1-5A2D-490E-BFF9-6BFD3D80FABD}" destId="{CC1A7B25-329F-4654-A4FD-50ED092606E6}" srcOrd="0" destOrd="0" parTransId="{4FBBF0CE-596A-4A0A-9D9A-7B881010AA7C}" sibTransId="{30D64047-A67F-4F2D-9093-6DA1DAA47733}"/>
    <dgm:cxn modelId="{97909D67-DD2E-4C13-98E9-924D27F6BA50}" srcId="{9960D35A-89D8-4DD1-A9FC-67E0994547E7}" destId="{A303C92A-A94F-4613-99B9-E8A2CE408E50}" srcOrd="1" destOrd="0" parTransId="{0808CFB6-F728-4D86-86DC-1BACBE8BD6E2}" sibTransId="{F9AAAD3A-0256-43E5-A14F-F81BCA360974}"/>
    <dgm:cxn modelId="{25B47C4B-FE9B-49B3-BEA1-C84D4CF77D70}" type="presOf" srcId="{9AD0A7BA-4CD6-42F2-9818-CA18E62AE613}" destId="{276A02C2-E46B-4E0C-9EBE-4A61CFAEAA1E}" srcOrd="0" destOrd="0" presId="urn:microsoft.com/office/officeart/2005/8/layout/hierarchy3"/>
    <dgm:cxn modelId="{247F9D76-A69D-4157-A58A-D401CD4F8F46}" type="presOf" srcId="{9540B1F8-8471-41F7-9110-9781A9D98017}" destId="{340739EB-693E-4B8E-9D60-1CED0015C59D}" srcOrd="0" destOrd="0" presId="urn:microsoft.com/office/officeart/2005/8/layout/hierarchy3"/>
    <dgm:cxn modelId="{8712EC78-702E-436E-ADF8-9C89583B6111}" srcId="{A303C92A-A94F-4613-99B9-E8A2CE408E50}" destId="{9AD0A7BA-4CD6-42F2-9818-CA18E62AE613}" srcOrd="0" destOrd="0" parTransId="{469C3295-073F-46E7-A212-0DD3719BF45C}" sibTransId="{AD3B0513-5255-492E-86F9-44DC67D44DA6}"/>
    <dgm:cxn modelId="{66DBE986-5793-4F07-9303-7CFC76BA71F7}" srcId="{7A841EE1-5A2D-490E-BFF9-6BFD3D80FABD}" destId="{9540B1F8-8471-41F7-9110-9781A9D98017}" srcOrd="1" destOrd="0" parTransId="{B01B530A-9C8E-4F79-A670-5E6F621BA6B6}" sibTransId="{616C0B69-B8E5-469A-B688-FBC3A01015CA}"/>
    <dgm:cxn modelId="{A7C59287-50A8-405F-994D-772FA403D038}" type="presOf" srcId="{9960D35A-89D8-4DD1-A9FC-67E0994547E7}" destId="{1C209E00-DD18-4808-AFC5-E7A4BD3F94BF}" srcOrd="0" destOrd="0" presId="urn:microsoft.com/office/officeart/2005/8/layout/hierarchy3"/>
    <dgm:cxn modelId="{C172F6A4-3F11-4FB3-9855-5768F08650D5}" type="presOf" srcId="{54844C52-BEBE-494A-AC86-793BC3377B43}" destId="{ADDCB8D5-A382-4896-8C6E-D42C27C6C531}" srcOrd="1" destOrd="0" presId="urn:microsoft.com/office/officeart/2005/8/layout/hierarchy3"/>
    <dgm:cxn modelId="{28962FBA-6642-4D7E-9BAD-E21C690C64CC}" type="presOf" srcId="{236D52F6-D7E5-4697-A75B-D395512D206D}" destId="{5DECB47D-E845-4099-8DF0-DFF733AC05DC}" srcOrd="0" destOrd="0" presId="urn:microsoft.com/office/officeart/2005/8/layout/hierarchy3"/>
    <dgm:cxn modelId="{B86360C0-5F60-449F-9740-0674BAF766D8}" type="presOf" srcId="{CC1A7B25-329F-4654-A4FD-50ED092606E6}" destId="{2A107C09-D7F9-4580-9DFC-3821EB1A0A4E}" srcOrd="0" destOrd="0" presId="urn:microsoft.com/office/officeart/2005/8/layout/hierarchy3"/>
    <dgm:cxn modelId="{D15CDDD0-F65C-4A98-B8EC-84558925218A}" type="presOf" srcId="{469C3295-073F-46E7-A212-0DD3719BF45C}" destId="{FC170AF0-8BCC-4901-AABE-16723A8A7BEC}" srcOrd="0" destOrd="0" presId="urn:microsoft.com/office/officeart/2005/8/layout/hierarchy3"/>
    <dgm:cxn modelId="{40CE60DC-ECE3-4B26-8A3D-74662FD08B69}" srcId="{54844C52-BEBE-494A-AC86-793BC3377B43}" destId="{CF9F51FE-B4C9-4A46-9E55-D68AFC12B1F5}" srcOrd="0" destOrd="0" parTransId="{D35BAB17-4E2F-4C71-8284-042E2B38513E}" sibTransId="{6B9FDA23-FF71-4A91-B4D4-DEB5B5C976A9}"/>
    <dgm:cxn modelId="{D0B7B6F7-2B93-459E-AC7C-99DBE51980A8}" type="presOf" srcId="{CF9F51FE-B4C9-4A46-9E55-D68AFC12B1F5}" destId="{990C24A4-9B2D-430F-B227-19F5421EDBDF}" srcOrd="0" destOrd="0" presId="urn:microsoft.com/office/officeart/2005/8/layout/hierarchy3"/>
    <dgm:cxn modelId="{BDB2C71D-4404-4D8C-814F-A6836448095C}" type="presParOf" srcId="{1C209E00-DD18-4808-AFC5-E7A4BD3F94BF}" destId="{A8D343D2-2FD9-41F6-9892-19BB94F4D23A}" srcOrd="0" destOrd="0" presId="urn:microsoft.com/office/officeart/2005/8/layout/hierarchy3"/>
    <dgm:cxn modelId="{B0AB7506-E1BE-4238-B376-9B667F393824}" type="presParOf" srcId="{A8D343D2-2FD9-41F6-9892-19BB94F4D23A}" destId="{B4743E03-6271-4017-9052-DE5F993628EE}" srcOrd="0" destOrd="0" presId="urn:microsoft.com/office/officeart/2005/8/layout/hierarchy3"/>
    <dgm:cxn modelId="{C32AA427-C9AB-4CC5-A963-FBD9BB7E3232}" type="presParOf" srcId="{B4743E03-6271-4017-9052-DE5F993628EE}" destId="{3ADD5BB2-F147-4BE6-A97E-696F303BDE0A}" srcOrd="0" destOrd="0" presId="urn:microsoft.com/office/officeart/2005/8/layout/hierarchy3"/>
    <dgm:cxn modelId="{084B9F1E-A9A6-4F3C-8D4A-9E59051FBB15}" type="presParOf" srcId="{B4743E03-6271-4017-9052-DE5F993628EE}" destId="{7DFAB737-AB67-4E2D-868A-98575CCB3E30}" srcOrd="1" destOrd="0" presId="urn:microsoft.com/office/officeart/2005/8/layout/hierarchy3"/>
    <dgm:cxn modelId="{D13CCB32-11D8-4DD8-B016-4CBAEC55D5B9}" type="presParOf" srcId="{A8D343D2-2FD9-41F6-9892-19BB94F4D23A}" destId="{FF8E9AAF-49D7-410D-9CC5-AD5147EC08B2}" srcOrd="1" destOrd="0" presId="urn:microsoft.com/office/officeart/2005/8/layout/hierarchy3"/>
    <dgm:cxn modelId="{C4BDA3ED-2006-4898-AA84-2D9C5F4181AF}" type="presParOf" srcId="{FF8E9AAF-49D7-410D-9CC5-AD5147EC08B2}" destId="{CBA1F326-233A-4908-84F8-320439BFB6AD}" srcOrd="0" destOrd="0" presId="urn:microsoft.com/office/officeart/2005/8/layout/hierarchy3"/>
    <dgm:cxn modelId="{C81D835C-9197-4EE5-8EBC-A3ACC573A6A4}" type="presParOf" srcId="{FF8E9AAF-49D7-410D-9CC5-AD5147EC08B2}" destId="{2A107C09-D7F9-4580-9DFC-3821EB1A0A4E}" srcOrd="1" destOrd="0" presId="urn:microsoft.com/office/officeart/2005/8/layout/hierarchy3"/>
    <dgm:cxn modelId="{870874A0-A29C-41CB-A7FC-E761FFA53BE6}" type="presParOf" srcId="{FF8E9AAF-49D7-410D-9CC5-AD5147EC08B2}" destId="{2F6EECEA-8BDA-4486-AF1D-D8ADC9AD29ED}" srcOrd="2" destOrd="0" presId="urn:microsoft.com/office/officeart/2005/8/layout/hierarchy3"/>
    <dgm:cxn modelId="{5C68184E-D032-44DB-8452-B9B53CB2B66D}" type="presParOf" srcId="{FF8E9AAF-49D7-410D-9CC5-AD5147EC08B2}" destId="{340739EB-693E-4B8E-9D60-1CED0015C59D}" srcOrd="3" destOrd="0" presId="urn:microsoft.com/office/officeart/2005/8/layout/hierarchy3"/>
    <dgm:cxn modelId="{A0A7641B-9B27-4F54-8A7D-0C98B65CDD71}" type="presParOf" srcId="{1C209E00-DD18-4808-AFC5-E7A4BD3F94BF}" destId="{3C808686-63A1-4690-AF47-AF7754DC1824}" srcOrd="1" destOrd="0" presId="urn:microsoft.com/office/officeart/2005/8/layout/hierarchy3"/>
    <dgm:cxn modelId="{470E43E2-4E16-4951-907F-56E248376E4B}" type="presParOf" srcId="{3C808686-63A1-4690-AF47-AF7754DC1824}" destId="{77DB48D5-183B-444A-B23F-BD3C9BEF70C5}" srcOrd="0" destOrd="0" presId="urn:microsoft.com/office/officeart/2005/8/layout/hierarchy3"/>
    <dgm:cxn modelId="{9B3214E0-3058-49F2-BD8F-E04D15DCF576}" type="presParOf" srcId="{77DB48D5-183B-444A-B23F-BD3C9BEF70C5}" destId="{7EB2146F-1244-4AEF-81D6-90C2E7A33BE9}" srcOrd="0" destOrd="0" presId="urn:microsoft.com/office/officeart/2005/8/layout/hierarchy3"/>
    <dgm:cxn modelId="{49D3F72B-741E-4108-981D-4EF1DBB5B106}" type="presParOf" srcId="{77DB48D5-183B-444A-B23F-BD3C9BEF70C5}" destId="{287A3655-D8D4-4841-87B2-F221FA9E0785}" srcOrd="1" destOrd="0" presId="urn:microsoft.com/office/officeart/2005/8/layout/hierarchy3"/>
    <dgm:cxn modelId="{ADEFCECD-4B2D-40C2-BA2B-DB02170491F5}" type="presParOf" srcId="{3C808686-63A1-4690-AF47-AF7754DC1824}" destId="{B3E07953-42DA-4140-ADE6-0362483FD559}" srcOrd="1" destOrd="0" presId="urn:microsoft.com/office/officeart/2005/8/layout/hierarchy3"/>
    <dgm:cxn modelId="{A3EA29A6-2AF6-4D46-9AD1-BBDE7422BF15}" type="presParOf" srcId="{B3E07953-42DA-4140-ADE6-0362483FD559}" destId="{FC170AF0-8BCC-4901-AABE-16723A8A7BEC}" srcOrd="0" destOrd="0" presId="urn:microsoft.com/office/officeart/2005/8/layout/hierarchy3"/>
    <dgm:cxn modelId="{64B0880A-1FE1-43B1-9D71-13D5EE0DB3C5}" type="presParOf" srcId="{B3E07953-42DA-4140-ADE6-0362483FD559}" destId="{276A02C2-E46B-4E0C-9EBE-4A61CFAEAA1E}" srcOrd="1" destOrd="0" presId="urn:microsoft.com/office/officeart/2005/8/layout/hierarchy3"/>
    <dgm:cxn modelId="{12853AEB-069A-4850-9C8A-9720BCA2E7F3}" type="presParOf" srcId="{B3E07953-42DA-4140-ADE6-0362483FD559}" destId="{1451DF56-2F9E-4CF1-993C-688CE6E5B7D2}" srcOrd="2" destOrd="0" presId="urn:microsoft.com/office/officeart/2005/8/layout/hierarchy3"/>
    <dgm:cxn modelId="{532B1FE4-0F18-4912-ABB2-D224225D7AFA}" type="presParOf" srcId="{B3E07953-42DA-4140-ADE6-0362483FD559}" destId="{5DECB47D-E845-4099-8DF0-DFF733AC05DC}" srcOrd="3" destOrd="0" presId="urn:microsoft.com/office/officeart/2005/8/layout/hierarchy3"/>
    <dgm:cxn modelId="{B01CC2DD-1827-430A-85D3-60F13F37DF38}" type="presParOf" srcId="{1C209E00-DD18-4808-AFC5-E7A4BD3F94BF}" destId="{0623A18B-36F7-43F7-8113-9FB7A6E5C2F5}" srcOrd="2" destOrd="0" presId="urn:microsoft.com/office/officeart/2005/8/layout/hierarchy3"/>
    <dgm:cxn modelId="{380C2CF2-6959-4AB1-A3FD-D9D967D936B6}" type="presParOf" srcId="{0623A18B-36F7-43F7-8113-9FB7A6E5C2F5}" destId="{595BC2FA-6235-4FEE-8904-9E860035DB9F}" srcOrd="0" destOrd="0" presId="urn:microsoft.com/office/officeart/2005/8/layout/hierarchy3"/>
    <dgm:cxn modelId="{4B02A38F-22D4-41CA-AB76-DB1758C302C8}" type="presParOf" srcId="{595BC2FA-6235-4FEE-8904-9E860035DB9F}" destId="{BAC8DF03-5EB5-463C-921B-E1D6D423C090}" srcOrd="0" destOrd="0" presId="urn:microsoft.com/office/officeart/2005/8/layout/hierarchy3"/>
    <dgm:cxn modelId="{260984F7-C408-43BA-B430-04BEEF2DE5BB}" type="presParOf" srcId="{595BC2FA-6235-4FEE-8904-9E860035DB9F}" destId="{ADDCB8D5-A382-4896-8C6E-D42C27C6C531}" srcOrd="1" destOrd="0" presId="urn:microsoft.com/office/officeart/2005/8/layout/hierarchy3"/>
    <dgm:cxn modelId="{BE5F381F-5690-4D37-908A-EDA93F504E32}" type="presParOf" srcId="{0623A18B-36F7-43F7-8113-9FB7A6E5C2F5}" destId="{A23ECCD8-3F92-4B44-9F81-896EA65A3ACA}" srcOrd="1" destOrd="0" presId="urn:microsoft.com/office/officeart/2005/8/layout/hierarchy3"/>
    <dgm:cxn modelId="{43DD4549-8354-412F-8904-6743436F1F38}" type="presParOf" srcId="{A23ECCD8-3F92-4B44-9F81-896EA65A3ACA}" destId="{A65E5187-664B-4AE6-A54C-64850BB78F89}" srcOrd="0" destOrd="0" presId="urn:microsoft.com/office/officeart/2005/8/layout/hierarchy3"/>
    <dgm:cxn modelId="{AE46A4F5-4D91-4E2D-BCBF-4E83B6540697}" type="presParOf" srcId="{A23ECCD8-3F92-4B44-9F81-896EA65A3ACA}" destId="{990C24A4-9B2D-430F-B227-19F5421EDBD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D5BB2-F147-4BE6-A97E-696F303BDE0A}">
      <dsp:nvSpPr>
        <dsp:cNvPr id="0" name=""/>
        <dsp:cNvSpPr/>
      </dsp:nvSpPr>
      <dsp:spPr>
        <a:xfrm>
          <a:off x="966" y="117164"/>
          <a:ext cx="2260955" cy="1130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cap="all" baseline="0" dirty="0"/>
            <a:t>Szerzői jog</a:t>
          </a:r>
        </a:p>
      </dsp:txBody>
      <dsp:txXfrm>
        <a:off x="34077" y="150275"/>
        <a:ext cx="2194733" cy="1064255"/>
      </dsp:txXfrm>
    </dsp:sp>
    <dsp:sp modelId="{CBA1F326-233A-4908-84F8-320439BFB6AD}">
      <dsp:nvSpPr>
        <dsp:cNvPr id="0" name=""/>
        <dsp:cNvSpPr/>
      </dsp:nvSpPr>
      <dsp:spPr>
        <a:xfrm>
          <a:off x="227061" y="1247641"/>
          <a:ext cx="226095" cy="847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858"/>
              </a:lnTo>
              <a:lnTo>
                <a:pt x="226095" y="8478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07C09-D7F9-4580-9DFC-3821EB1A0A4E}">
      <dsp:nvSpPr>
        <dsp:cNvPr id="0" name=""/>
        <dsp:cNvSpPr/>
      </dsp:nvSpPr>
      <dsp:spPr>
        <a:xfrm>
          <a:off x="453157" y="1530261"/>
          <a:ext cx="1808764" cy="11304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 dirty="0"/>
            <a:t>Szerzők joga</a:t>
          </a:r>
        </a:p>
      </dsp:txBody>
      <dsp:txXfrm>
        <a:off x="486268" y="1563372"/>
        <a:ext cx="1742542" cy="1064255"/>
      </dsp:txXfrm>
    </dsp:sp>
    <dsp:sp modelId="{2F6EECEA-8BDA-4486-AF1D-D8ADC9AD29ED}">
      <dsp:nvSpPr>
        <dsp:cNvPr id="0" name=""/>
        <dsp:cNvSpPr/>
      </dsp:nvSpPr>
      <dsp:spPr>
        <a:xfrm>
          <a:off x="227061" y="1247641"/>
          <a:ext cx="226095" cy="2260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0955"/>
              </a:lnTo>
              <a:lnTo>
                <a:pt x="226095" y="22609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0739EB-693E-4B8E-9D60-1CED0015C59D}">
      <dsp:nvSpPr>
        <dsp:cNvPr id="0" name=""/>
        <dsp:cNvSpPr/>
      </dsp:nvSpPr>
      <dsp:spPr>
        <a:xfrm>
          <a:off x="453157" y="2943358"/>
          <a:ext cx="1824934" cy="11304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Kapcsolódó jogok</a:t>
          </a:r>
        </a:p>
      </dsp:txBody>
      <dsp:txXfrm>
        <a:off x="486268" y="2976469"/>
        <a:ext cx="1758712" cy="1064255"/>
      </dsp:txXfrm>
    </dsp:sp>
    <dsp:sp modelId="{7EB2146F-1244-4AEF-81D6-90C2E7A33BE9}">
      <dsp:nvSpPr>
        <dsp:cNvPr id="0" name=""/>
        <dsp:cNvSpPr/>
      </dsp:nvSpPr>
      <dsp:spPr>
        <a:xfrm>
          <a:off x="2827159" y="117164"/>
          <a:ext cx="2260955" cy="1130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cap="all" baseline="0" dirty="0"/>
            <a:t>Iparjogvédelem</a:t>
          </a:r>
        </a:p>
      </dsp:txBody>
      <dsp:txXfrm>
        <a:off x="2860270" y="150275"/>
        <a:ext cx="2194733" cy="1064255"/>
      </dsp:txXfrm>
    </dsp:sp>
    <dsp:sp modelId="{FC170AF0-8BCC-4901-AABE-16723A8A7BEC}">
      <dsp:nvSpPr>
        <dsp:cNvPr id="0" name=""/>
        <dsp:cNvSpPr/>
      </dsp:nvSpPr>
      <dsp:spPr>
        <a:xfrm>
          <a:off x="3053255" y="1247641"/>
          <a:ext cx="226095" cy="847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858"/>
              </a:lnTo>
              <a:lnTo>
                <a:pt x="226095" y="8478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6A02C2-E46B-4E0C-9EBE-4A61CFAEAA1E}">
      <dsp:nvSpPr>
        <dsp:cNvPr id="0" name=""/>
        <dsp:cNvSpPr/>
      </dsp:nvSpPr>
      <dsp:spPr>
        <a:xfrm>
          <a:off x="3279350" y="1530261"/>
          <a:ext cx="1808764" cy="11304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Műszaki alkotások joga</a:t>
          </a:r>
        </a:p>
      </dsp:txBody>
      <dsp:txXfrm>
        <a:off x="3312461" y="1563372"/>
        <a:ext cx="1742542" cy="1064255"/>
      </dsp:txXfrm>
    </dsp:sp>
    <dsp:sp modelId="{1451DF56-2F9E-4CF1-993C-688CE6E5B7D2}">
      <dsp:nvSpPr>
        <dsp:cNvPr id="0" name=""/>
        <dsp:cNvSpPr/>
      </dsp:nvSpPr>
      <dsp:spPr>
        <a:xfrm>
          <a:off x="3053255" y="1247641"/>
          <a:ext cx="226095" cy="2260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0955"/>
              </a:lnTo>
              <a:lnTo>
                <a:pt x="226095" y="22609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CB47D-E845-4099-8DF0-DFF733AC05DC}">
      <dsp:nvSpPr>
        <dsp:cNvPr id="0" name=""/>
        <dsp:cNvSpPr/>
      </dsp:nvSpPr>
      <dsp:spPr>
        <a:xfrm>
          <a:off x="3279350" y="2943358"/>
          <a:ext cx="1808764" cy="11304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Vállalat- és árujelzők joga</a:t>
          </a:r>
        </a:p>
      </dsp:txBody>
      <dsp:txXfrm>
        <a:off x="3312461" y="2976469"/>
        <a:ext cx="1742542" cy="1064255"/>
      </dsp:txXfrm>
    </dsp:sp>
    <dsp:sp modelId="{BAC8DF03-5EB5-463C-921B-E1D6D423C090}">
      <dsp:nvSpPr>
        <dsp:cNvPr id="0" name=""/>
        <dsp:cNvSpPr/>
      </dsp:nvSpPr>
      <dsp:spPr>
        <a:xfrm>
          <a:off x="5653353" y="117164"/>
          <a:ext cx="2260955" cy="1130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cap="all" baseline="0" dirty="0"/>
            <a:t>Üzleti titokvédelem</a:t>
          </a:r>
        </a:p>
      </dsp:txBody>
      <dsp:txXfrm>
        <a:off x="5686464" y="150275"/>
        <a:ext cx="2194733" cy="1064255"/>
      </dsp:txXfrm>
    </dsp:sp>
    <dsp:sp modelId="{A65E5187-664B-4AE6-A54C-64850BB78F89}">
      <dsp:nvSpPr>
        <dsp:cNvPr id="0" name=""/>
        <dsp:cNvSpPr/>
      </dsp:nvSpPr>
      <dsp:spPr>
        <a:xfrm>
          <a:off x="5879449" y="1247641"/>
          <a:ext cx="226095" cy="847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858"/>
              </a:lnTo>
              <a:lnTo>
                <a:pt x="226095" y="8478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0C24A4-9B2D-430F-B227-19F5421EDBDF}">
      <dsp:nvSpPr>
        <dsp:cNvPr id="0" name=""/>
        <dsp:cNvSpPr/>
      </dsp:nvSpPr>
      <dsp:spPr>
        <a:xfrm>
          <a:off x="6105544" y="1530261"/>
          <a:ext cx="1808764" cy="11304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Know-how (védett ismeret)</a:t>
          </a:r>
        </a:p>
      </dsp:txBody>
      <dsp:txXfrm>
        <a:off x="6138655" y="1563372"/>
        <a:ext cx="1742542" cy="1064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9144000" cy="457200"/>
          </a:xfrm>
          <a:custGeom>
            <a:avLst/>
            <a:gdLst/>
            <a:ahLst/>
            <a:cxnLst/>
            <a:rect l="l" t="t" r="r" b="b"/>
            <a:pathLst>
              <a:path w="9144000" h="457200">
                <a:moveTo>
                  <a:pt x="9144000" y="0"/>
                </a:moveTo>
                <a:lnTo>
                  <a:pt x="0" y="0"/>
                </a:lnTo>
                <a:lnTo>
                  <a:pt x="0" y="457199"/>
                </a:lnTo>
                <a:lnTo>
                  <a:pt x="9144000" y="457199"/>
                </a:lnTo>
                <a:lnTo>
                  <a:pt x="9144000" y="0"/>
                </a:lnTo>
                <a:close/>
              </a:path>
            </a:pathLst>
          </a:custGeom>
          <a:solidFill>
            <a:srgbClr val="6081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9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639826"/>
            <a:ext cx="7340600" cy="1040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4347" y="2145283"/>
            <a:ext cx="8055305" cy="400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mdn.org/tmview/#/tmview/detail/IN500000002391928" TargetMode="External"/><Relationship Id="rId2" Type="http://schemas.openxmlformats.org/officeDocument/2006/relationships/hyperlink" Target="https://www.tmdn.org/tmview/#/tmview/detail/EM50000000366190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mdn.org/tmview/#/tmview/detail/EM500000017894840" TargetMode="External"/><Relationship Id="rId4" Type="http://schemas.openxmlformats.org/officeDocument/2006/relationships/hyperlink" Target="https://euipo.europa.eu/tunnel-web/secure/webdav/guest/document_library/contentPdfs/news/common_practice_11/Hologram%20mark%202.mp4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jpg"/><Relationship Id="rId5" Type="http://schemas.openxmlformats.org/officeDocument/2006/relationships/image" Target="../media/image26.pn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4588" y="1737360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7" y="6400799"/>
            <a:ext cx="9141460" cy="457200"/>
          </a:xfrm>
          <a:custGeom>
            <a:avLst/>
            <a:gdLst/>
            <a:ahLst/>
            <a:cxnLst/>
            <a:rect l="l" t="t" r="r" b="b"/>
            <a:pathLst>
              <a:path w="9141460" h="457200">
                <a:moveTo>
                  <a:pt x="9140952" y="0"/>
                </a:moveTo>
                <a:lnTo>
                  <a:pt x="0" y="0"/>
                </a:lnTo>
                <a:lnTo>
                  <a:pt x="0" y="457199"/>
                </a:lnTo>
                <a:lnTo>
                  <a:pt x="9140952" y="457199"/>
                </a:lnTo>
                <a:lnTo>
                  <a:pt x="9140952" y="0"/>
                </a:lnTo>
                <a:close/>
              </a:path>
            </a:pathLst>
          </a:custGeom>
          <a:solidFill>
            <a:srgbClr val="6081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5255" y="434340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333744"/>
            <a:ext cx="9144000" cy="67310"/>
          </a:xfrm>
          <a:custGeom>
            <a:avLst/>
            <a:gdLst/>
            <a:ahLst/>
            <a:cxnLst/>
            <a:rect l="l" t="t" r="r" b="b"/>
            <a:pathLst>
              <a:path w="9144000" h="67310">
                <a:moveTo>
                  <a:pt x="9144000" y="0"/>
                </a:moveTo>
                <a:lnTo>
                  <a:pt x="0" y="0"/>
                </a:lnTo>
                <a:lnTo>
                  <a:pt x="0" y="67055"/>
                </a:lnTo>
                <a:lnTo>
                  <a:pt x="9144000" y="67055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9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1740789"/>
            <a:ext cx="603059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3000" dirty="0">
                <a:solidFill>
                  <a:srgbClr val="252525"/>
                </a:solidFill>
              </a:rPr>
              <a:t>Szellemi tulajdonjogok - Iparjogvédelem</a:t>
            </a:r>
            <a:endParaRPr sz="3000" dirty="0"/>
          </a:p>
        </p:txBody>
      </p:sp>
      <p:sp>
        <p:nvSpPr>
          <p:cNvPr id="8" name="object 8"/>
          <p:cNvSpPr txBox="1"/>
          <p:nvPr/>
        </p:nvSpPr>
        <p:spPr>
          <a:xfrm>
            <a:off x="903833" y="4309084"/>
            <a:ext cx="4009390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000" spc="125" dirty="0">
                <a:solidFill>
                  <a:srgbClr val="464649"/>
                </a:solidFill>
                <a:latin typeface="Calibri Light"/>
                <a:cs typeface="Calibri Light"/>
              </a:rPr>
              <a:t>DR.</a:t>
            </a:r>
            <a:r>
              <a:rPr sz="2000" spc="335" dirty="0">
                <a:solidFill>
                  <a:srgbClr val="464649"/>
                </a:solidFill>
                <a:latin typeface="Calibri Light"/>
                <a:cs typeface="Calibri Light"/>
              </a:rPr>
              <a:t> </a:t>
            </a:r>
            <a:r>
              <a:rPr lang="hu-HU" sz="2000" spc="335" dirty="0">
                <a:solidFill>
                  <a:srgbClr val="464649"/>
                </a:solidFill>
                <a:latin typeface="Calibri Light"/>
                <a:cs typeface="Calibri Light"/>
              </a:rPr>
              <a:t>Grad-Gyenge Anikó</a:t>
            </a:r>
            <a:r>
              <a:rPr lang="hu-HU" sz="2000" spc="150" dirty="0">
                <a:solidFill>
                  <a:srgbClr val="464649"/>
                </a:solidFill>
                <a:latin typeface="Calibri Light"/>
                <a:cs typeface="Calibri Light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lang="hu-HU" sz="2000" spc="150" dirty="0">
                <a:solidFill>
                  <a:srgbClr val="464649"/>
                </a:solidFill>
                <a:latin typeface="Calibri Light"/>
                <a:cs typeface="Calibri Light"/>
              </a:rPr>
              <a:t>2</a:t>
            </a:r>
            <a:r>
              <a:rPr lang="hu-HU" sz="2000" spc="-55" dirty="0">
                <a:solidFill>
                  <a:srgbClr val="252525"/>
                </a:solidFill>
                <a:latin typeface="Calibri Light"/>
                <a:cs typeface="Calibri Light"/>
              </a:rPr>
              <a:t>02</a:t>
            </a:r>
            <a:r>
              <a:rPr lang="hu-HU" sz="2000" spc="-70" dirty="0">
                <a:solidFill>
                  <a:srgbClr val="252525"/>
                </a:solidFill>
                <a:latin typeface="Calibri Light"/>
                <a:cs typeface="Calibri Light"/>
              </a:rPr>
              <a:t>6</a:t>
            </a:r>
            <a:r>
              <a:rPr lang="hu-HU" sz="2000" dirty="0">
                <a:solidFill>
                  <a:srgbClr val="252525"/>
                </a:solidFill>
                <a:latin typeface="Calibri Light"/>
                <a:cs typeface="Calibri Light"/>
              </a:rPr>
              <a:t>.</a:t>
            </a:r>
            <a:r>
              <a:rPr lang="hu-HU" sz="2000" spc="-155" dirty="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lang="hu-HU" sz="2000" spc="-55">
                <a:solidFill>
                  <a:srgbClr val="252525"/>
                </a:solidFill>
                <a:latin typeface="Calibri Light"/>
                <a:cs typeface="Calibri Light"/>
              </a:rPr>
              <a:t>március </a:t>
            </a:r>
            <a:r>
              <a:rPr lang="hu-HU" sz="2000" spc="-55" dirty="0">
                <a:solidFill>
                  <a:srgbClr val="252525"/>
                </a:solidFill>
                <a:latin typeface="Calibri Light"/>
                <a:cs typeface="Calibri Light"/>
              </a:rPr>
              <a:t>27</a:t>
            </a:r>
            <a:r>
              <a:rPr lang="hu-HU" sz="2000" dirty="0">
                <a:solidFill>
                  <a:srgbClr val="252525"/>
                </a:solidFill>
                <a:latin typeface="Calibri Light"/>
                <a:cs typeface="Calibri Light"/>
              </a:rPr>
              <a:t>.</a:t>
            </a:r>
            <a:endParaRPr lang="hu-HU" sz="20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7772400" cy="553998"/>
          </a:xfrm>
        </p:spPr>
        <p:txBody>
          <a:bodyPr/>
          <a:lstStyle/>
          <a:p>
            <a:r>
              <a:rPr lang="hu-HU" dirty="0"/>
              <a:t>A szellemi alkotások jogának rendszere</a:t>
            </a:r>
          </a:p>
        </p:txBody>
      </p:sp>
      <p:graphicFrame>
        <p:nvGraphicFramePr>
          <p:cNvPr id="4" name="Tartalom helye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48938501"/>
              </p:ext>
            </p:extLst>
          </p:nvPr>
        </p:nvGraphicFramePr>
        <p:xfrm>
          <a:off x="614363" y="2057400"/>
          <a:ext cx="7915275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626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4400" y="437909"/>
            <a:ext cx="7772400" cy="1107996"/>
          </a:xfrm>
        </p:spPr>
        <p:txBody>
          <a:bodyPr/>
          <a:lstStyle/>
          <a:p>
            <a:r>
              <a:rPr lang="hu-HU" dirty="0"/>
              <a:t>A szerzői jog és az iparjogvédelem jellemzői</a:t>
            </a:r>
          </a:p>
        </p:txBody>
      </p:sp>
      <p:pic>
        <p:nvPicPr>
          <p:cNvPr id="4" name="table"/>
          <p:cNvPicPr>
            <a:picLocks noGrp="1" noChangeAspect="1"/>
          </p:cNvPicPr>
          <p:nvPr>
            <p:ph idx="4294967295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4591" y="1905000"/>
            <a:ext cx="7914818" cy="28951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table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4591" y="4601076"/>
            <a:ext cx="7886700" cy="164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5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spc="-50" dirty="0"/>
              <a:t>Milyen</a:t>
            </a:r>
            <a:r>
              <a:rPr spc="-100" dirty="0"/>
              <a:t> </a:t>
            </a:r>
            <a:r>
              <a:rPr spc="-60" dirty="0"/>
              <a:t>szellemi</a:t>
            </a:r>
            <a:r>
              <a:rPr spc="-125" dirty="0"/>
              <a:t> </a:t>
            </a:r>
            <a:r>
              <a:rPr spc="-65" dirty="0"/>
              <a:t>eredmények</a:t>
            </a:r>
            <a:r>
              <a:rPr spc="-114" dirty="0"/>
              <a:t> </a:t>
            </a:r>
            <a:r>
              <a:rPr spc="-45" dirty="0"/>
              <a:t>jelennek </a:t>
            </a:r>
            <a:r>
              <a:rPr spc="-800" dirty="0"/>
              <a:t> </a:t>
            </a:r>
            <a:r>
              <a:rPr spc="-40" dirty="0"/>
              <a:t>meg</a:t>
            </a:r>
            <a:r>
              <a:rPr spc="-105" dirty="0"/>
              <a:t> </a:t>
            </a:r>
            <a:r>
              <a:rPr spc="-45" dirty="0"/>
              <a:t>ebben</a:t>
            </a:r>
            <a:r>
              <a:rPr spc="-100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spc="-60" dirty="0"/>
              <a:t>tárgyban?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8889" y="1845564"/>
            <a:ext cx="2429833" cy="3836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613" y="1845564"/>
            <a:ext cx="4349115" cy="3836670"/>
            <a:chOff x="2110613" y="1845564"/>
            <a:chExt cx="4349115" cy="3836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889" y="1845564"/>
              <a:ext cx="2429833" cy="3836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25218" y="2710434"/>
              <a:ext cx="4319905" cy="2388870"/>
            </a:xfrm>
            <a:custGeom>
              <a:avLst/>
              <a:gdLst/>
              <a:ahLst/>
              <a:cxnLst/>
              <a:rect l="l" t="t" r="r" b="b"/>
              <a:pathLst>
                <a:path w="4319905" h="2388870">
                  <a:moveTo>
                    <a:pt x="2735580" y="360044"/>
                  </a:moveTo>
                  <a:lnTo>
                    <a:pt x="4319778" y="0"/>
                  </a:lnTo>
                </a:path>
                <a:path w="4319905" h="2388870">
                  <a:moveTo>
                    <a:pt x="0" y="2388489"/>
                  </a:moveTo>
                  <a:lnTo>
                    <a:pt x="1728216" y="1740408"/>
                  </a:lnTo>
                </a:path>
                <a:path w="4319905" h="2388870">
                  <a:moveTo>
                    <a:pt x="2510028" y="1222247"/>
                  </a:moveTo>
                  <a:lnTo>
                    <a:pt x="4313808" y="1222247"/>
                  </a:lnTo>
                </a:path>
                <a:path w="4319905" h="2388870">
                  <a:moveTo>
                    <a:pt x="515112" y="359663"/>
                  </a:moveTo>
                  <a:lnTo>
                    <a:pt x="2376297" y="480567"/>
                  </a:lnTo>
                </a:path>
              </a:pathLst>
            </a:custGeom>
            <a:ln w="28956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2127" y="2037588"/>
            <a:ext cx="2377440" cy="20624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latin typeface="Calibri"/>
                <a:cs typeface="Calibri"/>
              </a:rPr>
              <a:t>VÉDJEGY</a:t>
            </a:r>
            <a:endParaRPr sz="1600">
              <a:latin typeface="Calibri"/>
              <a:cs typeface="Calibri"/>
            </a:endParaRPr>
          </a:p>
          <a:p>
            <a:pPr marL="91440" marR="16065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Megkülönböztetés </a:t>
            </a:r>
            <a:r>
              <a:rPr sz="1600" spc="-5" dirty="0">
                <a:latin typeface="Calibri"/>
                <a:cs typeface="Calibri"/>
              </a:rPr>
              <a:t>mások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termékeitől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szolgáltatásaitól </a:t>
            </a:r>
            <a:r>
              <a:rPr sz="1600" spc="-10" dirty="0">
                <a:latin typeface="Calibri"/>
                <a:cs typeface="Calibri"/>
              </a:rPr>
              <a:t> (márkanevek,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betűk,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számok,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logók,</a:t>
            </a:r>
            <a:endParaRPr sz="1600">
              <a:latin typeface="Calibri"/>
              <a:cs typeface="Calibri"/>
            </a:endParaRPr>
          </a:p>
          <a:p>
            <a:pPr marL="91440" marR="2286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szimbólumok, </a:t>
            </a:r>
            <a:r>
              <a:rPr sz="1600" spc="-10" dirty="0">
                <a:latin typeface="Calibri"/>
                <a:cs typeface="Calibri"/>
              </a:rPr>
              <a:t>szlogenek,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színek,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hangok)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8900" y="1991867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600" spc="-15" dirty="0">
                <a:latin typeface="Calibri"/>
                <a:cs typeface="Calibri"/>
              </a:rPr>
              <a:t>SZABADALOM</a:t>
            </a:r>
            <a:endParaRPr sz="1600">
              <a:latin typeface="Calibri"/>
              <a:cs typeface="Calibri"/>
            </a:endParaRPr>
          </a:p>
          <a:p>
            <a:pPr marL="92075" marR="19812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Az ismert </a:t>
            </a:r>
            <a:r>
              <a:rPr sz="1600" spc="-10" dirty="0">
                <a:latin typeface="Calibri"/>
                <a:cs typeface="Calibri"/>
              </a:rPr>
              <a:t>technológiákhoz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képest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új</a:t>
            </a:r>
            <a:r>
              <a:rPr sz="1600" spc="-10" dirty="0">
                <a:latin typeface="Calibri"/>
                <a:cs typeface="Calibri"/>
              </a:rPr>
              <a:t> megoldásokat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tartalmazó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találmányok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4996" y="3500628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 marR="1012190">
              <a:lnSpc>
                <a:spcPct val="100000"/>
              </a:lnSpc>
              <a:spcBef>
                <a:spcPts val="270"/>
              </a:spcBef>
            </a:pPr>
            <a:r>
              <a:rPr sz="1600" spc="-20" dirty="0">
                <a:latin typeface="Calibri"/>
                <a:cs typeface="Calibri"/>
              </a:rPr>
              <a:t>HASZNÁLATI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MIN</a:t>
            </a:r>
            <a:r>
              <a:rPr sz="1600" spc="-12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spc="-120" dirty="0">
                <a:latin typeface="Calibri"/>
                <a:cs typeface="Calibri"/>
              </a:rPr>
              <a:t>L</a:t>
            </a:r>
            <a:r>
              <a:rPr sz="1600" spc="-12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Egyszerűbb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tárgyak,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szerkezetek.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736" y="5109971"/>
            <a:ext cx="2714625" cy="8305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600" spc="-20" dirty="0">
                <a:latin typeface="Calibri"/>
                <a:cs typeface="Calibri"/>
              </a:rPr>
              <a:t>FORMATERVEZÉSIMINTA-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45" dirty="0">
                <a:latin typeface="Calibri"/>
                <a:cs typeface="Calibri"/>
              </a:rPr>
              <a:t>OLTALOM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(DESIGN)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termékek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külső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megjelenése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6691" y="4794503"/>
            <a:ext cx="3159760" cy="1569720"/>
          </a:xfrm>
          <a:custGeom>
            <a:avLst/>
            <a:gdLst/>
            <a:ahLst/>
            <a:cxnLst/>
            <a:rect l="l" t="t" r="r" b="b"/>
            <a:pathLst>
              <a:path w="3159759" h="1569720">
                <a:moveTo>
                  <a:pt x="0" y="1569720"/>
                </a:moveTo>
                <a:lnTo>
                  <a:pt x="3159252" y="1569720"/>
                </a:lnTo>
                <a:lnTo>
                  <a:pt x="3159252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143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41264" y="4816221"/>
            <a:ext cx="315023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Egyéni,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eredeti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jellegű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irodalmi,</a:t>
            </a:r>
            <a:endParaRPr sz="1600">
              <a:latin typeface="Calibri"/>
              <a:cs typeface="Calibri"/>
            </a:endParaRPr>
          </a:p>
          <a:p>
            <a:pPr marL="87630" marR="8636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művészeti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tudományos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művek,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alkotás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(pl.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óra),</a:t>
            </a:r>
            <a:endParaRPr sz="1600">
              <a:latin typeface="Calibri"/>
              <a:cs typeface="Calibri"/>
            </a:endParaRPr>
          </a:p>
          <a:p>
            <a:pPr marL="87630" marR="887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reklámanyagok, használati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útmutató.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3601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Az</a:t>
            </a:r>
            <a:r>
              <a:rPr spc="-125" dirty="0"/>
              <a:t> </a:t>
            </a:r>
            <a:r>
              <a:rPr spc="-55" dirty="0"/>
              <a:t>előzőhöz</a:t>
            </a:r>
            <a:r>
              <a:rPr spc="-125" dirty="0"/>
              <a:t> </a:t>
            </a:r>
            <a:r>
              <a:rPr spc="-70" dirty="0"/>
              <a:t>képest?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7905" y="1994807"/>
            <a:ext cx="2188517" cy="3681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95771" y="4299203"/>
            <a:ext cx="3159760" cy="8305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latin typeface="Calibri"/>
                <a:cs typeface="Calibri"/>
              </a:rPr>
              <a:t>SZOFTVER,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ADATBÁZIS,</a:t>
            </a:r>
            <a:endParaRPr sz="1600">
              <a:latin typeface="Calibri"/>
              <a:cs typeface="Calibri"/>
            </a:endParaRPr>
          </a:p>
          <a:p>
            <a:pPr marL="92710">
              <a:lnSpc>
                <a:spcPts val="1914"/>
              </a:lnSpc>
              <a:spcBef>
                <a:spcPts val="10"/>
              </a:spcBef>
            </a:pPr>
            <a:r>
              <a:rPr sz="1600" spc="-15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ALKOTÁS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Wingdings"/>
                <a:cs typeface="Wingdings"/>
              </a:rPr>
              <a:t></a:t>
            </a:r>
            <a:endParaRPr sz="1600">
              <a:latin typeface="Wingdings"/>
              <a:cs typeface="Wingdings"/>
            </a:endParaRPr>
          </a:p>
          <a:p>
            <a:pPr marL="92710">
              <a:lnSpc>
                <a:spcPts val="1914"/>
              </a:lnSpc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613" y="1845564"/>
            <a:ext cx="4349115" cy="3836670"/>
            <a:chOff x="2110613" y="1845564"/>
            <a:chExt cx="4349115" cy="3836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889" y="1845564"/>
              <a:ext cx="2429833" cy="3836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25218" y="2710434"/>
              <a:ext cx="4319905" cy="2388870"/>
            </a:xfrm>
            <a:custGeom>
              <a:avLst/>
              <a:gdLst/>
              <a:ahLst/>
              <a:cxnLst/>
              <a:rect l="l" t="t" r="r" b="b"/>
              <a:pathLst>
                <a:path w="4319905" h="2388870">
                  <a:moveTo>
                    <a:pt x="2735580" y="360044"/>
                  </a:moveTo>
                  <a:lnTo>
                    <a:pt x="4319778" y="0"/>
                  </a:lnTo>
                </a:path>
                <a:path w="4319905" h="2388870">
                  <a:moveTo>
                    <a:pt x="0" y="2388489"/>
                  </a:moveTo>
                  <a:lnTo>
                    <a:pt x="1728216" y="1740408"/>
                  </a:lnTo>
                </a:path>
                <a:path w="4319905" h="2388870">
                  <a:moveTo>
                    <a:pt x="2510028" y="1222247"/>
                  </a:moveTo>
                  <a:lnTo>
                    <a:pt x="4313808" y="1222247"/>
                  </a:lnTo>
                </a:path>
                <a:path w="4319905" h="2388870">
                  <a:moveTo>
                    <a:pt x="515112" y="359663"/>
                  </a:moveTo>
                  <a:lnTo>
                    <a:pt x="2376297" y="480567"/>
                  </a:lnTo>
                </a:path>
              </a:pathLst>
            </a:custGeom>
            <a:ln w="28956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2127" y="2037588"/>
            <a:ext cx="2377440" cy="20624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latin typeface="Calibri"/>
                <a:cs typeface="Calibri"/>
              </a:rPr>
              <a:t>VÉDJEGY</a:t>
            </a:r>
            <a:endParaRPr sz="1600">
              <a:latin typeface="Calibri"/>
              <a:cs typeface="Calibri"/>
            </a:endParaRPr>
          </a:p>
          <a:p>
            <a:pPr marL="91440" marR="16065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Megkülönböztetés </a:t>
            </a:r>
            <a:r>
              <a:rPr sz="1600" spc="-5" dirty="0">
                <a:latin typeface="Calibri"/>
                <a:cs typeface="Calibri"/>
              </a:rPr>
              <a:t>mások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termékeitől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szolgáltatásaitól </a:t>
            </a:r>
            <a:r>
              <a:rPr sz="1600" spc="-10" dirty="0">
                <a:latin typeface="Calibri"/>
                <a:cs typeface="Calibri"/>
              </a:rPr>
              <a:t> (márkanevek,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betűk,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számok,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logók,</a:t>
            </a:r>
            <a:endParaRPr sz="1600">
              <a:latin typeface="Calibri"/>
              <a:cs typeface="Calibri"/>
            </a:endParaRPr>
          </a:p>
          <a:p>
            <a:pPr marL="91440" marR="2286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szimbólumok, </a:t>
            </a:r>
            <a:r>
              <a:rPr sz="1600" spc="-10" dirty="0">
                <a:latin typeface="Calibri"/>
                <a:cs typeface="Calibri"/>
              </a:rPr>
              <a:t>szlogenek,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színek,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hangok)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8900" y="1991867"/>
            <a:ext cx="2466340" cy="1077595"/>
          </a:xfrm>
          <a:prstGeom prst="rect">
            <a:avLst/>
          </a:prstGeom>
          <a:solidFill>
            <a:srgbClr val="556C83"/>
          </a:solidFill>
          <a:ln w="9144">
            <a:solidFill>
              <a:srgbClr val="6E6E7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SZABADALOM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Az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ismert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technológiákhoz</a:t>
            </a:r>
            <a:endParaRPr sz="1600">
              <a:latin typeface="Calibri"/>
              <a:cs typeface="Calibri"/>
            </a:endParaRPr>
          </a:p>
          <a:p>
            <a:pPr marL="92075" marR="368935">
              <a:lnSpc>
                <a:spcPct val="100000"/>
              </a:lnSpc>
              <a:spcBef>
                <a:spcPts val="5"/>
              </a:spcBef>
            </a:pP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képest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új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megoldásokat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tartalmazó</a:t>
            </a:r>
            <a:r>
              <a:rPr sz="16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találmányok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4996" y="3500628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 marR="1012190">
              <a:lnSpc>
                <a:spcPct val="100000"/>
              </a:lnSpc>
              <a:spcBef>
                <a:spcPts val="270"/>
              </a:spcBef>
            </a:pPr>
            <a:r>
              <a:rPr sz="1600" spc="-20" dirty="0">
                <a:latin typeface="Calibri"/>
                <a:cs typeface="Calibri"/>
              </a:rPr>
              <a:t>HASZNÁLATI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MIN</a:t>
            </a:r>
            <a:r>
              <a:rPr sz="1600" spc="-12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spc="-120" dirty="0">
                <a:latin typeface="Calibri"/>
                <a:cs typeface="Calibri"/>
              </a:rPr>
              <a:t>L</a:t>
            </a:r>
            <a:r>
              <a:rPr sz="1600" spc="-12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Egyszerűbb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tárgyak,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szerkezetek.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736" y="5109971"/>
            <a:ext cx="2714625" cy="8305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600" spc="-20" dirty="0">
                <a:latin typeface="Calibri"/>
                <a:cs typeface="Calibri"/>
              </a:rPr>
              <a:t>FORMATERVEZÉSIMINTA-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45" dirty="0">
                <a:latin typeface="Calibri"/>
                <a:cs typeface="Calibri"/>
              </a:rPr>
              <a:t>OLTALOM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(DESIGN)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termékek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külső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megjelenése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6691" y="4794503"/>
            <a:ext cx="3159760" cy="1569720"/>
          </a:xfrm>
          <a:custGeom>
            <a:avLst/>
            <a:gdLst/>
            <a:ahLst/>
            <a:cxnLst/>
            <a:rect l="l" t="t" r="r" b="b"/>
            <a:pathLst>
              <a:path w="3159759" h="1569720">
                <a:moveTo>
                  <a:pt x="0" y="1569720"/>
                </a:moveTo>
                <a:lnTo>
                  <a:pt x="3159252" y="1569720"/>
                </a:lnTo>
                <a:lnTo>
                  <a:pt x="3159252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143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41264" y="4816221"/>
            <a:ext cx="315023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Egyéni,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eredeti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jellegű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irodalmi,</a:t>
            </a:r>
            <a:endParaRPr sz="1600">
              <a:latin typeface="Calibri"/>
              <a:cs typeface="Calibri"/>
            </a:endParaRPr>
          </a:p>
          <a:p>
            <a:pPr marL="87630" marR="8636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művészeti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tudományos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művek,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alkotás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(pl.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óra),</a:t>
            </a:r>
            <a:endParaRPr sz="1600">
              <a:latin typeface="Calibri"/>
              <a:cs typeface="Calibri"/>
            </a:endParaRPr>
          </a:p>
          <a:p>
            <a:pPr marL="87630" marR="887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reklámanyagok, használati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útmutató.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71450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</a:t>
            </a:r>
            <a:r>
              <a:rPr spc="-125" dirty="0"/>
              <a:t>z</a:t>
            </a:r>
            <a:r>
              <a:rPr spc="-50" dirty="0"/>
              <a:t>abadal</a:t>
            </a:r>
            <a:r>
              <a:rPr spc="-55" dirty="0"/>
              <a:t>m</a:t>
            </a:r>
            <a:r>
              <a:rPr dirty="0"/>
              <a:t>i</a:t>
            </a:r>
            <a:r>
              <a:rPr spc="-85" dirty="0"/>
              <a:t> </a:t>
            </a:r>
            <a:r>
              <a:rPr spc="-55" dirty="0"/>
              <a:t>o</a:t>
            </a:r>
            <a:r>
              <a:rPr spc="-50" dirty="0"/>
              <a:t>l</a:t>
            </a:r>
            <a:r>
              <a:rPr spc="-90" dirty="0"/>
              <a:t>t</a:t>
            </a:r>
            <a:r>
              <a:rPr spc="-50" dirty="0"/>
              <a:t>al</a:t>
            </a:r>
            <a:r>
              <a:rPr spc="-55" dirty="0"/>
              <a:t>o</a:t>
            </a:r>
            <a:r>
              <a:rPr dirty="0"/>
              <a:t>m</a:t>
            </a:r>
            <a:r>
              <a:rPr spc="-85" dirty="0"/>
              <a:t> </a:t>
            </a:r>
            <a:r>
              <a:rPr spc="-45" dirty="0"/>
              <a:t>(</a:t>
            </a:r>
            <a:r>
              <a:rPr spc="-50" dirty="0"/>
              <a:t>1995</a:t>
            </a:r>
            <a:r>
              <a:rPr dirty="0"/>
              <a:t>.</a:t>
            </a:r>
            <a:r>
              <a:rPr spc="-105" dirty="0"/>
              <a:t> </a:t>
            </a:r>
            <a:r>
              <a:rPr spc="-55" dirty="0"/>
              <a:t>é</a:t>
            </a:r>
            <a:r>
              <a:rPr spc="-50" dirty="0"/>
              <a:t>v</a:t>
            </a:r>
            <a:r>
              <a:rPr dirty="0"/>
              <a:t>i</a:t>
            </a:r>
            <a:r>
              <a:rPr spc="-95" dirty="0"/>
              <a:t> </a:t>
            </a:r>
            <a:r>
              <a:rPr spc="-55" dirty="0"/>
              <a:t>XXX</a:t>
            </a:r>
            <a:r>
              <a:rPr spc="-50" dirty="0"/>
              <a:t>III</a:t>
            </a:r>
            <a:r>
              <a:rPr dirty="0"/>
              <a:t>.</a:t>
            </a:r>
            <a:r>
              <a:rPr spc="-210" dirty="0"/>
              <a:t> </a:t>
            </a:r>
            <a:r>
              <a:rPr spc="-45" dirty="0"/>
              <a:t>t</a:t>
            </a:r>
            <a:r>
              <a:rPr spc="-360" dirty="0"/>
              <a:t>v</a:t>
            </a:r>
            <a:r>
              <a:rPr spc="-55" dirty="0"/>
              <a:t>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831975"/>
            <a:ext cx="682180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Oltalmat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kap</a:t>
            </a:r>
            <a:r>
              <a:rPr sz="2000" i="1" spc="-5" dirty="0">
                <a:solidFill>
                  <a:srgbClr val="404040"/>
                </a:solidFill>
                <a:latin typeface="Calibri"/>
                <a:cs typeface="Calibri"/>
              </a:rPr>
              <a:t>hat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új,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feltalálói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tevékenységen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alapuló és iparilag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hasznosítható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találmány.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1328" y="3034283"/>
            <a:ext cx="3349752" cy="2902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783" y="548640"/>
            <a:ext cx="3616452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1790826"/>
            <a:ext cx="7308850" cy="320611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 marR="328930">
              <a:lnSpc>
                <a:spcPct val="70000"/>
              </a:lnSpc>
              <a:spcBef>
                <a:spcPts val="780"/>
              </a:spcBef>
            </a:pPr>
            <a:r>
              <a:rPr sz="1900" spc="-10" dirty="0">
                <a:latin typeface="Calibri"/>
                <a:cs typeface="Calibri"/>
              </a:rPr>
              <a:t>Szabadalmazható</a:t>
            </a:r>
            <a:r>
              <a:rPr sz="1900" spc="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minden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b="1" spc="-5" dirty="0">
                <a:solidFill>
                  <a:srgbClr val="FF0000"/>
                </a:solidFill>
                <a:latin typeface="Calibri"/>
                <a:cs typeface="Calibri"/>
              </a:rPr>
              <a:t>új,</a:t>
            </a:r>
            <a:r>
              <a:rPr sz="19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00AF50"/>
                </a:solidFill>
                <a:latin typeface="Calibri"/>
                <a:cs typeface="Calibri"/>
              </a:rPr>
              <a:t>feltalálói</a:t>
            </a:r>
            <a:r>
              <a:rPr sz="1900" b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00AF50"/>
                </a:solidFill>
                <a:latin typeface="Calibri"/>
                <a:cs typeface="Calibri"/>
              </a:rPr>
              <a:t>tevékenységen</a:t>
            </a:r>
            <a:r>
              <a:rPr sz="1900" b="1" spc="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00AF50"/>
                </a:solidFill>
                <a:latin typeface="Calibri"/>
                <a:cs typeface="Calibri"/>
              </a:rPr>
              <a:t>alapuló</a:t>
            </a:r>
            <a:r>
              <a:rPr sz="1900" dirty="0">
                <a:latin typeface="Calibri"/>
                <a:cs typeface="Calibri"/>
              </a:rPr>
              <a:t>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b="1" spc="-5" dirty="0">
                <a:solidFill>
                  <a:srgbClr val="9D8563"/>
                </a:solidFill>
                <a:latin typeface="Calibri"/>
                <a:cs typeface="Calibri"/>
              </a:rPr>
              <a:t>iparilag </a:t>
            </a:r>
            <a:r>
              <a:rPr sz="1900" b="1" spc="-415" dirty="0">
                <a:solidFill>
                  <a:srgbClr val="9D8563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9D8563"/>
                </a:solidFill>
                <a:latin typeface="Calibri"/>
                <a:cs typeface="Calibri"/>
              </a:rPr>
              <a:t>alkalmazható</a:t>
            </a:r>
            <a:r>
              <a:rPr sz="1900" b="1" dirty="0">
                <a:solidFill>
                  <a:srgbClr val="9D8563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találmány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 </a:t>
            </a:r>
            <a:r>
              <a:rPr sz="1900" spc="-15" dirty="0">
                <a:latin typeface="Calibri"/>
                <a:cs typeface="Calibri"/>
              </a:rPr>
              <a:t>technika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bármely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területén.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900" b="1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Nem</a:t>
            </a:r>
            <a:r>
              <a:rPr sz="19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minősül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találmánynak</a:t>
            </a:r>
            <a:r>
              <a:rPr sz="19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különösen</a:t>
            </a:r>
            <a:endParaRPr sz="1900">
              <a:latin typeface="Calibri"/>
              <a:cs typeface="Calibri"/>
            </a:endParaRPr>
          </a:p>
          <a:p>
            <a:pPr marL="1178560" indent="-252095">
              <a:lnSpc>
                <a:spcPct val="100000"/>
              </a:lnSpc>
              <a:spcBef>
                <a:spcPts val="720"/>
              </a:spcBef>
              <a:buFont typeface="Calibri"/>
              <a:buAutoNum type="alphaLcParenR"/>
              <a:tabLst>
                <a:tab pos="1179195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felfedezés,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tudományos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elmélet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matematikai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módszer;</a:t>
            </a:r>
            <a:endParaRPr sz="1900">
              <a:latin typeface="Calibri"/>
              <a:cs typeface="Calibri"/>
            </a:endParaRPr>
          </a:p>
          <a:p>
            <a:pPr marL="1178560" indent="-252095">
              <a:lnSpc>
                <a:spcPct val="100000"/>
              </a:lnSpc>
              <a:spcBef>
                <a:spcPts val="720"/>
              </a:spcBef>
              <a:buFont typeface="Calibri"/>
              <a:buAutoNum type="alphaLcParenR"/>
              <a:tabLst>
                <a:tab pos="1179195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esztétikai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alkotás;</a:t>
            </a:r>
            <a:endParaRPr sz="1900">
              <a:latin typeface="Calibri"/>
              <a:cs typeface="Calibri"/>
            </a:endParaRPr>
          </a:p>
          <a:p>
            <a:pPr marL="1154430" indent="-227329">
              <a:lnSpc>
                <a:spcPts val="1939"/>
              </a:lnSpc>
              <a:spcBef>
                <a:spcPts val="705"/>
              </a:spcBef>
              <a:buFont typeface="Calibri"/>
              <a:buAutoNum type="alphaLcParenR"/>
              <a:tabLst>
                <a:tab pos="1154430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szellemi</a:t>
            </a:r>
            <a:r>
              <a:rPr sz="19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tevékenységre,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játékra,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üzletvitelre</a:t>
            </a:r>
            <a:r>
              <a:rPr sz="19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vonatkozó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terv,</a:t>
            </a:r>
            <a:endParaRPr sz="1900">
              <a:latin typeface="Calibri"/>
              <a:cs typeface="Calibri"/>
            </a:endParaRPr>
          </a:p>
          <a:p>
            <a:pPr marL="927100">
              <a:lnSpc>
                <a:spcPts val="1939"/>
              </a:lnSpc>
            </a:pP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szabály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eljárás,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valamint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i="1" spc="-15" dirty="0">
                <a:solidFill>
                  <a:srgbClr val="404040"/>
                </a:solidFill>
                <a:latin typeface="Calibri"/>
                <a:cs typeface="Calibri"/>
              </a:rPr>
              <a:t>számítógépi</a:t>
            </a:r>
            <a:r>
              <a:rPr sz="1900" i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i="1" spc="-5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;</a:t>
            </a:r>
            <a:endParaRPr sz="1900">
              <a:latin typeface="Calibri"/>
              <a:cs typeface="Calibri"/>
            </a:endParaRPr>
          </a:p>
          <a:p>
            <a:pPr marL="1178560" indent="-252095">
              <a:lnSpc>
                <a:spcPct val="100000"/>
              </a:lnSpc>
              <a:spcBef>
                <a:spcPts val="720"/>
              </a:spcBef>
              <a:buFont typeface="Calibri"/>
              <a:buAutoNum type="alphaLcParenR" startAt="4"/>
              <a:tabLst>
                <a:tab pos="1179195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információk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megjelenítése.</a:t>
            </a:r>
            <a:endParaRPr sz="1900">
              <a:latin typeface="Calibri"/>
              <a:cs typeface="Calibri"/>
            </a:endParaRPr>
          </a:p>
          <a:p>
            <a:pPr marL="12700" marR="365125">
              <a:lnSpc>
                <a:spcPct val="70000"/>
              </a:lnSpc>
              <a:spcBef>
                <a:spcPts val="1405"/>
              </a:spcBef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felsoroltak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szabadalmazhatósága</a:t>
            </a:r>
            <a:r>
              <a:rPr sz="19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csak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annyiban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kizárt,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amennyiben</a:t>
            </a:r>
            <a:r>
              <a:rPr sz="19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900" spc="-4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szabadalmat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rájuk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kizárólag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minőségükben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igénylik.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4464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Ú</a:t>
            </a:r>
            <a:r>
              <a:rPr spc="-50" dirty="0"/>
              <a:t>jd</a:t>
            </a:r>
            <a:r>
              <a:rPr spc="-55" dirty="0"/>
              <a:t>o</a:t>
            </a:r>
            <a:r>
              <a:rPr spc="-50" dirty="0"/>
              <a:t>nsá</a:t>
            </a:r>
            <a:r>
              <a:rPr spc="95" dirty="0"/>
              <a:t>g</a:t>
            </a:r>
            <a:r>
              <a:rPr spc="-45" dirty="0"/>
              <a:t>/</a:t>
            </a:r>
            <a:r>
              <a:rPr spc="-80" dirty="0"/>
              <a:t>t</a:t>
            </a:r>
            <a:r>
              <a:rPr spc="-55" dirty="0"/>
              <a:t>e</a:t>
            </a:r>
            <a:r>
              <a:rPr spc="-60" dirty="0"/>
              <a:t>c</a:t>
            </a:r>
            <a:r>
              <a:rPr spc="-50" dirty="0"/>
              <a:t>hni</a:t>
            </a:r>
            <a:r>
              <a:rPr spc="-125" dirty="0"/>
              <a:t>k</a:t>
            </a:r>
            <a:r>
              <a:rPr dirty="0"/>
              <a:t>a</a:t>
            </a:r>
            <a:r>
              <a:rPr spc="-120" dirty="0"/>
              <a:t> </a:t>
            </a:r>
            <a:r>
              <a:rPr spc="-50" dirty="0"/>
              <a:t>állás</a:t>
            </a:r>
            <a:r>
              <a:rPr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685237"/>
            <a:ext cx="7458075" cy="275399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Új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találmány,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 nem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tartozik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6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tartozik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mindaz, ami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elsőbbség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időpontja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előtt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írásbeli</a:t>
            </a:r>
            <a:r>
              <a:rPr sz="2000" u="heavy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közlés,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szóbeli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ismertetés,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gyakorlatbavétel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útján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bármilyen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más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módon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bárki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számára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hozzáférhetővé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vált.</a:t>
            </a:r>
            <a:endParaRPr sz="2000">
              <a:latin typeface="Calibri"/>
              <a:cs typeface="Calibri"/>
            </a:endParaRPr>
          </a:p>
          <a:p>
            <a:pPr marL="69215">
              <a:lnSpc>
                <a:spcPts val="2280"/>
              </a:lnSpc>
              <a:spcBef>
                <a:spcPts val="112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tartozónak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kell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tekinteni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korábbi</a:t>
            </a:r>
            <a:endParaRPr sz="2000">
              <a:latin typeface="Calibri"/>
              <a:cs typeface="Calibri"/>
            </a:endParaRPr>
          </a:p>
          <a:p>
            <a:pPr marL="12700" marR="120014">
              <a:lnSpc>
                <a:spcPct val="90100"/>
              </a:lnSpc>
              <a:spcBef>
                <a:spcPts val="12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elsőbbségű</a:t>
            </a:r>
            <a:r>
              <a:rPr sz="2000" u="heavy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belföldi</a:t>
            </a:r>
            <a:r>
              <a:rPr sz="2000" u="heavy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szabadalmi</a:t>
            </a:r>
            <a:r>
              <a:rPr sz="2000" u="heavy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vagy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használati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mintaoltalmi</a:t>
            </a:r>
            <a:r>
              <a:rPr sz="2000" u="heavy" spc="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bejelentés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tartalmát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is,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amelyet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bejelentési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eljárásban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elsőbbségi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időpontot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követően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tettek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közzé,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hirdettek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645C-905E-AE54-69B5-99A78CDD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F5954-23FD-3C5A-F489-90ECCC76F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14D6C-A71A-E617-7CA0-91734E79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7" y="409153"/>
            <a:ext cx="7744906" cy="6039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52C09A-0D6A-06D7-E18C-36509563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94" y="62382"/>
            <a:ext cx="7744906" cy="6039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CC13B0-57D6-21C8-9637-873475F9C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0304"/>
            <a:ext cx="9144000" cy="46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21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639826"/>
            <a:ext cx="52597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spc="-95" dirty="0"/>
              <a:t>F</a:t>
            </a:r>
            <a:r>
              <a:rPr spc="-50" dirty="0"/>
              <a:t>el</a:t>
            </a:r>
            <a:r>
              <a:rPr spc="-90" dirty="0"/>
              <a:t>t</a:t>
            </a:r>
            <a:r>
              <a:rPr spc="-50" dirty="0"/>
              <a:t>alál</a:t>
            </a:r>
            <a:r>
              <a:rPr spc="-55" dirty="0"/>
              <a:t>ó</a:t>
            </a:r>
            <a:r>
              <a:rPr dirty="0"/>
              <a:t>i</a:t>
            </a:r>
            <a:r>
              <a:rPr spc="-85" dirty="0"/>
              <a:t> </a:t>
            </a:r>
            <a:r>
              <a:rPr spc="-80" dirty="0"/>
              <a:t>t</a:t>
            </a:r>
            <a:r>
              <a:rPr spc="-65" dirty="0"/>
              <a:t>e</a:t>
            </a:r>
            <a:r>
              <a:rPr spc="-85" dirty="0"/>
              <a:t>v</a:t>
            </a:r>
            <a:r>
              <a:rPr spc="-50" dirty="0"/>
              <a:t>é</a:t>
            </a:r>
            <a:r>
              <a:rPr spc="-170" dirty="0"/>
              <a:t>k</a:t>
            </a:r>
            <a:r>
              <a:rPr spc="-50" dirty="0"/>
              <a:t>e</a:t>
            </a:r>
            <a:r>
              <a:rPr spc="-120" dirty="0"/>
              <a:t>n</a:t>
            </a:r>
            <a:r>
              <a:rPr spc="-100" dirty="0"/>
              <a:t>y</a:t>
            </a:r>
            <a:r>
              <a:rPr spc="-50" dirty="0"/>
              <a:t>sé</a:t>
            </a:r>
            <a:r>
              <a:rPr dirty="0"/>
              <a:t>g</a:t>
            </a:r>
            <a:r>
              <a:rPr spc="-125" dirty="0"/>
              <a:t> </a:t>
            </a:r>
            <a:r>
              <a:rPr spc="-50" dirty="0"/>
              <a:t>é</a:t>
            </a:r>
            <a:r>
              <a:rPr dirty="0"/>
              <a:t>s</a:t>
            </a:r>
            <a:r>
              <a:rPr spc="-105" dirty="0"/>
              <a:t> </a:t>
            </a:r>
            <a:r>
              <a:rPr spc="-50" dirty="0"/>
              <a:t>ipar</a:t>
            </a:r>
            <a:r>
              <a:rPr dirty="0"/>
              <a:t>i  </a:t>
            </a:r>
            <a:r>
              <a:rPr spc="-60" dirty="0"/>
              <a:t>alkalmazhatóság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685237"/>
            <a:ext cx="6958330" cy="238379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000" b="1" i="1" spc="-10" dirty="0">
                <a:solidFill>
                  <a:srgbClr val="404040"/>
                </a:solidFill>
                <a:latin typeface="Calibri"/>
                <a:cs typeface="Calibri"/>
              </a:rPr>
              <a:t>Feltalálói</a:t>
            </a:r>
            <a:r>
              <a:rPr sz="2000" b="1" i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i="1" spc="-15" dirty="0">
                <a:solidFill>
                  <a:srgbClr val="404040"/>
                </a:solidFill>
                <a:latin typeface="Calibri"/>
                <a:cs typeface="Calibri"/>
              </a:rPr>
              <a:t>tevékenység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60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Feltalálói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tevékenységen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alapul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találmány,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ha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képest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szakember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számára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nem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nyilvánvaló.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000" b="1" i="1" dirty="0">
                <a:solidFill>
                  <a:srgbClr val="404040"/>
                </a:solidFill>
                <a:latin typeface="Calibri"/>
                <a:cs typeface="Calibri"/>
              </a:rPr>
              <a:t>Ipari</a:t>
            </a:r>
            <a:r>
              <a:rPr sz="2000" b="1" i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404040"/>
                </a:solidFill>
                <a:latin typeface="Calibri"/>
                <a:cs typeface="Calibri"/>
              </a:rPr>
              <a:t>alkalmazhatóság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Iparilag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alkalmazható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találmány,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ha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 ipar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vagy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mezőgazdaság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valamely ágában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előállítható,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használható.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13435"/>
            <a:ext cx="52235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5" dirty="0">
                <a:solidFill>
                  <a:srgbClr val="0D0D0D"/>
                </a:solidFill>
              </a:rPr>
              <a:t>Feltalálói</a:t>
            </a:r>
            <a:r>
              <a:rPr sz="4800" spc="-145" dirty="0">
                <a:solidFill>
                  <a:srgbClr val="0D0D0D"/>
                </a:solidFill>
              </a:rPr>
              <a:t> </a:t>
            </a:r>
            <a:r>
              <a:rPr sz="4800" spc="-85" dirty="0">
                <a:solidFill>
                  <a:srgbClr val="0D0D0D"/>
                </a:solidFill>
              </a:rPr>
              <a:t>tevékenység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55777" y="2237993"/>
            <a:ext cx="5208270" cy="364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95"/>
              </a:spcBef>
            </a:pPr>
            <a:r>
              <a:rPr sz="2800" spc="-55" dirty="0">
                <a:solidFill>
                  <a:srgbClr val="6E6E74"/>
                </a:solidFill>
                <a:latin typeface="Lucida Sans Unicode"/>
                <a:cs typeface="Lucida Sans Unicode"/>
              </a:rPr>
              <a:t>▶</a:t>
            </a:r>
            <a:r>
              <a:rPr sz="28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Példa:</a:t>
            </a:r>
            <a:endParaRPr sz="2800">
              <a:latin typeface="Calibri"/>
              <a:cs typeface="Calibri"/>
            </a:endParaRPr>
          </a:p>
          <a:p>
            <a:pPr marL="140335">
              <a:lnSpc>
                <a:spcPts val="2810"/>
              </a:lnSpc>
            </a:pPr>
            <a:r>
              <a:rPr sz="2400" spc="-235" dirty="0">
                <a:solidFill>
                  <a:srgbClr val="6E6E74"/>
                </a:solidFill>
                <a:latin typeface="Lucida Sans Unicode"/>
                <a:cs typeface="Lucida Sans Unicode"/>
              </a:rPr>
              <a:t>▶</a:t>
            </a:r>
            <a:r>
              <a:rPr sz="2400" b="1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b="1" i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ismert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ol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ás: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fü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ő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z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ai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tü</a:t>
            </a:r>
            <a:r>
              <a:rPr sz="2400" spc="-90" dirty="0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ör</a:t>
            </a:r>
            <a:endParaRPr sz="2400">
              <a:latin typeface="Calibri"/>
              <a:cs typeface="Calibri"/>
            </a:endParaRPr>
          </a:p>
          <a:p>
            <a:pPr marL="140335">
              <a:lnSpc>
                <a:spcPts val="2790"/>
              </a:lnSpc>
            </a:pPr>
            <a:r>
              <a:rPr sz="2400" spc="-30" dirty="0">
                <a:solidFill>
                  <a:srgbClr val="6E6E74"/>
                </a:solidFill>
                <a:latin typeface="Lucida Sans Unicode"/>
                <a:cs typeface="Lucida Sans Unicode"/>
              </a:rPr>
              <a:t>▶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probléma: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párásodás</a:t>
            </a:r>
            <a:endParaRPr sz="2400">
              <a:latin typeface="Calibri"/>
              <a:cs typeface="Calibri"/>
            </a:endParaRPr>
          </a:p>
          <a:p>
            <a:pPr marL="344805" marR="2253615" indent="-204470">
              <a:lnSpc>
                <a:spcPts val="2800"/>
              </a:lnSpc>
              <a:spcBef>
                <a:spcPts val="110"/>
              </a:spcBef>
            </a:pPr>
            <a:r>
              <a:rPr sz="2400" spc="-235" dirty="0">
                <a:solidFill>
                  <a:srgbClr val="6E6E74"/>
                </a:solidFill>
                <a:latin typeface="Lucida Sans Unicode"/>
                <a:cs typeface="Lucida Sans Unicode"/>
              </a:rPr>
              <a:t>▶</a:t>
            </a:r>
            <a:r>
              <a:rPr sz="2400" b="1" i="1" spc="-235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400" b="1" i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ismert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oldás: 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fűtőszálas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szélvédő</a:t>
            </a:r>
            <a:endParaRPr sz="2400">
              <a:latin typeface="Calibri"/>
              <a:cs typeface="Calibri"/>
            </a:endParaRPr>
          </a:p>
          <a:p>
            <a:pPr marL="140335">
              <a:lnSpc>
                <a:spcPts val="2710"/>
              </a:lnSpc>
            </a:pPr>
            <a:r>
              <a:rPr sz="2400" spc="-120" dirty="0">
                <a:solidFill>
                  <a:srgbClr val="6E6E74"/>
                </a:solidFill>
                <a:latin typeface="Lucida Sans Unicode"/>
                <a:cs typeface="Lucida Sans Unicode"/>
              </a:rPr>
              <a:t>▶</a:t>
            </a:r>
            <a:r>
              <a:rPr sz="2400" b="1" i="1" spc="-12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b="1" i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2400" b="1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400" b="1" i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kombinálható-e?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 marL="277495" marR="2324735" indent="-137160">
              <a:lnSpc>
                <a:spcPts val="2780"/>
              </a:lnSpc>
              <a:spcBef>
                <a:spcPts val="2260"/>
              </a:spcBef>
            </a:pP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fűtőszálas fürdőszobai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tükör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3808" y="2329335"/>
            <a:ext cx="2794731" cy="28995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96111" y="4792979"/>
            <a:ext cx="295910" cy="154305"/>
            <a:chOff x="896111" y="4792979"/>
            <a:chExt cx="295910" cy="154305"/>
          </a:xfrm>
        </p:grpSpPr>
        <p:sp>
          <p:nvSpPr>
            <p:cNvPr id="6" name="object 6"/>
            <p:cNvSpPr/>
            <p:nvPr/>
          </p:nvSpPr>
          <p:spPr>
            <a:xfrm>
              <a:off x="900683" y="4797551"/>
              <a:ext cx="287020" cy="144780"/>
            </a:xfrm>
            <a:custGeom>
              <a:avLst/>
              <a:gdLst/>
              <a:ahLst/>
              <a:cxnLst/>
              <a:rect l="l" t="t" r="r" b="b"/>
              <a:pathLst>
                <a:path w="287019" h="144779">
                  <a:moveTo>
                    <a:pt x="214515" y="0"/>
                  </a:moveTo>
                  <a:lnTo>
                    <a:pt x="214515" y="36195"/>
                  </a:lnTo>
                  <a:lnTo>
                    <a:pt x="0" y="36195"/>
                  </a:lnTo>
                  <a:lnTo>
                    <a:pt x="0" y="108585"/>
                  </a:lnTo>
                  <a:lnTo>
                    <a:pt x="214515" y="108585"/>
                  </a:lnTo>
                  <a:lnTo>
                    <a:pt x="214515" y="144780"/>
                  </a:lnTo>
                  <a:lnTo>
                    <a:pt x="286512" y="72390"/>
                  </a:lnTo>
                  <a:lnTo>
                    <a:pt x="214515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0683" y="4797551"/>
              <a:ext cx="287020" cy="144780"/>
            </a:xfrm>
            <a:custGeom>
              <a:avLst/>
              <a:gdLst/>
              <a:ahLst/>
              <a:cxnLst/>
              <a:rect l="l" t="t" r="r" b="b"/>
              <a:pathLst>
                <a:path w="287019" h="144779">
                  <a:moveTo>
                    <a:pt x="0" y="36195"/>
                  </a:moveTo>
                  <a:lnTo>
                    <a:pt x="214515" y="36195"/>
                  </a:lnTo>
                  <a:lnTo>
                    <a:pt x="214515" y="0"/>
                  </a:lnTo>
                  <a:lnTo>
                    <a:pt x="286512" y="72390"/>
                  </a:lnTo>
                  <a:lnTo>
                    <a:pt x="214515" y="144780"/>
                  </a:lnTo>
                  <a:lnTo>
                    <a:pt x="214515" y="108585"/>
                  </a:lnTo>
                  <a:lnTo>
                    <a:pt x="0" y="108585"/>
                  </a:lnTo>
                  <a:lnTo>
                    <a:pt x="0" y="3619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57429"/>
            <a:ext cx="52241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5" dirty="0">
                <a:solidFill>
                  <a:srgbClr val="0D0D0D"/>
                </a:solidFill>
              </a:rPr>
              <a:t>Feltalálói</a:t>
            </a:r>
            <a:r>
              <a:rPr sz="4800" spc="-135" dirty="0">
                <a:solidFill>
                  <a:srgbClr val="0D0D0D"/>
                </a:solidFill>
              </a:rPr>
              <a:t> </a:t>
            </a:r>
            <a:r>
              <a:rPr sz="4800" spc="-85" dirty="0">
                <a:solidFill>
                  <a:srgbClr val="0D0D0D"/>
                </a:solidFill>
              </a:rPr>
              <a:t>tevékenység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nem</a:t>
            </a:r>
            <a:r>
              <a:rPr spc="5" dirty="0"/>
              <a:t> </a:t>
            </a:r>
            <a:r>
              <a:rPr spc="-25" dirty="0"/>
              <a:t>nyilvánvaló</a:t>
            </a:r>
            <a:r>
              <a:rPr spc="10" dirty="0"/>
              <a:t> </a:t>
            </a:r>
            <a:r>
              <a:rPr spc="-20" dirty="0"/>
              <a:t>kombináció:</a:t>
            </a:r>
          </a:p>
          <a:p>
            <a:pPr marL="307340" indent="-183515">
              <a:lnSpc>
                <a:spcPct val="100000"/>
              </a:lnSpc>
              <a:spcBef>
                <a:spcPts val="135"/>
              </a:spcBef>
              <a:buClr>
                <a:srgbClr val="6E6E74"/>
              </a:buClr>
              <a:buChar char="◦"/>
              <a:tabLst>
                <a:tab pos="308610" algn="l"/>
              </a:tabLst>
            </a:pPr>
            <a:r>
              <a:rPr sz="2400" u="heavy" spc="-5" dirty="0">
                <a:uFill>
                  <a:solidFill>
                    <a:srgbClr val="404040"/>
                  </a:solidFill>
                </a:uFill>
              </a:rPr>
              <a:t>nem</a:t>
            </a:r>
            <a:r>
              <a:rPr sz="2400" u="heavy" spc="-40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várt</a:t>
            </a:r>
            <a:r>
              <a:rPr sz="2400" u="heavy" spc="-20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többlethatás</a:t>
            </a:r>
            <a:endParaRPr sz="2400"/>
          </a:p>
          <a:p>
            <a:pPr marL="490220" marR="5080" lvl="1" indent="-182880">
              <a:lnSpc>
                <a:spcPts val="2160"/>
              </a:lnSpc>
              <a:spcBef>
                <a:spcPts val="665"/>
              </a:spcBef>
              <a:buClr>
                <a:srgbClr val="6E6E74"/>
              </a:buClr>
              <a:buChar char="◦"/>
              <a:tabLst>
                <a:tab pos="49149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Példa: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kopásállóságot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növelő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anyag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ridegséget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előidéző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anyag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ötvözete: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várt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módon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mágneses</a:t>
            </a:r>
            <a:endParaRPr sz="2000">
              <a:latin typeface="Calibri"/>
              <a:cs typeface="Calibri"/>
            </a:endParaRPr>
          </a:p>
          <a:p>
            <a:pPr marL="307340" indent="-183515">
              <a:lnSpc>
                <a:spcPct val="100000"/>
              </a:lnSpc>
              <a:spcBef>
                <a:spcPts val="250"/>
              </a:spcBef>
              <a:buClr>
                <a:srgbClr val="6E6E74"/>
              </a:buClr>
              <a:buChar char="◦"/>
              <a:tabLst>
                <a:tab pos="308610" algn="l"/>
              </a:tabLst>
            </a:pP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szakmai</a:t>
            </a:r>
            <a:r>
              <a:rPr sz="2400" u="heavy" spc="-40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5" dirty="0">
                <a:uFill>
                  <a:solidFill>
                    <a:srgbClr val="404040"/>
                  </a:solidFill>
                </a:uFill>
              </a:rPr>
              <a:t>előítélet</a:t>
            </a:r>
            <a:r>
              <a:rPr sz="2400" u="heavy" spc="-30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leküzdése</a:t>
            </a:r>
            <a:endParaRPr sz="2400"/>
          </a:p>
          <a:p>
            <a:pPr marL="490220" lvl="1" indent="-183515">
              <a:lnSpc>
                <a:spcPts val="2280"/>
              </a:lnSpc>
              <a:spcBef>
                <a:spcPts val="385"/>
              </a:spcBef>
              <a:buClr>
                <a:srgbClr val="6E6E74"/>
              </a:buClr>
              <a:buChar char="◦"/>
              <a:tabLst>
                <a:tab pos="49149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Példa: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b="1" i="1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megoldás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000" b="1" i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megoldás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kombinációjától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negatív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mellékhatást</a:t>
            </a:r>
            <a:endParaRPr sz="2000">
              <a:latin typeface="Calibri"/>
              <a:cs typeface="Calibri"/>
            </a:endParaRPr>
          </a:p>
          <a:p>
            <a:pPr marL="490220">
              <a:lnSpc>
                <a:spcPts val="2280"/>
              </a:lnSpc>
            </a:pPr>
            <a:r>
              <a:rPr sz="2000" spc="-10" dirty="0"/>
              <a:t>vártak</a:t>
            </a:r>
            <a:endParaRPr sz="2000"/>
          </a:p>
          <a:p>
            <a:pPr marL="307340" indent="-183515">
              <a:lnSpc>
                <a:spcPct val="100000"/>
              </a:lnSpc>
              <a:spcBef>
                <a:spcPts val="285"/>
              </a:spcBef>
              <a:buClr>
                <a:srgbClr val="6E6E74"/>
              </a:buClr>
              <a:buChar char="◦"/>
              <a:tabLst>
                <a:tab pos="308610" algn="l"/>
              </a:tabLst>
            </a:pP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átvitel</a:t>
            </a:r>
            <a:r>
              <a:rPr sz="2400" spc="-15" dirty="0"/>
              <a:t> </a:t>
            </a:r>
            <a:r>
              <a:rPr sz="2400" dirty="0"/>
              <a:t>-</a:t>
            </a:r>
            <a:r>
              <a:rPr sz="2400" spc="-15" dirty="0"/>
              <a:t> </a:t>
            </a:r>
            <a:r>
              <a:rPr sz="2400" dirty="0"/>
              <a:t>más</a:t>
            </a:r>
            <a:r>
              <a:rPr sz="2400" spc="-5" dirty="0"/>
              <a:t> </a:t>
            </a:r>
            <a:r>
              <a:rPr sz="2400" spc="-10" dirty="0"/>
              <a:t>területen</a:t>
            </a:r>
            <a:r>
              <a:rPr sz="2400" spc="-25" dirty="0"/>
              <a:t> </a:t>
            </a:r>
            <a:r>
              <a:rPr sz="2400" spc="-10" dirty="0"/>
              <a:t>történő</a:t>
            </a:r>
            <a:r>
              <a:rPr sz="2400" spc="-5" dirty="0"/>
              <a:t> </a:t>
            </a:r>
            <a:r>
              <a:rPr sz="2400" spc="-10" dirty="0"/>
              <a:t>alkalmazás</a:t>
            </a:r>
            <a:endParaRPr sz="2400"/>
          </a:p>
          <a:p>
            <a:pPr marL="490220" lvl="1" indent="-183515">
              <a:lnSpc>
                <a:spcPct val="100000"/>
              </a:lnSpc>
              <a:spcBef>
                <a:spcPts val="400"/>
              </a:spcBef>
              <a:buClr>
                <a:srgbClr val="6E6E74"/>
              </a:buClr>
              <a:buChar char="◦"/>
              <a:tabLst>
                <a:tab pos="49149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Példa: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ismert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megoldás: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ép.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ipar </a:t>
            </a:r>
            <a:r>
              <a:rPr sz="2000" dirty="0">
                <a:solidFill>
                  <a:srgbClr val="404040"/>
                </a:solidFill>
                <a:latin typeface="Wingdings"/>
                <a:cs typeface="Wingdings"/>
              </a:rPr>
              <a:t></a:t>
            </a:r>
            <a:r>
              <a:rPr sz="20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új megoldás: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fogászat</a:t>
            </a:r>
            <a:endParaRPr sz="2000">
              <a:latin typeface="Calibri"/>
              <a:cs typeface="Calibri"/>
            </a:endParaRPr>
          </a:p>
          <a:p>
            <a:pPr marL="307340" indent="-183515">
              <a:lnSpc>
                <a:spcPct val="100000"/>
              </a:lnSpc>
              <a:spcBef>
                <a:spcPts val="275"/>
              </a:spcBef>
              <a:buClr>
                <a:srgbClr val="6E6E74"/>
              </a:buClr>
              <a:buChar char="◦"/>
              <a:tabLst>
                <a:tab pos="308610" algn="l"/>
              </a:tabLst>
            </a:pPr>
            <a:r>
              <a:rPr sz="2400" u="heavy" spc="-15" dirty="0">
                <a:uFill>
                  <a:solidFill>
                    <a:srgbClr val="404040"/>
                  </a:solidFill>
                </a:uFill>
              </a:rPr>
              <a:t>régóta</a:t>
            </a:r>
            <a:r>
              <a:rPr sz="2400" u="heavy" spc="-30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fennálló</a:t>
            </a:r>
            <a:r>
              <a:rPr sz="2400" u="heavy" spc="-15" dirty="0">
                <a:uFill>
                  <a:solidFill>
                    <a:srgbClr val="404040"/>
                  </a:solidFill>
                </a:uFill>
              </a:rPr>
              <a:t> </a:t>
            </a:r>
            <a:r>
              <a:rPr sz="2400" u="heavy" spc="-10" dirty="0">
                <a:uFill>
                  <a:solidFill>
                    <a:srgbClr val="404040"/>
                  </a:solidFill>
                </a:uFill>
              </a:rPr>
              <a:t>probléma</a:t>
            </a:r>
            <a:endParaRPr sz="2400"/>
          </a:p>
          <a:p>
            <a:pPr marL="546735" lvl="1" indent="-240029">
              <a:lnSpc>
                <a:spcPct val="100000"/>
              </a:lnSpc>
              <a:spcBef>
                <a:spcPts val="390"/>
              </a:spcBef>
              <a:buClr>
                <a:srgbClr val="6E6E74"/>
              </a:buClr>
              <a:buFont typeface="Calibri"/>
              <a:buChar char="◦"/>
              <a:tabLst>
                <a:tab pos="547370" algn="l"/>
                <a:tab pos="548005" algn="l"/>
              </a:tabLst>
            </a:pPr>
            <a:r>
              <a:rPr sz="2000" b="1" i="1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és </a:t>
            </a:r>
            <a:r>
              <a:rPr sz="2000" b="1" i="1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000" b="1" i="1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megoldás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évtizedek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óta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ismert,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mégse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kombinálták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508761"/>
            <a:ext cx="5160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0D0D0D"/>
                </a:solidFill>
              </a:rPr>
              <a:t>Ipari</a:t>
            </a:r>
            <a:r>
              <a:rPr sz="4800" spc="-165" dirty="0">
                <a:solidFill>
                  <a:srgbClr val="0D0D0D"/>
                </a:solidFill>
              </a:rPr>
              <a:t> </a:t>
            </a:r>
            <a:r>
              <a:rPr sz="4800" spc="-65" dirty="0">
                <a:solidFill>
                  <a:srgbClr val="0D0D0D"/>
                </a:solidFill>
              </a:rPr>
              <a:t>alkalmazhatóság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47217" y="1941067"/>
            <a:ext cx="7301230" cy="411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iparilag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alkalmazható:</a:t>
            </a:r>
            <a:endParaRPr sz="2400">
              <a:latin typeface="Calibri"/>
              <a:cs typeface="Calibri"/>
            </a:endParaRPr>
          </a:p>
          <a:p>
            <a:pPr marL="304800" marR="5080" indent="-182880">
              <a:lnSpc>
                <a:spcPts val="1920"/>
              </a:lnSpc>
              <a:spcBef>
                <a:spcPts val="434"/>
              </a:spcBef>
              <a:buClr>
                <a:srgbClr val="6E6E74"/>
              </a:buClr>
              <a:buChar char="◦"/>
              <a:tabLst>
                <a:tab pos="30543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ipar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mezőgazdaság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valamely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ágában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előállítható,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illetve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használható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845"/>
              </a:lnSpc>
              <a:spcBef>
                <a:spcPts val="1019"/>
              </a:spcBef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iparilag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alkalmazható:</a:t>
            </a:r>
            <a:endParaRPr sz="2400">
              <a:latin typeface="Calibri"/>
              <a:cs typeface="Calibri"/>
            </a:endParaRPr>
          </a:p>
          <a:p>
            <a:pPr marL="304800" indent="-183515">
              <a:lnSpc>
                <a:spcPts val="2365"/>
              </a:lnSpc>
              <a:buClr>
                <a:srgbClr val="6E6E74"/>
              </a:buClr>
              <a:buChar char="◦"/>
              <a:tabLst>
                <a:tab pos="30543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valósítható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</a:t>
            </a:r>
            <a:endParaRPr sz="2000">
              <a:latin typeface="Calibri"/>
              <a:cs typeface="Calibri"/>
            </a:endParaRPr>
          </a:p>
          <a:p>
            <a:pPr marL="487680" lvl="1" indent="-183515">
              <a:lnSpc>
                <a:spcPct val="100000"/>
              </a:lnSpc>
              <a:spcBef>
                <a:spcPts val="180"/>
              </a:spcBef>
              <a:buClr>
                <a:srgbClr val="6E6E74"/>
              </a:buClr>
              <a:buChar char="◦"/>
              <a:tabLst>
                <a:tab pos="488315" algn="l"/>
              </a:tabLst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pl.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örökmozgó</a:t>
            </a:r>
            <a:endParaRPr sz="1800">
              <a:latin typeface="Calibri"/>
              <a:cs typeface="Calibri"/>
            </a:endParaRPr>
          </a:p>
          <a:p>
            <a:pPr marL="304800" indent="-183515">
              <a:lnSpc>
                <a:spcPct val="100000"/>
              </a:lnSpc>
              <a:spcBef>
                <a:spcPts val="110"/>
              </a:spcBef>
              <a:buClr>
                <a:srgbClr val="6E6E74"/>
              </a:buClr>
              <a:buChar char="◦"/>
              <a:tabLst>
                <a:tab pos="30543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reprodukálható</a:t>
            </a:r>
            <a:endParaRPr sz="2000">
              <a:latin typeface="Calibri"/>
              <a:cs typeface="Calibri"/>
            </a:endParaRPr>
          </a:p>
          <a:p>
            <a:pPr marL="487680" marR="4901565" lvl="1" indent="-182880">
              <a:lnSpc>
                <a:spcPct val="107800"/>
              </a:lnSpc>
              <a:spcBef>
                <a:spcPts val="10"/>
              </a:spcBef>
              <a:buClr>
                <a:srgbClr val="6E6E74"/>
              </a:buClr>
              <a:buChar char="◦"/>
              <a:tabLst>
                <a:tab pos="488315" algn="l"/>
              </a:tabLst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egyedi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megoldások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- </a:t>
            </a:r>
            <a:r>
              <a:rPr sz="1800" spc="-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pl.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meghatározott</a:t>
            </a:r>
            <a:endParaRPr sz="1800">
              <a:latin typeface="Calibri"/>
              <a:cs typeface="Calibri"/>
            </a:endParaRPr>
          </a:p>
          <a:p>
            <a:pPr marL="487680" marR="4718685">
              <a:lnSpc>
                <a:spcPct val="107800"/>
              </a:lnSpc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építményhez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tervezett </a:t>
            </a:r>
            <a:r>
              <a:rPr sz="1800" spc="-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egyedi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felvonó</a:t>
            </a:r>
            <a:endParaRPr sz="1800">
              <a:latin typeface="Calibri"/>
              <a:cs typeface="Calibri"/>
            </a:endParaRPr>
          </a:p>
          <a:p>
            <a:pPr marL="487680" lvl="1" indent="-183515">
              <a:lnSpc>
                <a:spcPct val="100000"/>
              </a:lnSpc>
              <a:spcBef>
                <a:spcPts val="165"/>
              </a:spcBef>
              <a:buClr>
                <a:srgbClr val="6E6E74"/>
              </a:buClr>
              <a:buChar char="◦"/>
              <a:tabLst>
                <a:tab pos="488315" algn="l"/>
              </a:tabLst>
            </a:pP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eredmény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véletlenen</a:t>
            </a:r>
            <a:endParaRPr sz="1800">
              <a:latin typeface="Calibri"/>
              <a:cs typeface="Calibri"/>
            </a:endParaRPr>
          </a:p>
          <a:p>
            <a:pPr marL="487680">
              <a:lnSpc>
                <a:spcPct val="100000"/>
              </a:lnSpc>
              <a:spcBef>
                <a:spcPts val="175"/>
              </a:spcBef>
            </a:pP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múlik</a:t>
            </a:r>
            <a:r>
              <a:rPr sz="1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(hibaszázalék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lehet</a:t>
            </a:r>
            <a:r>
              <a:rPr sz="1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pl.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mikrochipek</a:t>
            </a:r>
            <a:r>
              <a:rPr sz="1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gyártása)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1328" y="2997707"/>
            <a:ext cx="2810255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613" y="1845564"/>
            <a:ext cx="4349115" cy="3836670"/>
            <a:chOff x="2110613" y="1845564"/>
            <a:chExt cx="4349115" cy="3836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889" y="1845564"/>
              <a:ext cx="2429833" cy="3836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25218" y="2710434"/>
              <a:ext cx="4319905" cy="2388870"/>
            </a:xfrm>
            <a:custGeom>
              <a:avLst/>
              <a:gdLst/>
              <a:ahLst/>
              <a:cxnLst/>
              <a:rect l="l" t="t" r="r" b="b"/>
              <a:pathLst>
                <a:path w="4319905" h="2388870">
                  <a:moveTo>
                    <a:pt x="2735580" y="360044"/>
                  </a:moveTo>
                  <a:lnTo>
                    <a:pt x="4319778" y="0"/>
                  </a:lnTo>
                </a:path>
                <a:path w="4319905" h="2388870">
                  <a:moveTo>
                    <a:pt x="0" y="2388489"/>
                  </a:moveTo>
                  <a:lnTo>
                    <a:pt x="1728216" y="1740408"/>
                  </a:lnTo>
                </a:path>
                <a:path w="4319905" h="2388870">
                  <a:moveTo>
                    <a:pt x="2510028" y="1222247"/>
                  </a:moveTo>
                  <a:lnTo>
                    <a:pt x="4313808" y="1222247"/>
                  </a:lnTo>
                </a:path>
                <a:path w="4319905" h="2388870">
                  <a:moveTo>
                    <a:pt x="515112" y="359663"/>
                  </a:moveTo>
                  <a:lnTo>
                    <a:pt x="2376297" y="480567"/>
                  </a:lnTo>
                </a:path>
              </a:pathLst>
            </a:custGeom>
            <a:ln w="28956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2127" y="2037588"/>
            <a:ext cx="2377440" cy="20624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latin typeface="Calibri"/>
                <a:cs typeface="Calibri"/>
              </a:rPr>
              <a:t>VÉDJEGY</a:t>
            </a:r>
            <a:endParaRPr sz="1600">
              <a:latin typeface="Calibri"/>
              <a:cs typeface="Calibri"/>
            </a:endParaRPr>
          </a:p>
          <a:p>
            <a:pPr marL="91440" marR="16065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Megkülönböztetés </a:t>
            </a:r>
            <a:r>
              <a:rPr sz="1600" spc="-5" dirty="0">
                <a:latin typeface="Calibri"/>
                <a:cs typeface="Calibri"/>
              </a:rPr>
              <a:t>mások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termékeitől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szolgáltatásaitól </a:t>
            </a:r>
            <a:r>
              <a:rPr sz="1600" spc="-10" dirty="0">
                <a:latin typeface="Calibri"/>
                <a:cs typeface="Calibri"/>
              </a:rPr>
              <a:t> (márkanevek,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betűk,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számok,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logók,</a:t>
            </a:r>
            <a:endParaRPr sz="1600">
              <a:latin typeface="Calibri"/>
              <a:cs typeface="Calibri"/>
            </a:endParaRPr>
          </a:p>
          <a:p>
            <a:pPr marL="91440" marR="2286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szimbólumok, </a:t>
            </a:r>
            <a:r>
              <a:rPr sz="1600" spc="-10" dirty="0">
                <a:latin typeface="Calibri"/>
                <a:cs typeface="Calibri"/>
              </a:rPr>
              <a:t>szlogenek,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színek,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hangok)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38900" y="1991867"/>
            <a:ext cx="2466340" cy="1077595"/>
          </a:xfrm>
          <a:custGeom>
            <a:avLst/>
            <a:gdLst/>
            <a:ahLst/>
            <a:cxnLst/>
            <a:rect l="l" t="t" r="r" b="b"/>
            <a:pathLst>
              <a:path w="2466340" h="1077595">
                <a:moveTo>
                  <a:pt x="2465831" y="0"/>
                </a:moveTo>
                <a:lnTo>
                  <a:pt x="0" y="0"/>
                </a:lnTo>
                <a:lnTo>
                  <a:pt x="0" y="1077467"/>
                </a:lnTo>
                <a:lnTo>
                  <a:pt x="2465831" y="1077467"/>
                </a:lnTo>
                <a:lnTo>
                  <a:pt x="24658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900" y="1991867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600" spc="-15" dirty="0">
                <a:latin typeface="Calibri"/>
                <a:cs typeface="Calibri"/>
              </a:rPr>
              <a:t>SZABADALOM</a:t>
            </a:r>
            <a:endParaRPr sz="1600">
              <a:latin typeface="Calibri"/>
              <a:cs typeface="Calibri"/>
            </a:endParaRPr>
          </a:p>
          <a:p>
            <a:pPr marL="92075" marR="19812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Az ismert </a:t>
            </a:r>
            <a:r>
              <a:rPr sz="1600" spc="-10" dirty="0">
                <a:latin typeface="Calibri"/>
                <a:cs typeface="Calibri"/>
              </a:rPr>
              <a:t>technológiákhoz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képest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új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megoldásokat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tartalmazó találmányok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4996" y="3500628"/>
            <a:ext cx="2466340" cy="1077595"/>
          </a:xfrm>
          <a:prstGeom prst="rect">
            <a:avLst/>
          </a:prstGeom>
          <a:solidFill>
            <a:srgbClr val="556C83"/>
          </a:solidFill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 marR="980440">
              <a:lnSpc>
                <a:spcPct val="100000"/>
              </a:lnSpc>
              <a:spcBef>
                <a:spcPts val="270"/>
              </a:spcBef>
            </a:pP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HASZNÁLATI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00" b="1" spc="-1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b="1" spc="-125" dirty="0">
                <a:solidFill>
                  <a:srgbClr val="FFFFFF"/>
                </a:solidFill>
                <a:latin typeface="Calibri"/>
                <a:cs typeface="Calibri"/>
              </a:rPr>
              <a:t>LT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Egyszerűbb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tárgyak,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szerkezetek.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" y="5109971"/>
            <a:ext cx="2714625" cy="8305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600" spc="-20" dirty="0">
                <a:latin typeface="Calibri"/>
                <a:cs typeface="Calibri"/>
              </a:rPr>
              <a:t>FORMATERVEZÉSIMINTA-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45" dirty="0">
                <a:latin typeface="Calibri"/>
                <a:cs typeface="Calibri"/>
              </a:rPr>
              <a:t>OLTALOM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(DESIGN)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termékek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külső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megjelenése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6691" y="4794503"/>
            <a:ext cx="3159760" cy="1569720"/>
          </a:xfrm>
          <a:custGeom>
            <a:avLst/>
            <a:gdLst/>
            <a:ahLst/>
            <a:cxnLst/>
            <a:rect l="l" t="t" r="r" b="b"/>
            <a:pathLst>
              <a:path w="3159759" h="1569720">
                <a:moveTo>
                  <a:pt x="0" y="1569720"/>
                </a:moveTo>
                <a:lnTo>
                  <a:pt x="3159252" y="1569720"/>
                </a:lnTo>
                <a:lnTo>
                  <a:pt x="3159252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143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41264" y="4816221"/>
            <a:ext cx="315023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Egyéni,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eredeti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jellegű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irodalmi,</a:t>
            </a:r>
            <a:endParaRPr sz="1600">
              <a:latin typeface="Calibri"/>
              <a:cs typeface="Calibri"/>
            </a:endParaRPr>
          </a:p>
          <a:p>
            <a:pPr marL="87630" marR="8636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művészeti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tudományos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művek,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alkotás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(pl.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óra),</a:t>
            </a:r>
            <a:endParaRPr sz="1600">
              <a:latin typeface="Calibri"/>
              <a:cs typeface="Calibri"/>
            </a:endParaRPr>
          </a:p>
          <a:p>
            <a:pPr marL="87630" marR="887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reklámanyagok, használati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útmutató.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43199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Használati</a:t>
            </a:r>
            <a:r>
              <a:rPr spc="-100" dirty="0"/>
              <a:t> </a:t>
            </a:r>
            <a:r>
              <a:rPr spc="-60" dirty="0"/>
              <a:t>mintaoltalom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551302"/>
            <a:ext cx="75692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Valamely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tárgy</a:t>
            </a:r>
            <a:r>
              <a:rPr sz="20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kialakítására,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szerkezetére</a:t>
            </a:r>
            <a:r>
              <a:rPr sz="20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3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részeinek</a:t>
            </a:r>
            <a:r>
              <a:rPr sz="20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elrendezésére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2825318"/>
            <a:ext cx="75711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1585" algn="l"/>
                <a:tab pos="2499995" algn="l"/>
                <a:tab pos="2943860" algn="l"/>
                <a:tab pos="3399154" algn="l"/>
                <a:tab pos="4512310" algn="l"/>
                <a:tab pos="5523865" algn="l"/>
                <a:tab pos="6360795" algn="l"/>
                <a:tab pos="6775450" algn="l"/>
              </a:tabLst>
            </a:pP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z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ó	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dás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	ha	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új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	</a:t>
            </a:r>
            <a:r>
              <a:rPr sz="2000" b="1" spc="-35" dirty="0">
                <a:solidFill>
                  <a:srgbClr val="00AF50"/>
                </a:solidFill>
                <a:latin typeface="Calibri"/>
                <a:cs typeface="Calibri"/>
              </a:rPr>
              <a:t>f</a:t>
            </a:r>
            <a:r>
              <a:rPr sz="2000" b="1" spc="-5" dirty="0">
                <a:solidFill>
                  <a:srgbClr val="00AF50"/>
                </a:solidFill>
                <a:latin typeface="Calibri"/>
                <a:cs typeface="Calibri"/>
              </a:rPr>
              <a:t>el</a:t>
            </a:r>
            <a:r>
              <a:rPr sz="2000" b="1" spc="-30" dirty="0">
                <a:solidFill>
                  <a:srgbClr val="00AF50"/>
                </a:solidFill>
                <a:latin typeface="Calibri"/>
                <a:cs typeface="Calibri"/>
              </a:rPr>
              <a:t>t</a:t>
            </a:r>
            <a:r>
              <a:rPr sz="2000" b="1" spc="-2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l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á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lói	lépésen	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l</a:t>
            </a:r>
            <a:r>
              <a:rPr sz="2000" b="1" spc="-20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pul	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	</a:t>
            </a:r>
            <a:r>
              <a:rPr sz="2000" b="1" spc="-15" dirty="0">
                <a:solidFill>
                  <a:srgbClr val="75614A"/>
                </a:solidFill>
                <a:latin typeface="Calibri"/>
                <a:cs typeface="Calibri"/>
              </a:rPr>
              <a:t>i</a:t>
            </a:r>
            <a:r>
              <a:rPr sz="2000" b="1" dirty="0">
                <a:solidFill>
                  <a:srgbClr val="75614A"/>
                </a:solidFill>
                <a:latin typeface="Calibri"/>
                <a:cs typeface="Calibri"/>
              </a:rPr>
              <a:t>pa</a:t>
            </a:r>
            <a:r>
              <a:rPr sz="2000" b="1" spc="-10" dirty="0">
                <a:solidFill>
                  <a:srgbClr val="75614A"/>
                </a:solidFill>
                <a:latin typeface="Calibri"/>
                <a:cs typeface="Calibri"/>
              </a:rPr>
              <a:t>r</a:t>
            </a:r>
            <a:r>
              <a:rPr sz="2000" b="1" dirty="0">
                <a:solidFill>
                  <a:srgbClr val="75614A"/>
                </a:solidFill>
                <a:latin typeface="Calibri"/>
                <a:cs typeface="Calibri"/>
              </a:rPr>
              <a:t>i</a:t>
            </a:r>
            <a:r>
              <a:rPr sz="2000" b="1" spc="-20" dirty="0">
                <a:solidFill>
                  <a:srgbClr val="75614A"/>
                </a:solidFill>
                <a:latin typeface="Calibri"/>
                <a:cs typeface="Calibri"/>
              </a:rPr>
              <a:t>l</a:t>
            </a:r>
            <a:r>
              <a:rPr sz="2000" b="1" spc="-10" dirty="0">
                <a:solidFill>
                  <a:srgbClr val="75614A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75614A"/>
                </a:solidFill>
                <a:latin typeface="Calibri"/>
                <a:cs typeface="Calibri"/>
              </a:rPr>
              <a:t>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2952978"/>
            <a:ext cx="149860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</a:pPr>
            <a:r>
              <a:rPr sz="2000" b="1" dirty="0">
                <a:solidFill>
                  <a:srgbClr val="75614A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75614A"/>
                </a:solidFill>
                <a:latin typeface="Calibri"/>
                <a:cs typeface="Calibri"/>
              </a:rPr>
              <a:t>l</a:t>
            </a:r>
            <a:r>
              <a:rPr sz="2000" b="1" spc="-30" dirty="0">
                <a:solidFill>
                  <a:srgbClr val="75614A"/>
                </a:solidFill>
                <a:latin typeface="Calibri"/>
                <a:cs typeface="Calibri"/>
              </a:rPr>
              <a:t>k</a:t>
            </a:r>
            <a:r>
              <a:rPr sz="2000" b="1" dirty="0">
                <a:solidFill>
                  <a:srgbClr val="75614A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75614A"/>
                </a:solidFill>
                <a:latin typeface="Calibri"/>
                <a:cs typeface="Calibri"/>
              </a:rPr>
              <a:t>l</a:t>
            </a:r>
            <a:r>
              <a:rPr sz="2000" b="1" spc="-5" dirty="0">
                <a:solidFill>
                  <a:srgbClr val="75614A"/>
                </a:solidFill>
                <a:latin typeface="Calibri"/>
                <a:cs typeface="Calibri"/>
              </a:rPr>
              <a:t>mazh</a:t>
            </a:r>
            <a:r>
              <a:rPr sz="2000" b="1" spc="-35" dirty="0">
                <a:solidFill>
                  <a:srgbClr val="75614A"/>
                </a:solidFill>
                <a:latin typeface="Calibri"/>
                <a:cs typeface="Calibri"/>
              </a:rPr>
              <a:t>a</a:t>
            </a:r>
            <a:r>
              <a:rPr sz="2000" b="1" spc="-25" dirty="0">
                <a:solidFill>
                  <a:srgbClr val="75614A"/>
                </a:solidFill>
                <a:latin typeface="Calibri"/>
                <a:cs typeface="Calibri"/>
              </a:rPr>
              <a:t>t</a:t>
            </a:r>
            <a:r>
              <a:rPr sz="2000" b="1" spc="5" dirty="0">
                <a:solidFill>
                  <a:srgbClr val="75614A"/>
                </a:solidFill>
                <a:latin typeface="Calibri"/>
                <a:cs typeface="Calibri"/>
              </a:rPr>
              <a:t>ó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.  10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év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3500628"/>
            <a:ext cx="4282414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5521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Használati</a:t>
            </a:r>
            <a:r>
              <a:rPr spc="-95" dirty="0"/>
              <a:t> </a:t>
            </a:r>
            <a:r>
              <a:rPr spc="-60" dirty="0"/>
              <a:t>mintaoltalom</a:t>
            </a:r>
            <a:r>
              <a:rPr spc="-65" dirty="0"/>
              <a:t> tárgya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831975"/>
            <a:ext cx="7476490" cy="38830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8890">
              <a:lnSpc>
                <a:spcPct val="90000"/>
              </a:lnSpc>
              <a:spcBef>
                <a:spcPts val="340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Használatiminta-oltalomban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továbbiakban: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mintaoltalom)</a:t>
            </a:r>
            <a:r>
              <a:rPr sz="20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részesülhet </a:t>
            </a:r>
            <a:r>
              <a:rPr sz="2000" spc="-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valamely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tárgy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kialakítása,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szerkezete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részeinek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elrendezése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továbbiakban: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minta),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új,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feltalálói</a:t>
            </a:r>
            <a:r>
              <a:rPr sz="2000" u="heavy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lépésen</a:t>
            </a:r>
            <a:r>
              <a:rPr sz="2000" u="heavy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alapul és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iparilag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alkalmazható.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Mintának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minősül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berendezés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és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több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egymással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kapcsolatban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lévő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eszközből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álló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rendszer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is,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tartozik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azonban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minta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fogalmába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különösen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esztétikai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kialakítása,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növényfajta,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vegyi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keverék.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Új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minta,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tartozik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technika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tartozik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mindaz,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ami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elsőbbségi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időpont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előtt</a:t>
            </a:r>
            <a:endParaRPr sz="2000">
              <a:latin typeface="Calibri"/>
              <a:cs typeface="Calibri"/>
            </a:endParaRPr>
          </a:p>
          <a:p>
            <a:pPr marL="12700" marR="23495">
              <a:lnSpc>
                <a:spcPts val="2160"/>
              </a:lnSpc>
              <a:spcBef>
                <a:spcPts val="150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írásbeli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közlés,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szóbeli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ismertetés,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gyakorlatbavétel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útján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bármilyen </a:t>
            </a:r>
            <a:r>
              <a:rPr sz="2000" spc="-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más módon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bárki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számára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hozzáférhetővé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vált.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2653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Feltalálói</a:t>
            </a:r>
            <a:r>
              <a:rPr spc="-145" dirty="0"/>
              <a:t> </a:t>
            </a:r>
            <a:r>
              <a:rPr spc="-45" dirty="0"/>
              <a:t>lépés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2407412"/>
            <a:ext cx="7265670" cy="17030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299085" algn="just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Feltalálói lépésen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alapul 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minta,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állásához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képest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mesterségben</a:t>
            </a:r>
            <a:r>
              <a:rPr sz="20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járatos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személy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számára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nyilvánvaló.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feltalálói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ts val="216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lépés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meglétét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nem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alapozza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meg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önmagában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 a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körülmény,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hogy a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állását több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forrás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együttesen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határozza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meg,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vagy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az, hogy a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technika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állását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részben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egészben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idegen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nyelvű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források</a:t>
            </a:r>
            <a:endParaRPr sz="2000">
              <a:latin typeface="Calibri"/>
              <a:cs typeface="Calibri"/>
            </a:endParaRPr>
          </a:p>
          <a:p>
            <a:pPr marL="12700" algn="just">
              <a:lnSpc>
                <a:spcPts val="2130"/>
              </a:lnSpc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határozzák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613" y="1845564"/>
            <a:ext cx="4349115" cy="3836670"/>
            <a:chOff x="2110613" y="1845564"/>
            <a:chExt cx="4349115" cy="3836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889" y="1845564"/>
              <a:ext cx="2429833" cy="3836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25218" y="2710434"/>
              <a:ext cx="4319905" cy="2388870"/>
            </a:xfrm>
            <a:custGeom>
              <a:avLst/>
              <a:gdLst/>
              <a:ahLst/>
              <a:cxnLst/>
              <a:rect l="l" t="t" r="r" b="b"/>
              <a:pathLst>
                <a:path w="4319905" h="2388870">
                  <a:moveTo>
                    <a:pt x="2735580" y="360044"/>
                  </a:moveTo>
                  <a:lnTo>
                    <a:pt x="4319778" y="0"/>
                  </a:lnTo>
                </a:path>
                <a:path w="4319905" h="2388870">
                  <a:moveTo>
                    <a:pt x="0" y="2388489"/>
                  </a:moveTo>
                  <a:lnTo>
                    <a:pt x="1728216" y="1740408"/>
                  </a:lnTo>
                </a:path>
                <a:path w="4319905" h="2388870">
                  <a:moveTo>
                    <a:pt x="2510028" y="1222247"/>
                  </a:moveTo>
                  <a:lnTo>
                    <a:pt x="4313808" y="1222247"/>
                  </a:lnTo>
                </a:path>
                <a:path w="4319905" h="2388870">
                  <a:moveTo>
                    <a:pt x="515112" y="359663"/>
                  </a:moveTo>
                  <a:lnTo>
                    <a:pt x="2376297" y="480567"/>
                  </a:lnTo>
                </a:path>
              </a:pathLst>
            </a:custGeom>
            <a:ln w="28956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2127" y="2037588"/>
            <a:ext cx="2377440" cy="20624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latin typeface="Calibri"/>
                <a:cs typeface="Calibri"/>
              </a:rPr>
              <a:t>VÉDJEGY</a:t>
            </a:r>
            <a:endParaRPr sz="1600">
              <a:latin typeface="Calibri"/>
              <a:cs typeface="Calibri"/>
            </a:endParaRPr>
          </a:p>
          <a:p>
            <a:pPr marL="91440" marR="16065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Megkülönböztetés </a:t>
            </a:r>
            <a:r>
              <a:rPr sz="1600" spc="-5" dirty="0">
                <a:latin typeface="Calibri"/>
                <a:cs typeface="Calibri"/>
              </a:rPr>
              <a:t>mások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termékeitől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szolgáltatásaitól </a:t>
            </a:r>
            <a:r>
              <a:rPr sz="1600" spc="-10" dirty="0">
                <a:latin typeface="Calibri"/>
                <a:cs typeface="Calibri"/>
              </a:rPr>
              <a:t> (márkanevek,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betűk,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számok,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logók,</a:t>
            </a:r>
            <a:endParaRPr sz="1600">
              <a:latin typeface="Calibri"/>
              <a:cs typeface="Calibri"/>
            </a:endParaRPr>
          </a:p>
          <a:p>
            <a:pPr marL="91440" marR="2286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szimbólumok, </a:t>
            </a:r>
            <a:r>
              <a:rPr sz="1600" spc="-10" dirty="0">
                <a:latin typeface="Calibri"/>
                <a:cs typeface="Calibri"/>
              </a:rPr>
              <a:t>szlogenek,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színek,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hangok)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38900" y="1991867"/>
            <a:ext cx="2466340" cy="1077595"/>
          </a:xfrm>
          <a:custGeom>
            <a:avLst/>
            <a:gdLst/>
            <a:ahLst/>
            <a:cxnLst/>
            <a:rect l="l" t="t" r="r" b="b"/>
            <a:pathLst>
              <a:path w="2466340" h="1077595">
                <a:moveTo>
                  <a:pt x="2465831" y="0"/>
                </a:moveTo>
                <a:lnTo>
                  <a:pt x="0" y="0"/>
                </a:lnTo>
                <a:lnTo>
                  <a:pt x="0" y="1077467"/>
                </a:lnTo>
                <a:lnTo>
                  <a:pt x="2465831" y="1077467"/>
                </a:lnTo>
                <a:lnTo>
                  <a:pt x="24658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900" y="1991867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600" spc="-15" dirty="0">
                <a:latin typeface="Calibri"/>
                <a:cs typeface="Calibri"/>
              </a:rPr>
              <a:t>SZABADALOM</a:t>
            </a:r>
            <a:endParaRPr sz="1600">
              <a:latin typeface="Calibri"/>
              <a:cs typeface="Calibri"/>
            </a:endParaRPr>
          </a:p>
          <a:p>
            <a:pPr marL="92075" marR="19812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Az ismert </a:t>
            </a:r>
            <a:r>
              <a:rPr sz="1600" spc="-10" dirty="0">
                <a:latin typeface="Calibri"/>
                <a:cs typeface="Calibri"/>
              </a:rPr>
              <a:t>technológiákhoz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képest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új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megoldásokat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tartalmazó találmányok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4996" y="3500628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 marR="1012190">
              <a:lnSpc>
                <a:spcPct val="100000"/>
              </a:lnSpc>
              <a:spcBef>
                <a:spcPts val="270"/>
              </a:spcBef>
            </a:pPr>
            <a:r>
              <a:rPr sz="1600" spc="-20" dirty="0">
                <a:latin typeface="Calibri"/>
                <a:cs typeface="Calibri"/>
              </a:rPr>
              <a:t>HASZNÁLATI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MIN</a:t>
            </a:r>
            <a:r>
              <a:rPr sz="1600" spc="-12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spc="-120" dirty="0">
                <a:latin typeface="Calibri"/>
                <a:cs typeface="Calibri"/>
              </a:rPr>
              <a:t>L</a:t>
            </a:r>
            <a:r>
              <a:rPr sz="1600" spc="-12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Egyszerűbb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tárgyak,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szerkezetek.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" y="5109971"/>
            <a:ext cx="2714625" cy="1076325"/>
          </a:xfrm>
          <a:prstGeom prst="rect">
            <a:avLst/>
          </a:prstGeom>
          <a:solidFill>
            <a:srgbClr val="556C83"/>
          </a:solidFill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FORMATERVEZÉSIMINTA-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OLTALOM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(DESIGN)</a:t>
            </a:r>
            <a:endParaRPr sz="1600">
              <a:latin typeface="Calibri"/>
              <a:cs typeface="Calibri"/>
            </a:endParaRPr>
          </a:p>
          <a:p>
            <a:pPr marL="90805" marR="1154430">
              <a:lnSpc>
                <a:spcPct val="100000"/>
              </a:lnSpc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 termékek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külső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megjelenése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6691" y="4794503"/>
            <a:ext cx="3159760" cy="1569720"/>
          </a:xfrm>
          <a:custGeom>
            <a:avLst/>
            <a:gdLst/>
            <a:ahLst/>
            <a:cxnLst/>
            <a:rect l="l" t="t" r="r" b="b"/>
            <a:pathLst>
              <a:path w="3159759" h="1569720">
                <a:moveTo>
                  <a:pt x="0" y="1569720"/>
                </a:moveTo>
                <a:lnTo>
                  <a:pt x="3159252" y="1569720"/>
                </a:lnTo>
                <a:lnTo>
                  <a:pt x="3159252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143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41264" y="4816221"/>
            <a:ext cx="315023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Egyéni,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eredeti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jellegű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irodalmi,</a:t>
            </a:r>
            <a:endParaRPr sz="1600">
              <a:latin typeface="Calibri"/>
              <a:cs typeface="Calibri"/>
            </a:endParaRPr>
          </a:p>
          <a:p>
            <a:pPr marL="87630" marR="8636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művészeti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tudományos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művek,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alkotás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(pl.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óra),</a:t>
            </a:r>
            <a:endParaRPr sz="1600">
              <a:latin typeface="Calibri"/>
              <a:cs typeface="Calibri"/>
            </a:endParaRPr>
          </a:p>
          <a:p>
            <a:pPr marL="87630" marR="887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reklámanyagok, használati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útmutató.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639826"/>
            <a:ext cx="521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F</a:t>
            </a:r>
            <a:r>
              <a:rPr spc="-55" dirty="0"/>
              <a:t>o</a:t>
            </a:r>
            <a:r>
              <a:rPr spc="-50" dirty="0"/>
              <a:t>r</a:t>
            </a:r>
            <a:r>
              <a:rPr spc="-55" dirty="0"/>
              <a:t>m</a:t>
            </a:r>
            <a:r>
              <a:rPr spc="-90" dirty="0"/>
              <a:t>a</a:t>
            </a:r>
            <a:r>
              <a:rPr spc="-80" dirty="0"/>
              <a:t>t</a:t>
            </a:r>
            <a:r>
              <a:rPr spc="-50" dirty="0"/>
              <a:t>e</a:t>
            </a:r>
            <a:r>
              <a:rPr spc="-15" dirty="0"/>
              <a:t>r</a:t>
            </a:r>
            <a:r>
              <a:rPr spc="-85" dirty="0"/>
              <a:t>ve</a:t>
            </a:r>
            <a:r>
              <a:rPr spc="-135" dirty="0"/>
              <a:t>z</a:t>
            </a:r>
            <a:r>
              <a:rPr spc="-50" dirty="0"/>
              <a:t>és</a:t>
            </a:r>
            <a:r>
              <a:rPr dirty="0"/>
              <a:t>i</a:t>
            </a:r>
            <a:r>
              <a:rPr spc="-120" dirty="0"/>
              <a:t> </a:t>
            </a:r>
            <a:r>
              <a:rPr spc="-55" dirty="0"/>
              <a:t>m</a:t>
            </a:r>
            <a:r>
              <a:rPr spc="-50" dirty="0"/>
              <a:t>i</a:t>
            </a:r>
            <a:r>
              <a:rPr spc="-85" dirty="0"/>
              <a:t>n</a:t>
            </a:r>
            <a:r>
              <a:rPr spc="-90" dirty="0"/>
              <a:t>t</a:t>
            </a:r>
            <a:r>
              <a:rPr spc="-50" dirty="0"/>
              <a:t>a</a:t>
            </a:r>
            <a:r>
              <a:rPr spc="-55" dirty="0"/>
              <a:t>o</a:t>
            </a:r>
            <a:r>
              <a:rPr spc="-50" dirty="0"/>
              <a:t>l</a:t>
            </a:r>
            <a:r>
              <a:rPr spc="-90" dirty="0"/>
              <a:t>t</a:t>
            </a:r>
            <a:r>
              <a:rPr spc="-50" dirty="0"/>
              <a:t>al</a:t>
            </a:r>
            <a:r>
              <a:rPr spc="-55" dirty="0"/>
              <a:t>o</a:t>
            </a:r>
            <a:r>
              <a:rPr dirty="0"/>
              <a:t>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1428" y="1818814"/>
            <a:ext cx="4731969" cy="43048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3841"/>
            <a:ext cx="179958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84" dirty="0"/>
              <a:t>T</a:t>
            </a:r>
            <a:r>
              <a:rPr sz="4800" spc="-45" dirty="0"/>
              <a:t>e</a:t>
            </a:r>
            <a:r>
              <a:rPr sz="4800" spc="-50" dirty="0"/>
              <a:t>r</a:t>
            </a:r>
            <a:r>
              <a:rPr sz="4800" spc="-55" dirty="0"/>
              <a:t>m</a:t>
            </a:r>
            <a:r>
              <a:rPr sz="4800" spc="-45" dirty="0"/>
              <a:t>é</a:t>
            </a:r>
            <a:r>
              <a:rPr sz="4800" dirty="0"/>
              <a:t>k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01700" y="1685237"/>
            <a:ext cx="7379970" cy="293243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6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bármely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ipari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vagy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kézműipari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árucikk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ts val="2160"/>
              </a:lnSpc>
              <a:spcBef>
                <a:spcPts val="143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csomagolás,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kikészítés,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grafikai jelzések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és 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nyomdai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betűformák,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valamint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azok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részek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is,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amelyeket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valamely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összetett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termékben való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összeállításra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szántak</a:t>
            </a:r>
            <a:endParaRPr sz="2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12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számítógépi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nem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tekinthető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terméknek!</a:t>
            </a:r>
            <a:endParaRPr sz="2000">
              <a:latin typeface="Calibri"/>
              <a:cs typeface="Calibri"/>
            </a:endParaRPr>
          </a:p>
          <a:p>
            <a:pPr marL="12700" marR="361950">
              <a:lnSpc>
                <a:spcPts val="216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Összetett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terméknek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minősül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alkotóelemekből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álló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termék,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amelyek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eltávolításával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szétszedhető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és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utána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újból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összeállítható.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3841"/>
            <a:ext cx="60204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" dirty="0"/>
              <a:t>Újdonság</a:t>
            </a:r>
            <a:r>
              <a:rPr sz="4800" spc="-120" dirty="0"/>
              <a:t> </a:t>
            </a:r>
            <a:r>
              <a:rPr sz="4800" spc="-25" dirty="0"/>
              <a:t>és</a:t>
            </a:r>
            <a:r>
              <a:rPr sz="4800" spc="-110" dirty="0"/>
              <a:t> </a:t>
            </a:r>
            <a:r>
              <a:rPr sz="4800" spc="-50" dirty="0"/>
              <a:t>egyéni</a:t>
            </a:r>
            <a:r>
              <a:rPr sz="4800" spc="-120" dirty="0"/>
              <a:t> </a:t>
            </a:r>
            <a:r>
              <a:rPr sz="4800" spc="-45" dirty="0"/>
              <a:t>jelleg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10259" y="1831975"/>
            <a:ext cx="7572375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40"/>
              </a:spcBef>
            </a:pP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formatervezési </a:t>
            </a:r>
            <a:r>
              <a:rPr sz="2000" b="1" spc="-15" dirty="0">
                <a:solidFill>
                  <a:srgbClr val="404040"/>
                </a:solidFill>
                <a:latin typeface="Calibri"/>
                <a:cs typeface="Calibri"/>
              </a:rPr>
              <a:t>minta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termék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egészének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vagy részének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megjelenése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amelyet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magának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terméknek,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díszítésének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külső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jellegzetességei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 különösen a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rajzolat,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körvonalak,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színek,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 alak, a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felület,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anyagok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jellegzetességei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eredményeznek.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5133" y="3558285"/>
            <a:ext cx="1183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Újd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spc="-5" dirty="0">
                <a:latin typeface="Calibri"/>
                <a:cs typeface="Calibri"/>
              </a:rPr>
              <a:t>nság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85872" y="3195827"/>
            <a:ext cx="303530" cy="1187450"/>
          </a:xfrm>
          <a:custGeom>
            <a:avLst/>
            <a:gdLst/>
            <a:ahLst/>
            <a:cxnLst/>
            <a:rect l="l" t="t" r="r" b="b"/>
            <a:pathLst>
              <a:path w="303530" h="1187450">
                <a:moveTo>
                  <a:pt x="303275" y="1187196"/>
                </a:moveTo>
                <a:lnTo>
                  <a:pt x="244274" y="1178857"/>
                </a:lnTo>
                <a:lnTo>
                  <a:pt x="196072" y="1156112"/>
                </a:lnTo>
                <a:lnTo>
                  <a:pt x="163562" y="1122366"/>
                </a:lnTo>
                <a:lnTo>
                  <a:pt x="151637" y="1081024"/>
                </a:lnTo>
                <a:lnTo>
                  <a:pt x="151637" y="699770"/>
                </a:lnTo>
                <a:lnTo>
                  <a:pt x="139713" y="658427"/>
                </a:lnTo>
                <a:lnTo>
                  <a:pt x="107203" y="624681"/>
                </a:lnTo>
                <a:lnTo>
                  <a:pt x="59001" y="601936"/>
                </a:lnTo>
                <a:lnTo>
                  <a:pt x="0" y="593598"/>
                </a:lnTo>
                <a:lnTo>
                  <a:pt x="59001" y="585259"/>
                </a:lnTo>
                <a:lnTo>
                  <a:pt x="107203" y="562514"/>
                </a:lnTo>
                <a:lnTo>
                  <a:pt x="139713" y="528768"/>
                </a:lnTo>
                <a:lnTo>
                  <a:pt x="151637" y="487426"/>
                </a:lnTo>
                <a:lnTo>
                  <a:pt x="151637" y="106172"/>
                </a:lnTo>
                <a:lnTo>
                  <a:pt x="163562" y="64829"/>
                </a:lnTo>
                <a:lnTo>
                  <a:pt x="196072" y="31083"/>
                </a:lnTo>
                <a:lnTo>
                  <a:pt x="244274" y="8338"/>
                </a:lnTo>
                <a:lnTo>
                  <a:pt x="303275" y="0"/>
                </a:lnTo>
              </a:path>
            </a:pathLst>
          </a:custGeom>
          <a:ln w="15240">
            <a:solidFill>
              <a:srgbClr val="5656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11067" y="3195827"/>
            <a:ext cx="4142740" cy="1187450"/>
          </a:xfrm>
          <a:prstGeom prst="rect">
            <a:avLst/>
          </a:prstGeom>
          <a:solidFill>
            <a:srgbClr val="556C83"/>
          </a:solidFill>
        </p:spPr>
        <p:txBody>
          <a:bodyPr vert="horz" wrap="square" lIns="0" tIns="40005" rIns="0" bIns="0" rtlCol="0">
            <a:spAutoFit/>
          </a:bodyPr>
          <a:lstStyle/>
          <a:p>
            <a:pPr marL="389255" indent="-297815">
              <a:lnSpc>
                <a:spcPts val="2760"/>
              </a:lnSpc>
              <a:spcBef>
                <a:spcPts val="315"/>
              </a:spcBef>
              <a:buChar char="•"/>
              <a:tabLst>
                <a:tab pos="389255" algn="l"/>
                <a:tab pos="389890" algn="l"/>
              </a:tabLst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ha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azzal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azonos</a:t>
            </a:r>
            <a:endParaRPr sz="2400">
              <a:latin typeface="Calibri"/>
              <a:cs typeface="Calibri"/>
            </a:endParaRPr>
          </a:p>
          <a:p>
            <a:pPr marL="320675">
              <a:lnSpc>
                <a:spcPts val="2635"/>
              </a:lnSpc>
            </a:pP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formatervezési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minta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nem</a:t>
            </a:r>
            <a:endParaRPr sz="2400">
              <a:latin typeface="Calibri"/>
              <a:cs typeface="Calibri"/>
            </a:endParaRPr>
          </a:p>
          <a:p>
            <a:pPr marL="320675">
              <a:lnSpc>
                <a:spcPts val="2755"/>
              </a:lnSpc>
            </a:pP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jutott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nyilvánosságra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1080" y="4836032"/>
            <a:ext cx="836294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61925" marR="5080" indent="-149860">
              <a:lnSpc>
                <a:spcPts val="2640"/>
              </a:lnSpc>
              <a:spcBef>
                <a:spcPts val="385"/>
              </a:spcBef>
            </a:pPr>
            <a:r>
              <a:rPr sz="2400" spc="-5" dirty="0">
                <a:latin typeface="Calibri"/>
                <a:cs typeface="Calibri"/>
              </a:rPr>
              <a:t>Eg</a:t>
            </a:r>
            <a:r>
              <a:rPr sz="2400" spc="-20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éni  </a:t>
            </a:r>
            <a:r>
              <a:rPr sz="2400" spc="-5" dirty="0">
                <a:latin typeface="Calibri"/>
                <a:cs typeface="Calibri"/>
              </a:rPr>
              <a:t>j</a:t>
            </a:r>
            <a:r>
              <a:rPr sz="2400" dirty="0">
                <a:latin typeface="Calibri"/>
                <a:cs typeface="Calibri"/>
              </a:rPr>
              <a:t>elleg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85872" y="4469891"/>
            <a:ext cx="303530" cy="1529080"/>
          </a:xfrm>
          <a:custGeom>
            <a:avLst/>
            <a:gdLst/>
            <a:ahLst/>
            <a:cxnLst/>
            <a:rect l="l" t="t" r="r" b="b"/>
            <a:pathLst>
              <a:path w="303530" h="1529079">
                <a:moveTo>
                  <a:pt x="303275" y="1528571"/>
                </a:moveTo>
                <a:lnTo>
                  <a:pt x="244274" y="1520230"/>
                </a:lnTo>
                <a:lnTo>
                  <a:pt x="196072" y="1497482"/>
                </a:lnTo>
                <a:lnTo>
                  <a:pt x="163562" y="1463742"/>
                </a:lnTo>
                <a:lnTo>
                  <a:pt x="151637" y="1422425"/>
                </a:lnTo>
                <a:lnTo>
                  <a:pt x="151637" y="870457"/>
                </a:lnTo>
                <a:lnTo>
                  <a:pt x="139713" y="829115"/>
                </a:lnTo>
                <a:lnTo>
                  <a:pt x="107203" y="795369"/>
                </a:lnTo>
                <a:lnTo>
                  <a:pt x="59001" y="772624"/>
                </a:lnTo>
                <a:lnTo>
                  <a:pt x="0" y="764285"/>
                </a:lnTo>
                <a:lnTo>
                  <a:pt x="59001" y="755947"/>
                </a:lnTo>
                <a:lnTo>
                  <a:pt x="107203" y="733202"/>
                </a:lnTo>
                <a:lnTo>
                  <a:pt x="139713" y="699456"/>
                </a:lnTo>
                <a:lnTo>
                  <a:pt x="151637" y="658113"/>
                </a:lnTo>
                <a:lnTo>
                  <a:pt x="151637" y="106171"/>
                </a:lnTo>
                <a:lnTo>
                  <a:pt x="163562" y="64829"/>
                </a:lnTo>
                <a:lnTo>
                  <a:pt x="196072" y="31083"/>
                </a:lnTo>
                <a:lnTo>
                  <a:pt x="244274" y="8338"/>
                </a:lnTo>
                <a:lnTo>
                  <a:pt x="303275" y="0"/>
                </a:lnTo>
              </a:path>
            </a:pathLst>
          </a:custGeom>
          <a:ln w="15240">
            <a:solidFill>
              <a:srgbClr val="5656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211067" y="4469891"/>
            <a:ext cx="4142740" cy="1529080"/>
          </a:xfrm>
          <a:prstGeom prst="rect">
            <a:avLst/>
          </a:prstGeom>
          <a:solidFill>
            <a:srgbClr val="556C83"/>
          </a:solidFill>
        </p:spPr>
        <p:txBody>
          <a:bodyPr vert="horz" wrap="square" lIns="0" tIns="74295" rIns="0" bIns="0" rtlCol="0">
            <a:spAutoFit/>
          </a:bodyPr>
          <a:lstStyle/>
          <a:p>
            <a:pPr marL="320675" marR="385445" indent="-228600">
              <a:lnSpc>
                <a:spcPct val="91600"/>
              </a:lnSpc>
              <a:spcBef>
                <a:spcPts val="585"/>
              </a:spcBef>
              <a:buChar char="•"/>
              <a:tabLst>
                <a:tab pos="321310" algn="l"/>
              </a:tabLst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ha bármely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nyilvánosságra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jutott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mintához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képest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tájékozott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használóra eltérő </a:t>
            </a:r>
            <a:r>
              <a:rPr sz="2400" spc="-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összbenyomást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tesz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1917192"/>
            <a:ext cx="7315200" cy="30571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20339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K</a:t>
            </a:r>
            <a:r>
              <a:rPr spc="-50" dirty="0"/>
              <a:t>i</a:t>
            </a:r>
            <a:r>
              <a:rPr spc="-125" dirty="0"/>
              <a:t>z</a:t>
            </a:r>
            <a:r>
              <a:rPr spc="-50" dirty="0"/>
              <a:t>á</a:t>
            </a:r>
            <a:r>
              <a:rPr spc="-130" dirty="0"/>
              <a:t>r</a:t>
            </a:r>
            <a:r>
              <a:rPr dirty="0"/>
              <a:t>ó</a:t>
            </a:r>
            <a:r>
              <a:rPr spc="-100" dirty="0"/>
              <a:t> </a:t>
            </a:r>
            <a:r>
              <a:rPr spc="-55" dirty="0"/>
              <a:t>o</a:t>
            </a:r>
            <a:r>
              <a:rPr spc="-185" dirty="0"/>
              <a:t>k</a:t>
            </a:r>
            <a:r>
              <a:rPr spc="-55" dirty="0"/>
              <a:t>o</a:t>
            </a:r>
            <a:r>
              <a:rPr dirty="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831975"/>
            <a:ext cx="757110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részesülhet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mintaoltalomban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 külső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jellegzetesség,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amely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kizárólag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termék</a:t>
            </a:r>
            <a:r>
              <a:rPr sz="2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műszaki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rendeltetésének</a:t>
            </a:r>
            <a:r>
              <a:rPr sz="20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következménye.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3010281"/>
            <a:ext cx="18961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1501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Nem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részesülhet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9250" y="3010281"/>
            <a:ext cx="54933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2715" algn="l"/>
                <a:tab pos="1733550" algn="l"/>
                <a:tab pos="2602230" algn="l"/>
                <a:tab pos="3067050" algn="l"/>
                <a:tab pos="3397885" algn="l"/>
                <a:tab pos="4683125" algn="l"/>
                <a:tab pos="535813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alomban	a	m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nt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a,	ha	a	</a:t>
            </a:r>
            <a:r>
              <a:rPr sz="2000" spc="-85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ö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en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e	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y	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0259" y="3284601"/>
            <a:ext cx="7572375" cy="8801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40"/>
              </a:spcBef>
            </a:pP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közerkölcsbe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ütközik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(pl.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mintának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része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valamely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kisebbséget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sértő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ábra;</a:t>
            </a:r>
            <a:r>
              <a:rPr sz="2000" spc="-5" dirty="0">
                <a:latin typeface="Calibri"/>
                <a:cs typeface="Calibri"/>
              </a:rPr>
              <a:t> valamely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közszereplő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gúnyos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stílusban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kialakított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hasonmását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megjelenítő </a:t>
            </a:r>
            <a:r>
              <a:rPr sz="2000" spc="-10" dirty="0">
                <a:latin typeface="Calibri"/>
                <a:cs typeface="Calibri"/>
              </a:rPr>
              <a:t>játékfigura).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47294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50" dirty="0"/>
              <a:t> </a:t>
            </a:r>
            <a:r>
              <a:rPr spc="-90" dirty="0"/>
              <a:t>m</a:t>
            </a:r>
            <a:r>
              <a:rPr spc="-65" dirty="0"/>
              <a:t>i</a:t>
            </a:r>
            <a:r>
              <a:rPr spc="-120" dirty="0"/>
              <a:t>n</a:t>
            </a:r>
            <a:r>
              <a:rPr spc="-114" dirty="0"/>
              <a:t>t</a:t>
            </a:r>
            <a:r>
              <a:rPr spc="-90" dirty="0"/>
              <a:t>ao</a:t>
            </a:r>
            <a:r>
              <a:rPr spc="-65" dirty="0"/>
              <a:t>l</a:t>
            </a:r>
            <a:r>
              <a:rPr spc="-125" dirty="0"/>
              <a:t>t</a:t>
            </a:r>
            <a:r>
              <a:rPr spc="-90" dirty="0"/>
              <a:t>a</a:t>
            </a:r>
            <a:r>
              <a:rPr spc="-65" dirty="0"/>
              <a:t>l</a:t>
            </a:r>
            <a:r>
              <a:rPr spc="-90" dirty="0"/>
              <a:t>o</a:t>
            </a:r>
            <a:r>
              <a:rPr dirty="0"/>
              <a:t>m</a:t>
            </a:r>
            <a:r>
              <a:rPr spc="-250" dirty="0"/>
              <a:t> </a:t>
            </a:r>
            <a:r>
              <a:rPr spc="-50" dirty="0"/>
              <a:t>i</a:t>
            </a:r>
            <a:r>
              <a:rPr spc="-75" dirty="0"/>
              <a:t>d</a:t>
            </a:r>
            <a:r>
              <a:rPr spc="-80" dirty="0"/>
              <a:t>ő</a:t>
            </a:r>
            <a:r>
              <a:rPr spc="-130" dirty="0"/>
              <a:t>t</a:t>
            </a:r>
            <a:r>
              <a:rPr spc="-90" dirty="0"/>
              <a:t>a</a:t>
            </a:r>
            <a:r>
              <a:rPr spc="-80" dirty="0"/>
              <a:t>r</a:t>
            </a:r>
            <a:r>
              <a:rPr spc="-120" dirty="0"/>
              <a:t>t</a:t>
            </a:r>
            <a:r>
              <a:rPr spc="-90" dirty="0"/>
              <a:t>a</a:t>
            </a:r>
            <a:r>
              <a:rPr spc="-120" dirty="0"/>
              <a:t>m</a:t>
            </a:r>
            <a:r>
              <a:rPr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978848"/>
            <a:ext cx="7480934" cy="23679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0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mintaoltalom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bejelentés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napjától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számított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öt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évig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tart.</a:t>
            </a:r>
            <a:endParaRPr sz="1700">
              <a:latin typeface="Calibri"/>
              <a:cs typeface="Calibri"/>
            </a:endParaRPr>
          </a:p>
          <a:p>
            <a:pPr marL="12700" marR="5080" algn="just">
              <a:lnSpc>
                <a:spcPct val="80000"/>
              </a:lnSpc>
              <a:spcBef>
                <a:spcPts val="1405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mintaoltalom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további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öt-öt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éves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időtartamra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legfeljebb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négyszer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újítható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meg. </a:t>
            </a:r>
            <a:r>
              <a:rPr sz="1700" spc="-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Megújítás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esetén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újabb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oltalmi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idő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előző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oltalmi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idő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lejárati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napját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követő </a:t>
            </a:r>
            <a:r>
              <a:rPr sz="1700" spc="-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nappal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kezdődik.</a:t>
            </a:r>
            <a:endParaRPr sz="17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85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bejelentés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napjától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számított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huszonöt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év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elteltével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7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oltalom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újítható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meg.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700" b="1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MAXIMUM</a:t>
            </a:r>
            <a:r>
              <a:rPr sz="1700" b="1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700" b="1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25</a:t>
            </a:r>
            <a:r>
              <a:rPr sz="1700" b="1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700" b="1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ÉV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0613" y="1845564"/>
            <a:ext cx="4349115" cy="3836670"/>
            <a:chOff x="2110613" y="1845564"/>
            <a:chExt cx="4349115" cy="3836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889" y="1845564"/>
              <a:ext cx="2429833" cy="3836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25218" y="2710434"/>
              <a:ext cx="4319905" cy="2388870"/>
            </a:xfrm>
            <a:custGeom>
              <a:avLst/>
              <a:gdLst/>
              <a:ahLst/>
              <a:cxnLst/>
              <a:rect l="l" t="t" r="r" b="b"/>
              <a:pathLst>
                <a:path w="4319905" h="2388870">
                  <a:moveTo>
                    <a:pt x="2735580" y="360044"/>
                  </a:moveTo>
                  <a:lnTo>
                    <a:pt x="4319778" y="0"/>
                  </a:lnTo>
                </a:path>
                <a:path w="4319905" h="2388870">
                  <a:moveTo>
                    <a:pt x="0" y="2388489"/>
                  </a:moveTo>
                  <a:lnTo>
                    <a:pt x="1728216" y="1740408"/>
                  </a:lnTo>
                </a:path>
                <a:path w="4319905" h="2388870">
                  <a:moveTo>
                    <a:pt x="2510028" y="1222247"/>
                  </a:moveTo>
                  <a:lnTo>
                    <a:pt x="4313808" y="1222247"/>
                  </a:lnTo>
                </a:path>
                <a:path w="4319905" h="2388870">
                  <a:moveTo>
                    <a:pt x="515112" y="359663"/>
                  </a:moveTo>
                  <a:lnTo>
                    <a:pt x="2376297" y="480567"/>
                  </a:lnTo>
                </a:path>
              </a:pathLst>
            </a:custGeom>
            <a:ln w="28956">
              <a:solidFill>
                <a:srgbClr val="6E6E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2127" y="2037588"/>
            <a:ext cx="2377440" cy="2062480"/>
          </a:xfrm>
          <a:prstGeom prst="rect">
            <a:avLst/>
          </a:prstGeom>
          <a:solidFill>
            <a:srgbClr val="556C83"/>
          </a:solidFill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VÉDJEGY</a:t>
            </a:r>
            <a:endParaRPr sz="1600">
              <a:latin typeface="Calibri"/>
              <a:cs typeface="Calibri"/>
            </a:endParaRPr>
          </a:p>
          <a:p>
            <a:pPr marL="91440" marR="113664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Megkülönböztetés mások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termékeitől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vagy</a:t>
            </a:r>
            <a:endParaRPr sz="1600">
              <a:latin typeface="Calibri"/>
              <a:cs typeface="Calibri"/>
            </a:endParaRPr>
          </a:p>
          <a:p>
            <a:pPr marL="91440" marR="54229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szolgáltatásaitól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(márkanevek,</a:t>
            </a:r>
            <a:r>
              <a:rPr sz="16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betűk,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számok,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logók,</a:t>
            </a:r>
            <a:endParaRPr sz="1600">
              <a:latin typeface="Calibri"/>
              <a:cs typeface="Calibri"/>
            </a:endParaRPr>
          </a:p>
          <a:p>
            <a:pPr marL="91440" marR="17843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szimbólumok,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szlogenek, </a:t>
            </a:r>
            <a:r>
              <a:rPr sz="1600" b="1" spc="-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színek, hangok)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38900" y="1991867"/>
            <a:ext cx="2466340" cy="1077595"/>
          </a:xfrm>
          <a:custGeom>
            <a:avLst/>
            <a:gdLst/>
            <a:ahLst/>
            <a:cxnLst/>
            <a:rect l="l" t="t" r="r" b="b"/>
            <a:pathLst>
              <a:path w="2466340" h="1077595">
                <a:moveTo>
                  <a:pt x="2465831" y="0"/>
                </a:moveTo>
                <a:lnTo>
                  <a:pt x="0" y="0"/>
                </a:lnTo>
                <a:lnTo>
                  <a:pt x="0" y="1077467"/>
                </a:lnTo>
                <a:lnTo>
                  <a:pt x="2465831" y="1077467"/>
                </a:lnTo>
                <a:lnTo>
                  <a:pt x="24658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38900" y="1991867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sz="1600" spc="-15" dirty="0">
                <a:latin typeface="Calibri"/>
                <a:cs typeface="Calibri"/>
              </a:rPr>
              <a:t>SZABADALOM</a:t>
            </a:r>
            <a:endParaRPr sz="1600">
              <a:latin typeface="Calibri"/>
              <a:cs typeface="Calibri"/>
            </a:endParaRPr>
          </a:p>
          <a:p>
            <a:pPr marL="92075" marR="19812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Az ismert </a:t>
            </a:r>
            <a:r>
              <a:rPr sz="1600" spc="-10" dirty="0">
                <a:latin typeface="Calibri"/>
                <a:cs typeface="Calibri"/>
              </a:rPr>
              <a:t>technológiákhoz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képest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új</a:t>
            </a:r>
            <a:r>
              <a:rPr sz="1600" spc="-10" dirty="0">
                <a:latin typeface="Calibri"/>
                <a:cs typeface="Calibri"/>
              </a:rPr>
              <a:t> megoldásokat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tartalmazó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találmányok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4996" y="3500628"/>
            <a:ext cx="2466340" cy="1077595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2075" marR="1012190">
              <a:lnSpc>
                <a:spcPct val="100000"/>
              </a:lnSpc>
              <a:spcBef>
                <a:spcPts val="270"/>
              </a:spcBef>
            </a:pPr>
            <a:r>
              <a:rPr sz="1600" spc="-20" dirty="0">
                <a:latin typeface="Calibri"/>
                <a:cs typeface="Calibri"/>
              </a:rPr>
              <a:t>HASZNÁLATI 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MIN</a:t>
            </a:r>
            <a:r>
              <a:rPr sz="1600" spc="-120" dirty="0">
                <a:latin typeface="Calibri"/>
                <a:cs typeface="Calibri"/>
              </a:rPr>
              <a:t>T</a:t>
            </a:r>
            <a:r>
              <a:rPr sz="1600" spc="-1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spc="-120" dirty="0">
                <a:latin typeface="Calibri"/>
                <a:cs typeface="Calibri"/>
              </a:rPr>
              <a:t>L</a:t>
            </a:r>
            <a:r>
              <a:rPr sz="1600" spc="-125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L</a:t>
            </a:r>
            <a:r>
              <a:rPr sz="1600" spc="-10" dirty="0">
                <a:latin typeface="Calibri"/>
                <a:cs typeface="Calibri"/>
              </a:rPr>
              <a:t>OM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Egyszerűbb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tárgyak,</a:t>
            </a:r>
            <a:endParaRPr sz="16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600" spc="-20" dirty="0">
                <a:latin typeface="Calibri"/>
                <a:cs typeface="Calibri"/>
              </a:rPr>
              <a:t>szerkezetek.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" y="5109971"/>
            <a:ext cx="2714625" cy="830580"/>
          </a:xfrm>
          <a:prstGeom prst="rect">
            <a:avLst/>
          </a:prstGeom>
          <a:ln w="9144">
            <a:solidFill>
              <a:srgbClr val="6E6E74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1600" spc="-20" dirty="0">
                <a:latin typeface="Calibri"/>
                <a:cs typeface="Calibri"/>
              </a:rPr>
              <a:t>FORMATERVEZÉSIMINTA-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45" dirty="0">
                <a:latin typeface="Calibri"/>
                <a:cs typeface="Calibri"/>
              </a:rPr>
              <a:t>OLTALOM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(DESIGN)</a:t>
            </a:r>
            <a:endParaRPr sz="16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termékek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külső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megjelenése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36691" y="4794503"/>
            <a:ext cx="3159760" cy="1569720"/>
          </a:xfrm>
          <a:custGeom>
            <a:avLst/>
            <a:gdLst/>
            <a:ahLst/>
            <a:cxnLst/>
            <a:rect l="l" t="t" r="r" b="b"/>
            <a:pathLst>
              <a:path w="3159759" h="1569720">
                <a:moveTo>
                  <a:pt x="0" y="1569720"/>
                </a:moveTo>
                <a:lnTo>
                  <a:pt x="3159252" y="1569720"/>
                </a:lnTo>
                <a:lnTo>
                  <a:pt x="3159252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143">
            <a:solidFill>
              <a:srgbClr val="6E6E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41264" y="4816221"/>
            <a:ext cx="315023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SZERZŐI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JOG</a:t>
            </a:r>
            <a:endParaRPr sz="1600">
              <a:latin typeface="Calibri"/>
              <a:cs typeface="Calibri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Egyéni,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eredeti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jellegű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irodalmi,</a:t>
            </a:r>
            <a:endParaRPr sz="1600">
              <a:latin typeface="Calibri"/>
              <a:cs typeface="Calibri"/>
            </a:endParaRPr>
          </a:p>
          <a:p>
            <a:pPr marL="87630" marR="86360">
              <a:lnSpc>
                <a:spcPct val="100000"/>
              </a:lnSpc>
            </a:pPr>
            <a:r>
              <a:rPr sz="1600" spc="-15" dirty="0">
                <a:latin typeface="Calibri"/>
                <a:cs typeface="Calibri"/>
              </a:rPr>
              <a:t>művészeti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vagy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tudományos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művek,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iparművészeti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alkotás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(pl.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óra),</a:t>
            </a:r>
            <a:endParaRPr sz="1600">
              <a:latin typeface="Calibri"/>
              <a:cs typeface="Calibri"/>
            </a:endParaRPr>
          </a:p>
          <a:p>
            <a:pPr marL="87630" marR="88773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reklámanyagok, használati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útmutató.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4831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202</a:t>
            </a:r>
            <a:r>
              <a:rPr lang="hu-HU" spc="-40" dirty="0"/>
              <a:t>3</a:t>
            </a:r>
            <a:r>
              <a:rPr spc="-125" dirty="0"/>
              <a:t> </a:t>
            </a:r>
            <a:r>
              <a:rPr spc="-65" dirty="0"/>
              <a:t>legértékesebb</a:t>
            </a:r>
            <a:r>
              <a:rPr spc="-130" dirty="0"/>
              <a:t> </a:t>
            </a:r>
            <a:r>
              <a:rPr spc="-60" dirty="0"/>
              <a:t>márkái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" t="48889"/>
          <a:stretch/>
        </p:blipFill>
        <p:spPr>
          <a:xfrm>
            <a:off x="838200" y="1981200"/>
            <a:ext cx="7620000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783" y="1845564"/>
            <a:ext cx="3238499" cy="4175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60744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Miért</a:t>
            </a:r>
            <a:r>
              <a:rPr spc="-114" dirty="0"/>
              <a:t> </a:t>
            </a:r>
            <a:r>
              <a:rPr spc="-50" dirty="0"/>
              <a:t>van</a:t>
            </a:r>
            <a:r>
              <a:rPr spc="-105" dirty="0"/>
              <a:t> </a:t>
            </a:r>
            <a:r>
              <a:rPr spc="-55" dirty="0"/>
              <a:t>szükség</a:t>
            </a:r>
            <a:r>
              <a:rPr spc="-130" dirty="0"/>
              <a:t> </a:t>
            </a:r>
            <a:r>
              <a:rPr dirty="0"/>
              <a:t>a</a:t>
            </a:r>
            <a:r>
              <a:rPr spc="-110" dirty="0"/>
              <a:t> </a:t>
            </a:r>
            <a:r>
              <a:rPr spc="-55" dirty="0"/>
              <a:t>védjegyjogra?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532" y="1845564"/>
            <a:ext cx="600913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620" y="1845564"/>
            <a:ext cx="536295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339" y="1105865"/>
            <a:ext cx="2778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Védjegyoltalom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069" y="1975231"/>
            <a:ext cx="6006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Védjegyoltalomban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részesülhet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minden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megjelölés,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amely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069" y="2427858"/>
            <a:ext cx="7567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3085" algn="l"/>
                <a:tab pos="1792605" algn="l"/>
                <a:tab pos="2612390" algn="l"/>
                <a:tab pos="3454400" algn="l"/>
                <a:tab pos="4711700" algn="l"/>
                <a:tab pos="5481320" algn="l"/>
                <a:tab pos="628777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a)	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alkalmas	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arra,	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hogy	valamely	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árut	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vagy	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szolgáltatást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069" y="2556230"/>
            <a:ext cx="7568565" cy="928369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megkülönböztessen mások</a:t>
            </a:r>
            <a:r>
              <a:rPr sz="20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libri"/>
                <a:cs typeface="Calibri"/>
              </a:rPr>
              <a:t>áruitól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vagy</a:t>
            </a:r>
            <a:r>
              <a:rPr sz="20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szolgáltatásaitól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;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b)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védjegylajstromban</a:t>
            </a:r>
            <a:r>
              <a:rPr sz="20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20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módon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ábrázolható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hogy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jogalkalmazó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069" y="3427857"/>
            <a:ext cx="757174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375"/>
              </a:spcBef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szervek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nyilvánosság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egyértelműen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pontosan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meg</a:t>
            </a:r>
            <a:r>
              <a:rPr sz="2000" spc="4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tudják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határozni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védjegybejelentő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által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igényelt,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illetve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4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védjegyjogosult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javára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fennálló oltalom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tárgyát.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2781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Védjegyoltalom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701520"/>
            <a:ext cx="5254625" cy="395097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Védjegyoltalomban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részesülhetnek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különösen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következő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megjelölések:</a:t>
            </a:r>
            <a:endParaRPr sz="1400">
              <a:latin typeface="Calibri"/>
              <a:cs typeface="Calibri"/>
            </a:endParaRPr>
          </a:p>
          <a:p>
            <a:pPr marL="192405" indent="-180340">
              <a:lnSpc>
                <a:spcPct val="100000"/>
              </a:lnSpc>
              <a:spcBef>
                <a:spcPts val="890"/>
              </a:spcBef>
              <a:buAutoNum type="alphaLcParenR"/>
              <a:tabLst>
                <a:tab pos="193040" algn="l"/>
              </a:tabLst>
            </a:pP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szó,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szóösszetétel,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beleértve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személyneveket</a:t>
            </a:r>
            <a:r>
              <a:rPr sz="14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1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jelmondatokat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is;</a:t>
            </a:r>
            <a:endParaRPr sz="1400">
              <a:latin typeface="Calibri"/>
              <a:cs typeface="Calibri"/>
            </a:endParaRPr>
          </a:p>
          <a:p>
            <a:pPr marL="199390" indent="-187325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200025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betű,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szám;</a:t>
            </a:r>
            <a:endParaRPr sz="1400">
              <a:latin typeface="Calibri"/>
              <a:cs typeface="Calibri"/>
            </a:endParaRPr>
          </a:p>
          <a:p>
            <a:pPr marL="179705" indent="-16764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18034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ábra,</a:t>
            </a:r>
            <a:r>
              <a:rPr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kép;</a:t>
            </a:r>
            <a:endParaRPr sz="1400">
              <a:latin typeface="Calibri"/>
              <a:cs typeface="Calibri"/>
            </a:endParaRPr>
          </a:p>
          <a:p>
            <a:pPr marL="199390" indent="-187325">
              <a:lnSpc>
                <a:spcPct val="100000"/>
              </a:lnSpc>
              <a:spcBef>
                <a:spcPts val="890"/>
              </a:spcBef>
              <a:buAutoNum type="alphaLcParenR"/>
              <a:tabLst>
                <a:tab pos="200025" algn="l"/>
              </a:tabLst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sík-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térbeli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alakzat,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beleértve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áru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 csomagolás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formáját;</a:t>
            </a:r>
            <a:endParaRPr sz="1400">
              <a:latin typeface="Calibri"/>
              <a:cs typeface="Calibri"/>
            </a:endParaRPr>
          </a:p>
          <a:p>
            <a:pPr marL="195580" indent="-18288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195580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szín,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színösszetétel,</a:t>
            </a:r>
            <a:r>
              <a:rPr sz="1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fényjel,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hologram;</a:t>
            </a:r>
            <a:endParaRPr sz="1400">
              <a:latin typeface="Calibri"/>
              <a:cs typeface="Calibri"/>
            </a:endParaRPr>
          </a:p>
          <a:p>
            <a:pPr marL="163195" indent="-15113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163830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hang;</a:t>
            </a:r>
            <a:endParaRPr sz="1400">
              <a:latin typeface="Calibri"/>
              <a:cs typeface="Calibri"/>
            </a:endParaRPr>
          </a:p>
          <a:p>
            <a:pPr marL="190500" indent="-178435">
              <a:lnSpc>
                <a:spcPct val="100000"/>
              </a:lnSpc>
              <a:spcBef>
                <a:spcPts val="890"/>
              </a:spcBef>
              <a:buAutoNum type="alphaLcParenR"/>
              <a:tabLst>
                <a:tab pos="191135" algn="l"/>
              </a:tabLst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mozgást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megjelenítő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megjelölés;</a:t>
            </a:r>
            <a:endParaRPr sz="1400">
              <a:latin typeface="Calibri"/>
              <a:cs typeface="Calibri"/>
            </a:endParaRPr>
          </a:p>
          <a:p>
            <a:pPr marL="200025" indent="-18796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200660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pozíciómegjelölés;</a:t>
            </a:r>
            <a:endParaRPr sz="1400">
              <a:latin typeface="Calibri"/>
              <a:cs typeface="Calibri"/>
            </a:endParaRPr>
          </a:p>
          <a:p>
            <a:pPr marL="147955" indent="-13589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148590" algn="l"/>
              </a:tabLst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multimédia-megjelölés;</a:t>
            </a:r>
            <a:endParaRPr sz="1400">
              <a:latin typeface="Calibri"/>
              <a:cs typeface="Calibri"/>
            </a:endParaRPr>
          </a:p>
          <a:p>
            <a:pPr marL="149225" indent="-137160">
              <a:lnSpc>
                <a:spcPct val="100000"/>
              </a:lnSpc>
              <a:spcBef>
                <a:spcPts val="890"/>
              </a:spcBef>
              <a:buAutoNum type="alphaLcParenR"/>
              <a:tabLst>
                <a:tab pos="14986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mintázat;</a:t>
            </a:r>
            <a:r>
              <a:rPr sz="1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valamint</a:t>
            </a:r>
            <a:endParaRPr sz="1400">
              <a:latin typeface="Calibri"/>
              <a:cs typeface="Calibri"/>
            </a:endParaRPr>
          </a:p>
          <a:p>
            <a:pPr marL="187325" indent="-175260">
              <a:lnSpc>
                <a:spcPct val="100000"/>
              </a:lnSpc>
              <a:spcBef>
                <a:spcPts val="900"/>
              </a:spcBef>
              <a:buAutoNum type="alphaLcParenR"/>
              <a:tabLst>
                <a:tab pos="187960" algn="l"/>
              </a:tabLst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többféle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összetétele.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3964" y="3645408"/>
            <a:ext cx="4082795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4923" y="865759"/>
            <a:ext cx="456374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80" dirty="0"/>
              <a:t>Védjegyek</a:t>
            </a:r>
            <a:r>
              <a:rPr sz="4300" spc="-110" dirty="0"/>
              <a:t> </a:t>
            </a:r>
            <a:r>
              <a:rPr sz="4300" spc="-70" dirty="0"/>
              <a:t>ábrázolása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43483" y="1592097"/>
            <a:ext cx="8004809" cy="399986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grafikai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ábrázolás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követelményének</a:t>
            </a:r>
            <a:r>
              <a:rPr sz="19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eltörlésével</a:t>
            </a:r>
            <a:r>
              <a:rPr sz="19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(HU: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2019-től,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EUIPO: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2017-től)</a:t>
            </a:r>
            <a:endParaRPr sz="1900">
              <a:latin typeface="Calibri"/>
              <a:cs typeface="Calibri"/>
            </a:endParaRPr>
          </a:p>
          <a:p>
            <a:pPr marL="398145" indent="-386080">
              <a:lnSpc>
                <a:spcPts val="2050"/>
              </a:lnSpc>
              <a:spcBef>
                <a:spcPts val="950"/>
              </a:spcBef>
              <a:buClr>
                <a:srgbClr val="6E6E74"/>
              </a:buClr>
              <a:buAutoNum type="arabicPeriod"/>
              <a:tabLst>
                <a:tab pos="398145" algn="l"/>
                <a:tab pos="398780" algn="l"/>
              </a:tabLst>
            </a:pPr>
            <a:r>
              <a:rPr sz="1900" spc="-5" dirty="0">
                <a:solidFill>
                  <a:srgbClr val="FF0000"/>
                </a:solidFill>
                <a:latin typeface="Calibri"/>
                <a:cs typeface="Calibri"/>
              </a:rPr>
              <a:t>a megjelölés</a:t>
            </a:r>
            <a:r>
              <a:rPr sz="19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ábrázolható</a:t>
            </a:r>
            <a:r>
              <a:rPr sz="19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Calibri"/>
                <a:cs typeface="Calibri"/>
              </a:rPr>
              <a:t>bármely,</a:t>
            </a:r>
            <a:r>
              <a:rPr sz="19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széles</a:t>
            </a:r>
            <a:r>
              <a:rPr sz="1900" i="1" u="heavy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1900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körben</a:t>
            </a:r>
            <a:r>
              <a:rPr sz="1900" i="1" u="heavy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1900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elérhető</a:t>
            </a:r>
            <a:r>
              <a:rPr sz="1900" i="1" u="heavy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1900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technológia</a:t>
            </a:r>
            <a:endParaRPr sz="1900">
              <a:latin typeface="Calibri"/>
              <a:cs typeface="Calibri"/>
            </a:endParaRPr>
          </a:p>
          <a:p>
            <a:pPr marL="398145">
              <a:lnSpc>
                <a:spcPts val="1895"/>
              </a:lnSpc>
            </a:pP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alkalmazásával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azaz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nem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feltétlenül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grafikai</a:t>
            </a:r>
            <a:r>
              <a:rPr sz="19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úton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(leírással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kiegészítve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is)</a:t>
            </a:r>
            <a:r>
              <a:rPr sz="19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r>
              <a:rPr sz="12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398145" marR="90170">
              <a:lnSpc>
                <a:spcPts val="1340"/>
              </a:lnSpc>
              <a:spcBef>
                <a:spcPts val="17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meglévő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típusok</a:t>
            </a:r>
            <a:r>
              <a:rPr sz="1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404040"/>
                </a:solidFill>
                <a:latin typeface="Calibri"/>
                <a:cs typeface="Calibri"/>
              </a:rPr>
              <a:t>ábrázolhatóságának</a:t>
            </a:r>
            <a:r>
              <a:rPr sz="1400" i="1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lehetőségei</a:t>
            </a:r>
            <a:r>
              <a:rPr sz="14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bővülnek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(pl.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hangmegjelölések,</a:t>
            </a:r>
            <a:r>
              <a:rPr sz="1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hologram </a:t>
            </a:r>
            <a:r>
              <a:rPr sz="1400" spc="-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megjelölések)</a:t>
            </a:r>
            <a:endParaRPr sz="1400">
              <a:latin typeface="Calibri"/>
              <a:cs typeface="Calibri"/>
            </a:endParaRPr>
          </a:p>
          <a:p>
            <a:pPr marL="396240" marR="320040" lvl="1" indent="-182880">
              <a:lnSpc>
                <a:spcPts val="1630"/>
              </a:lnSpc>
              <a:spcBef>
                <a:spcPts val="390"/>
              </a:spcBef>
              <a:buClr>
                <a:srgbClr val="6E6E74"/>
              </a:buClr>
              <a:buChar char="◦"/>
              <a:tabLst>
                <a:tab pos="396875" algn="l"/>
              </a:tabLst>
            </a:pP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Követelmények: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egyértelmű, pontos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és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világos, tartós,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objektív,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teljes,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hozzáférhető </a:t>
            </a:r>
            <a:r>
              <a:rPr sz="1700" spc="-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megjelenítés</a:t>
            </a:r>
            <a:endParaRPr sz="1700">
              <a:latin typeface="Calibri"/>
              <a:cs typeface="Calibri"/>
            </a:endParaRPr>
          </a:p>
          <a:p>
            <a:pPr marL="396240" lvl="1" indent="-183515">
              <a:lnSpc>
                <a:spcPct val="100000"/>
              </a:lnSpc>
              <a:spcBef>
                <a:spcPts val="204"/>
              </a:spcBef>
              <a:buClr>
                <a:srgbClr val="6E6E74"/>
              </a:buClr>
              <a:buChar char="◦"/>
              <a:tabLst>
                <a:tab pos="39687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lajstromból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világosnak 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kell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lennie,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mi</a:t>
            </a:r>
            <a:r>
              <a:rPr sz="17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áll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oltalom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alatt</a:t>
            </a:r>
            <a:endParaRPr sz="1700">
              <a:latin typeface="Calibri"/>
              <a:cs typeface="Calibri"/>
            </a:endParaRPr>
          </a:p>
          <a:p>
            <a:pPr marL="398145" indent="-386080">
              <a:lnSpc>
                <a:spcPct val="100000"/>
              </a:lnSpc>
              <a:spcBef>
                <a:spcPts val="1135"/>
              </a:spcBef>
              <a:buClr>
                <a:srgbClr val="6E6E74"/>
              </a:buClr>
              <a:buAutoNum type="arabicPeriod" startAt="2"/>
              <a:tabLst>
                <a:tab pos="398145" algn="l"/>
                <a:tab pos="398780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„új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típusú megjelölések”</a:t>
            </a:r>
            <a:r>
              <a:rPr sz="19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lajstromozása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vált</a:t>
            </a:r>
            <a:r>
              <a:rPr sz="19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lehetővé</a:t>
            </a:r>
            <a:endParaRPr sz="1900">
              <a:latin typeface="Calibri"/>
              <a:cs typeface="Calibri"/>
            </a:endParaRPr>
          </a:p>
          <a:p>
            <a:pPr marL="579120" lvl="1" indent="-183515">
              <a:lnSpc>
                <a:spcPct val="100000"/>
              </a:lnSpc>
              <a:spcBef>
                <a:spcPts val="95"/>
              </a:spcBef>
              <a:buClr>
                <a:srgbClr val="6E6E74"/>
              </a:buClr>
              <a:buFont typeface="Calibri"/>
              <a:buChar char="◦"/>
              <a:tabLst>
                <a:tab pos="579755" algn="l"/>
              </a:tabLst>
            </a:pPr>
            <a:r>
              <a:rPr sz="1400" i="1" dirty="0">
                <a:solidFill>
                  <a:srgbClr val="404040"/>
                </a:solidFill>
                <a:latin typeface="Calibri"/>
                <a:cs typeface="Calibri"/>
              </a:rPr>
              <a:t>Multimédia</a:t>
            </a:r>
            <a:r>
              <a:rPr sz="14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endParaRPr sz="1400">
              <a:latin typeface="Calibri"/>
              <a:cs typeface="Calibri"/>
            </a:endParaRPr>
          </a:p>
          <a:p>
            <a:pPr marL="579120" lvl="1" indent="-183515">
              <a:lnSpc>
                <a:spcPct val="100000"/>
              </a:lnSpc>
              <a:spcBef>
                <a:spcPts val="265"/>
              </a:spcBef>
              <a:buClr>
                <a:srgbClr val="6E6E74"/>
              </a:buClr>
              <a:buFont typeface="Calibri"/>
              <a:buChar char="◦"/>
              <a:tabLst>
                <a:tab pos="579755" algn="l"/>
              </a:tabLst>
            </a:pPr>
            <a:r>
              <a:rPr sz="1400" i="1" spc="-10" dirty="0">
                <a:solidFill>
                  <a:srgbClr val="404040"/>
                </a:solidFill>
                <a:latin typeface="Calibri"/>
                <a:cs typeface="Calibri"/>
              </a:rPr>
              <a:t>Mozgás</a:t>
            </a:r>
            <a:r>
              <a:rPr sz="14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i="1" spc="-5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endParaRPr sz="1400">
              <a:latin typeface="Calibri"/>
              <a:cs typeface="Calibri"/>
            </a:endParaRPr>
          </a:p>
          <a:p>
            <a:pPr marL="579120" lvl="1" indent="-183515">
              <a:lnSpc>
                <a:spcPct val="100000"/>
              </a:lnSpc>
              <a:spcBef>
                <a:spcPts val="260"/>
              </a:spcBef>
              <a:buClr>
                <a:srgbClr val="6E6E74"/>
              </a:buClr>
              <a:buFont typeface="Calibri"/>
              <a:buChar char="◦"/>
              <a:tabLst>
                <a:tab pos="579755" algn="l"/>
              </a:tabLst>
            </a:pPr>
            <a:r>
              <a:rPr sz="1400" i="1" spc="-10" dirty="0">
                <a:solidFill>
                  <a:srgbClr val="404040"/>
                </a:solidFill>
                <a:latin typeface="Calibri"/>
                <a:cs typeface="Calibri"/>
              </a:rPr>
              <a:t>Pozíció</a:t>
            </a:r>
            <a:r>
              <a:rPr sz="1400" i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endParaRPr sz="1400">
              <a:latin typeface="Calibri"/>
              <a:cs typeface="Calibri"/>
            </a:endParaRPr>
          </a:p>
          <a:p>
            <a:pPr marL="579120" lvl="1" indent="-183515">
              <a:lnSpc>
                <a:spcPct val="100000"/>
              </a:lnSpc>
              <a:spcBef>
                <a:spcPts val="265"/>
              </a:spcBef>
              <a:buClr>
                <a:srgbClr val="6E6E74"/>
              </a:buClr>
              <a:buFont typeface="Calibri"/>
              <a:buChar char="◦"/>
              <a:tabLst>
                <a:tab pos="579755" algn="l"/>
              </a:tabLst>
            </a:pPr>
            <a:r>
              <a:rPr sz="1400" i="1" spc="-10" dirty="0">
                <a:solidFill>
                  <a:srgbClr val="404040"/>
                </a:solidFill>
                <a:latin typeface="Calibri"/>
                <a:cs typeface="Calibri"/>
              </a:rPr>
              <a:t>Mintázat </a:t>
            </a:r>
            <a:r>
              <a:rPr sz="1400" i="1" dirty="0">
                <a:solidFill>
                  <a:srgbClr val="404040"/>
                </a:solidFill>
                <a:latin typeface="Calibri"/>
                <a:cs typeface="Calibri"/>
              </a:rPr>
              <a:t>megjelölés</a:t>
            </a:r>
            <a:endParaRPr sz="1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125"/>
              </a:spcBef>
              <a:buClr>
                <a:srgbClr val="6E6E74"/>
              </a:buClr>
              <a:buAutoNum type="arabicPeriod" startAt="2"/>
              <a:tabLst>
                <a:tab pos="354965" algn="l"/>
                <a:tab pos="355600" algn="l"/>
              </a:tabLst>
            </a:pPr>
            <a:r>
              <a:rPr sz="19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ábrázolási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követelmények</a:t>
            </a:r>
            <a:r>
              <a:rPr sz="19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típusonként</a:t>
            </a:r>
            <a:r>
              <a:rPr sz="19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részletes</a:t>
            </a:r>
            <a:r>
              <a:rPr sz="19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meghatározást</a:t>
            </a:r>
            <a:r>
              <a:rPr sz="19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nyertek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2300" y="3429000"/>
            <a:ext cx="349483" cy="1143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595616" y="3031235"/>
            <a:ext cx="1379220" cy="2840990"/>
            <a:chOff x="7595616" y="3031235"/>
            <a:chExt cx="1379220" cy="28409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5616" y="4450079"/>
              <a:ext cx="1379220" cy="14218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8496" y="3031235"/>
              <a:ext cx="1014983" cy="141884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6444" y="3808476"/>
            <a:ext cx="1350264" cy="7635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3841"/>
            <a:ext cx="51295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0" dirty="0"/>
              <a:t>Különleges</a:t>
            </a:r>
            <a:r>
              <a:rPr sz="4800" spc="-140" dirty="0"/>
              <a:t> </a:t>
            </a:r>
            <a:r>
              <a:rPr sz="4800" spc="-55" dirty="0"/>
              <a:t>védjegyek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01700" y="1815820"/>
            <a:ext cx="7420609" cy="39217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Hang</a:t>
            </a:r>
            <a:endParaRPr sz="1400">
              <a:latin typeface="Calibri"/>
              <a:cs typeface="Calibri"/>
            </a:endParaRPr>
          </a:p>
          <a:p>
            <a:pPr marL="321945">
              <a:lnSpc>
                <a:spcPct val="100000"/>
              </a:lnSpc>
              <a:spcBef>
                <a:spcPts val="240"/>
              </a:spcBef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McDonald’s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u="sng" spc="-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2"/>
              </a:rPr>
              <a:t>https://www.tmdn.org/tmview/#/tmview/detail/EM500000003661907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Szín</a:t>
            </a:r>
            <a:endParaRPr sz="1400">
              <a:latin typeface="Calibri"/>
              <a:cs typeface="Calibri"/>
            </a:endParaRPr>
          </a:p>
          <a:p>
            <a:pPr marL="238125">
              <a:lnSpc>
                <a:spcPct val="100000"/>
              </a:lnSpc>
              <a:spcBef>
                <a:spcPts val="229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Google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g+1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u="sng" spc="-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3"/>
              </a:rPr>
              <a:t>https://www.tmdn.org/tmview/#/tmview/detail/IN500000002391928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Hologram</a:t>
            </a:r>
            <a:endParaRPr sz="1400">
              <a:latin typeface="Calibri"/>
              <a:cs typeface="Calibri"/>
            </a:endParaRPr>
          </a:p>
          <a:p>
            <a:pPr marL="321945" marR="5080">
              <a:lnSpc>
                <a:spcPts val="1510"/>
              </a:lnSpc>
              <a:spcBef>
                <a:spcPts val="420"/>
              </a:spcBef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  <a:hlinkClick r:id="rId4"/>
              </a:rPr>
              <a:t>Gerivan</a:t>
            </a:r>
            <a:r>
              <a:rPr sz="1400" spc="5" dirty="0">
                <a:solidFill>
                  <a:srgbClr val="404040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400" u="sng" spc="-10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4"/>
              </a:rPr>
              <a:t>https://euipo.europa.eu/tunnel- </a:t>
            </a:r>
            <a:r>
              <a:rPr sz="1400" spc="-5" dirty="0">
                <a:solidFill>
                  <a:srgbClr val="67AABE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400" u="sng" spc="-10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4"/>
              </a:rPr>
              <a:t>web/secure/webdav/guest/document_library/contentPdfs/news/common_practice_11/Hologram</a:t>
            </a:r>
            <a:endParaRPr sz="1400">
              <a:latin typeface="Calibri"/>
              <a:cs typeface="Calibri"/>
            </a:endParaRPr>
          </a:p>
          <a:p>
            <a:pPr marL="321945">
              <a:lnSpc>
                <a:spcPts val="1490"/>
              </a:lnSpc>
            </a:pPr>
            <a:r>
              <a:rPr sz="1400" u="sng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4"/>
              </a:rPr>
              <a:t>%20mark%202.mp4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Mozgás</a:t>
            </a:r>
            <a:endParaRPr sz="14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240"/>
              </a:spcBef>
            </a:pP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Vodafone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u="sng" spc="-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libri"/>
                <a:cs typeface="Calibri"/>
                <a:hlinkClick r:id="rId5"/>
              </a:rPr>
              <a:t>https://www.tmdn.org/tmview/#/tmview/detail/EM500000017894840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3316" y="1708391"/>
            <a:ext cx="7747000" cy="398780"/>
            <a:chOff x="623316" y="1708391"/>
            <a:chExt cx="7747000" cy="39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316" y="1708391"/>
              <a:ext cx="934974" cy="3985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996" y="1947713"/>
              <a:ext cx="3917441" cy="374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1708391"/>
              <a:ext cx="3472434" cy="39853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339" y="179323"/>
            <a:ext cx="4210685" cy="12382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marR="5080">
              <a:lnSpc>
                <a:spcPts val="4390"/>
              </a:lnSpc>
              <a:spcBef>
                <a:spcPts val="885"/>
              </a:spcBef>
            </a:pPr>
            <a:r>
              <a:rPr sz="4300" spc="-5" dirty="0"/>
              <a:t>A</a:t>
            </a:r>
            <a:r>
              <a:rPr sz="4300" spc="-130" dirty="0"/>
              <a:t> </a:t>
            </a:r>
            <a:r>
              <a:rPr sz="4300" spc="-60" dirty="0"/>
              <a:t>megkülönböztető </a:t>
            </a:r>
            <a:r>
              <a:rPr sz="4300" spc="-960" dirty="0"/>
              <a:t> </a:t>
            </a:r>
            <a:r>
              <a:rPr sz="4300" spc="-65" dirty="0"/>
              <a:t>képesség</a:t>
            </a:r>
            <a:r>
              <a:rPr sz="4300" spc="-105" dirty="0"/>
              <a:t> </a:t>
            </a:r>
            <a:r>
              <a:rPr sz="4300" spc="-45" dirty="0"/>
              <a:t>hibái</a:t>
            </a:r>
            <a:endParaRPr sz="4300"/>
          </a:p>
        </p:txBody>
      </p:sp>
      <p:grpSp>
        <p:nvGrpSpPr>
          <p:cNvPr id="7" name="object 7"/>
          <p:cNvGrpSpPr/>
          <p:nvPr/>
        </p:nvGrpSpPr>
        <p:grpSpPr>
          <a:xfrm>
            <a:off x="729995" y="3424946"/>
            <a:ext cx="4265295" cy="172720"/>
            <a:chOff x="729995" y="3424946"/>
            <a:chExt cx="4265295" cy="1727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127" y="3424946"/>
              <a:ext cx="4249790" cy="1720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9995" y="3560105"/>
              <a:ext cx="4264914" cy="37423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29995" y="5456451"/>
            <a:ext cx="4540885" cy="172720"/>
            <a:chOff x="729995" y="5456451"/>
            <a:chExt cx="4540885" cy="17272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168" y="5456451"/>
              <a:ext cx="4525554" cy="1720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9995" y="5591559"/>
              <a:ext cx="4540758" cy="3742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2477" y="1742948"/>
            <a:ext cx="8025765" cy="407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70"/>
              </a:lnSpc>
              <a:spcBef>
                <a:spcPts val="105"/>
              </a:spcBef>
            </a:pP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kizárólag</a:t>
            </a:r>
            <a:r>
              <a:rPr sz="1400" i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olyan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jelekből</a:t>
            </a:r>
            <a:r>
              <a:rPr sz="1400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vagy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elemekből</a:t>
            </a:r>
            <a:r>
              <a:rPr sz="1400" i="1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áll,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amelyeket</a:t>
            </a:r>
            <a:endParaRPr sz="1400" dirty="0">
              <a:latin typeface="Calibri"/>
              <a:cs typeface="Calibri"/>
            </a:endParaRPr>
          </a:p>
          <a:p>
            <a:pPr marL="304800" marR="5080" indent="-182880">
              <a:lnSpc>
                <a:spcPts val="1630"/>
              </a:lnSpc>
              <a:spcBef>
                <a:spcPts val="380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az áru </a:t>
            </a:r>
            <a:r>
              <a:rPr sz="1700" spc="-5" dirty="0">
                <a:solidFill>
                  <a:srgbClr val="92A9B8"/>
                </a:solidFill>
                <a:latin typeface="Calibri"/>
                <a:cs typeface="Calibri"/>
              </a:rPr>
              <a:t>jellemzőjének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(minősége, mennyisége, rendeltetése,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értéke, földrajzi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származása, </a:t>
            </a:r>
            <a:r>
              <a:rPr sz="1700" spc="-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stb.)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feltüntetésére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használhatnak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(CSOKI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BOLT,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 GERINCJÓGA,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FRÖCCSFESZTIVÁL),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endParaRPr sz="1700" dirty="0">
              <a:latin typeface="Calibri"/>
              <a:cs typeface="Calibri"/>
            </a:endParaRPr>
          </a:p>
          <a:p>
            <a:pPr marL="304800" indent="-183515">
              <a:lnSpc>
                <a:spcPct val="100000"/>
              </a:lnSpc>
              <a:spcBef>
                <a:spcPts val="210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általános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nyelvhasználatban,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endParaRPr sz="1700" dirty="0">
              <a:latin typeface="Calibri"/>
              <a:cs typeface="Calibri"/>
            </a:endParaRPr>
          </a:p>
          <a:p>
            <a:pPr marL="304800" marR="224154" indent="-182880">
              <a:lnSpc>
                <a:spcPts val="1630"/>
              </a:lnSpc>
              <a:spcBef>
                <a:spcPts val="590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tisztességes üzleti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gyakorlatban </a:t>
            </a:r>
            <a:r>
              <a:rPr sz="1700" dirty="0">
                <a:solidFill>
                  <a:srgbClr val="92A9B8"/>
                </a:solidFill>
                <a:latin typeface="Calibri"/>
                <a:cs typeface="Calibri"/>
              </a:rPr>
              <a:t>állandóan és </a:t>
            </a:r>
            <a:r>
              <a:rPr sz="1700" spc="-10" dirty="0">
                <a:solidFill>
                  <a:srgbClr val="92A9B8"/>
                </a:solidFill>
                <a:latin typeface="Calibri"/>
                <a:cs typeface="Calibri"/>
              </a:rPr>
              <a:t>szokásosan </a:t>
            </a:r>
            <a:r>
              <a:rPr sz="1700" dirty="0">
                <a:solidFill>
                  <a:srgbClr val="92A9B8"/>
                </a:solidFill>
                <a:latin typeface="Calibri"/>
                <a:cs typeface="Calibri"/>
              </a:rPr>
              <a:t>alkalmaznak 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(”Garantáltan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jó </a:t>
            </a:r>
            <a:r>
              <a:rPr sz="1700" spc="-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választás”,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„PRIMA”)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kizárólag</a:t>
            </a:r>
            <a:r>
              <a:rPr sz="1400" i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olyan</a:t>
            </a:r>
            <a:r>
              <a:rPr sz="14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formából</a:t>
            </a:r>
            <a:r>
              <a:rPr sz="1400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vagy </a:t>
            </a:r>
            <a:r>
              <a:rPr sz="14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egyéb</a:t>
            </a:r>
            <a:r>
              <a:rPr sz="1400" i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jellemzőből</a:t>
            </a:r>
            <a:r>
              <a:rPr sz="1400" i="1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áll,</a:t>
            </a:r>
            <a:r>
              <a:rPr sz="14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amely</a:t>
            </a:r>
            <a:endParaRPr sz="1400" dirty="0">
              <a:latin typeface="Calibri"/>
              <a:cs typeface="Calibri"/>
            </a:endParaRPr>
          </a:p>
          <a:p>
            <a:pPr marL="304800" indent="-183515">
              <a:lnSpc>
                <a:spcPct val="100000"/>
              </a:lnSpc>
              <a:spcBef>
                <a:spcPts val="155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áru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jellegéből</a:t>
            </a:r>
            <a:r>
              <a:rPr sz="1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következik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"/>
            </a:pPr>
            <a:endParaRPr sz="1600" dirty="0">
              <a:latin typeface="Calibri"/>
              <a:cs typeface="Calibri"/>
            </a:endParaRPr>
          </a:p>
          <a:p>
            <a:pPr marL="1280795">
              <a:lnSpc>
                <a:spcPct val="100000"/>
              </a:lnSpc>
            </a:pP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(30.</a:t>
            </a:r>
            <a:r>
              <a:rPr sz="11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osztály:</a:t>
            </a:r>
            <a:r>
              <a:rPr sz="1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csokoládé</a:t>
            </a:r>
            <a:r>
              <a:rPr sz="1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desszertek)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Calibri"/>
              <a:cs typeface="Calibri"/>
            </a:endParaRPr>
          </a:p>
          <a:p>
            <a:pPr marL="304800" indent="-183515">
              <a:lnSpc>
                <a:spcPct val="100000"/>
              </a:lnSpc>
              <a:spcBef>
                <a:spcPts val="5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lényeges</a:t>
            </a:r>
            <a:r>
              <a:rPr sz="11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értéket</a:t>
            </a:r>
            <a:r>
              <a:rPr sz="11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ad</a:t>
            </a:r>
            <a:r>
              <a:rPr sz="11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áruhoz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"/>
            </a:pPr>
            <a:endParaRPr sz="1600" dirty="0">
              <a:latin typeface="Calibri"/>
              <a:cs typeface="Calibri"/>
            </a:endParaRPr>
          </a:p>
          <a:p>
            <a:pPr marL="2066925">
              <a:lnSpc>
                <a:spcPct val="100000"/>
              </a:lnSpc>
            </a:pP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(6.</a:t>
            </a:r>
            <a:r>
              <a:rPr sz="1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osztály:</a:t>
            </a:r>
            <a:r>
              <a:rPr sz="1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”Szobrok</a:t>
            </a:r>
            <a:r>
              <a:rPr sz="11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fémből”)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kizárólag</a:t>
            </a:r>
            <a:r>
              <a:rPr sz="1400" i="1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az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áru</a:t>
            </a:r>
            <a:r>
              <a:rPr sz="1400" i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olyan formájából</a:t>
            </a:r>
            <a:r>
              <a:rPr sz="1400" i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vagy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jellemzőjéből</a:t>
            </a:r>
            <a:r>
              <a:rPr sz="1400" i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áll,</a:t>
            </a:r>
            <a:r>
              <a:rPr sz="1400" i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amely</a:t>
            </a:r>
            <a:endParaRPr sz="1400" dirty="0">
              <a:latin typeface="Calibri"/>
              <a:cs typeface="Calibri"/>
            </a:endParaRPr>
          </a:p>
          <a:p>
            <a:pPr marL="304800" indent="-183515">
              <a:lnSpc>
                <a:spcPct val="100000"/>
              </a:lnSpc>
              <a:spcBef>
                <a:spcPts val="145"/>
              </a:spcBef>
              <a:buClr>
                <a:srgbClr val="6E6E74"/>
              </a:buClr>
              <a:buFont typeface="Wingdings"/>
              <a:buChar char=""/>
              <a:tabLst>
                <a:tab pos="305435" algn="l"/>
              </a:tabLst>
            </a:pP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célzott</a:t>
            </a:r>
            <a:r>
              <a:rPr sz="11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műszaki</a:t>
            </a:r>
            <a:r>
              <a:rPr sz="1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hatás</a:t>
            </a:r>
            <a:r>
              <a:rPr sz="1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eléréséhez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szükséges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Calibri"/>
                <a:cs typeface="Calibri"/>
              </a:rPr>
              <a:t>(6.</a:t>
            </a:r>
            <a:r>
              <a:rPr sz="1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04040"/>
                </a:solidFill>
                <a:latin typeface="Calibri"/>
                <a:cs typeface="Calibri"/>
              </a:rPr>
              <a:t>osztály)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22264" y="3931920"/>
            <a:ext cx="1318260" cy="197358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0600" y="3830219"/>
            <a:ext cx="423672" cy="5303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0600" y="4663209"/>
            <a:ext cx="807720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6A8F-3A31-238E-796D-0992C050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37B9B-B53D-672D-3E2E-8DFBB8369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C6776-BE7D-B2AA-A933-DE7BF25C2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" y="5105408"/>
            <a:ext cx="9144000" cy="1123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5D438-4DD8-A242-CE12-5CEE15B7A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-97319"/>
            <a:ext cx="5144218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95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1105865"/>
            <a:ext cx="56807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err="1"/>
              <a:t>Kizárt</a:t>
            </a:r>
            <a:r>
              <a:rPr spc="-90" dirty="0"/>
              <a:t> </a:t>
            </a:r>
            <a:r>
              <a:rPr spc="-50" dirty="0" err="1"/>
              <a:t>megjelölések</a:t>
            </a:r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1698777"/>
            <a:ext cx="7421880" cy="40163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26060" indent="-213995">
              <a:lnSpc>
                <a:spcPct val="100000"/>
              </a:lnSpc>
              <a:spcBef>
                <a:spcPts val="925"/>
              </a:spcBef>
              <a:buFont typeface="Calibri"/>
              <a:buAutoNum type="alphaLcParenR"/>
              <a:tabLst>
                <a:tab pos="226695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formából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egyéb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jellemzőből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áll,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amely az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áru jellegéből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következik,</a:t>
            </a:r>
            <a:endParaRPr sz="1600">
              <a:latin typeface="Calibri"/>
              <a:cs typeface="Calibri"/>
            </a:endParaRPr>
          </a:p>
          <a:p>
            <a:pPr marL="226060" indent="-213995">
              <a:lnSpc>
                <a:spcPts val="1630"/>
              </a:lnSpc>
              <a:spcBef>
                <a:spcPts val="830"/>
              </a:spcBef>
              <a:buFont typeface="Calibri"/>
              <a:buAutoNum type="alphaLcParenR"/>
              <a:tabLst>
                <a:tab pos="226695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az áru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formájából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egyéb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jellemzőjéből</a:t>
            </a:r>
            <a:r>
              <a:rPr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áll,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amely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célzott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műszaki hatás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30"/>
              </a:lnSpc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eléréséhez</a:t>
            </a:r>
            <a:r>
              <a:rPr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szükséges,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endParaRPr sz="1600">
              <a:latin typeface="Calibri"/>
              <a:cs typeface="Calibri"/>
            </a:endParaRPr>
          </a:p>
          <a:p>
            <a:pPr marL="234950" indent="-222885">
              <a:lnSpc>
                <a:spcPct val="100000"/>
              </a:lnSpc>
              <a:spcBef>
                <a:spcPts val="820"/>
              </a:spcBef>
              <a:buFont typeface="Calibri"/>
              <a:buAutoNum type="alphaLcParenR" startAt="3"/>
              <a:tabLst>
                <a:tab pos="235585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közrendbe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közerkölcsbe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ütközik;</a:t>
            </a:r>
            <a:endParaRPr sz="1600">
              <a:latin typeface="Calibri"/>
              <a:cs typeface="Calibri"/>
            </a:endParaRPr>
          </a:p>
          <a:p>
            <a:pPr marL="12700" marR="116205">
              <a:lnSpc>
                <a:spcPct val="70000"/>
              </a:lnSpc>
              <a:spcBef>
                <a:spcPts val="1400"/>
              </a:spcBef>
              <a:buFont typeface="Calibri"/>
              <a:buAutoNum type="alphaLcParenR" startAt="3"/>
              <a:tabLst>
                <a:tab pos="255904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alkalmas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fogyasztók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megtévesztésére,</a:t>
            </a:r>
            <a:r>
              <a:rPr sz="16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különösen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áru,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illetve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szolgáltatás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 fajtája, </a:t>
            </a:r>
            <a:r>
              <a:rPr sz="1600" spc="-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minősége,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földrajzi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származása vagy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egyéb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tulajdonsága</a:t>
            </a:r>
            <a:r>
              <a:rPr sz="1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tekintetében;</a:t>
            </a:r>
            <a:endParaRPr sz="1600">
              <a:latin typeface="Calibri"/>
              <a:cs typeface="Calibri"/>
            </a:endParaRPr>
          </a:p>
          <a:p>
            <a:pPr marL="221615" indent="-209550">
              <a:lnSpc>
                <a:spcPts val="1630"/>
              </a:lnSpc>
              <a:spcBef>
                <a:spcPts val="830"/>
              </a:spcBef>
              <a:buAutoNum type="alphaLcParenR" startAt="3"/>
              <a:tabLst>
                <a:tab pos="222250" algn="l"/>
              </a:tabLst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olyan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jelvényből,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jelképből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címerből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áll,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amelynek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használatához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közérdek</a:t>
            </a:r>
            <a:r>
              <a:rPr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fűződik,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630"/>
              </a:lnSpc>
            </a:pP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ilyen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jelvényt,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jelképet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címert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tartalmaz;</a:t>
            </a:r>
            <a:endParaRPr sz="1600">
              <a:latin typeface="Calibri"/>
              <a:cs typeface="Calibri"/>
            </a:endParaRPr>
          </a:p>
          <a:p>
            <a:pPr marL="12700" marR="325120">
              <a:lnSpc>
                <a:spcPct val="70000"/>
              </a:lnSpc>
              <a:spcBef>
                <a:spcPts val="1395"/>
              </a:spcBef>
              <a:buFont typeface="Calibri"/>
              <a:buAutoNum type="alphaLcParenR" startAt="6"/>
              <a:tabLst>
                <a:tab pos="185420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valamely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vallási</a:t>
            </a:r>
            <a:r>
              <a:rPr sz="1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egyéb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meggyőződést</a:t>
            </a:r>
            <a:r>
              <a:rPr sz="1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erőteljesen</a:t>
            </a:r>
            <a:r>
              <a:rPr sz="16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kifejező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jelképet</a:t>
            </a:r>
            <a:r>
              <a:rPr sz="16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 megjelölés </a:t>
            </a:r>
            <a:r>
              <a:rPr sz="1600" spc="-3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összhatását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meghatározó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módon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tartalmaz,</a:t>
            </a:r>
            <a:endParaRPr sz="1600">
              <a:latin typeface="Calibri"/>
              <a:cs typeface="Calibri"/>
            </a:endParaRPr>
          </a:p>
          <a:p>
            <a:pPr marL="12700" marR="161290">
              <a:lnSpc>
                <a:spcPct val="70000"/>
              </a:lnSpc>
              <a:spcBef>
                <a:spcPts val="1405"/>
              </a:spcBef>
              <a:buFont typeface="Calibri"/>
              <a:buAutoNum type="alphaLcParenR" startAt="6"/>
              <a:tabLst>
                <a:tab pos="226695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eredetmegjelölések</a:t>
            </a:r>
            <a:r>
              <a:rPr sz="16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és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földrajzi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jelzések</a:t>
            </a:r>
            <a:r>
              <a:rPr sz="1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oltalmát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biztosító európai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uniós</a:t>
            </a:r>
            <a:r>
              <a:rPr sz="1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jogszabály </a:t>
            </a:r>
            <a:r>
              <a:rPr sz="1600" spc="-3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alapján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ki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van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zárva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1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oltalomból,</a:t>
            </a:r>
            <a:endParaRPr sz="1600">
              <a:latin typeface="Calibri"/>
              <a:cs typeface="Calibri"/>
            </a:endParaRPr>
          </a:p>
          <a:p>
            <a:pPr marL="227329" indent="-215265">
              <a:lnSpc>
                <a:spcPct val="100000"/>
              </a:lnSpc>
              <a:spcBef>
                <a:spcPts val="830"/>
              </a:spcBef>
              <a:buAutoNum type="alphaLcParenR" startAt="6"/>
              <a:tabLst>
                <a:tab pos="227965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másnak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korábbi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személyiségi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különösen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névhez,</a:t>
            </a:r>
            <a:r>
              <a:rPr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képmáshoz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fűződő</a:t>
            </a:r>
            <a:r>
              <a:rPr sz="1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jogát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sértené;</a:t>
            </a:r>
            <a:endParaRPr sz="1600">
              <a:latin typeface="Calibri"/>
              <a:cs typeface="Calibri"/>
            </a:endParaRPr>
          </a:p>
          <a:p>
            <a:pPr marL="166370" indent="-154305">
              <a:lnSpc>
                <a:spcPct val="100000"/>
              </a:lnSpc>
              <a:spcBef>
                <a:spcPts val="815"/>
              </a:spcBef>
              <a:buFont typeface="Calibri"/>
              <a:buAutoNum type="alphaLcParenR" startAt="6"/>
              <a:tabLst>
                <a:tab pos="167005" algn="l"/>
              </a:tabLst>
            </a:pP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más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korábbi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szerzői,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alibri"/>
                <a:cs typeface="Calibri"/>
              </a:rPr>
              <a:t>szerzői</a:t>
            </a:r>
            <a:r>
              <a:rPr sz="1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joghoz</a:t>
            </a:r>
            <a:r>
              <a:rPr sz="1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kapcsolódó</a:t>
            </a:r>
            <a:r>
              <a:rPr sz="1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r>
              <a:rPr sz="1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alibri"/>
                <a:cs typeface="Calibri"/>
              </a:rPr>
              <a:t>iparjogvédelmi</a:t>
            </a:r>
            <a:r>
              <a:rPr sz="1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alibri"/>
                <a:cs typeface="Calibri"/>
              </a:rPr>
              <a:t>jogába</a:t>
            </a:r>
            <a:r>
              <a:rPr sz="1600" spc="-15" dirty="0">
                <a:solidFill>
                  <a:srgbClr val="404040"/>
                </a:solidFill>
                <a:latin typeface="Calibri"/>
                <a:cs typeface="Calibri"/>
              </a:rPr>
              <a:t> ütközne.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3841"/>
            <a:ext cx="57759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Iparjogvédelmi</a:t>
            </a:r>
            <a:r>
              <a:rPr sz="4800" spc="-155" dirty="0"/>
              <a:t> </a:t>
            </a:r>
            <a:r>
              <a:rPr sz="4800" spc="-75" dirty="0"/>
              <a:t>stratégia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10259" y="1691296"/>
            <a:ext cx="7221220" cy="413194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9539" indent="-117475">
              <a:lnSpc>
                <a:spcPct val="100000"/>
              </a:lnSpc>
              <a:spcBef>
                <a:spcPts val="1020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Oltalomszerzést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megelőző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kutatás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ts val="2160"/>
              </a:lnSpc>
              <a:spcBef>
                <a:spcPts val="919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Nemcsak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az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oltalom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megszerzése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fontos,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hanem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annak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folyamatos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ts val="2160"/>
              </a:lnSpc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gondozása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az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iparjogvédelmi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portfólió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kezelése,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fejlesztése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ct val="100000"/>
              </a:lnSpc>
              <a:spcBef>
                <a:spcPts val="915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Megújítás,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ahol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lehetséges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ts val="2160"/>
              </a:lnSpc>
              <a:spcBef>
                <a:spcPts val="925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Versenytársak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figyelése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védjegyfigyelés,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fellépés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jogsértés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vagy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ts val="2160"/>
              </a:lnSpc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korábbi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elsőbbségű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jogainkba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ütköző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új bejelentések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esetén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stb.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ct val="100000"/>
              </a:lnSpc>
              <a:spcBef>
                <a:spcPts val="925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Használat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–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nemcsak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jog,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hanem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bizonyos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esetekben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kötelezettség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ct val="100000"/>
              </a:lnSpc>
              <a:spcBef>
                <a:spcPts val="910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Hasznosítás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engedélyezése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licenszszerződések</a:t>
            </a:r>
            <a:endParaRPr sz="2000">
              <a:latin typeface="Calibri"/>
              <a:cs typeface="Calibri"/>
            </a:endParaRPr>
          </a:p>
          <a:p>
            <a:pPr marL="129539" indent="-117475">
              <a:lnSpc>
                <a:spcPct val="100000"/>
              </a:lnSpc>
              <a:spcBef>
                <a:spcPts val="925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Portfólió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értékének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meghatározása</a:t>
            </a:r>
            <a:endParaRPr sz="2000">
              <a:latin typeface="Calibri"/>
              <a:cs typeface="Calibri"/>
            </a:endParaRPr>
          </a:p>
          <a:p>
            <a:pPr marL="104139" marR="1037590" indent="-91440">
              <a:lnSpc>
                <a:spcPts val="1920"/>
              </a:lnSpc>
              <a:spcBef>
                <a:spcPts val="1390"/>
              </a:spcBef>
              <a:buClr>
                <a:srgbClr val="6E6E74"/>
              </a:buClr>
              <a:buSzPct val="95000"/>
              <a:buFont typeface="Wingdings"/>
              <a:buChar char=""/>
              <a:tabLst>
                <a:tab pos="13017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szellemi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javak,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oltalmak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fontos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részei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cég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vagyonának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forgalomképesség,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apport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lehetősége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913841"/>
            <a:ext cx="54527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75" dirty="0"/>
              <a:t>Köszönöm</a:t>
            </a:r>
            <a:r>
              <a:rPr sz="4800" spc="-150" dirty="0"/>
              <a:t> </a:t>
            </a:r>
            <a:r>
              <a:rPr sz="4800" dirty="0"/>
              <a:t>a</a:t>
            </a:r>
            <a:r>
              <a:rPr sz="4800" spc="-120" dirty="0"/>
              <a:t> </a:t>
            </a:r>
            <a:r>
              <a:rPr sz="4800" spc="-55" dirty="0"/>
              <a:t>figyelmet!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2421635"/>
            <a:ext cx="6659880" cy="2784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</TotalTime>
  <Words>1935</Words>
  <Application>Microsoft Office PowerPoint</Application>
  <PresentationFormat>On-screen Show (4:3)</PresentationFormat>
  <Paragraphs>285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Calibri</vt:lpstr>
      <vt:lpstr>Calibri Light</vt:lpstr>
      <vt:lpstr>Lucida Sans Unicode</vt:lpstr>
      <vt:lpstr>Times New Roman</vt:lpstr>
      <vt:lpstr>Wingdings</vt:lpstr>
      <vt:lpstr>Office Theme</vt:lpstr>
      <vt:lpstr>Szellemi tulajdonjogok - Iparjogvédelem</vt:lpstr>
      <vt:lpstr>A szellemi alkotások jogának rendszere</vt:lpstr>
      <vt:lpstr>A szerzői jog és az iparjogvédelem jellemzői</vt:lpstr>
      <vt:lpstr>Milyen szellemi eredmények jelennek  meg ebben a tárgyban?</vt:lpstr>
      <vt:lpstr>PowerPoint Presentation</vt:lpstr>
      <vt:lpstr>Az előzőhöz képest?</vt:lpstr>
      <vt:lpstr>PowerPoint Presentation</vt:lpstr>
      <vt:lpstr>Szabadalmi oltalom (1995. évi XXXIII. tv.)</vt:lpstr>
      <vt:lpstr>PowerPoint Presentation</vt:lpstr>
      <vt:lpstr>PowerPoint Presentation</vt:lpstr>
      <vt:lpstr>Újdonság/technika állása</vt:lpstr>
      <vt:lpstr>PowerPoint Presentation</vt:lpstr>
      <vt:lpstr>Feltalálói tevékenység és ipari  alkalmazhatóság</vt:lpstr>
      <vt:lpstr>Feltalálói tevékenység</vt:lpstr>
      <vt:lpstr>Feltalálói tevékenység</vt:lpstr>
      <vt:lpstr>Ipari alkalmazhatóság</vt:lpstr>
      <vt:lpstr>PowerPoint Presentation</vt:lpstr>
      <vt:lpstr>Használati mintaoltalom</vt:lpstr>
      <vt:lpstr>Használati mintaoltalom tárgya</vt:lpstr>
      <vt:lpstr>Feltalálói lépés</vt:lpstr>
      <vt:lpstr>PowerPoint Presentation</vt:lpstr>
      <vt:lpstr>Formatervezési mintaoltalom</vt:lpstr>
      <vt:lpstr>Termék</vt:lpstr>
      <vt:lpstr>Újdonság és egyéni jelleg</vt:lpstr>
      <vt:lpstr>PowerPoint Presentation</vt:lpstr>
      <vt:lpstr>Kizáró okok</vt:lpstr>
      <vt:lpstr>A mintaoltalom időtartama</vt:lpstr>
      <vt:lpstr>PowerPoint Presentation</vt:lpstr>
      <vt:lpstr>2023 legértékesebb márkái</vt:lpstr>
      <vt:lpstr>PowerPoint Presentation</vt:lpstr>
      <vt:lpstr>Miért van szükség a védjegyjogra?</vt:lpstr>
      <vt:lpstr>PowerPoint Presentation</vt:lpstr>
      <vt:lpstr>Védjegyoltalom</vt:lpstr>
      <vt:lpstr>Védjegyoltalom</vt:lpstr>
      <vt:lpstr>Védjegyek ábrázolása</vt:lpstr>
      <vt:lpstr>Különleges védjegyek</vt:lpstr>
      <vt:lpstr>A megkülönböztető  képesség hibái</vt:lpstr>
      <vt:lpstr>PowerPoint Presentation</vt:lpstr>
      <vt:lpstr>Kizárt megjelölések</vt:lpstr>
      <vt:lpstr>Iparjogvédelmi stratégia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Üzleti jog II. 19-20. előadás  Iparjogvédelem</dc:title>
  <dc:creator>Windows-felhasználó</dc:creator>
  <cp:lastModifiedBy>Dr. Grad-Gyenge Anikó</cp:lastModifiedBy>
  <cp:revision>8</cp:revision>
  <dcterms:created xsi:type="dcterms:W3CDTF">2022-10-25T08:20:34Z</dcterms:created>
  <dcterms:modified xsi:type="dcterms:W3CDTF">2026-03-27T08:31:36Z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2022-10-25T00:00:00Z</vt:filetime>
  </property>
</Properties>
</file>