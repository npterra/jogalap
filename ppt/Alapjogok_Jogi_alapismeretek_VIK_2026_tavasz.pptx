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26" r:id="rId1"/>
  </p:sldMasterIdLst>
  <p:notesMasterIdLst>
    <p:notesMasterId r:id="rId46"/>
  </p:notesMasterIdLst>
  <p:sldIdLst>
    <p:sldId id="257" r:id="rId2"/>
    <p:sldId id="453" r:id="rId3"/>
    <p:sldId id="451" r:id="rId4"/>
    <p:sldId id="487" r:id="rId5"/>
    <p:sldId id="311" r:id="rId6"/>
    <p:sldId id="414" r:id="rId7"/>
    <p:sldId id="259" r:id="rId8"/>
    <p:sldId id="312" r:id="rId9"/>
    <p:sldId id="316" r:id="rId10"/>
    <p:sldId id="415" r:id="rId11"/>
    <p:sldId id="419" r:id="rId12"/>
    <p:sldId id="416" r:id="rId13"/>
    <p:sldId id="260" r:id="rId14"/>
    <p:sldId id="262" r:id="rId15"/>
    <p:sldId id="263" r:id="rId16"/>
    <p:sldId id="264" r:id="rId17"/>
    <p:sldId id="482" r:id="rId18"/>
    <p:sldId id="273" r:id="rId19"/>
    <p:sldId id="317" r:id="rId20"/>
    <p:sldId id="280" r:id="rId21"/>
    <p:sldId id="283" r:id="rId22"/>
    <p:sldId id="284" r:id="rId23"/>
    <p:sldId id="417" r:id="rId24"/>
    <p:sldId id="395" r:id="rId25"/>
    <p:sldId id="479" r:id="rId26"/>
    <p:sldId id="396" r:id="rId27"/>
    <p:sldId id="398" r:id="rId28"/>
    <p:sldId id="428" r:id="rId29"/>
    <p:sldId id="480" r:id="rId30"/>
    <p:sldId id="318" r:id="rId31"/>
    <p:sldId id="452" r:id="rId32"/>
    <p:sldId id="436" r:id="rId33"/>
    <p:sldId id="456" r:id="rId34"/>
    <p:sldId id="483" r:id="rId35"/>
    <p:sldId id="449" r:id="rId36"/>
    <p:sldId id="484" r:id="rId37"/>
    <p:sldId id="485" r:id="rId38"/>
    <p:sldId id="486" r:id="rId39"/>
    <p:sldId id="478" r:id="rId40"/>
    <p:sldId id="447" r:id="rId41"/>
    <p:sldId id="271" r:id="rId42"/>
    <p:sldId id="276" r:id="rId43"/>
    <p:sldId id="475" r:id="rId44"/>
    <p:sldId id="445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9FD627-B2F7-45D5-8097-8093CA27A814}" v="12" dt="2026-02-26T16:28:32.453"/>
  </p1510:revLst>
</p1510:revInfo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Világos stílus 3 – 3. jelölőszín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0A15C55-8517-42AA-B614-E9B94910E393}" styleName="Közepesen sötét stílus 2 – 4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ztina Nagy" userId="db92f21466cd8295" providerId="LiveId" clId="{9BE92898-8B4F-42B9-BB9D-F87B7425CA35}"/>
    <pc:docChg chg="undo custSel addSld delSld modSld">
      <pc:chgData name="Krisztina Nagy" userId="db92f21466cd8295" providerId="LiveId" clId="{9BE92898-8B4F-42B9-BB9D-F87B7425CA35}" dt="2026-02-26T16:28:39.985" v="228" actId="14100"/>
      <pc:docMkLst>
        <pc:docMk/>
      </pc:docMkLst>
      <pc:sldChg chg="modSp mod">
        <pc:chgData name="Krisztina Nagy" userId="db92f21466cd8295" providerId="LiveId" clId="{9BE92898-8B4F-42B9-BB9D-F87B7425CA35}" dt="2026-02-26T10:57:52.577" v="3" actId="20577"/>
        <pc:sldMkLst>
          <pc:docMk/>
          <pc:sldMk cId="2294252015" sldId="257"/>
        </pc:sldMkLst>
        <pc:spChg chg="mod">
          <ac:chgData name="Krisztina Nagy" userId="db92f21466cd8295" providerId="LiveId" clId="{9BE92898-8B4F-42B9-BB9D-F87B7425CA35}" dt="2026-02-26T10:57:52.577" v="3" actId="20577"/>
          <ac:spMkLst>
            <pc:docMk/>
            <pc:sldMk cId="2294252015" sldId="257"/>
            <ac:spMk id="4" creationId="{00000000-0000-0000-0000-000000000000}"/>
          </ac:spMkLst>
        </pc:spChg>
      </pc:sldChg>
      <pc:sldChg chg="modSp mod">
        <pc:chgData name="Krisztina Nagy" userId="db92f21466cd8295" providerId="LiveId" clId="{9BE92898-8B4F-42B9-BB9D-F87B7425CA35}" dt="2026-02-26T16:05:56.052" v="68" actId="20577"/>
        <pc:sldMkLst>
          <pc:docMk/>
          <pc:sldMk cId="2078688107" sldId="273"/>
        </pc:sldMkLst>
        <pc:spChg chg="mod">
          <ac:chgData name="Krisztina Nagy" userId="db92f21466cd8295" providerId="LiveId" clId="{9BE92898-8B4F-42B9-BB9D-F87B7425CA35}" dt="2026-02-26T16:05:56.052" v="68" actId="20577"/>
          <ac:spMkLst>
            <pc:docMk/>
            <pc:sldMk cId="2078688107" sldId="273"/>
            <ac:spMk id="2" creationId="{00000000-0000-0000-0000-000000000000}"/>
          </ac:spMkLst>
        </pc:spChg>
      </pc:sldChg>
      <pc:sldChg chg="del">
        <pc:chgData name="Krisztina Nagy" userId="db92f21466cd8295" providerId="LiveId" clId="{9BE92898-8B4F-42B9-BB9D-F87B7425CA35}" dt="2026-02-26T11:18:53.710" v="23" actId="47"/>
        <pc:sldMkLst>
          <pc:docMk/>
          <pc:sldMk cId="812423814" sldId="285"/>
        </pc:sldMkLst>
      </pc:sldChg>
      <pc:sldChg chg="del">
        <pc:chgData name="Krisztina Nagy" userId="db92f21466cd8295" providerId="LiveId" clId="{9BE92898-8B4F-42B9-BB9D-F87B7425CA35}" dt="2026-02-26T16:04:50.780" v="61" actId="47"/>
        <pc:sldMkLst>
          <pc:docMk/>
          <pc:sldMk cId="4109439336" sldId="310"/>
        </pc:sldMkLst>
      </pc:sldChg>
      <pc:sldChg chg="modSp mod">
        <pc:chgData name="Krisztina Nagy" userId="db92f21466cd8295" providerId="LiveId" clId="{9BE92898-8B4F-42B9-BB9D-F87B7425CA35}" dt="2026-02-26T16:07:47.896" v="120" actId="20577"/>
        <pc:sldMkLst>
          <pc:docMk/>
          <pc:sldMk cId="846241165" sldId="396"/>
        </pc:sldMkLst>
        <pc:spChg chg="mod">
          <ac:chgData name="Krisztina Nagy" userId="db92f21466cd8295" providerId="LiveId" clId="{9BE92898-8B4F-42B9-BB9D-F87B7425CA35}" dt="2026-02-26T16:07:47.896" v="120" actId="20577"/>
          <ac:spMkLst>
            <pc:docMk/>
            <pc:sldMk cId="846241165" sldId="396"/>
            <ac:spMk id="3" creationId="{00000000-0000-0000-0000-000000000000}"/>
          </ac:spMkLst>
        </pc:spChg>
      </pc:sldChg>
      <pc:sldChg chg="modSp">
        <pc:chgData name="Krisztina Nagy" userId="db92f21466cd8295" providerId="LiveId" clId="{9BE92898-8B4F-42B9-BB9D-F87B7425CA35}" dt="2026-02-26T15:59:52.099" v="40" actId="12100"/>
        <pc:sldMkLst>
          <pc:docMk/>
          <pc:sldMk cId="1928026640" sldId="436"/>
        </pc:sldMkLst>
        <pc:graphicFrameChg chg="mod">
          <ac:chgData name="Krisztina Nagy" userId="db92f21466cd8295" providerId="LiveId" clId="{9BE92898-8B4F-42B9-BB9D-F87B7425CA35}" dt="2026-02-26T15:59:52.099" v="40" actId="12100"/>
          <ac:graphicFrameMkLst>
            <pc:docMk/>
            <pc:sldMk cId="1928026640" sldId="436"/>
            <ac:graphicFrameMk id="3" creationId="{00000000-0000-0000-0000-000000000000}"/>
          </ac:graphicFrameMkLst>
        </pc:graphicFrameChg>
      </pc:sldChg>
      <pc:sldChg chg="del">
        <pc:chgData name="Krisztina Nagy" userId="db92f21466cd8295" providerId="LiveId" clId="{9BE92898-8B4F-42B9-BB9D-F87B7425CA35}" dt="2026-02-26T16:02:34.845" v="48" actId="47"/>
        <pc:sldMkLst>
          <pc:docMk/>
          <pc:sldMk cId="1130219288" sldId="437"/>
        </pc:sldMkLst>
      </pc:sldChg>
      <pc:sldChg chg="del">
        <pc:chgData name="Krisztina Nagy" userId="db92f21466cd8295" providerId="LiveId" clId="{9BE92898-8B4F-42B9-BB9D-F87B7425CA35}" dt="2026-02-26T16:02:40.161" v="50" actId="47"/>
        <pc:sldMkLst>
          <pc:docMk/>
          <pc:sldMk cId="3487154593" sldId="440"/>
        </pc:sldMkLst>
      </pc:sldChg>
      <pc:sldChg chg="del">
        <pc:chgData name="Krisztina Nagy" userId="db92f21466cd8295" providerId="LiveId" clId="{9BE92898-8B4F-42B9-BB9D-F87B7425CA35}" dt="2026-02-26T16:02:41.146" v="51" actId="47"/>
        <pc:sldMkLst>
          <pc:docMk/>
          <pc:sldMk cId="1852512822" sldId="441"/>
        </pc:sldMkLst>
      </pc:sldChg>
      <pc:sldChg chg="modSp mod">
        <pc:chgData name="Krisztina Nagy" userId="db92f21466cd8295" providerId="LiveId" clId="{9BE92898-8B4F-42B9-BB9D-F87B7425CA35}" dt="2026-02-26T16:27:15.956" v="223" actId="20577"/>
        <pc:sldMkLst>
          <pc:docMk/>
          <pc:sldMk cId="851878580" sldId="445"/>
        </pc:sldMkLst>
        <pc:spChg chg="mod">
          <ac:chgData name="Krisztina Nagy" userId="db92f21466cd8295" providerId="LiveId" clId="{9BE92898-8B4F-42B9-BB9D-F87B7425CA35}" dt="2026-02-26T16:27:15.956" v="223" actId="20577"/>
          <ac:spMkLst>
            <pc:docMk/>
            <pc:sldMk cId="851878580" sldId="445"/>
            <ac:spMk id="2" creationId="{455E4651-9712-436A-A8A6-B6CF93FDB510}"/>
          </ac:spMkLst>
        </pc:spChg>
      </pc:sldChg>
      <pc:sldChg chg="del">
        <pc:chgData name="Krisztina Nagy" userId="db92f21466cd8295" providerId="LiveId" clId="{9BE92898-8B4F-42B9-BB9D-F87B7425CA35}" dt="2026-02-26T16:02:43.111" v="53" actId="47"/>
        <pc:sldMkLst>
          <pc:docMk/>
          <pc:sldMk cId="2947439274" sldId="446"/>
        </pc:sldMkLst>
      </pc:sldChg>
      <pc:sldChg chg="del">
        <pc:chgData name="Krisztina Nagy" userId="db92f21466cd8295" providerId="LiveId" clId="{9BE92898-8B4F-42B9-BB9D-F87B7425CA35}" dt="2026-02-26T16:02:42.010" v="52" actId="47"/>
        <pc:sldMkLst>
          <pc:docMk/>
          <pc:sldMk cId="159544881" sldId="448"/>
        </pc:sldMkLst>
      </pc:sldChg>
      <pc:sldChg chg="add del">
        <pc:chgData name="Krisztina Nagy" userId="db92f21466cd8295" providerId="LiveId" clId="{9BE92898-8B4F-42B9-BB9D-F87B7425CA35}" dt="2026-02-26T16:02:31.121" v="47"/>
        <pc:sldMkLst>
          <pc:docMk/>
          <pc:sldMk cId="1045347599" sldId="449"/>
        </pc:sldMkLst>
      </pc:sldChg>
      <pc:sldChg chg="del">
        <pc:chgData name="Krisztina Nagy" userId="db92f21466cd8295" providerId="LiveId" clId="{9BE92898-8B4F-42B9-BB9D-F87B7425CA35}" dt="2026-02-26T16:02:36.077" v="49" actId="47"/>
        <pc:sldMkLst>
          <pc:docMk/>
          <pc:sldMk cId="608684850" sldId="450"/>
        </pc:sldMkLst>
      </pc:sldChg>
      <pc:sldChg chg="add setBg">
        <pc:chgData name="Krisztina Nagy" userId="db92f21466cd8295" providerId="LiveId" clId="{9BE92898-8B4F-42B9-BB9D-F87B7425CA35}" dt="2026-02-26T11:10:46.253" v="4"/>
        <pc:sldMkLst>
          <pc:docMk/>
          <pc:sldMk cId="3185007272" sldId="451"/>
        </pc:sldMkLst>
      </pc:sldChg>
      <pc:sldChg chg="del">
        <pc:chgData name="Krisztina Nagy" userId="db92f21466cd8295" providerId="LiveId" clId="{9BE92898-8B4F-42B9-BB9D-F87B7425CA35}" dt="2026-02-26T16:04:13.851" v="59" actId="47"/>
        <pc:sldMkLst>
          <pc:docMk/>
          <pc:sldMk cId="918452357" sldId="455"/>
        </pc:sldMkLst>
      </pc:sldChg>
      <pc:sldChg chg="addSp modSp mod">
        <pc:chgData name="Krisztina Nagy" userId="db92f21466cd8295" providerId="LiveId" clId="{9BE92898-8B4F-42B9-BB9D-F87B7425CA35}" dt="2026-02-26T16:01:57.365" v="46"/>
        <pc:sldMkLst>
          <pc:docMk/>
          <pc:sldMk cId="546634972" sldId="456"/>
        </pc:sldMkLst>
        <pc:picChg chg="add mod">
          <ac:chgData name="Krisztina Nagy" userId="db92f21466cd8295" providerId="LiveId" clId="{9BE92898-8B4F-42B9-BB9D-F87B7425CA35}" dt="2026-02-26T16:01:57.365" v="46"/>
          <ac:picMkLst>
            <pc:docMk/>
            <pc:sldMk cId="546634972" sldId="456"/>
            <ac:picMk id="4" creationId="{A48E8996-9357-BC0F-0337-F0E75AA734B8}"/>
          </ac:picMkLst>
        </pc:picChg>
      </pc:sldChg>
      <pc:sldChg chg="modSp mod">
        <pc:chgData name="Krisztina Nagy" userId="db92f21466cd8295" providerId="LiveId" clId="{9BE92898-8B4F-42B9-BB9D-F87B7425CA35}" dt="2026-02-26T16:28:39.985" v="228" actId="14100"/>
        <pc:sldMkLst>
          <pc:docMk/>
          <pc:sldMk cId="777368139" sldId="475"/>
        </pc:sldMkLst>
        <pc:graphicFrameChg chg="mod modGraphic">
          <ac:chgData name="Krisztina Nagy" userId="db92f21466cd8295" providerId="LiveId" clId="{9BE92898-8B4F-42B9-BB9D-F87B7425CA35}" dt="2026-02-26T16:28:39.985" v="228" actId="14100"/>
          <ac:graphicFrameMkLst>
            <pc:docMk/>
            <pc:sldMk cId="777368139" sldId="475"/>
            <ac:graphicFrameMk id="3" creationId="{00000000-0000-0000-0000-000000000000}"/>
          </ac:graphicFrameMkLst>
        </pc:graphicFrameChg>
      </pc:sldChg>
      <pc:sldChg chg="del">
        <pc:chgData name="Krisztina Nagy" userId="db92f21466cd8295" providerId="LiveId" clId="{9BE92898-8B4F-42B9-BB9D-F87B7425CA35}" dt="2026-02-26T16:02:53.504" v="54" actId="47"/>
        <pc:sldMkLst>
          <pc:docMk/>
          <pc:sldMk cId="1010631279" sldId="476"/>
        </pc:sldMkLst>
      </pc:sldChg>
      <pc:sldChg chg="delSp modSp mod">
        <pc:chgData name="Krisztina Nagy" userId="db92f21466cd8295" providerId="LiveId" clId="{9BE92898-8B4F-42B9-BB9D-F87B7425CA35}" dt="2026-02-26T16:26:38.139" v="219" actId="478"/>
        <pc:sldMkLst>
          <pc:docMk/>
          <pc:sldMk cId="1226063527" sldId="478"/>
        </pc:sldMkLst>
        <pc:spChg chg="del mod">
          <ac:chgData name="Krisztina Nagy" userId="db92f21466cd8295" providerId="LiveId" clId="{9BE92898-8B4F-42B9-BB9D-F87B7425CA35}" dt="2026-02-26T16:26:38.139" v="219" actId="478"/>
          <ac:spMkLst>
            <pc:docMk/>
            <pc:sldMk cId="1226063527" sldId="478"/>
            <ac:spMk id="2" creationId="{B352FB1B-05A5-0778-CA57-23E684CE9B29}"/>
          </ac:spMkLst>
        </pc:spChg>
        <pc:spChg chg="mod">
          <ac:chgData name="Krisztina Nagy" userId="db92f21466cd8295" providerId="LiveId" clId="{9BE92898-8B4F-42B9-BB9D-F87B7425CA35}" dt="2026-02-26T16:26:23.270" v="216" actId="20577"/>
          <ac:spMkLst>
            <pc:docMk/>
            <pc:sldMk cId="1226063527" sldId="478"/>
            <ac:spMk id="5" creationId="{D234498C-4A70-89CC-4AE0-3475AD1CA61E}"/>
          </ac:spMkLst>
        </pc:spChg>
      </pc:sldChg>
      <pc:sldChg chg="addSp modSp mod">
        <pc:chgData name="Krisztina Nagy" userId="db92f21466cd8295" providerId="LiveId" clId="{9BE92898-8B4F-42B9-BB9D-F87B7425CA35}" dt="2026-02-26T16:09:24.075" v="214" actId="1076"/>
        <pc:sldMkLst>
          <pc:docMk/>
          <pc:sldMk cId="1658505549" sldId="480"/>
        </pc:sldMkLst>
        <pc:spChg chg="mod">
          <ac:chgData name="Krisztina Nagy" userId="db92f21466cd8295" providerId="LiveId" clId="{9BE92898-8B4F-42B9-BB9D-F87B7425CA35}" dt="2026-02-26T16:09:24.075" v="214" actId="1076"/>
          <ac:spMkLst>
            <pc:docMk/>
            <pc:sldMk cId="1658505549" sldId="480"/>
            <ac:spMk id="2" creationId="{00000000-0000-0000-0000-000000000000}"/>
          </ac:spMkLst>
        </pc:spChg>
        <pc:picChg chg="add mod">
          <ac:chgData name="Krisztina Nagy" userId="db92f21466cd8295" providerId="LiveId" clId="{9BE92898-8B4F-42B9-BB9D-F87B7425CA35}" dt="2026-02-26T15:59:02.234" v="31" actId="1076"/>
          <ac:picMkLst>
            <pc:docMk/>
            <pc:sldMk cId="1658505549" sldId="480"/>
            <ac:picMk id="4" creationId="{40050766-4B27-E261-F9EE-BA0ACEBD5AF4}"/>
          </ac:picMkLst>
        </pc:picChg>
      </pc:sldChg>
      <pc:sldChg chg="del">
        <pc:chgData name="Krisztina Nagy" userId="db92f21466cd8295" providerId="LiveId" clId="{9BE92898-8B4F-42B9-BB9D-F87B7425CA35}" dt="2026-02-26T16:24:37.160" v="215" actId="47"/>
        <pc:sldMkLst>
          <pc:docMk/>
          <pc:sldMk cId="698943522" sldId="481"/>
        </pc:sldMkLst>
      </pc:sldChg>
      <pc:sldChg chg="addSp modSp new mod">
        <pc:chgData name="Krisztina Nagy" userId="db92f21466cd8295" providerId="LiveId" clId="{9BE92898-8B4F-42B9-BB9D-F87B7425CA35}" dt="2026-02-26T16:05:18.881" v="64" actId="20577"/>
        <pc:sldMkLst>
          <pc:docMk/>
          <pc:sldMk cId="2396157271" sldId="482"/>
        </pc:sldMkLst>
        <pc:spChg chg="add mod">
          <ac:chgData name="Krisztina Nagy" userId="db92f21466cd8295" providerId="LiveId" clId="{9BE92898-8B4F-42B9-BB9D-F87B7425CA35}" dt="2026-02-26T16:05:18.881" v="64" actId="20577"/>
          <ac:spMkLst>
            <pc:docMk/>
            <pc:sldMk cId="2396157271" sldId="482"/>
            <ac:spMk id="2" creationId="{22DDEA95-73A1-45EC-47E6-E05F071B0149}"/>
          </ac:spMkLst>
        </pc:spChg>
      </pc:sldChg>
      <pc:sldChg chg="add">
        <pc:chgData name="Krisztina Nagy" userId="db92f21466cd8295" providerId="LiveId" clId="{9BE92898-8B4F-42B9-BB9D-F87B7425CA35}" dt="2026-02-26T16:02:31.121" v="47"/>
        <pc:sldMkLst>
          <pc:docMk/>
          <pc:sldMk cId="4042954320" sldId="483"/>
        </pc:sldMkLst>
      </pc:sldChg>
      <pc:sldChg chg="add">
        <pc:chgData name="Krisztina Nagy" userId="db92f21466cd8295" providerId="LiveId" clId="{9BE92898-8B4F-42B9-BB9D-F87B7425CA35}" dt="2026-02-26T16:02:31.121" v="47"/>
        <pc:sldMkLst>
          <pc:docMk/>
          <pc:sldMk cId="362452898" sldId="484"/>
        </pc:sldMkLst>
      </pc:sldChg>
      <pc:sldChg chg="add">
        <pc:chgData name="Krisztina Nagy" userId="db92f21466cd8295" providerId="LiveId" clId="{9BE92898-8B4F-42B9-BB9D-F87B7425CA35}" dt="2026-02-26T16:02:31.121" v="47"/>
        <pc:sldMkLst>
          <pc:docMk/>
          <pc:sldMk cId="2980672185" sldId="485"/>
        </pc:sldMkLst>
      </pc:sldChg>
      <pc:sldChg chg="add">
        <pc:chgData name="Krisztina Nagy" userId="db92f21466cd8295" providerId="LiveId" clId="{9BE92898-8B4F-42B9-BB9D-F87B7425CA35}" dt="2026-02-26T16:02:31.121" v="47"/>
        <pc:sldMkLst>
          <pc:docMk/>
          <pc:sldMk cId="4205473514" sldId="486"/>
        </pc:sldMkLst>
      </pc:sldChg>
      <pc:sldChg chg="delSp modSp add mod">
        <pc:chgData name="Krisztina Nagy" userId="db92f21466cd8295" providerId="LiveId" clId="{9BE92898-8B4F-42B9-BB9D-F87B7425CA35}" dt="2026-02-26T16:04:20.130" v="60" actId="20577"/>
        <pc:sldMkLst>
          <pc:docMk/>
          <pc:sldMk cId="2780128094" sldId="487"/>
        </pc:sldMkLst>
        <pc:spChg chg="mod">
          <ac:chgData name="Krisztina Nagy" userId="db92f21466cd8295" providerId="LiveId" clId="{9BE92898-8B4F-42B9-BB9D-F87B7425CA35}" dt="2026-02-26T16:04:20.130" v="60" actId="20577"/>
          <ac:spMkLst>
            <pc:docMk/>
            <pc:sldMk cId="2780128094" sldId="487"/>
            <ac:spMk id="3" creationId="{B8921B3C-7176-276B-A322-3B9503C84BF0}"/>
          </ac:spMkLst>
        </pc:spChg>
        <pc:spChg chg="del mod">
          <ac:chgData name="Krisztina Nagy" userId="db92f21466cd8295" providerId="LiveId" clId="{9BE92898-8B4F-42B9-BB9D-F87B7425CA35}" dt="2026-02-26T16:04:09.750" v="58" actId="478"/>
          <ac:spMkLst>
            <pc:docMk/>
            <pc:sldMk cId="2780128094" sldId="487"/>
            <ac:spMk id="4" creationId="{7572E3CC-414E-F1A2-8AEF-DD119FFFD030}"/>
          </ac:spMkLst>
        </pc:spChg>
      </pc:sldChg>
    </pc:docChg>
  </pc:docChgLst>
  <pc:docChgLst>
    <pc:chgData userId="db92f21466cd8295" providerId="LiveId" clId="{215FF5EA-2F3D-4335-AD84-516C78E5759D}"/>
    <pc:docChg chg="modSld sldOrd">
      <pc:chgData name="" userId="db92f21466cd8295" providerId="LiveId" clId="{215FF5EA-2F3D-4335-AD84-516C78E5759D}" dt="2026-02-27T09:04:58.246" v="42"/>
      <pc:docMkLst>
        <pc:docMk/>
      </pc:docMkLst>
      <pc:sldChg chg="ord">
        <pc:chgData name="" userId="db92f21466cd8295" providerId="LiveId" clId="{215FF5EA-2F3D-4335-AD84-516C78E5759D}" dt="2026-02-27T09:04:58.246" v="42"/>
        <pc:sldMkLst>
          <pc:docMk/>
          <pc:sldMk cId="118977341" sldId="283"/>
        </pc:sldMkLst>
      </pc:sldChg>
      <pc:sldChg chg="modSp">
        <pc:chgData name="" userId="db92f21466cd8295" providerId="LiveId" clId="{215FF5EA-2F3D-4335-AD84-516C78E5759D}" dt="2026-02-27T09:01:02.139" v="40" actId="20577"/>
        <pc:sldMkLst>
          <pc:docMk/>
          <pc:sldMk cId="3185007272" sldId="451"/>
        </pc:sldMkLst>
        <pc:spChg chg="mod">
          <ac:chgData name="" userId="db92f21466cd8295" providerId="LiveId" clId="{215FF5EA-2F3D-4335-AD84-516C78E5759D}" dt="2026-02-27T09:01:02.139" v="40" actId="20577"/>
          <ac:spMkLst>
            <pc:docMk/>
            <pc:sldMk cId="3185007272" sldId="451"/>
            <ac:spMk id="3" creationId="{7C585ABB-4B6B-1E9A-C342-5799142D0202}"/>
          </ac:spMkLst>
        </pc:spChg>
      </pc:sldChg>
      <pc:sldChg chg="modSp">
        <pc:chgData name="" userId="db92f21466cd8295" providerId="LiveId" clId="{215FF5EA-2F3D-4335-AD84-516C78E5759D}" dt="2026-02-27T08:59:03.803" v="1" actId="1076"/>
        <pc:sldMkLst>
          <pc:docMk/>
          <pc:sldMk cId="2780128094" sldId="487"/>
        </pc:sldMkLst>
        <pc:spChg chg="mod">
          <ac:chgData name="" userId="db92f21466cd8295" providerId="LiveId" clId="{215FF5EA-2F3D-4335-AD84-516C78E5759D}" dt="2026-02-27T08:59:03.803" v="1" actId="1076"/>
          <ac:spMkLst>
            <pc:docMk/>
            <pc:sldMk cId="2780128094" sldId="487"/>
            <ac:spMk id="3" creationId="{B8921B3C-7176-276B-A322-3B9503C84BF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F2BE7F-ADEA-4C9B-BA2A-F6F419C5A1A5}" type="doc">
      <dgm:prSet loTypeId="urn:microsoft.com/office/officeart/2005/8/layout/hList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hu-HU"/>
        </a:p>
      </dgm:t>
    </dgm:pt>
    <dgm:pt modelId="{4C4D2ABF-5807-4DCD-B11F-2596E63EE4EC}">
      <dgm:prSet phldrT="[Szöveg]"/>
      <dgm:spPr/>
      <dgm:t>
        <a:bodyPr/>
        <a:lstStyle/>
        <a:p>
          <a:r>
            <a:rPr lang="hu-HU" dirty="0"/>
            <a:t>Tiszteletben tartás</a:t>
          </a:r>
        </a:p>
      </dgm:t>
    </dgm:pt>
    <dgm:pt modelId="{D500D3C0-38B4-4BA8-827B-0CB03A08F83B}" type="parTrans" cxnId="{E33D80D0-8DEA-4FB2-8212-0D9FB36A82F0}">
      <dgm:prSet/>
      <dgm:spPr/>
      <dgm:t>
        <a:bodyPr/>
        <a:lstStyle/>
        <a:p>
          <a:endParaRPr lang="hu-HU"/>
        </a:p>
      </dgm:t>
    </dgm:pt>
    <dgm:pt modelId="{AC8BED9F-2AD0-4B90-9AB5-C65ED1D13F2B}" type="sibTrans" cxnId="{E33D80D0-8DEA-4FB2-8212-0D9FB36A82F0}">
      <dgm:prSet/>
      <dgm:spPr/>
      <dgm:t>
        <a:bodyPr/>
        <a:lstStyle/>
        <a:p>
          <a:endParaRPr lang="hu-HU"/>
        </a:p>
      </dgm:t>
    </dgm:pt>
    <dgm:pt modelId="{A1A98A11-9917-433F-ABCE-43285D15475A}">
      <dgm:prSet phldrT="[Szöveg]"/>
      <dgm:spPr/>
      <dgm:t>
        <a:bodyPr/>
        <a:lstStyle/>
        <a:p>
          <a:r>
            <a:rPr lang="hu-HU" dirty="0"/>
            <a:t>beavatkozástól való tartózkodás</a:t>
          </a:r>
        </a:p>
      </dgm:t>
    </dgm:pt>
    <dgm:pt modelId="{159D83D9-7D4A-433F-8D0F-15ED2D8E9510}" type="parTrans" cxnId="{156F7600-970E-493B-AB96-95ADF0EC9F97}">
      <dgm:prSet/>
      <dgm:spPr/>
      <dgm:t>
        <a:bodyPr/>
        <a:lstStyle/>
        <a:p>
          <a:endParaRPr lang="hu-HU"/>
        </a:p>
      </dgm:t>
    </dgm:pt>
    <dgm:pt modelId="{10396C22-62EC-494B-A2F5-739A1D52F4B4}" type="sibTrans" cxnId="{156F7600-970E-493B-AB96-95ADF0EC9F97}">
      <dgm:prSet/>
      <dgm:spPr/>
      <dgm:t>
        <a:bodyPr/>
        <a:lstStyle/>
        <a:p>
          <a:endParaRPr lang="hu-HU"/>
        </a:p>
      </dgm:t>
    </dgm:pt>
    <dgm:pt modelId="{B92E99F7-EC39-42FA-8BE7-C5E3497B9924}">
      <dgm:prSet phldrT="[Szöveg]"/>
      <dgm:spPr/>
      <dgm:t>
        <a:bodyPr/>
        <a:lstStyle/>
        <a:p>
          <a:r>
            <a:rPr lang="hu-HU" dirty="0"/>
            <a:t>Védelem</a:t>
          </a:r>
        </a:p>
      </dgm:t>
    </dgm:pt>
    <dgm:pt modelId="{A27BB709-C593-4B4E-8D91-25CD16465A34}" type="parTrans" cxnId="{DA57A36C-BFB0-4887-A028-63995B1F5A80}">
      <dgm:prSet/>
      <dgm:spPr/>
      <dgm:t>
        <a:bodyPr/>
        <a:lstStyle/>
        <a:p>
          <a:endParaRPr lang="hu-HU"/>
        </a:p>
      </dgm:t>
    </dgm:pt>
    <dgm:pt modelId="{8064A67D-8D29-4A1A-8253-70E2628E47EE}" type="sibTrans" cxnId="{DA57A36C-BFB0-4887-A028-63995B1F5A80}">
      <dgm:prSet/>
      <dgm:spPr/>
      <dgm:t>
        <a:bodyPr/>
        <a:lstStyle/>
        <a:p>
          <a:endParaRPr lang="hu-HU"/>
        </a:p>
      </dgm:t>
    </dgm:pt>
    <dgm:pt modelId="{50145A86-7EEF-4476-84B4-724B3A319B58}">
      <dgm:prSet phldrT="[Szöveg]"/>
      <dgm:spPr/>
      <dgm:t>
        <a:bodyPr/>
        <a:lstStyle/>
        <a:p>
          <a:r>
            <a:rPr lang="hu-HU" dirty="0"/>
            <a:t>annak érdekében hogy mások ne korlátozzák a jog gyakorlását </a:t>
          </a:r>
        </a:p>
      </dgm:t>
    </dgm:pt>
    <dgm:pt modelId="{3F048A54-958B-43A3-B84F-D1BEEA997F6F}" type="parTrans" cxnId="{3B0FCF5B-67A5-49B9-8E67-DE1560E46A0B}">
      <dgm:prSet/>
      <dgm:spPr/>
      <dgm:t>
        <a:bodyPr/>
        <a:lstStyle/>
        <a:p>
          <a:endParaRPr lang="hu-HU"/>
        </a:p>
      </dgm:t>
    </dgm:pt>
    <dgm:pt modelId="{6161B22E-AC64-4F84-A893-66AA81375CD1}" type="sibTrans" cxnId="{3B0FCF5B-67A5-49B9-8E67-DE1560E46A0B}">
      <dgm:prSet/>
      <dgm:spPr/>
      <dgm:t>
        <a:bodyPr/>
        <a:lstStyle/>
        <a:p>
          <a:endParaRPr lang="hu-HU"/>
        </a:p>
      </dgm:t>
    </dgm:pt>
    <dgm:pt modelId="{3B7AC38D-9D46-497F-9DF8-918670075B83}">
      <dgm:prSet phldrT="[Szöveg]"/>
      <dgm:spPr/>
      <dgm:t>
        <a:bodyPr/>
        <a:lstStyle/>
        <a:p>
          <a:r>
            <a:rPr lang="hu-HU" dirty="0"/>
            <a:t>A gyakorlás biztosítása </a:t>
          </a:r>
        </a:p>
      </dgm:t>
    </dgm:pt>
    <dgm:pt modelId="{04B19E6B-4B3D-4833-BA13-CDF61E30AB55}" type="parTrans" cxnId="{C7042A26-1927-4236-A0DA-32CF20C159A4}">
      <dgm:prSet/>
      <dgm:spPr/>
      <dgm:t>
        <a:bodyPr/>
        <a:lstStyle/>
        <a:p>
          <a:endParaRPr lang="hu-HU"/>
        </a:p>
      </dgm:t>
    </dgm:pt>
    <dgm:pt modelId="{7591FD47-F112-4864-8B0E-4744349AEA24}" type="sibTrans" cxnId="{C7042A26-1927-4236-A0DA-32CF20C159A4}">
      <dgm:prSet/>
      <dgm:spPr/>
      <dgm:t>
        <a:bodyPr/>
        <a:lstStyle/>
        <a:p>
          <a:endParaRPr lang="hu-HU"/>
        </a:p>
      </dgm:t>
    </dgm:pt>
    <dgm:pt modelId="{9DD0E0A8-DCD6-49C0-B179-C404FCE72410}">
      <dgm:prSet phldrT="[Szöveg]"/>
      <dgm:spPr/>
      <dgm:t>
        <a:bodyPr/>
        <a:lstStyle/>
        <a:p>
          <a:r>
            <a:rPr lang="hu-HU" dirty="0"/>
            <a:t>megfelelő intézményi, eljárási rend kialakítása </a:t>
          </a:r>
        </a:p>
      </dgm:t>
    </dgm:pt>
    <dgm:pt modelId="{CC701063-D295-410E-BD08-EFE9549C8885}" type="parTrans" cxnId="{C8453794-642F-4FE5-9E14-57FEDFA078FD}">
      <dgm:prSet/>
      <dgm:spPr/>
      <dgm:t>
        <a:bodyPr/>
        <a:lstStyle/>
        <a:p>
          <a:endParaRPr lang="hu-HU"/>
        </a:p>
      </dgm:t>
    </dgm:pt>
    <dgm:pt modelId="{4DA876CA-FFFB-49E0-A5C9-77455D9D1657}" type="sibTrans" cxnId="{C8453794-642F-4FE5-9E14-57FEDFA078FD}">
      <dgm:prSet/>
      <dgm:spPr/>
      <dgm:t>
        <a:bodyPr/>
        <a:lstStyle/>
        <a:p>
          <a:endParaRPr lang="hu-HU"/>
        </a:p>
      </dgm:t>
    </dgm:pt>
    <dgm:pt modelId="{7FA51549-6F69-4CCC-93D5-4569B4771112}" type="pres">
      <dgm:prSet presAssocID="{BBF2BE7F-ADEA-4C9B-BA2A-F6F419C5A1A5}" presName="Name0" presStyleCnt="0">
        <dgm:presLayoutVars>
          <dgm:dir/>
          <dgm:animLvl val="lvl"/>
          <dgm:resizeHandles val="exact"/>
        </dgm:presLayoutVars>
      </dgm:prSet>
      <dgm:spPr/>
    </dgm:pt>
    <dgm:pt modelId="{0AF74884-8503-44F5-97AB-F0D04911DF24}" type="pres">
      <dgm:prSet presAssocID="{4C4D2ABF-5807-4DCD-B11F-2596E63EE4EC}" presName="composite" presStyleCnt="0"/>
      <dgm:spPr/>
    </dgm:pt>
    <dgm:pt modelId="{C9A75EDC-D87E-4469-89CF-93614E8B5DC8}" type="pres">
      <dgm:prSet presAssocID="{4C4D2ABF-5807-4DCD-B11F-2596E63EE4EC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F1E9E604-57E6-4F52-9D4D-21AA925768C2}" type="pres">
      <dgm:prSet presAssocID="{4C4D2ABF-5807-4DCD-B11F-2596E63EE4EC}" presName="desTx" presStyleLbl="alignAccFollowNode1" presStyleIdx="0" presStyleCnt="3">
        <dgm:presLayoutVars>
          <dgm:bulletEnabled val="1"/>
        </dgm:presLayoutVars>
      </dgm:prSet>
      <dgm:spPr/>
    </dgm:pt>
    <dgm:pt modelId="{EA0A1119-0DDA-4052-B7D5-07670B4D7657}" type="pres">
      <dgm:prSet presAssocID="{AC8BED9F-2AD0-4B90-9AB5-C65ED1D13F2B}" presName="space" presStyleCnt="0"/>
      <dgm:spPr/>
    </dgm:pt>
    <dgm:pt modelId="{FB50E510-ACBA-41F3-AF17-5E8459738CBE}" type="pres">
      <dgm:prSet presAssocID="{B92E99F7-EC39-42FA-8BE7-C5E3497B9924}" presName="composite" presStyleCnt="0"/>
      <dgm:spPr/>
    </dgm:pt>
    <dgm:pt modelId="{BF0D703D-5AED-4641-9EAD-BA96B34FDCF3}" type="pres">
      <dgm:prSet presAssocID="{B92E99F7-EC39-42FA-8BE7-C5E3497B9924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A0B45E30-4407-4B7E-A044-75B9702280C5}" type="pres">
      <dgm:prSet presAssocID="{B92E99F7-EC39-42FA-8BE7-C5E3497B9924}" presName="desTx" presStyleLbl="alignAccFollowNode1" presStyleIdx="1" presStyleCnt="3">
        <dgm:presLayoutVars>
          <dgm:bulletEnabled val="1"/>
        </dgm:presLayoutVars>
      </dgm:prSet>
      <dgm:spPr/>
    </dgm:pt>
    <dgm:pt modelId="{D0FB6FEA-3654-406E-A619-CC709B0639E9}" type="pres">
      <dgm:prSet presAssocID="{8064A67D-8D29-4A1A-8253-70E2628E47EE}" presName="space" presStyleCnt="0"/>
      <dgm:spPr/>
    </dgm:pt>
    <dgm:pt modelId="{22C4B468-6E01-4036-8E6F-90813EC4AADA}" type="pres">
      <dgm:prSet presAssocID="{3B7AC38D-9D46-497F-9DF8-918670075B83}" presName="composite" presStyleCnt="0"/>
      <dgm:spPr/>
    </dgm:pt>
    <dgm:pt modelId="{A5576E60-5874-4EC0-AE51-659FD45B6297}" type="pres">
      <dgm:prSet presAssocID="{3B7AC38D-9D46-497F-9DF8-918670075B83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82638CBE-E043-4000-918F-019649AB3425}" type="pres">
      <dgm:prSet presAssocID="{3B7AC38D-9D46-497F-9DF8-918670075B83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156F7600-970E-493B-AB96-95ADF0EC9F97}" srcId="{4C4D2ABF-5807-4DCD-B11F-2596E63EE4EC}" destId="{A1A98A11-9917-433F-ABCE-43285D15475A}" srcOrd="0" destOrd="0" parTransId="{159D83D9-7D4A-433F-8D0F-15ED2D8E9510}" sibTransId="{10396C22-62EC-494B-A2F5-739A1D52F4B4}"/>
    <dgm:cxn modelId="{BB7FBC07-F28B-4294-B17F-AC1E597EA9B4}" type="presOf" srcId="{A1A98A11-9917-433F-ABCE-43285D15475A}" destId="{F1E9E604-57E6-4F52-9D4D-21AA925768C2}" srcOrd="0" destOrd="0" presId="urn:microsoft.com/office/officeart/2005/8/layout/hList1"/>
    <dgm:cxn modelId="{9D2B3510-DF01-44F4-8EF5-58D2F4E99FD3}" type="presOf" srcId="{3B7AC38D-9D46-497F-9DF8-918670075B83}" destId="{A5576E60-5874-4EC0-AE51-659FD45B6297}" srcOrd="0" destOrd="0" presId="urn:microsoft.com/office/officeart/2005/8/layout/hList1"/>
    <dgm:cxn modelId="{C7042A26-1927-4236-A0DA-32CF20C159A4}" srcId="{BBF2BE7F-ADEA-4C9B-BA2A-F6F419C5A1A5}" destId="{3B7AC38D-9D46-497F-9DF8-918670075B83}" srcOrd="2" destOrd="0" parTransId="{04B19E6B-4B3D-4833-BA13-CDF61E30AB55}" sibTransId="{7591FD47-F112-4864-8B0E-4744349AEA24}"/>
    <dgm:cxn modelId="{3B0FCF5B-67A5-49B9-8E67-DE1560E46A0B}" srcId="{B92E99F7-EC39-42FA-8BE7-C5E3497B9924}" destId="{50145A86-7EEF-4476-84B4-724B3A319B58}" srcOrd="0" destOrd="0" parTransId="{3F048A54-958B-43A3-B84F-D1BEEA997F6F}" sibTransId="{6161B22E-AC64-4F84-A893-66AA81375CD1}"/>
    <dgm:cxn modelId="{D8FBCE69-FC13-44F9-A3CD-0EEC22293A30}" type="presOf" srcId="{4C4D2ABF-5807-4DCD-B11F-2596E63EE4EC}" destId="{C9A75EDC-D87E-4469-89CF-93614E8B5DC8}" srcOrd="0" destOrd="0" presId="urn:microsoft.com/office/officeart/2005/8/layout/hList1"/>
    <dgm:cxn modelId="{DA57A36C-BFB0-4887-A028-63995B1F5A80}" srcId="{BBF2BE7F-ADEA-4C9B-BA2A-F6F419C5A1A5}" destId="{B92E99F7-EC39-42FA-8BE7-C5E3497B9924}" srcOrd="1" destOrd="0" parTransId="{A27BB709-C593-4B4E-8D91-25CD16465A34}" sibTransId="{8064A67D-8D29-4A1A-8253-70E2628E47EE}"/>
    <dgm:cxn modelId="{91533E6E-C936-4F59-B069-17C2CDA55B2A}" type="presOf" srcId="{50145A86-7EEF-4476-84B4-724B3A319B58}" destId="{A0B45E30-4407-4B7E-A044-75B9702280C5}" srcOrd="0" destOrd="0" presId="urn:microsoft.com/office/officeart/2005/8/layout/hList1"/>
    <dgm:cxn modelId="{BAD4C175-4107-4A5C-9246-72EF95060E53}" type="presOf" srcId="{BBF2BE7F-ADEA-4C9B-BA2A-F6F419C5A1A5}" destId="{7FA51549-6F69-4CCC-93D5-4569B4771112}" srcOrd="0" destOrd="0" presId="urn:microsoft.com/office/officeart/2005/8/layout/hList1"/>
    <dgm:cxn modelId="{7863E755-47AA-4F04-84E0-507FD15C41EE}" type="presOf" srcId="{B92E99F7-EC39-42FA-8BE7-C5E3497B9924}" destId="{BF0D703D-5AED-4641-9EAD-BA96B34FDCF3}" srcOrd="0" destOrd="0" presId="urn:microsoft.com/office/officeart/2005/8/layout/hList1"/>
    <dgm:cxn modelId="{311D778A-4916-4846-BE62-B73BB4014838}" type="presOf" srcId="{9DD0E0A8-DCD6-49C0-B179-C404FCE72410}" destId="{82638CBE-E043-4000-918F-019649AB3425}" srcOrd="0" destOrd="0" presId="urn:microsoft.com/office/officeart/2005/8/layout/hList1"/>
    <dgm:cxn modelId="{C8453794-642F-4FE5-9E14-57FEDFA078FD}" srcId="{3B7AC38D-9D46-497F-9DF8-918670075B83}" destId="{9DD0E0A8-DCD6-49C0-B179-C404FCE72410}" srcOrd="0" destOrd="0" parTransId="{CC701063-D295-410E-BD08-EFE9549C8885}" sibTransId="{4DA876CA-FFFB-49E0-A5C9-77455D9D1657}"/>
    <dgm:cxn modelId="{E33D80D0-8DEA-4FB2-8212-0D9FB36A82F0}" srcId="{BBF2BE7F-ADEA-4C9B-BA2A-F6F419C5A1A5}" destId="{4C4D2ABF-5807-4DCD-B11F-2596E63EE4EC}" srcOrd="0" destOrd="0" parTransId="{D500D3C0-38B4-4BA8-827B-0CB03A08F83B}" sibTransId="{AC8BED9F-2AD0-4B90-9AB5-C65ED1D13F2B}"/>
    <dgm:cxn modelId="{A032488A-E237-48EE-A85A-54784F24FB07}" type="presParOf" srcId="{7FA51549-6F69-4CCC-93D5-4569B4771112}" destId="{0AF74884-8503-44F5-97AB-F0D04911DF24}" srcOrd="0" destOrd="0" presId="urn:microsoft.com/office/officeart/2005/8/layout/hList1"/>
    <dgm:cxn modelId="{4AB95FE8-C5E1-4953-BF3D-9260DAEA9213}" type="presParOf" srcId="{0AF74884-8503-44F5-97AB-F0D04911DF24}" destId="{C9A75EDC-D87E-4469-89CF-93614E8B5DC8}" srcOrd="0" destOrd="0" presId="urn:microsoft.com/office/officeart/2005/8/layout/hList1"/>
    <dgm:cxn modelId="{448937BE-1291-4509-9286-D50DF76EA09A}" type="presParOf" srcId="{0AF74884-8503-44F5-97AB-F0D04911DF24}" destId="{F1E9E604-57E6-4F52-9D4D-21AA925768C2}" srcOrd="1" destOrd="0" presId="urn:microsoft.com/office/officeart/2005/8/layout/hList1"/>
    <dgm:cxn modelId="{AA961CC7-78D7-481D-BAFC-E4A3CDC47995}" type="presParOf" srcId="{7FA51549-6F69-4CCC-93D5-4569B4771112}" destId="{EA0A1119-0DDA-4052-B7D5-07670B4D7657}" srcOrd="1" destOrd="0" presId="urn:microsoft.com/office/officeart/2005/8/layout/hList1"/>
    <dgm:cxn modelId="{A4560B7C-7786-4777-B71A-4660DBC7B56F}" type="presParOf" srcId="{7FA51549-6F69-4CCC-93D5-4569B4771112}" destId="{FB50E510-ACBA-41F3-AF17-5E8459738CBE}" srcOrd="2" destOrd="0" presId="urn:microsoft.com/office/officeart/2005/8/layout/hList1"/>
    <dgm:cxn modelId="{F71241A2-E4D6-46E7-ACF9-4173630803A1}" type="presParOf" srcId="{FB50E510-ACBA-41F3-AF17-5E8459738CBE}" destId="{BF0D703D-5AED-4641-9EAD-BA96B34FDCF3}" srcOrd="0" destOrd="0" presId="urn:microsoft.com/office/officeart/2005/8/layout/hList1"/>
    <dgm:cxn modelId="{D7376E9A-78AB-4DCC-B6B4-75316EE7ED15}" type="presParOf" srcId="{FB50E510-ACBA-41F3-AF17-5E8459738CBE}" destId="{A0B45E30-4407-4B7E-A044-75B9702280C5}" srcOrd="1" destOrd="0" presId="urn:microsoft.com/office/officeart/2005/8/layout/hList1"/>
    <dgm:cxn modelId="{A7C2644C-F55B-40F3-8CFD-69CB7661819C}" type="presParOf" srcId="{7FA51549-6F69-4CCC-93D5-4569B4771112}" destId="{D0FB6FEA-3654-406E-A619-CC709B0639E9}" srcOrd="3" destOrd="0" presId="urn:microsoft.com/office/officeart/2005/8/layout/hList1"/>
    <dgm:cxn modelId="{C76EECCE-0068-4874-9CED-037FFD9A8831}" type="presParOf" srcId="{7FA51549-6F69-4CCC-93D5-4569B4771112}" destId="{22C4B468-6E01-4036-8E6F-90813EC4AADA}" srcOrd="4" destOrd="0" presId="urn:microsoft.com/office/officeart/2005/8/layout/hList1"/>
    <dgm:cxn modelId="{03EDEACE-DA3E-4C6A-BDF7-FB07109A0FF9}" type="presParOf" srcId="{22C4B468-6E01-4036-8E6F-90813EC4AADA}" destId="{A5576E60-5874-4EC0-AE51-659FD45B6297}" srcOrd="0" destOrd="0" presId="urn:microsoft.com/office/officeart/2005/8/layout/hList1"/>
    <dgm:cxn modelId="{BEA6A5DB-76D7-4329-B3A5-F68813AB10AF}" type="presParOf" srcId="{22C4B468-6E01-4036-8E6F-90813EC4AADA}" destId="{82638CBE-E043-4000-918F-019649AB342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C42F470-8D41-4DD2-987C-60D02968AB72}" type="doc">
      <dgm:prSet loTypeId="urn:microsoft.com/office/officeart/2005/8/layout/arrow5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hu-HU"/>
        </a:p>
      </dgm:t>
    </dgm:pt>
    <dgm:pt modelId="{834B0CE5-B231-4ADF-99FD-6E9045F726B3}">
      <dgm:prSet phldrT="[Szöveg]"/>
      <dgm:spPr/>
      <dgm:t>
        <a:bodyPr/>
        <a:lstStyle/>
        <a:p>
          <a:r>
            <a:rPr lang="hu-HU" dirty="0"/>
            <a:t>alapjog</a:t>
          </a:r>
        </a:p>
      </dgm:t>
    </dgm:pt>
    <dgm:pt modelId="{12FB9F36-122E-4623-A714-747CF39F2826}" type="parTrans" cxnId="{5C021908-3360-48BE-A12F-0F9A6B4CA134}">
      <dgm:prSet/>
      <dgm:spPr/>
      <dgm:t>
        <a:bodyPr/>
        <a:lstStyle/>
        <a:p>
          <a:endParaRPr lang="hu-HU"/>
        </a:p>
      </dgm:t>
    </dgm:pt>
    <dgm:pt modelId="{99399EF7-80FD-4694-8353-14850B65E1E6}" type="sibTrans" cxnId="{5C021908-3360-48BE-A12F-0F9A6B4CA134}">
      <dgm:prSet/>
      <dgm:spPr/>
      <dgm:t>
        <a:bodyPr/>
        <a:lstStyle/>
        <a:p>
          <a:endParaRPr lang="hu-HU"/>
        </a:p>
      </dgm:t>
    </dgm:pt>
    <dgm:pt modelId="{786E8749-0F06-4F2A-B11A-0764DF3D9356}">
      <dgm:prSet phldrT="[Szöveg]"/>
      <dgm:spPr/>
      <dgm:t>
        <a:bodyPr/>
        <a:lstStyle/>
        <a:p>
          <a:r>
            <a:rPr lang="hu-HU" dirty="0"/>
            <a:t>alapjog, alkotmányos érték</a:t>
          </a:r>
        </a:p>
      </dgm:t>
    </dgm:pt>
    <dgm:pt modelId="{9FBC1E1E-AAD8-4C27-970B-EFCF264C9F7B}" type="parTrans" cxnId="{D657DBB2-989E-4DF6-A8E8-175550DE9B5A}">
      <dgm:prSet/>
      <dgm:spPr/>
      <dgm:t>
        <a:bodyPr/>
        <a:lstStyle/>
        <a:p>
          <a:endParaRPr lang="hu-HU"/>
        </a:p>
      </dgm:t>
    </dgm:pt>
    <dgm:pt modelId="{74CC74D6-3259-4080-89DA-C02207F40F48}" type="sibTrans" cxnId="{D657DBB2-989E-4DF6-A8E8-175550DE9B5A}">
      <dgm:prSet/>
      <dgm:spPr/>
      <dgm:t>
        <a:bodyPr/>
        <a:lstStyle/>
        <a:p>
          <a:endParaRPr lang="hu-HU"/>
        </a:p>
      </dgm:t>
    </dgm:pt>
    <dgm:pt modelId="{36410443-AB0E-4EA2-A111-A154407DF702}" type="pres">
      <dgm:prSet presAssocID="{EC42F470-8D41-4DD2-987C-60D02968AB72}" presName="diagram" presStyleCnt="0">
        <dgm:presLayoutVars>
          <dgm:dir/>
          <dgm:resizeHandles val="exact"/>
        </dgm:presLayoutVars>
      </dgm:prSet>
      <dgm:spPr/>
    </dgm:pt>
    <dgm:pt modelId="{A4D0CEFC-8560-4DCE-A1C4-60CE280114EB}" type="pres">
      <dgm:prSet presAssocID="{834B0CE5-B231-4ADF-99FD-6E9045F726B3}" presName="arrow" presStyleLbl="node1" presStyleIdx="0" presStyleCnt="2">
        <dgm:presLayoutVars>
          <dgm:bulletEnabled val="1"/>
        </dgm:presLayoutVars>
      </dgm:prSet>
      <dgm:spPr/>
    </dgm:pt>
    <dgm:pt modelId="{2319C56A-7B88-4F69-9D6B-C5FD2258368A}" type="pres">
      <dgm:prSet presAssocID="{786E8749-0F06-4F2A-B11A-0764DF3D9356}" presName="arrow" presStyleLbl="node1" presStyleIdx="1" presStyleCnt="2" custAng="0" custRadScaleRad="100244" custRadScaleInc="-2053">
        <dgm:presLayoutVars>
          <dgm:bulletEnabled val="1"/>
        </dgm:presLayoutVars>
      </dgm:prSet>
      <dgm:spPr/>
    </dgm:pt>
  </dgm:ptLst>
  <dgm:cxnLst>
    <dgm:cxn modelId="{5C021908-3360-48BE-A12F-0F9A6B4CA134}" srcId="{EC42F470-8D41-4DD2-987C-60D02968AB72}" destId="{834B0CE5-B231-4ADF-99FD-6E9045F726B3}" srcOrd="0" destOrd="0" parTransId="{12FB9F36-122E-4623-A714-747CF39F2826}" sibTransId="{99399EF7-80FD-4694-8353-14850B65E1E6}"/>
    <dgm:cxn modelId="{A4E2233B-9914-4CFD-9E6D-58BEBC25550F}" type="presOf" srcId="{786E8749-0F06-4F2A-B11A-0764DF3D9356}" destId="{2319C56A-7B88-4F69-9D6B-C5FD2258368A}" srcOrd="0" destOrd="0" presId="urn:microsoft.com/office/officeart/2005/8/layout/arrow5"/>
    <dgm:cxn modelId="{3FC1B865-966E-4669-A6C3-4365D9C975BB}" type="presOf" srcId="{EC42F470-8D41-4DD2-987C-60D02968AB72}" destId="{36410443-AB0E-4EA2-A111-A154407DF702}" srcOrd="0" destOrd="0" presId="urn:microsoft.com/office/officeart/2005/8/layout/arrow5"/>
    <dgm:cxn modelId="{9C0FB34C-DE1A-4D84-9A41-F2FC14A2EA86}" type="presOf" srcId="{834B0CE5-B231-4ADF-99FD-6E9045F726B3}" destId="{A4D0CEFC-8560-4DCE-A1C4-60CE280114EB}" srcOrd="0" destOrd="0" presId="urn:microsoft.com/office/officeart/2005/8/layout/arrow5"/>
    <dgm:cxn modelId="{D657DBB2-989E-4DF6-A8E8-175550DE9B5A}" srcId="{EC42F470-8D41-4DD2-987C-60D02968AB72}" destId="{786E8749-0F06-4F2A-B11A-0764DF3D9356}" srcOrd="1" destOrd="0" parTransId="{9FBC1E1E-AAD8-4C27-970B-EFCF264C9F7B}" sibTransId="{74CC74D6-3259-4080-89DA-C02207F40F48}"/>
    <dgm:cxn modelId="{DD92F124-9C2C-4A68-9701-65B2FAAB8E06}" type="presParOf" srcId="{36410443-AB0E-4EA2-A111-A154407DF702}" destId="{A4D0CEFC-8560-4DCE-A1C4-60CE280114EB}" srcOrd="0" destOrd="0" presId="urn:microsoft.com/office/officeart/2005/8/layout/arrow5"/>
    <dgm:cxn modelId="{EC6CB638-56FE-4A10-A0C8-4EAC5AA4F6CC}" type="presParOf" srcId="{36410443-AB0E-4EA2-A111-A154407DF702}" destId="{2319C56A-7B88-4F69-9D6B-C5FD2258368A}" srcOrd="1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AEDF674-EDB5-47B2-AED0-A4FEDE497F14}" type="doc">
      <dgm:prSet loTypeId="urn:microsoft.com/office/officeart/2005/8/layout/process4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hu-HU"/>
        </a:p>
      </dgm:t>
    </dgm:pt>
    <dgm:pt modelId="{D2B83E0B-0F94-4A4C-A5A5-BEC3003E2664}">
      <dgm:prSet phldrT="[Szöveg]"/>
      <dgm:spPr/>
      <dgm:t>
        <a:bodyPr/>
        <a:lstStyle/>
        <a:p>
          <a:r>
            <a:rPr lang="hu-HU" dirty="0"/>
            <a:t>Alaptörvény </a:t>
          </a:r>
        </a:p>
      </dgm:t>
    </dgm:pt>
    <dgm:pt modelId="{42B09BE8-362F-4DBC-97FC-2039C1867B79}" type="parTrans" cxnId="{8E498DAD-A24E-407E-93C7-F1F40EA94DBD}">
      <dgm:prSet/>
      <dgm:spPr/>
      <dgm:t>
        <a:bodyPr/>
        <a:lstStyle/>
        <a:p>
          <a:endParaRPr lang="hu-HU"/>
        </a:p>
      </dgm:t>
    </dgm:pt>
    <dgm:pt modelId="{3E063B97-BB1A-40AA-85CD-F78BC923F7BC}" type="sibTrans" cxnId="{8E498DAD-A24E-407E-93C7-F1F40EA94DBD}">
      <dgm:prSet/>
      <dgm:spPr/>
      <dgm:t>
        <a:bodyPr/>
        <a:lstStyle/>
        <a:p>
          <a:endParaRPr lang="hu-HU"/>
        </a:p>
      </dgm:t>
    </dgm:pt>
    <dgm:pt modelId="{3F76248A-D359-4A1C-9454-2F0AEEA29D54}">
      <dgm:prSet phldrT="[Szöveg]"/>
      <dgm:spPr/>
      <dgm:t>
        <a:bodyPr/>
        <a:lstStyle/>
        <a:p>
          <a:r>
            <a:rPr lang="hu-HU" dirty="0"/>
            <a:t>alapjogok katalógusa </a:t>
          </a:r>
        </a:p>
      </dgm:t>
    </dgm:pt>
    <dgm:pt modelId="{24542100-D432-4E60-9E99-CC07A8A2811C}" type="parTrans" cxnId="{EBABF393-335F-44BA-8F6B-573484243C19}">
      <dgm:prSet/>
      <dgm:spPr/>
      <dgm:t>
        <a:bodyPr/>
        <a:lstStyle/>
        <a:p>
          <a:endParaRPr lang="hu-HU"/>
        </a:p>
      </dgm:t>
    </dgm:pt>
    <dgm:pt modelId="{E40337C1-50C2-4252-81CD-EA9F4B39AE35}" type="sibTrans" cxnId="{EBABF393-335F-44BA-8F6B-573484243C19}">
      <dgm:prSet/>
      <dgm:spPr/>
      <dgm:t>
        <a:bodyPr/>
        <a:lstStyle/>
        <a:p>
          <a:endParaRPr lang="hu-HU"/>
        </a:p>
      </dgm:t>
    </dgm:pt>
    <dgm:pt modelId="{554E2160-8D99-4BE1-A8A9-9EFE8278415E}">
      <dgm:prSet phldrT="[Szöveg]"/>
      <dgm:spPr/>
      <dgm:t>
        <a:bodyPr/>
        <a:lstStyle/>
        <a:p>
          <a:r>
            <a:rPr lang="hu-HU" dirty="0"/>
            <a:t>alkotmányos értékek</a:t>
          </a:r>
        </a:p>
      </dgm:t>
    </dgm:pt>
    <dgm:pt modelId="{1C4D2A24-ACE9-4078-A416-5237732C7522}" type="parTrans" cxnId="{42AE0433-E1F3-4975-850F-ED0431D388CB}">
      <dgm:prSet/>
      <dgm:spPr/>
      <dgm:t>
        <a:bodyPr/>
        <a:lstStyle/>
        <a:p>
          <a:endParaRPr lang="hu-HU"/>
        </a:p>
      </dgm:t>
    </dgm:pt>
    <dgm:pt modelId="{D264BFE1-BC32-48D4-B50D-C07E45D80CB2}" type="sibTrans" cxnId="{42AE0433-E1F3-4975-850F-ED0431D388CB}">
      <dgm:prSet/>
      <dgm:spPr/>
      <dgm:t>
        <a:bodyPr/>
        <a:lstStyle/>
        <a:p>
          <a:endParaRPr lang="hu-HU"/>
        </a:p>
      </dgm:t>
    </dgm:pt>
    <dgm:pt modelId="{CE36D8CC-7243-4E99-928F-C669323E0A33}">
      <dgm:prSet phldrT="[Szöveg]"/>
      <dgm:spPr/>
      <dgm:t>
        <a:bodyPr/>
        <a:lstStyle/>
        <a:p>
          <a:r>
            <a:rPr lang="hu-HU" dirty="0"/>
            <a:t>törvények</a:t>
          </a:r>
        </a:p>
      </dgm:t>
    </dgm:pt>
    <dgm:pt modelId="{15DEA933-28BE-4155-8AD4-9F57775D0A8C}" type="parTrans" cxnId="{821826F4-7DFB-4E6B-B955-D5B1250A220F}">
      <dgm:prSet/>
      <dgm:spPr/>
      <dgm:t>
        <a:bodyPr/>
        <a:lstStyle/>
        <a:p>
          <a:endParaRPr lang="hu-HU"/>
        </a:p>
      </dgm:t>
    </dgm:pt>
    <dgm:pt modelId="{E52068D7-50B4-4B64-AE0C-47233F8A5801}" type="sibTrans" cxnId="{821826F4-7DFB-4E6B-B955-D5B1250A220F}">
      <dgm:prSet/>
      <dgm:spPr/>
      <dgm:t>
        <a:bodyPr/>
        <a:lstStyle/>
        <a:p>
          <a:endParaRPr lang="hu-HU"/>
        </a:p>
      </dgm:t>
    </dgm:pt>
    <dgm:pt modelId="{D7CE3B1B-1C5E-4017-BCD4-804C119ED41B}">
      <dgm:prSet phldrT="[Szöveg]"/>
      <dgm:spPr/>
      <dgm:t>
        <a:bodyPr/>
        <a:lstStyle/>
        <a:p>
          <a:r>
            <a:rPr lang="hu-HU" dirty="0"/>
            <a:t>jogok</a:t>
          </a:r>
        </a:p>
      </dgm:t>
    </dgm:pt>
    <dgm:pt modelId="{86D87ED8-4093-4D3F-8E81-AA9FAF357505}" type="parTrans" cxnId="{6DA5CE38-6389-407C-A4E7-73FECD0EB3BC}">
      <dgm:prSet/>
      <dgm:spPr/>
      <dgm:t>
        <a:bodyPr/>
        <a:lstStyle/>
        <a:p>
          <a:endParaRPr lang="hu-HU"/>
        </a:p>
      </dgm:t>
    </dgm:pt>
    <dgm:pt modelId="{1B5DE446-BD84-45CC-A91F-AE885AD9E6AA}" type="sibTrans" cxnId="{6DA5CE38-6389-407C-A4E7-73FECD0EB3BC}">
      <dgm:prSet/>
      <dgm:spPr/>
      <dgm:t>
        <a:bodyPr/>
        <a:lstStyle/>
        <a:p>
          <a:endParaRPr lang="hu-HU"/>
        </a:p>
      </dgm:t>
    </dgm:pt>
    <dgm:pt modelId="{51472960-C4F9-4DD9-83C8-736B58EA19C3}">
      <dgm:prSet phldrT="[Szöveg]"/>
      <dgm:spPr/>
      <dgm:t>
        <a:bodyPr/>
        <a:lstStyle/>
        <a:p>
          <a:r>
            <a:rPr lang="hu-HU" dirty="0"/>
            <a:t>kötelezettségek</a:t>
          </a:r>
        </a:p>
      </dgm:t>
    </dgm:pt>
    <dgm:pt modelId="{D503DFA6-4DC9-4FC4-8CDF-1188DCB26455}" type="parTrans" cxnId="{5C047F2B-2523-42EE-94B7-0DEF145F6DEB}">
      <dgm:prSet/>
      <dgm:spPr/>
      <dgm:t>
        <a:bodyPr/>
        <a:lstStyle/>
        <a:p>
          <a:endParaRPr lang="hu-HU"/>
        </a:p>
      </dgm:t>
    </dgm:pt>
    <dgm:pt modelId="{8201F97D-AD00-4531-A028-4E78BA1212B0}" type="sibTrans" cxnId="{5C047F2B-2523-42EE-94B7-0DEF145F6DEB}">
      <dgm:prSet/>
      <dgm:spPr/>
      <dgm:t>
        <a:bodyPr/>
        <a:lstStyle/>
        <a:p>
          <a:endParaRPr lang="hu-HU"/>
        </a:p>
      </dgm:t>
    </dgm:pt>
    <dgm:pt modelId="{4B21FFE9-7B9C-40A0-AE7D-29BACE5DBAF6}">
      <dgm:prSet phldrT="[Szöveg]"/>
      <dgm:spPr/>
      <dgm:t>
        <a:bodyPr/>
        <a:lstStyle/>
        <a:p>
          <a:r>
            <a:rPr lang="hu-HU" dirty="0"/>
            <a:t>egyéb jogszabályok</a:t>
          </a:r>
        </a:p>
      </dgm:t>
    </dgm:pt>
    <dgm:pt modelId="{937ADF56-0CDE-40A1-A9CF-E0448B44DA53}" type="parTrans" cxnId="{328C95A1-E457-4D35-9DD4-E16973794528}">
      <dgm:prSet/>
      <dgm:spPr/>
      <dgm:t>
        <a:bodyPr/>
        <a:lstStyle/>
        <a:p>
          <a:endParaRPr lang="hu-HU"/>
        </a:p>
      </dgm:t>
    </dgm:pt>
    <dgm:pt modelId="{4886AB04-BD83-4E6E-BDF5-E679771C8A17}" type="sibTrans" cxnId="{328C95A1-E457-4D35-9DD4-E16973794528}">
      <dgm:prSet/>
      <dgm:spPr/>
      <dgm:t>
        <a:bodyPr/>
        <a:lstStyle/>
        <a:p>
          <a:endParaRPr lang="hu-HU"/>
        </a:p>
      </dgm:t>
    </dgm:pt>
    <dgm:pt modelId="{BFA3758D-A244-4A1C-9AD9-BDD954EE991C}">
      <dgm:prSet phldrT="[Szöveg]"/>
      <dgm:spPr/>
      <dgm:t>
        <a:bodyPr/>
        <a:lstStyle/>
        <a:p>
          <a:r>
            <a:rPr lang="hu-HU" dirty="0"/>
            <a:t>részletszabályok</a:t>
          </a:r>
        </a:p>
      </dgm:t>
    </dgm:pt>
    <dgm:pt modelId="{81A8836F-C9A3-4C4E-A1D6-BC664C4B6D6B}" type="parTrans" cxnId="{6230EA2B-DD22-4423-8F4F-5CEE6F4E43BF}">
      <dgm:prSet/>
      <dgm:spPr/>
      <dgm:t>
        <a:bodyPr/>
        <a:lstStyle/>
        <a:p>
          <a:endParaRPr lang="hu-HU"/>
        </a:p>
      </dgm:t>
    </dgm:pt>
    <dgm:pt modelId="{A688F365-1111-4E7C-B6F0-D9F0D1A38036}" type="sibTrans" cxnId="{6230EA2B-DD22-4423-8F4F-5CEE6F4E43BF}">
      <dgm:prSet/>
      <dgm:spPr/>
      <dgm:t>
        <a:bodyPr/>
        <a:lstStyle/>
        <a:p>
          <a:endParaRPr lang="hu-HU"/>
        </a:p>
      </dgm:t>
    </dgm:pt>
    <dgm:pt modelId="{37B231EC-6954-45C6-A732-5A3D9F569B6D}" type="pres">
      <dgm:prSet presAssocID="{FAEDF674-EDB5-47B2-AED0-A4FEDE497F14}" presName="Name0" presStyleCnt="0">
        <dgm:presLayoutVars>
          <dgm:dir/>
          <dgm:animLvl val="lvl"/>
          <dgm:resizeHandles val="exact"/>
        </dgm:presLayoutVars>
      </dgm:prSet>
      <dgm:spPr/>
    </dgm:pt>
    <dgm:pt modelId="{0A002180-A6BD-4051-ADC4-1AB25B177BA0}" type="pres">
      <dgm:prSet presAssocID="{4B21FFE9-7B9C-40A0-AE7D-29BACE5DBAF6}" presName="boxAndChildren" presStyleCnt="0"/>
      <dgm:spPr/>
    </dgm:pt>
    <dgm:pt modelId="{2B03F0CA-4197-41EB-A937-6FB11380FD40}" type="pres">
      <dgm:prSet presAssocID="{4B21FFE9-7B9C-40A0-AE7D-29BACE5DBAF6}" presName="parentTextBox" presStyleLbl="node1" presStyleIdx="0" presStyleCnt="3"/>
      <dgm:spPr/>
    </dgm:pt>
    <dgm:pt modelId="{4F749BED-51F3-4F16-818A-296A5A528C51}" type="pres">
      <dgm:prSet presAssocID="{4B21FFE9-7B9C-40A0-AE7D-29BACE5DBAF6}" presName="entireBox" presStyleLbl="node1" presStyleIdx="0" presStyleCnt="3"/>
      <dgm:spPr/>
    </dgm:pt>
    <dgm:pt modelId="{36CA8099-2990-4AED-B3D5-58DD233E228E}" type="pres">
      <dgm:prSet presAssocID="{4B21FFE9-7B9C-40A0-AE7D-29BACE5DBAF6}" presName="descendantBox" presStyleCnt="0"/>
      <dgm:spPr/>
    </dgm:pt>
    <dgm:pt modelId="{09FA882C-5EF5-4E3D-A417-C4F328AE3A33}" type="pres">
      <dgm:prSet presAssocID="{BFA3758D-A244-4A1C-9AD9-BDD954EE991C}" presName="childTextBox" presStyleLbl="fgAccFollowNode1" presStyleIdx="0" presStyleCnt="5">
        <dgm:presLayoutVars>
          <dgm:bulletEnabled val="1"/>
        </dgm:presLayoutVars>
      </dgm:prSet>
      <dgm:spPr/>
    </dgm:pt>
    <dgm:pt modelId="{EF6758BC-D669-4641-A6FD-A7C14C221FD7}" type="pres">
      <dgm:prSet presAssocID="{E52068D7-50B4-4B64-AE0C-47233F8A5801}" presName="sp" presStyleCnt="0"/>
      <dgm:spPr/>
    </dgm:pt>
    <dgm:pt modelId="{97B03053-35E7-4670-ADCB-64BA83AC224E}" type="pres">
      <dgm:prSet presAssocID="{CE36D8CC-7243-4E99-928F-C669323E0A33}" presName="arrowAndChildren" presStyleCnt="0"/>
      <dgm:spPr/>
    </dgm:pt>
    <dgm:pt modelId="{C2BF7B5D-BD44-4147-8954-44DFE3147179}" type="pres">
      <dgm:prSet presAssocID="{CE36D8CC-7243-4E99-928F-C669323E0A33}" presName="parentTextArrow" presStyleLbl="node1" presStyleIdx="0" presStyleCnt="3"/>
      <dgm:spPr/>
    </dgm:pt>
    <dgm:pt modelId="{69969EA9-6EFD-4E0B-B975-A1A2620F06D8}" type="pres">
      <dgm:prSet presAssocID="{CE36D8CC-7243-4E99-928F-C669323E0A33}" presName="arrow" presStyleLbl="node1" presStyleIdx="1" presStyleCnt="3"/>
      <dgm:spPr/>
    </dgm:pt>
    <dgm:pt modelId="{55AE83F1-FC87-4162-9CA0-8EDC4D3A9573}" type="pres">
      <dgm:prSet presAssocID="{CE36D8CC-7243-4E99-928F-C669323E0A33}" presName="descendantArrow" presStyleCnt="0"/>
      <dgm:spPr/>
    </dgm:pt>
    <dgm:pt modelId="{D25DA04A-59C5-4994-BED5-8C38F224CDA5}" type="pres">
      <dgm:prSet presAssocID="{D7CE3B1B-1C5E-4017-BCD4-804C119ED41B}" presName="childTextArrow" presStyleLbl="fgAccFollowNode1" presStyleIdx="1" presStyleCnt="5">
        <dgm:presLayoutVars>
          <dgm:bulletEnabled val="1"/>
        </dgm:presLayoutVars>
      </dgm:prSet>
      <dgm:spPr/>
    </dgm:pt>
    <dgm:pt modelId="{491D2EC8-839F-4F3D-9F33-ADFFC7DD8650}" type="pres">
      <dgm:prSet presAssocID="{51472960-C4F9-4DD9-83C8-736B58EA19C3}" presName="childTextArrow" presStyleLbl="fgAccFollowNode1" presStyleIdx="2" presStyleCnt="5">
        <dgm:presLayoutVars>
          <dgm:bulletEnabled val="1"/>
        </dgm:presLayoutVars>
      </dgm:prSet>
      <dgm:spPr/>
    </dgm:pt>
    <dgm:pt modelId="{3642EE95-E60D-4E49-8577-FCA0DDC457F8}" type="pres">
      <dgm:prSet presAssocID="{3E063B97-BB1A-40AA-85CD-F78BC923F7BC}" presName="sp" presStyleCnt="0"/>
      <dgm:spPr/>
    </dgm:pt>
    <dgm:pt modelId="{FEB1A5CD-BE8D-4ADB-A077-A4F2008BA905}" type="pres">
      <dgm:prSet presAssocID="{D2B83E0B-0F94-4A4C-A5A5-BEC3003E2664}" presName="arrowAndChildren" presStyleCnt="0"/>
      <dgm:spPr/>
    </dgm:pt>
    <dgm:pt modelId="{2D94C137-22CE-44E6-A835-AB3BB9D215A2}" type="pres">
      <dgm:prSet presAssocID="{D2B83E0B-0F94-4A4C-A5A5-BEC3003E2664}" presName="parentTextArrow" presStyleLbl="node1" presStyleIdx="1" presStyleCnt="3"/>
      <dgm:spPr/>
    </dgm:pt>
    <dgm:pt modelId="{CE3382FC-D6BF-4194-A808-40FD026987BA}" type="pres">
      <dgm:prSet presAssocID="{D2B83E0B-0F94-4A4C-A5A5-BEC3003E2664}" presName="arrow" presStyleLbl="node1" presStyleIdx="2" presStyleCnt="3"/>
      <dgm:spPr/>
    </dgm:pt>
    <dgm:pt modelId="{C9D55838-0440-4E59-9585-413A1DB4E950}" type="pres">
      <dgm:prSet presAssocID="{D2B83E0B-0F94-4A4C-A5A5-BEC3003E2664}" presName="descendantArrow" presStyleCnt="0"/>
      <dgm:spPr/>
    </dgm:pt>
    <dgm:pt modelId="{BEFD6930-AD0F-4007-8755-4672CC24EFFC}" type="pres">
      <dgm:prSet presAssocID="{3F76248A-D359-4A1C-9454-2F0AEEA29D54}" presName="childTextArrow" presStyleLbl="fgAccFollowNode1" presStyleIdx="3" presStyleCnt="5">
        <dgm:presLayoutVars>
          <dgm:bulletEnabled val="1"/>
        </dgm:presLayoutVars>
      </dgm:prSet>
      <dgm:spPr/>
    </dgm:pt>
    <dgm:pt modelId="{7E3CA489-C9B0-416E-8CA4-5A67E027922C}" type="pres">
      <dgm:prSet presAssocID="{554E2160-8D99-4BE1-A8A9-9EFE8278415E}" presName="childTextArrow" presStyleLbl="fgAccFollowNode1" presStyleIdx="4" presStyleCnt="5">
        <dgm:presLayoutVars>
          <dgm:bulletEnabled val="1"/>
        </dgm:presLayoutVars>
      </dgm:prSet>
      <dgm:spPr/>
    </dgm:pt>
  </dgm:ptLst>
  <dgm:cxnLst>
    <dgm:cxn modelId="{20D1A803-41C5-47D4-993E-6A940F4C6290}" type="presOf" srcId="{4B21FFE9-7B9C-40A0-AE7D-29BACE5DBAF6}" destId="{4F749BED-51F3-4F16-818A-296A5A528C51}" srcOrd="1" destOrd="0" presId="urn:microsoft.com/office/officeart/2005/8/layout/process4"/>
    <dgm:cxn modelId="{497A3F0A-5D5D-4B78-8A08-53AA8ECCD4AC}" type="presOf" srcId="{CE36D8CC-7243-4E99-928F-C669323E0A33}" destId="{69969EA9-6EFD-4E0B-B975-A1A2620F06D8}" srcOrd="1" destOrd="0" presId="urn:microsoft.com/office/officeart/2005/8/layout/process4"/>
    <dgm:cxn modelId="{5C047F2B-2523-42EE-94B7-0DEF145F6DEB}" srcId="{CE36D8CC-7243-4E99-928F-C669323E0A33}" destId="{51472960-C4F9-4DD9-83C8-736B58EA19C3}" srcOrd="1" destOrd="0" parTransId="{D503DFA6-4DC9-4FC4-8CDF-1188DCB26455}" sibTransId="{8201F97D-AD00-4531-A028-4E78BA1212B0}"/>
    <dgm:cxn modelId="{6230EA2B-DD22-4423-8F4F-5CEE6F4E43BF}" srcId="{4B21FFE9-7B9C-40A0-AE7D-29BACE5DBAF6}" destId="{BFA3758D-A244-4A1C-9AD9-BDD954EE991C}" srcOrd="0" destOrd="0" parTransId="{81A8836F-C9A3-4C4E-A1D6-BC664C4B6D6B}" sibTransId="{A688F365-1111-4E7C-B6F0-D9F0D1A38036}"/>
    <dgm:cxn modelId="{F4E17432-8827-4B73-8F9F-CE0981E2B2FC}" type="presOf" srcId="{CE36D8CC-7243-4E99-928F-C669323E0A33}" destId="{C2BF7B5D-BD44-4147-8954-44DFE3147179}" srcOrd="0" destOrd="0" presId="urn:microsoft.com/office/officeart/2005/8/layout/process4"/>
    <dgm:cxn modelId="{42AE0433-E1F3-4975-850F-ED0431D388CB}" srcId="{D2B83E0B-0F94-4A4C-A5A5-BEC3003E2664}" destId="{554E2160-8D99-4BE1-A8A9-9EFE8278415E}" srcOrd="1" destOrd="0" parTransId="{1C4D2A24-ACE9-4078-A416-5237732C7522}" sibTransId="{D264BFE1-BC32-48D4-B50D-C07E45D80CB2}"/>
    <dgm:cxn modelId="{6DA5CE38-6389-407C-A4E7-73FECD0EB3BC}" srcId="{CE36D8CC-7243-4E99-928F-C669323E0A33}" destId="{D7CE3B1B-1C5E-4017-BCD4-804C119ED41B}" srcOrd="0" destOrd="0" parTransId="{86D87ED8-4093-4D3F-8E81-AA9FAF357505}" sibTransId="{1B5DE446-BD84-45CC-A91F-AE885AD9E6AA}"/>
    <dgm:cxn modelId="{34CC7F69-9620-430F-8039-3903FE7522EF}" type="presOf" srcId="{3F76248A-D359-4A1C-9454-2F0AEEA29D54}" destId="{BEFD6930-AD0F-4007-8755-4672CC24EFFC}" srcOrd="0" destOrd="0" presId="urn:microsoft.com/office/officeart/2005/8/layout/process4"/>
    <dgm:cxn modelId="{A1E85059-DBFE-4428-8D16-D7CF1DB1A744}" type="presOf" srcId="{FAEDF674-EDB5-47B2-AED0-A4FEDE497F14}" destId="{37B231EC-6954-45C6-A732-5A3D9F569B6D}" srcOrd="0" destOrd="0" presId="urn:microsoft.com/office/officeart/2005/8/layout/process4"/>
    <dgm:cxn modelId="{C00D477D-7800-4FCB-8052-2CEEF41F11D6}" type="presOf" srcId="{BFA3758D-A244-4A1C-9AD9-BDD954EE991C}" destId="{09FA882C-5EF5-4E3D-A417-C4F328AE3A33}" srcOrd="0" destOrd="0" presId="urn:microsoft.com/office/officeart/2005/8/layout/process4"/>
    <dgm:cxn modelId="{49719682-FC1C-4F95-8AF7-B8A399A8EDFF}" type="presOf" srcId="{4B21FFE9-7B9C-40A0-AE7D-29BACE5DBAF6}" destId="{2B03F0CA-4197-41EB-A937-6FB11380FD40}" srcOrd="0" destOrd="0" presId="urn:microsoft.com/office/officeart/2005/8/layout/process4"/>
    <dgm:cxn modelId="{EBABF393-335F-44BA-8F6B-573484243C19}" srcId="{D2B83E0B-0F94-4A4C-A5A5-BEC3003E2664}" destId="{3F76248A-D359-4A1C-9454-2F0AEEA29D54}" srcOrd="0" destOrd="0" parTransId="{24542100-D432-4E60-9E99-CC07A8A2811C}" sibTransId="{E40337C1-50C2-4252-81CD-EA9F4B39AE35}"/>
    <dgm:cxn modelId="{328C95A1-E457-4D35-9DD4-E16973794528}" srcId="{FAEDF674-EDB5-47B2-AED0-A4FEDE497F14}" destId="{4B21FFE9-7B9C-40A0-AE7D-29BACE5DBAF6}" srcOrd="2" destOrd="0" parTransId="{937ADF56-0CDE-40A1-A9CF-E0448B44DA53}" sibTransId="{4886AB04-BD83-4E6E-BDF5-E679771C8A17}"/>
    <dgm:cxn modelId="{8E498DAD-A24E-407E-93C7-F1F40EA94DBD}" srcId="{FAEDF674-EDB5-47B2-AED0-A4FEDE497F14}" destId="{D2B83E0B-0F94-4A4C-A5A5-BEC3003E2664}" srcOrd="0" destOrd="0" parTransId="{42B09BE8-362F-4DBC-97FC-2039C1867B79}" sibTransId="{3E063B97-BB1A-40AA-85CD-F78BC923F7BC}"/>
    <dgm:cxn modelId="{B2DEDBAD-9C06-486A-B818-B80F29DE0080}" type="presOf" srcId="{D2B83E0B-0F94-4A4C-A5A5-BEC3003E2664}" destId="{2D94C137-22CE-44E6-A835-AB3BB9D215A2}" srcOrd="0" destOrd="0" presId="urn:microsoft.com/office/officeart/2005/8/layout/process4"/>
    <dgm:cxn modelId="{56DAFAC9-DAD6-44A4-84B0-BDA3E90B817A}" type="presOf" srcId="{D2B83E0B-0F94-4A4C-A5A5-BEC3003E2664}" destId="{CE3382FC-D6BF-4194-A808-40FD026987BA}" srcOrd="1" destOrd="0" presId="urn:microsoft.com/office/officeart/2005/8/layout/process4"/>
    <dgm:cxn modelId="{17B7FFE3-2FA0-4F63-BF7A-EF90BB74ACE4}" type="presOf" srcId="{51472960-C4F9-4DD9-83C8-736B58EA19C3}" destId="{491D2EC8-839F-4F3D-9F33-ADFFC7DD8650}" srcOrd="0" destOrd="0" presId="urn:microsoft.com/office/officeart/2005/8/layout/process4"/>
    <dgm:cxn modelId="{9FE37EEC-D738-458B-B3E0-317146CA0069}" type="presOf" srcId="{D7CE3B1B-1C5E-4017-BCD4-804C119ED41B}" destId="{D25DA04A-59C5-4994-BED5-8C38F224CDA5}" srcOrd="0" destOrd="0" presId="urn:microsoft.com/office/officeart/2005/8/layout/process4"/>
    <dgm:cxn modelId="{821826F4-7DFB-4E6B-B955-D5B1250A220F}" srcId="{FAEDF674-EDB5-47B2-AED0-A4FEDE497F14}" destId="{CE36D8CC-7243-4E99-928F-C669323E0A33}" srcOrd="1" destOrd="0" parTransId="{15DEA933-28BE-4155-8AD4-9F57775D0A8C}" sibTransId="{E52068D7-50B4-4B64-AE0C-47233F8A5801}"/>
    <dgm:cxn modelId="{E45ED0F9-100F-4A6A-9D2A-47E63947033F}" type="presOf" srcId="{554E2160-8D99-4BE1-A8A9-9EFE8278415E}" destId="{7E3CA489-C9B0-416E-8CA4-5A67E027922C}" srcOrd="0" destOrd="0" presId="urn:microsoft.com/office/officeart/2005/8/layout/process4"/>
    <dgm:cxn modelId="{39DFA268-9A7A-435E-8819-5A9375F51B06}" type="presParOf" srcId="{37B231EC-6954-45C6-A732-5A3D9F569B6D}" destId="{0A002180-A6BD-4051-ADC4-1AB25B177BA0}" srcOrd="0" destOrd="0" presId="urn:microsoft.com/office/officeart/2005/8/layout/process4"/>
    <dgm:cxn modelId="{9459816E-5E9C-48E8-BF85-9A8115446DD5}" type="presParOf" srcId="{0A002180-A6BD-4051-ADC4-1AB25B177BA0}" destId="{2B03F0CA-4197-41EB-A937-6FB11380FD40}" srcOrd="0" destOrd="0" presId="urn:microsoft.com/office/officeart/2005/8/layout/process4"/>
    <dgm:cxn modelId="{B6349596-2525-4CDC-94CE-70D98BB75C61}" type="presParOf" srcId="{0A002180-A6BD-4051-ADC4-1AB25B177BA0}" destId="{4F749BED-51F3-4F16-818A-296A5A528C51}" srcOrd="1" destOrd="0" presId="urn:microsoft.com/office/officeart/2005/8/layout/process4"/>
    <dgm:cxn modelId="{4FAE7933-5DBC-4914-8629-87C679DBF5B0}" type="presParOf" srcId="{0A002180-A6BD-4051-ADC4-1AB25B177BA0}" destId="{36CA8099-2990-4AED-B3D5-58DD233E228E}" srcOrd="2" destOrd="0" presId="urn:microsoft.com/office/officeart/2005/8/layout/process4"/>
    <dgm:cxn modelId="{F6FAE12C-41B6-443E-9A62-4FC510447292}" type="presParOf" srcId="{36CA8099-2990-4AED-B3D5-58DD233E228E}" destId="{09FA882C-5EF5-4E3D-A417-C4F328AE3A33}" srcOrd="0" destOrd="0" presId="urn:microsoft.com/office/officeart/2005/8/layout/process4"/>
    <dgm:cxn modelId="{5F37D3B3-7205-4904-B267-16CE7B0F8E44}" type="presParOf" srcId="{37B231EC-6954-45C6-A732-5A3D9F569B6D}" destId="{EF6758BC-D669-4641-A6FD-A7C14C221FD7}" srcOrd="1" destOrd="0" presId="urn:microsoft.com/office/officeart/2005/8/layout/process4"/>
    <dgm:cxn modelId="{3DC497F9-1D6F-48FE-9A43-5F82E5A926E0}" type="presParOf" srcId="{37B231EC-6954-45C6-A732-5A3D9F569B6D}" destId="{97B03053-35E7-4670-ADCB-64BA83AC224E}" srcOrd="2" destOrd="0" presId="urn:microsoft.com/office/officeart/2005/8/layout/process4"/>
    <dgm:cxn modelId="{F57C9706-045E-4F5B-B089-F573A57A2555}" type="presParOf" srcId="{97B03053-35E7-4670-ADCB-64BA83AC224E}" destId="{C2BF7B5D-BD44-4147-8954-44DFE3147179}" srcOrd="0" destOrd="0" presId="urn:microsoft.com/office/officeart/2005/8/layout/process4"/>
    <dgm:cxn modelId="{9DC3E171-113D-4AFC-BF2E-0A945E49B740}" type="presParOf" srcId="{97B03053-35E7-4670-ADCB-64BA83AC224E}" destId="{69969EA9-6EFD-4E0B-B975-A1A2620F06D8}" srcOrd="1" destOrd="0" presId="urn:microsoft.com/office/officeart/2005/8/layout/process4"/>
    <dgm:cxn modelId="{4EC1888A-10C3-4A12-BE7E-571BA722DA21}" type="presParOf" srcId="{97B03053-35E7-4670-ADCB-64BA83AC224E}" destId="{55AE83F1-FC87-4162-9CA0-8EDC4D3A9573}" srcOrd="2" destOrd="0" presId="urn:microsoft.com/office/officeart/2005/8/layout/process4"/>
    <dgm:cxn modelId="{D9060315-0459-4640-B3CB-A1094E4FCE1E}" type="presParOf" srcId="{55AE83F1-FC87-4162-9CA0-8EDC4D3A9573}" destId="{D25DA04A-59C5-4994-BED5-8C38F224CDA5}" srcOrd="0" destOrd="0" presId="urn:microsoft.com/office/officeart/2005/8/layout/process4"/>
    <dgm:cxn modelId="{70AB7E08-8AF1-4F03-A14A-77A3D45826D2}" type="presParOf" srcId="{55AE83F1-FC87-4162-9CA0-8EDC4D3A9573}" destId="{491D2EC8-839F-4F3D-9F33-ADFFC7DD8650}" srcOrd="1" destOrd="0" presId="urn:microsoft.com/office/officeart/2005/8/layout/process4"/>
    <dgm:cxn modelId="{10BBC1F4-6C0F-4797-9E09-64923140AD05}" type="presParOf" srcId="{37B231EC-6954-45C6-A732-5A3D9F569B6D}" destId="{3642EE95-E60D-4E49-8577-FCA0DDC457F8}" srcOrd="3" destOrd="0" presId="urn:microsoft.com/office/officeart/2005/8/layout/process4"/>
    <dgm:cxn modelId="{68901604-3EE9-4B72-AC29-6BE944DAC1FF}" type="presParOf" srcId="{37B231EC-6954-45C6-A732-5A3D9F569B6D}" destId="{FEB1A5CD-BE8D-4ADB-A077-A4F2008BA905}" srcOrd="4" destOrd="0" presId="urn:microsoft.com/office/officeart/2005/8/layout/process4"/>
    <dgm:cxn modelId="{D19B7290-F69F-48F5-9972-1B75A7D37AC0}" type="presParOf" srcId="{FEB1A5CD-BE8D-4ADB-A077-A4F2008BA905}" destId="{2D94C137-22CE-44E6-A835-AB3BB9D215A2}" srcOrd="0" destOrd="0" presId="urn:microsoft.com/office/officeart/2005/8/layout/process4"/>
    <dgm:cxn modelId="{2C1FB49F-09C5-46DE-958B-DA04E960B353}" type="presParOf" srcId="{FEB1A5CD-BE8D-4ADB-A077-A4F2008BA905}" destId="{CE3382FC-D6BF-4194-A808-40FD026987BA}" srcOrd="1" destOrd="0" presId="urn:microsoft.com/office/officeart/2005/8/layout/process4"/>
    <dgm:cxn modelId="{CD0278FF-2058-4AA6-8D34-428636C790AE}" type="presParOf" srcId="{FEB1A5CD-BE8D-4ADB-A077-A4F2008BA905}" destId="{C9D55838-0440-4E59-9585-413A1DB4E950}" srcOrd="2" destOrd="0" presId="urn:microsoft.com/office/officeart/2005/8/layout/process4"/>
    <dgm:cxn modelId="{48325F0A-AEE6-4F96-A629-53894418F131}" type="presParOf" srcId="{C9D55838-0440-4E59-9585-413A1DB4E950}" destId="{BEFD6930-AD0F-4007-8755-4672CC24EFFC}" srcOrd="0" destOrd="0" presId="urn:microsoft.com/office/officeart/2005/8/layout/process4"/>
    <dgm:cxn modelId="{F14A9E65-5D21-4A70-9C6D-C2ABFA16F7FB}" type="presParOf" srcId="{C9D55838-0440-4E59-9585-413A1DB4E950}" destId="{7E3CA489-C9B0-416E-8CA4-5A67E027922C}" srcOrd="1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0742365-4FD1-42C5-9031-A18381491D20}" type="doc">
      <dgm:prSet loTypeId="urn:microsoft.com/office/officeart/2005/8/layout/arrow5" loCatId="relationship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hu-HU"/>
        </a:p>
      </dgm:t>
    </dgm:pt>
    <dgm:pt modelId="{BA647004-92FD-4336-A190-F427986151CA}">
      <dgm:prSet phldrT="[Szöveg]" custT="1"/>
      <dgm:spPr/>
      <dgm:t>
        <a:bodyPr/>
        <a:lstStyle/>
        <a:p>
          <a:r>
            <a:rPr lang="hu-HU" sz="2000">
              <a:solidFill>
                <a:schemeClr val="tx1"/>
              </a:solidFill>
            </a:rPr>
            <a:t>az internet a nyilvánosság demokratizálódását eredményezte</a:t>
          </a:r>
        </a:p>
        <a:p>
          <a:r>
            <a:rPr lang="hu-HU" sz="2000">
              <a:solidFill>
                <a:schemeClr val="tx1"/>
              </a:solidFill>
            </a:rPr>
            <a:t>lebomlott a korábbi információs kapuőrrendszer</a:t>
          </a:r>
          <a:endParaRPr lang="hu-HU" sz="2000" dirty="0">
            <a:solidFill>
              <a:schemeClr val="tx1"/>
            </a:solidFill>
          </a:endParaRPr>
        </a:p>
      </dgm:t>
    </dgm:pt>
    <dgm:pt modelId="{1354A3B3-183C-4FD3-BEA6-57BD60B7F10A}" type="parTrans" cxnId="{D8CFC11A-D7CB-4893-A7DD-4DCB5032E224}">
      <dgm:prSet/>
      <dgm:spPr/>
      <dgm:t>
        <a:bodyPr/>
        <a:lstStyle/>
        <a:p>
          <a:endParaRPr lang="hu-HU"/>
        </a:p>
      </dgm:t>
    </dgm:pt>
    <dgm:pt modelId="{D00C6206-1DD5-4AD9-98C6-E2871BECF39D}" type="sibTrans" cxnId="{D8CFC11A-D7CB-4893-A7DD-4DCB5032E224}">
      <dgm:prSet/>
      <dgm:spPr/>
      <dgm:t>
        <a:bodyPr/>
        <a:lstStyle/>
        <a:p>
          <a:endParaRPr lang="hu-HU"/>
        </a:p>
      </dgm:t>
    </dgm:pt>
    <dgm:pt modelId="{7F490616-686E-4B70-B9E0-4294053B58DF}">
      <dgm:prSet phldrT="[Szöveg]" custT="1"/>
      <dgm:spPr/>
      <dgm:t>
        <a:bodyPr/>
        <a:lstStyle/>
        <a:p>
          <a:r>
            <a:rPr lang="hu-HU" sz="2000">
              <a:solidFill>
                <a:schemeClr val="tx1"/>
              </a:solidFill>
            </a:rPr>
            <a:t>az internet használatát biztosító szolgáltatások új kapuőrként azonosíthatók</a:t>
          </a:r>
          <a:endParaRPr lang="hu-HU" sz="2000" dirty="0">
            <a:solidFill>
              <a:schemeClr val="tx1"/>
            </a:solidFill>
          </a:endParaRPr>
        </a:p>
      </dgm:t>
    </dgm:pt>
    <dgm:pt modelId="{7008A5E0-0346-4C64-BB48-4E76AAB6BC4E}" type="parTrans" cxnId="{9B85BE74-2BD1-4BA2-8D07-F9F3AC6EE9FB}">
      <dgm:prSet/>
      <dgm:spPr/>
      <dgm:t>
        <a:bodyPr/>
        <a:lstStyle/>
        <a:p>
          <a:endParaRPr lang="hu-HU"/>
        </a:p>
      </dgm:t>
    </dgm:pt>
    <dgm:pt modelId="{15309055-CB98-4B1F-96DE-8B704710B903}" type="sibTrans" cxnId="{9B85BE74-2BD1-4BA2-8D07-F9F3AC6EE9FB}">
      <dgm:prSet/>
      <dgm:spPr/>
      <dgm:t>
        <a:bodyPr/>
        <a:lstStyle/>
        <a:p>
          <a:endParaRPr lang="hu-HU"/>
        </a:p>
      </dgm:t>
    </dgm:pt>
    <dgm:pt modelId="{16DD52F6-DF9F-49B6-A94A-12D1D310C4CF}" type="pres">
      <dgm:prSet presAssocID="{F0742365-4FD1-42C5-9031-A18381491D20}" presName="diagram" presStyleCnt="0">
        <dgm:presLayoutVars>
          <dgm:dir/>
          <dgm:resizeHandles val="exact"/>
        </dgm:presLayoutVars>
      </dgm:prSet>
      <dgm:spPr/>
    </dgm:pt>
    <dgm:pt modelId="{A4D91B78-8105-4FEA-A3D1-5E52A8677055}" type="pres">
      <dgm:prSet presAssocID="{BA647004-92FD-4336-A190-F427986151CA}" presName="arrow" presStyleLbl="node1" presStyleIdx="0" presStyleCnt="2">
        <dgm:presLayoutVars>
          <dgm:bulletEnabled val="1"/>
        </dgm:presLayoutVars>
      </dgm:prSet>
      <dgm:spPr/>
    </dgm:pt>
    <dgm:pt modelId="{651011FF-01A1-4DB5-A00E-8DE7841E48FE}" type="pres">
      <dgm:prSet presAssocID="{7F490616-686E-4B70-B9E0-4294053B58DF}" presName="arrow" presStyleLbl="node1" presStyleIdx="1" presStyleCnt="2">
        <dgm:presLayoutVars>
          <dgm:bulletEnabled val="1"/>
        </dgm:presLayoutVars>
      </dgm:prSet>
      <dgm:spPr/>
    </dgm:pt>
  </dgm:ptLst>
  <dgm:cxnLst>
    <dgm:cxn modelId="{55563505-67F6-4211-A861-516FC496E193}" type="presOf" srcId="{BA647004-92FD-4336-A190-F427986151CA}" destId="{A4D91B78-8105-4FEA-A3D1-5E52A8677055}" srcOrd="0" destOrd="0" presId="urn:microsoft.com/office/officeart/2005/8/layout/arrow5"/>
    <dgm:cxn modelId="{D8CFC11A-D7CB-4893-A7DD-4DCB5032E224}" srcId="{F0742365-4FD1-42C5-9031-A18381491D20}" destId="{BA647004-92FD-4336-A190-F427986151CA}" srcOrd="0" destOrd="0" parTransId="{1354A3B3-183C-4FD3-BEA6-57BD60B7F10A}" sibTransId="{D00C6206-1DD5-4AD9-98C6-E2871BECF39D}"/>
    <dgm:cxn modelId="{9B85BE74-2BD1-4BA2-8D07-F9F3AC6EE9FB}" srcId="{F0742365-4FD1-42C5-9031-A18381491D20}" destId="{7F490616-686E-4B70-B9E0-4294053B58DF}" srcOrd="1" destOrd="0" parTransId="{7008A5E0-0346-4C64-BB48-4E76AAB6BC4E}" sibTransId="{15309055-CB98-4B1F-96DE-8B704710B903}"/>
    <dgm:cxn modelId="{0788497D-B376-4ACD-8276-F6610E97491E}" type="presOf" srcId="{7F490616-686E-4B70-B9E0-4294053B58DF}" destId="{651011FF-01A1-4DB5-A00E-8DE7841E48FE}" srcOrd="0" destOrd="0" presId="urn:microsoft.com/office/officeart/2005/8/layout/arrow5"/>
    <dgm:cxn modelId="{DBB2E8A3-0E02-4AFB-A134-78354EE87988}" type="presOf" srcId="{F0742365-4FD1-42C5-9031-A18381491D20}" destId="{16DD52F6-DF9F-49B6-A94A-12D1D310C4CF}" srcOrd="0" destOrd="0" presId="urn:microsoft.com/office/officeart/2005/8/layout/arrow5"/>
    <dgm:cxn modelId="{2F0CF918-87B0-48DC-928F-D92FC65A5811}" type="presParOf" srcId="{16DD52F6-DF9F-49B6-A94A-12D1D310C4CF}" destId="{A4D91B78-8105-4FEA-A3D1-5E52A8677055}" srcOrd="0" destOrd="0" presId="urn:microsoft.com/office/officeart/2005/8/layout/arrow5"/>
    <dgm:cxn modelId="{2C3BF4C8-1F86-4841-B5C5-281CD69D664A}" type="presParOf" srcId="{16DD52F6-DF9F-49B6-A94A-12D1D310C4CF}" destId="{651011FF-01A1-4DB5-A00E-8DE7841E48FE}" srcOrd="1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B557C27-9EBA-49CC-8684-E284F173D6F0}" type="doc">
      <dgm:prSet loTypeId="urn:microsoft.com/office/officeart/2005/8/layout/arrow5" loCatId="relationship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de-DE"/>
        </a:p>
      </dgm:t>
    </dgm:pt>
    <dgm:pt modelId="{CC383955-C7B7-44C1-BBAF-D793AF5A09D7}">
      <dgm:prSet phldrT="[Szöveg]"/>
      <dgm:spPr/>
      <dgm:t>
        <a:bodyPr/>
        <a:lstStyle/>
        <a:p>
          <a:r>
            <a:rPr lang="hu-HU" dirty="0">
              <a:solidFill>
                <a:schemeClr val="tx1"/>
              </a:solidFill>
            </a:rPr>
            <a:t>véleménynyilvánítás szabadsága</a:t>
          </a:r>
          <a:endParaRPr lang="de-DE" dirty="0">
            <a:solidFill>
              <a:schemeClr val="tx1"/>
            </a:solidFill>
          </a:endParaRPr>
        </a:p>
      </dgm:t>
    </dgm:pt>
    <dgm:pt modelId="{375A658C-4AAC-49B4-8B9F-A6273F6890CE}" type="parTrans" cxnId="{7FEFD61B-FEB1-49FA-A066-82E78023EE64}">
      <dgm:prSet/>
      <dgm:spPr/>
      <dgm:t>
        <a:bodyPr/>
        <a:lstStyle/>
        <a:p>
          <a:endParaRPr lang="de-DE">
            <a:solidFill>
              <a:schemeClr val="tx1"/>
            </a:solidFill>
          </a:endParaRPr>
        </a:p>
      </dgm:t>
    </dgm:pt>
    <dgm:pt modelId="{B6FCB657-2653-421B-B710-F9C00E78A63E}" type="sibTrans" cxnId="{7FEFD61B-FEB1-49FA-A066-82E78023EE64}">
      <dgm:prSet/>
      <dgm:spPr/>
      <dgm:t>
        <a:bodyPr/>
        <a:lstStyle/>
        <a:p>
          <a:endParaRPr lang="de-DE">
            <a:solidFill>
              <a:schemeClr val="tx1"/>
            </a:solidFill>
          </a:endParaRPr>
        </a:p>
      </dgm:t>
    </dgm:pt>
    <dgm:pt modelId="{9D5789B0-3615-402F-813B-21519D9F00A9}">
      <dgm:prSet phldrT="[Szöveg]"/>
      <dgm:spPr/>
      <dgm:t>
        <a:bodyPr/>
        <a:lstStyle/>
        <a:p>
          <a:r>
            <a:rPr lang="hu-HU">
              <a:solidFill>
                <a:schemeClr val="tx1"/>
              </a:solidFill>
            </a:rPr>
            <a:t>más alapjogok</a:t>
          </a:r>
          <a:endParaRPr lang="de-DE" dirty="0">
            <a:solidFill>
              <a:schemeClr val="tx1"/>
            </a:solidFill>
          </a:endParaRPr>
        </a:p>
      </dgm:t>
    </dgm:pt>
    <dgm:pt modelId="{BC4D96C9-A8A9-4204-83B9-D8D8D49ADBEF}" type="parTrans" cxnId="{A1348C74-5D25-4D75-B49A-0DECF2AEE4FB}">
      <dgm:prSet/>
      <dgm:spPr/>
      <dgm:t>
        <a:bodyPr/>
        <a:lstStyle/>
        <a:p>
          <a:endParaRPr lang="de-DE">
            <a:solidFill>
              <a:schemeClr val="tx1"/>
            </a:solidFill>
          </a:endParaRPr>
        </a:p>
      </dgm:t>
    </dgm:pt>
    <dgm:pt modelId="{DA3DD85A-AA30-42C3-9573-720F39A75612}" type="sibTrans" cxnId="{A1348C74-5D25-4D75-B49A-0DECF2AEE4FB}">
      <dgm:prSet/>
      <dgm:spPr/>
      <dgm:t>
        <a:bodyPr/>
        <a:lstStyle/>
        <a:p>
          <a:endParaRPr lang="de-DE">
            <a:solidFill>
              <a:schemeClr val="tx1"/>
            </a:solidFill>
          </a:endParaRPr>
        </a:p>
      </dgm:t>
    </dgm:pt>
    <dgm:pt modelId="{4C765170-5D3B-4DD6-A0B1-6F17743742B5}" type="pres">
      <dgm:prSet presAssocID="{AB557C27-9EBA-49CC-8684-E284F173D6F0}" presName="diagram" presStyleCnt="0">
        <dgm:presLayoutVars>
          <dgm:dir/>
          <dgm:resizeHandles val="exact"/>
        </dgm:presLayoutVars>
      </dgm:prSet>
      <dgm:spPr/>
    </dgm:pt>
    <dgm:pt modelId="{E4B6EB08-A810-47B5-B676-105D37420BE7}" type="pres">
      <dgm:prSet presAssocID="{CC383955-C7B7-44C1-BBAF-D793AF5A09D7}" presName="arrow" presStyleLbl="node1" presStyleIdx="0" presStyleCnt="2" custScaleX="63959" custScaleY="86684" custRadScaleRad="102904" custRadScaleInc="-9469">
        <dgm:presLayoutVars>
          <dgm:bulletEnabled val="1"/>
        </dgm:presLayoutVars>
      </dgm:prSet>
      <dgm:spPr/>
    </dgm:pt>
    <dgm:pt modelId="{98DA1343-69BC-4C8B-AA5A-A5BB0B8EBA40}" type="pres">
      <dgm:prSet presAssocID="{9D5789B0-3615-402F-813B-21519D9F00A9}" presName="arrow" presStyleLbl="node1" presStyleIdx="1" presStyleCnt="2" custScaleX="64513" custScaleY="100023" custRadScaleRad="95846" custRadScaleInc="8256">
        <dgm:presLayoutVars>
          <dgm:bulletEnabled val="1"/>
        </dgm:presLayoutVars>
      </dgm:prSet>
      <dgm:spPr/>
    </dgm:pt>
  </dgm:ptLst>
  <dgm:cxnLst>
    <dgm:cxn modelId="{4F2D001B-0AAE-4700-A10E-524D22B7DCD9}" type="presOf" srcId="{AB557C27-9EBA-49CC-8684-E284F173D6F0}" destId="{4C765170-5D3B-4DD6-A0B1-6F17743742B5}" srcOrd="0" destOrd="0" presId="urn:microsoft.com/office/officeart/2005/8/layout/arrow5"/>
    <dgm:cxn modelId="{7FEFD61B-FEB1-49FA-A066-82E78023EE64}" srcId="{AB557C27-9EBA-49CC-8684-E284F173D6F0}" destId="{CC383955-C7B7-44C1-BBAF-D793AF5A09D7}" srcOrd="0" destOrd="0" parTransId="{375A658C-4AAC-49B4-8B9F-A6273F6890CE}" sibTransId="{B6FCB657-2653-421B-B710-F9C00E78A63E}"/>
    <dgm:cxn modelId="{A1348C74-5D25-4D75-B49A-0DECF2AEE4FB}" srcId="{AB557C27-9EBA-49CC-8684-E284F173D6F0}" destId="{9D5789B0-3615-402F-813B-21519D9F00A9}" srcOrd="1" destOrd="0" parTransId="{BC4D96C9-A8A9-4204-83B9-D8D8D49ADBEF}" sibTransId="{DA3DD85A-AA30-42C3-9573-720F39A75612}"/>
    <dgm:cxn modelId="{652C0F7B-14BE-4B97-B1E9-CD64118FDDC8}" type="presOf" srcId="{CC383955-C7B7-44C1-BBAF-D793AF5A09D7}" destId="{E4B6EB08-A810-47B5-B676-105D37420BE7}" srcOrd="0" destOrd="0" presId="urn:microsoft.com/office/officeart/2005/8/layout/arrow5"/>
    <dgm:cxn modelId="{B3A206F6-1B6E-410C-A376-70647816A636}" type="presOf" srcId="{9D5789B0-3615-402F-813B-21519D9F00A9}" destId="{98DA1343-69BC-4C8B-AA5A-A5BB0B8EBA40}" srcOrd="0" destOrd="0" presId="urn:microsoft.com/office/officeart/2005/8/layout/arrow5"/>
    <dgm:cxn modelId="{5D7DDDE9-D7B8-4B0A-AE9A-E57CCE566F55}" type="presParOf" srcId="{4C765170-5D3B-4DD6-A0B1-6F17743742B5}" destId="{E4B6EB08-A810-47B5-B676-105D37420BE7}" srcOrd="0" destOrd="0" presId="urn:microsoft.com/office/officeart/2005/8/layout/arrow5"/>
    <dgm:cxn modelId="{EA1667E9-878E-4B60-B0B6-8B5DF3F09525}" type="presParOf" srcId="{4C765170-5D3B-4DD6-A0B1-6F17743742B5}" destId="{98DA1343-69BC-4C8B-AA5A-A5BB0B8EBA40}" srcOrd="1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7B8682A-430A-429F-BBB5-9CD3C63000C2}" type="doc">
      <dgm:prSet loTypeId="urn:microsoft.com/office/officeart/2005/8/layout/arrow3" loCatId="relationship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de-DE"/>
        </a:p>
      </dgm:t>
    </dgm:pt>
    <dgm:pt modelId="{887F2198-BB2D-40AE-BDAA-8997ABFD0F34}">
      <dgm:prSet phldrT="[Szöveg]" custT="1"/>
      <dgm:spPr/>
      <dgm:t>
        <a:bodyPr/>
        <a:lstStyle/>
        <a:p>
          <a:r>
            <a:rPr lang="hu-HU" sz="2200" dirty="0"/>
            <a:t> </a:t>
          </a:r>
          <a:r>
            <a:rPr lang="hu-HU" sz="2000" dirty="0"/>
            <a:t>más alapjogok, alkotmányos követelmények (emberi méltóság védelme, mások személyhez fűződő jogai, gyermekek jogai stb.) </a:t>
          </a:r>
          <a:endParaRPr lang="de-DE" sz="2000" dirty="0"/>
        </a:p>
      </dgm:t>
    </dgm:pt>
    <dgm:pt modelId="{B9E4330E-B265-4617-82C7-27E4DD77A1BE}" type="parTrans" cxnId="{7045C42F-517D-4B3A-A141-B96F7C8CE108}">
      <dgm:prSet/>
      <dgm:spPr/>
      <dgm:t>
        <a:bodyPr/>
        <a:lstStyle/>
        <a:p>
          <a:endParaRPr lang="de-DE"/>
        </a:p>
      </dgm:t>
    </dgm:pt>
    <dgm:pt modelId="{3EE1E540-1DB1-4C1B-A8D4-7189D010DEFE}" type="sibTrans" cxnId="{7045C42F-517D-4B3A-A141-B96F7C8CE108}">
      <dgm:prSet/>
      <dgm:spPr/>
      <dgm:t>
        <a:bodyPr/>
        <a:lstStyle/>
        <a:p>
          <a:endParaRPr lang="de-DE"/>
        </a:p>
      </dgm:t>
    </dgm:pt>
    <dgm:pt modelId="{E3E1889B-B7F2-40FD-9FD5-D9899556A09F}">
      <dgm:prSet phldrT="[Szöveg]" custT="1"/>
      <dgm:spPr/>
      <dgm:t>
        <a:bodyPr/>
        <a:lstStyle/>
        <a:p>
          <a:r>
            <a:rPr lang="hu-HU" sz="2000" dirty="0"/>
            <a:t>véleménynyilvánítás szabadsága,</a:t>
          </a:r>
        </a:p>
        <a:p>
          <a:r>
            <a:rPr lang="hu-HU" sz="2000" dirty="0"/>
            <a:t>sajtószabadság</a:t>
          </a:r>
          <a:endParaRPr lang="de-DE" sz="2000" dirty="0"/>
        </a:p>
      </dgm:t>
    </dgm:pt>
    <dgm:pt modelId="{F8572258-2593-48A8-9C33-1C86E27AF7B8}" type="parTrans" cxnId="{CE0FBD95-91E0-475E-BECA-AAE8295A5A6B}">
      <dgm:prSet/>
      <dgm:spPr/>
      <dgm:t>
        <a:bodyPr/>
        <a:lstStyle/>
        <a:p>
          <a:endParaRPr lang="de-DE"/>
        </a:p>
      </dgm:t>
    </dgm:pt>
    <dgm:pt modelId="{624ADFA2-2937-4E22-8B51-45EEE6AB0BA8}" type="sibTrans" cxnId="{CE0FBD95-91E0-475E-BECA-AAE8295A5A6B}">
      <dgm:prSet/>
      <dgm:spPr/>
      <dgm:t>
        <a:bodyPr/>
        <a:lstStyle/>
        <a:p>
          <a:endParaRPr lang="de-DE"/>
        </a:p>
      </dgm:t>
    </dgm:pt>
    <dgm:pt modelId="{394BC653-D8E2-4C52-991E-D2E3487F3784}" type="pres">
      <dgm:prSet presAssocID="{B7B8682A-430A-429F-BBB5-9CD3C63000C2}" presName="compositeShape" presStyleCnt="0">
        <dgm:presLayoutVars>
          <dgm:chMax val="2"/>
          <dgm:dir/>
          <dgm:resizeHandles val="exact"/>
        </dgm:presLayoutVars>
      </dgm:prSet>
      <dgm:spPr/>
    </dgm:pt>
    <dgm:pt modelId="{AC90F313-6B4B-452D-A24E-DCE58B68F306}" type="pres">
      <dgm:prSet presAssocID="{B7B8682A-430A-429F-BBB5-9CD3C63000C2}" presName="divider" presStyleLbl="fgShp" presStyleIdx="0" presStyleCnt="1"/>
      <dgm:spPr/>
    </dgm:pt>
    <dgm:pt modelId="{01E4F786-B444-46D1-941F-7385049104A7}" type="pres">
      <dgm:prSet presAssocID="{887F2198-BB2D-40AE-BDAA-8997ABFD0F34}" presName="downArrow" presStyleLbl="node1" presStyleIdx="0" presStyleCnt="2"/>
      <dgm:spPr/>
    </dgm:pt>
    <dgm:pt modelId="{940FD4EE-D8AB-4305-A0F7-87A0F423BDFD}" type="pres">
      <dgm:prSet presAssocID="{887F2198-BB2D-40AE-BDAA-8997ABFD0F34}" presName="downArrowText" presStyleLbl="revTx" presStyleIdx="0" presStyleCnt="2" custScaleX="150433">
        <dgm:presLayoutVars>
          <dgm:bulletEnabled val="1"/>
        </dgm:presLayoutVars>
      </dgm:prSet>
      <dgm:spPr/>
    </dgm:pt>
    <dgm:pt modelId="{D4C0F69D-BA31-4DD0-BCDE-4EBC1B350B3E}" type="pres">
      <dgm:prSet presAssocID="{E3E1889B-B7F2-40FD-9FD5-D9899556A09F}" presName="upArrow" presStyleLbl="node1" presStyleIdx="1" presStyleCnt="2"/>
      <dgm:spPr/>
    </dgm:pt>
    <dgm:pt modelId="{C435F017-2077-43E6-83A5-4085B8D8DE32}" type="pres">
      <dgm:prSet presAssocID="{E3E1889B-B7F2-40FD-9FD5-D9899556A09F}" presName="upArrowText" presStyleLbl="revTx" presStyleIdx="1" presStyleCnt="2" custScaleX="126902">
        <dgm:presLayoutVars>
          <dgm:bulletEnabled val="1"/>
        </dgm:presLayoutVars>
      </dgm:prSet>
      <dgm:spPr/>
    </dgm:pt>
  </dgm:ptLst>
  <dgm:cxnLst>
    <dgm:cxn modelId="{7045C42F-517D-4B3A-A141-B96F7C8CE108}" srcId="{B7B8682A-430A-429F-BBB5-9CD3C63000C2}" destId="{887F2198-BB2D-40AE-BDAA-8997ABFD0F34}" srcOrd="0" destOrd="0" parTransId="{B9E4330E-B265-4617-82C7-27E4DD77A1BE}" sibTransId="{3EE1E540-1DB1-4C1B-A8D4-7189D010DEFE}"/>
    <dgm:cxn modelId="{CE0FBD95-91E0-475E-BECA-AAE8295A5A6B}" srcId="{B7B8682A-430A-429F-BBB5-9CD3C63000C2}" destId="{E3E1889B-B7F2-40FD-9FD5-D9899556A09F}" srcOrd="1" destOrd="0" parTransId="{F8572258-2593-48A8-9C33-1C86E27AF7B8}" sibTransId="{624ADFA2-2937-4E22-8B51-45EEE6AB0BA8}"/>
    <dgm:cxn modelId="{B238B999-DE06-4AC2-90E5-844BEC783FF9}" type="presOf" srcId="{B7B8682A-430A-429F-BBB5-9CD3C63000C2}" destId="{394BC653-D8E2-4C52-991E-D2E3487F3784}" srcOrd="0" destOrd="0" presId="urn:microsoft.com/office/officeart/2005/8/layout/arrow3"/>
    <dgm:cxn modelId="{6447ADB9-8BB4-44C8-9762-007AE432354F}" type="presOf" srcId="{E3E1889B-B7F2-40FD-9FD5-D9899556A09F}" destId="{C435F017-2077-43E6-83A5-4085B8D8DE32}" srcOrd="0" destOrd="0" presId="urn:microsoft.com/office/officeart/2005/8/layout/arrow3"/>
    <dgm:cxn modelId="{468FF1D2-5635-49E8-9D0F-33E744DEFEF2}" type="presOf" srcId="{887F2198-BB2D-40AE-BDAA-8997ABFD0F34}" destId="{940FD4EE-D8AB-4305-A0F7-87A0F423BDFD}" srcOrd="0" destOrd="0" presId="urn:microsoft.com/office/officeart/2005/8/layout/arrow3"/>
    <dgm:cxn modelId="{82BDA5B7-28C6-4B7D-A054-C8121EF379BD}" type="presParOf" srcId="{394BC653-D8E2-4C52-991E-D2E3487F3784}" destId="{AC90F313-6B4B-452D-A24E-DCE58B68F306}" srcOrd="0" destOrd="0" presId="urn:microsoft.com/office/officeart/2005/8/layout/arrow3"/>
    <dgm:cxn modelId="{14FD466D-EC91-4ECC-BBFD-960E800931D3}" type="presParOf" srcId="{394BC653-D8E2-4C52-991E-D2E3487F3784}" destId="{01E4F786-B444-46D1-941F-7385049104A7}" srcOrd="1" destOrd="0" presId="urn:microsoft.com/office/officeart/2005/8/layout/arrow3"/>
    <dgm:cxn modelId="{3FFE704A-8E9D-4E93-8B60-A2487F24495A}" type="presParOf" srcId="{394BC653-D8E2-4C52-991E-D2E3487F3784}" destId="{940FD4EE-D8AB-4305-A0F7-87A0F423BDFD}" srcOrd="2" destOrd="0" presId="urn:microsoft.com/office/officeart/2005/8/layout/arrow3"/>
    <dgm:cxn modelId="{DE25E79E-5DB7-4864-BFB7-AB6B9C80A56D}" type="presParOf" srcId="{394BC653-D8E2-4C52-991E-D2E3487F3784}" destId="{D4C0F69D-BA31-4DD0-BCDE-4EBC1B350B3E}" srcOrd="3" destOrd="0" presId="urn:microsoft.com/office/officeart/2005/8/layout/arrow3"/>
    <dgm:cxn modelId="{EFB9B5A6-AC55-4D81-9027-CE372F5AB5A1}" type="presParOf" srcId="{394BC653-D8E2-4C52-991E-D2E3487F3784}" destId="{C435F017-2077-43E6-83A5-4085B8D8DE32}" srcOrd="4" destOrd="0" presId="urn:microsoft.com/office/officeart/2005/8/layout/arrow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EF4BF14-DF14-40A9-A75C-E52C5089B104}" type="doc">
      <dgm:prSet loTypeId="urn:microsoft.com/office/officeart/2005/8/layout/hList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hu-HU"/>
        </a:p>
      </dgm:t>
    </dgm:pt>
    <dgm:pt modelId="{5D631C3D-8725-4EE3-BB23-CFD97C0B82F1}">
      <dgm:prSet phldrT="[Szöveg]"/>
      <dgm:spPr/>
      <dgm:t>
        <a:bodyPr/>
        <a:lstStyle/>
        <a:p>
          <a:r>
            <a:rPr lang="hu-HU" dirty="0"/>
            <a:t>Államok</a:t>
          </a:r>
        </a:p>
      </dgm:t>
    </dgm:pt>
    <dgm:pt modelId="{2A78C797-1E55-4A66-81E4-424518EF2267}" type="parTrans" cxnId="{37656B1D-8130-4573-82C2-AA9A89C4E09A}">
      <dgm:prSet/>
      <dgm:spPr/>
      <dgm:t>
        <a:bodyPr/>
        <a:lstStyle/>
        <a:p>
          <a:endParaRPr lang="hu-HU"/>
        </a:p>
      </dgm:t>
    </dgm:pt>
    <dgm:pt modelId="{96D0F543-F11B-4D7E-BC40-2BE1936DE629}" type="sibTrans" cxnId="{37656B1D-8130-4573-82C2-AA9A89C4E09A}">
      <dgm:prSet/>
      <dgm:spPr/>
      <dgm:t>
        <a:bodyPr/>
        <a:lstStyle/>
        <a:p>
          <a:endParaRPr lang="hu-HU"/>
        </a:p>
      </dgm:t>
    </dgm:pt>
    <dgm:pt modelId="{82008CE6-9AB1-4CD0-8524-42A22503113F}">
      <dgm:prSet phldrT="[Szöveg]"/>
      <dgm:spPr/>
      <dgm:t>
        <a:bodyPr/>
        <a:lstStyle/>
        <a:p>
          <a:r>
            <a:rPr lang="hu-HU" b="1" dirty="0">
              <a:latin typeface="+mn-lt"/>
              <a:ea typeface="Times New Roman" panose="02020603050405020304" pitchFamily="18" charset="0"/>
            </a:rPr>
            <a:t>iránymutatást </a:t>
          </a:r>
          <a:r>
            <a:rPr lang="hu-HU" dirty="0">
              <a:latin typeface="+mn-lt"/>
              <a:ea typeface="Times New Roman" panose="02020603050405020304" pitchFamily="18" charset="0"/>
            </a:rPr>
            <a:t>ad arra vonatkozóan, hogy a digitális korban hogyan teljesíthetik az emberi jogok védelméhez kapcsolódó feladataikat</a:t>
          </a:r>
          <a:endParaRPr lang="hu-HU" dirty="0">
            <a:latin typeface="+mn-lt"/>
          </a:endParaRPr>
        </a:p>
      </dgm:t>
    </dgm:pt>
    <dgm:pt modelId="{FC4BBE50-0E22-4EC5-9AB8-B29096516094}" type="parTrans" cxnId="{0CA014D2-D940-4606-ACA3-6E74A2F12F7F}">
      <dgm:prSet/>
      <dgm:spPr/>
      <dgm:t>
        <a:bodyPr/>
        <a:lstStyle/>
        <a:p>
          <a:endParaRPr lang="hu-HU"/>
        </a:p>
      </dgm:t>
    </dgm:pt>
    <dgm:pt modelId="{A1F2F074-CE90-4BE5-8E9C-2F215C085C64}" type="sibTrans" cxnId="{0CA014D2-D940-4606-ACA3-6E74A2F12F7F}">
      <dgm:prSet/>
      <dgm:spPr/>
      <dgm:t>
        <a:bodyPr/>
        <a:lstStyle/>
        <a:p>
          <a:endParaRPr lang="hu-HU"/>
        </a:p>
      </dgm:t>
    </dgm:pt>
    <dgm:pt modelId="{928FF37A-A0EB-43C5-A698-0E1A6908ACDE}">
      <dgm:prSet phldrT="[Szöveg]"/>
      <dgm:spPr/>
      <dgm:t>
        <a:bodyPr/>
        <a:lstStyle/>
        <a:p>
          <a:r>
            <a:rPr lang="hu-HU" dirty="0"/>
            <a:t>Vállalatok</a:t>
          </a:r>
        </a:p>
      </dgm:t>
    </dgm:pt>
    <dgm:pt modelId="{1CC4E3BA-2FC1-4BF5-8F19-9F4B48BE5BA4}" type="parTrans" cxnId="{A60CDC19-DC19-46F7-9742-3AF5736CF1B6}">
      <dgm:prSet/>
      <dgm:spPr/>
      <dgm:t>
        <a:bodyPr/>
        <a:lstStyle/>
        <a:p>
          <a:endParaRPr lang="hu-HU"/>
        </a:p>
      </dgm:t>
    </dgm:pt>
    <dgm:pt modelId="{9FB53E36-A8FA-42BD-8B36-9B2DD5FB9B0E}" type="sibTrans" cxnId="{A60CDC19-DC19-46F7-9742-3AF5736CF1B6}">
      <dgm:prSet/>
      <dgm:spPr/>
      <dgm:t>
        <a:bodyPr/>
        <a:lstStyle/>
        <a:p>
          <a:endParaRPr lang="hu-HU"/>
        </a:p>
      </dgm:t>
    </dgm:pt>
    <dgm:pt modelId="{C8ABF28E-3AFE-4556-B7EC-8358899E1651}">
      <dgm:prSet phldrT="[Szöveg]"/>
      <dgm:spPr/>
      <dgm:t>
        <a:bodyPr/>
        <a:lstStyle/>
        <a:p>
          <a:r>
            <a:rPr lang="hu-HU" b="1" dirty="0"/>
            <a:t>vállalati felelősségvállalás </a:t>
          </a:r>
          <a:r>
            <a:rPr lang="hu-HU" dirty="0"/>
            <a:t>(</a:t>
          </a:r>
          <a:r>
            <a:rPr lang="hu-HU" dirty="0" err="1"/>
            <a:t>corporate</a:t>
          </a:r>
          <a:r>
            <a:rPr lang="hu-HU" dirty="0"/>
            <a:t> </a:t>
          </a:r>
          <a:r>
            <a:rPr lang="hu-HU" dirty="0" err="1"/>
            <a:t>social</a:t>
          </a:r>
          <a:r>
            <a:rPr lang="hu-HU" dirty="0"/>
            <a:t> </a:t>
          </a:r>
          <a:r>
            <a:rPr lang="hu-HU" dirty="0" err="1"/>
            <a:t>responsibility</a:t>
          </a:r>
          <a:r>
            <a:rPr lang="hu-HU" dirty="0"/>
            <a:t>) keretébe helyezi az alapvető emberi jogok tiszteletét. A vállalkozások tevékenységükkel nem sérthetik mások jogait, és kezelniük kell a tevékenységükkel összefüggésben felmerülő, az emberi jogok érvényesülésére káros hatásokat</a:t>
          </a:r>
        </a:p>
      </dgm:t>
    </dgm:pt>
    <dgm:pt modelId="{84F5B94D-B2C8-4D0B-B7B0-6D1D125AA346}" type="parTrans" cxnId="{FD25FB9C-AE49-458C-BBBA-5F5FAA9D9021}">
      <dgm:prSet/>
      <dgm:spPr/>
      <dgm:t>
        <a:bodyPr/>
        <a:lstStyle/>
        <a:p>
          <a:endParaRPr lang="hu-HU"/>
        </a:p>
      </dgm:t>
    </dgm:pt>
    <dgm:pt modelId="{23BD8945-8DD3-4788-AF43-763882CF4159}" type="sibTrans" cxnId="{FD25FB9C-AE49-458C-BBBA-5F5FAA9D9021}">
      <dgm:prSet/>
      <dgm:spPr/>
      <dgm:t>
        <a:bodyPr/>
        <a:lstStyle/>
        <a:p>
          <a:endParaRPr lang="hu-HU"/>
        </a:p>
      </dgm:t>
    </dgm:pt>
    <dgm:pt modelId="{C2BBBB21-EF36-4F58-81C6-621EFC0FE257}">
      <dgm:prSet phldrT="[Szöveg]"/>
      <dgm:spPr/>
      <dgm:t>
        <a:bodyPr/>
        <a:lstStyle/>
        <a:p>
          <a:r>
            <a:rPr lang="hu-HU" dirty="0"/>
            <a:t>az emberi jogok tiszteletben tartásával összefüggésben saját felelősségüket </a:t>
          </a:r>
          <a:r>
            <a:rPr lang="hu-HU" b="1" dirty="0"/>
            <a:t>policy kötelezettségvállalásban </a:t>
          </a:r>
          <a:r>
            <a:rPr lang="hu-HU" dirty="0"/>
            <a:t>rögzítsék</a:t>
          </a:r>
        </a:p>
      </dgm:t>
    </dgm:pt>
    <dgm:pt modelId="{350D634E-6A8A-426F-9D58-FC67C88DFEDA}" type="parTrans" cxnId="{0C3E776C-B413-49E4-925B-D1F6D0A43B2F}">
      <dgm:prSet/>
      <dgm:spPr/>
      <dgm:t>
        <a:bodyPr/>
        <a:lstStyle/>
        <a:p>
          <a:endParaRPr lang="hu-HU"/>
        </a:p>
      </dgm:t>
    </dgm:pt>
    <dgm:pt modelId="{8D3274F7-1EFB-44C4-8DA6-C492BA7D0E36}" type="sibTrans" cxnId="{0C3E776C-B413-49E4-925B-D1F6D0A43B2F}">
      <dgm:prSet/>
      <dgm:spPr/>
      <dgm:t>
        <a:bodyPr/>
        <a:lstStyle/>
        <a:p>
          <a:endParaRPr lang="hu-HU"/>
        </a:p>
      </dgm:t>
    </dgm:pt>
    <dgm:pt modelId="{AC5F54D5-C760-4218-9D83-D93F2F2DCA44}">
      <dgm:prSet phldrT="[Szöveg]"/>
      <dgm:spPr/>
      <dgm:t>
        <a:bodyPr/>
        <a:lstStyle/>
        <a:p>
          <a:r>
            <a:rPr lang="hu-HU" b="1" dirty="0">
              <a:latin typeface="+mn-lt"/>
              <a:ea typeface="Times New Roman" panose="02020603050405020304" pitchFamily="18" charset="0"/>
            </a:rPr>
            <a:t>világos elvárások </a:t>
          </a:r>
          <a:r>
            <a:rPr lang="hu-HU" dirty="0">
              <a:latin typeface="+mn-lt"/>
              <a:ea typeface="Times New Roman" panose="02020603050405020304" pitchFamily="18" charset="0"/>
            </a:rPr>
            <a:t>megfogalmazása a területükön működő vállalatok számára az alapjogok tiszteletben tartásának érdekében</a:t>
          </a:r>
          <a:endParaRPr lang="hu-HU" dirty="0">
            <a:latin typeface="+mn-lt"/>
          </a:endParaRPr>
        </a:p>
      </dgm:t>
    </dgm:pt>
    <dgm:pt modelId="{D391809F-C051-49F6-B4F7-3B6D2D2E8739}" type="parTrans" cxnId="{E3EEB010-813B-443B-8D2A-A24D6C1668D8}">
      <dgm:prSet/>
      <dgm:spPr/>
      <dgm:t>
        <a:bodyPr/>
        <a:lstStyle/>
        <a:p>
          <a:endParaRPr lang="hu-HU"/>
        </a:p>
      </dgm:t>
    </dgm:pt>
    <dgm:pt modelId="{F226ED23-C5D6-49AB-A37A-48E0D0DEABCE}" type="sibTrans" cxnId="{E3EEB010-813B-443B-8D2A-A24D6C1668D8}">
      <dgm:prSet/>
      <dgm:spPr/>
      <dgm:t>
        <a:bodyPr/>
        <a:lstStyle/>
        <a:p>
          <a:endParaRPr lang="hu-HU"/>
        </a:p>
      </dgm:t>
    </dgm:pt>
    <dgm:pt modelId="{5B8B178B-ABDE-426B-85DF-B7C32E30D8F0}">
      <dgm:prSet phldrT="[Szöveg]"/>
      <dgm:spPr/>
      <dgm:t>
        <a:bodyPr/>
        <a:lstStyle/>
        <a:p>
          <a:r>
            <a:rPr lang="hu-HU" dirty="0"/>
            <a:t>a kialakított működési elvek, intézkedések, eljárások, valamint az azokkal elért eredmények </a:t>
          </a:r>
          <a:r>
            <a:rPr lang="hu-HU" b="1" dirty="0"/>
            <a:t>átláthatóságát</a:t>
          </a:r>
        </a:p>
      </dgm:t>
    </dgm:pt>
    <dgm:pt modelId="{6F6C6313-4477-4D90-9E91-BE478B31EE58}" type="parTrans" cxnId="{56843503-C9C9-4840-94CC-6FC62D400901}">
      <dgm:prSet/>
      <dgm:spPr/>
      <dgm:t>
        <a:bodyPr/>
        <a:lstStyle/>
        <a:p>
          <a:endParaRPr lang="hu-HU"/>
        </a:p>
      </dgm:t>
    </dgm:pt>
    <dgm:pt modelId="{9AC97947-403A-4E67-B1AF-A8252E212D2B}" type="sibTrans" cxnId="{56843503-C9C9-4840-94CC-6FC62D400901}">
      <dgm:prSet/>
      <dgm:spPr/>
      <dgm:t>
        <a:bodyPr/>
        <a:lstStyle/>
        <a:p>
          <a:endParaRPr lang="hu-HU"/>
        </a:p>
      </dgm:t>
    </dgm:pt>
    <dgm:pt modelId="{BCBDC123-5C3F-4248-A3E6-986D22CBC325}">
      <dgm:prSet phldrT="[Szöveg]"/>
      <dgm:spPr/>
      <dgm:t>
        <a:bodyPr/>
        <a:lstStyle/>
        <a:p>
          <a:r>
            <a:rPr lang="hu-HU" b="1" dirty="0">
              <a:latin typeface="+mn-lt"/>
              <a:ea typeface="Times New Roman" panose="02020603050405020304" pitchFamily="18" charset="0"/>
            </a:rPr>
            <a:t>jogi eszközök </a:t>
          </a:r>
          <a:r>
            <a:rPr lang="hu-HU" dirty="0">
              <a:latin typeface="+mn-lt"/>
              <a:ea typeface="Times New Roman" panose="02020603050405020304" pitchFamily="18" charset="0"/>
            </a:rPr>
            <a:t>biztosítása a joghatóságuk alatt működő vállalatok által elkövetett jogsértésekkel szemben</a:t>
          </a:r>
          <a:endParaRPr lang="hu-HU" dirty="0">
            <a:latin typeface="+mn-lt"/>
          </a:endParaRPr>
        </a:p>
      </dgm:t>
    </dgm:pt>
    <dgm:pt modelId="{75C1BDCD-D1B4-4AD2-8F1B-B8A76AC3639E}" type="parTrans" cxnId="{5F81E91C-324E-495C-A53A-5B2944C65B2C}">
      <dgm:prSet/>
      <dgm:spPr/>
      <dgm:t>
        <a:bodyPr/>
        <a:lstStyle/>
        <a:p>
          <a:endParaRPr lang="hu-HU"/>
        </a:p>
      </dgm:t>
    </dgm:pt>
    <dgm:pt modelId="{29B39FB4-2403-4F50-BAC7-EC293FAB4288}" type="sibTrans" cxnId="{5F81E91C-324E-495C-A53A-5B2944C65B2C}">
      <dgm:prSet/>
      <dgm:spPr/>
      <dgm:t>
        <a:bodyPr/>
        <a:lstStyle/>
        <a:p>
          <a:endParaRPr lang="hu-HU"/>
        </a:p>
      </dgm:t>
    </dgm:pt>
    <dgm:pt modelId="{46AE07A1-B893-4D65-90EA-AC8AFB8C8213}" type="pres">
      <dgm:prSet presAssocID="{7EF4BF14-DF14-40A9-A75C-E52C5089B104}" presName="Name0" presStyleCnt="0">
        <dgm:presLayoutVars>
          <dgm:dir/>
          <dgm:animLvl val="lvl"/>
          <dgm:resizeHandles val="exact"/>
        </dgm:presLayoutVars>
      </dgm:prSet>
      <dgm:spPr/>
    </dgm:pt>
    <dgm:pt modelId="{85CC4208-5A06-4196-846D-91ADA479EA48}" type="pres">
      <dgm:prSet presAssocID="{5D631C3D-8725-4EE3-BB23-CFD97C0B82F1}" presName="composite" presStyleCnt="0"/>
      <dgm:spPr/>
    </dgm:pt>
    <dgm:pt modelId="{35BCBDF0-AE76-401F-9B6F-E548FBD2AAAF}" type="pres">
      <dgm:prSet presAssocID="{5D631C3D-8725-4EE3-BB23-CFD97C0B82F1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BB1D817E-D038-469D-93C2-941841B94F13}" type="pres">
      <dgm:prSet presAssocID="{5D631C3D-8725-4EE3-BB23-CFD97C0B82F1}" presName="desTx" presStyleLbl="alignAccFollowNode1" presStyleIdx="0" presStyleCnt="2">
        <dgm:presLayoutVars>
          <dgm:bulletEnabled val="1"/>
        </dgm:presLayoutVars>
      </dgm:prSet>
      <dgm:spPr/>
    </dgm:pt>
    <dgm:pt modelId="{E8393F63-94AF-4908-A3C3-E6A98407276F}" type="pres">
      <dgm:prSet presAssocID="{96D0F543-F11B-4D7E-BC40-2BE1936DE629}" presName="space" presStyleCnt="0"/>
      <dgm:spPr/>
    </dgm:pt>
    <dgm:pt modelId="{F971343A-E29D-4ABC-9415-20C7BC2597EE}" type="pres">
      <dgm:prSet presAssocID="{928FF37A-A0EB-43C5-A698-0E1A6908ACDE}" presName="composite" presStyleCnt="0"/>
      <dgm:spPr/>
    </dgm:pt>
    <dgm:pt modelId="{C0ABDE7A-4DB5-4485-B39F-A5B7FB8F658E}" type="pres">
      <dgm:prSet presAssocID="{928FF37A-A0EB-43C5-A698-0E1A6908ACDE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86B15A2B-87A4-4243-9B7C-E65A235FBF43}" type="pres">
      <dgm:prSet presAssocID="{928FF37A-A0EB-43C5-A698-0E1A6908ACDE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349E1500-EEB5-4793-8F44-77FB48AB160B}" type="presOf" srcId="{82008CE6-9AB1-4CD0-8524-42A22503113F}" destId="{BB1D817E-D038-469D-93C2-941841B94F13}" srcOrd="0" destOrd="0" presId="urn:microsoft.com/office/officeart/2005/8/layout/hList1"/>
    <dgm:cxn modelId="{56843503-C9C9-4840-94CC-6FC62D400901}" srcId="{928FF37A-A0EB-43C5-A698-0E1A6908ACDE}" destId="{5B8B178B-ABDE-426B-85DF-B7C32E30D8F0}" srcOrd="2" destOrd="0" parTransId="{6F6C6313-4477-4D90-9E91-BE478B31EE58}" sibTransId="{9AC97947-403A-4E67-B1AF-A8252E212D2B}"/>
    <dgm:cxn modelId="{E3EEB010-813B-443B-8D2A-A24D6C1668D8}" srcId="{5D631C3D-8725-4EE3-BB23-CFD97C0B82F1}" destId="{AC5F54D5-C760-4218-9D83-D93F2F2DCA44}" srcOrd="2" destOrd="0" parTransId="{D391809F-C051-49F6-B4F7-3B6D2D2E8739}" sibTransId="{F226ED23-C5D6-49AB-A37A-48E0D0DEABCE}"/>
    <dgm:cxn modelId="{4F58CB13-D174-48EA-B515-7CCD73360179}" type="presOf" srcId="{928FF37A-A0EB-43C5-A698-0E1A6908ACDE}" destId="{C0ABDE7A-4DB5-4485-B39F-A5B7FB8F658E}" srcOrd="0" destOrd="0" presId="urn:microsoft.com/office/officeart/2005/8/layout/hList1"/>
    <dgm:cxn modelId="{A60CDC19-DC19-46F7-9742-3AF5736CF1B6}" srcId="{7EF4BF14-DF14-40A9-A75C-E52C5089B104}" destId="{928FF37A-A0EB-43C5-A698-0E1A6908ACDE}" srcOrd="1" destOrd="0" parTransId="{1CC4E3BA-2FC1-4BF5-8F19-9F4B48BE5BA4}" sibTransId="{9FB53E36-A8FA-42BD-8B36-9B2DD5FB9B0E}"/>
    <dgm:cxn modelId="{5F81E91C-324E-495C-A53A-5B2944C65B2C}" srcId="{5D631C3D-8725-4EE3-BB23-CFD97C0B82F1}" destId="{BCBDC123-5C3F-4248-A3E6-986D22CBC325}" srcOrd="1" destOrd="0" parTransId="{75C1BDCD-D1B4-4AD2-8F1B-B8A76AC3639E}" sibTransId="{29B39FB4-2403-4F50-BAC7-EC293FAB4288}"/>
    <dgm:cxn modelId="{37656B1D-8130-4573-82C2-AA9A89C4E09A}" srcId="{7EF4BF14-DF14-40A9-A75C-E52C5089B104}" destId="{5D631C3D-8725-4EE3-BB23-CFD97C0B82F1}" srcOrd="0" destOrd="0" parTransId="{2A78C797-1E55-4A66-81E4-424518EF2267}" sibTransId="{96D0F543-F11B-4D7E-BC40-2BE1936DE629}"/>
    <dgm:cxn modelId="{28B77F27-40B0-473E-84AD-DA500D336BCD}" type="presOf" srcId="{BCBDC123-5C3F-4248-A3E6-986D22CBC325}" destId="{BB1D817E-D038-469D-93C2-941841B94F13}" srcOrd="0" destOrd="1" presId="urn:microsoft.com/office/officeart/2005/8/layout/hList1"/>
    <dgm:cxn modelId="{65291C2A-D222-4E49-B8DC-312F44B75E73}" type="presOf" srcId="{5D631C3D-8725-4EE3-BB23-CFD97C0B82F1}" destId="{35BCBDF0-AE76-401F-9B6F-E548FBD2AAAF}" srcOrd="0" destOrd="0" presId="urn:microsoft.com/office/officeart/2005/8/layout/hList1"/>
    <dgm:cxn modelId="{0C3E776C-B413-49E4-925B-D1F6D0A43B2F}" srcId="{928FF37A-A0EB-43C5-A698-0E1A6908ACDE}" destId="{C2BBBB21-EF36-4F58-81C6-621EFC0FE257}" srcOrd="1" destOrd="0" parTransId="{350D634E-6A8A-426F-9D58-FC67C88DFEDA}" sibTransId="{8D3274F7-1EFB-44C4-8DA6-C492BA7D0E36}"/>
    <dgm:cxn modelId="{F28BDE75-C32B-4234-948C-28E5BC4409FC}" type="presOf" srcId="{C2BBBB21-EF36-4F58-81C6-621EFC0FE257}" destId="{86B15A2B-87A4-4243-9B7C-E65A235FBF43}" srcOrd="0" destOrd="1" presId="urn:microsoft.com/office/officeart/2005/8/layout/hList1"/>
    <dgm:cxn modelId="{FD25FB9C-AE49-458C-BBBA-5F5FAA9D9021}" srcId="{928FF37A-A0EB-43C5-A698-0E1A6908ACDE}" destId="{C8ABF28E-3AFE-4556-B7EC-8358899E1651}" srcOrd="0" destOrd="0" parTransId="{84F5B94D-B2C8-4D0B-B7B0-6D1D125AA346}" sibTransId="{23BD8945-8DD3-4788-AF43-763882CF4159}"/>
    <dgm:cxn modelId="{50605BA2-997D-483E-943A-41618B1A1968}" type="presOf" srcId="{C8ABF28E-3AFE-4556-B7EC-8358899E1651}" destId="{86B15A2B-87A4-4243-9B7C-E65A235FBF43}" srcOrd="0" destOrd="0" presId="urn:microsoft.com/office/officeart/2005/8/layout/hList1"/>
    <dgm:cxn modelId="{0CA014D2-D940-4606-ACA3-6E74A2F12F7F}" srcId="{5D631C3D-8725-4EE3-BB23-CFD97C0B82F1}" destId="{82008CE6-9AB1-4CD0-8524-42A22503113F}" srcOrd="0" destOrd="0" parTransId="{FC4BBE50-0E22-4EC5-9AB8-B29096516094}" sibTransId="{A1F2F074-CE90-4BE5-8E9C-2F215C085C64}"/>
    <dgm:cxn modelId="{E3B74ADB-E9B9-4094-A6E3-A0B60B445C9C}" type="presOf" srcId="{5B8B178B-ABDE-426B-85DF-B7C32E30D8F0}" destId="{86B15A2B-87A4-4243-9B7C-E65A235FBF43}" srcOrd="0" destOrd="2" presId="urn:microsoft.com/office/officeart/2005/8/layout/hList1"/>
    <dgm:cxn modelId="{42DAAFDC-9F30-4D57-8796-CC3228BF49CD}" type="presOf" srcId="{AC5F54D5-C760-4218-9D83-D93F2F2DCA44}" destId="{BB1D817E-D038-469D-93C2-941841B94F13}" srcOrd="0" destOrd="2" presId="urn:microsoft.com/office/officeart/2005/8/layout/hList1"/>
    <dgm:cxn modelId="{137BDDF1-D32F-450A-808C-517DAE116D3D}" type="presOf" srcId="{7EF4BF14-DF14-40A9-A75C-E52C5089B104}" destId="{46AE07A1-B893-4D65-90EA-AC8AFB8C8213}" srcOrd="0" destOrd="0" presId="urn:microsoft.com/office/officeart/2005/8/layout/hList1"/>
    <dgm:cxn modelId="{0E971E40-68AF-4C92-A4AA-DCECDBC5DE04}" type="presParOf" srcId="{46AE07A1-B893-4D65-90EA-AC8AFB8C8213}" destId="{85CC4208-5A06-4196-846D-91ADA479EA48}" srcOrd="0" destOrd="0" presId="urn:microsoft.com/office/officeart/2005/8/layout/hList1"/>
    <dgm:cxn modelId="{D90787CC-B6DF-4065-A89B-690D1FAB9757}" type="presParOf" srcId="{85CC4208-5A06-4196-846D-91ADA479EA48}" destId="{35BCBDF0-AE76-401F-9B6F-E548FBD2AAAF}" srcOrd="0" destOrd="0" presId="urn:microsoft.com/office/officeart/2005/8/layout/hList1"/>
    <dgm:cxn modelId="{D58BD840-8738-49CC-BB34-2F6CFB30E9F1}" type="presParOf" srcId="{85CC4208-5A06-4196-846D-91ADA479EA48}" destId="{BB1D817E-D038-469D-93C2-941841B94F13}" srcOrd="1" destOrd="0" presId="urn:microsoft.com/office/officeart/2005/8/layout/hList1"/>
    <dgm:cxn modelId="{3716C29A-4876-45E7-A6E4-892F7D02841F}" type="presParOf" srcId="{46AE07A1-B893-4D65-90EA-AC8AFB8C8213}" destId="{E8393F63-94AF-4908-A3C3-E6A98407276F}" srcOrd="1" destOrd="0" presId="urn:microsoft.com/office/officeart/2005/8/layout/hList1"/>
    <dgm:cxn modelId="{6E08411B-2403-4714-A2DD-E3C54A499562}" type="presParOf" srcId="{46AE07A1-B893-4D65-90EA-AC8AFB8C8213}" destId="{F971343A-E29D-4ABC-9415-20C7BC2597EE}" srcOrd="2" destOrd="0" presId="urn:microsoft.com/office/officeart/2005/8/layout/hList1"/>
    <dgm:cxn modelId="{D961617A-8E4A-41CE-83D5-528B2CB6731F}" type="presParOf" srcId="{F971343A-E29D-4ABC-9415-20C7BC2597EE}" destId="{C0ABDE7A-4DB5-4485-B39F-A5B7FB8F658E}" srcOrd="0" destOrd="0" presId="urn:microsoft.com/office/officeart/2005/8/layout/hList1"/>
    <dgm:cxn modelId="{6AC1C7C9-845D-42B6-A033-830DB87D898B}" type="presParOf" srcId="{F971343A-E29D-4ABC-9415-20C7BC2597EE}" destId="{86B15A2B-87A4-4243-9B7C-E65A235FBF4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5CF87B4-2818-4FE1-A783-F63DDDA1B248}" type="doc">
      <dgm:prSet loTypeId="urn:microsoft.com/office/officeart/2005/8/layout/hList1" loCatId="list" qsTypeId="urn:microsoft.com/office/officeart/2005/8/quickstyle/simple2" qsCatId="simple" csTypeId="urn:microsoft.com/office/officeart/2005/8/colors/colorful4" csCatId="colorful" phldr="1"/>
      <dgm:spPr/>
      <dgm:t>
        <a:bodyPr/>
        <a:lstStyle/>
        <a:p>
          <a:endParaRPr lang="hu-HU"/>
        </a:p>
      </dgm:t>
    </dgm:pt>
    <dgm:pt modelId="{98309C43-9D4D-432A-80CE-164538D374B6}">
      <dgm:prSet phldrT="[Szöveg]" custT="1"/>
      <dgm:spPr/>
      <dgm:t>
        <a:bodyPr/>
        <a:lstStyle/>
        <a:p>
          <a:r>
            <a:rPr lang="hu-HU" sz="3600" dirty="0"/>
            <a:t>RDR </a:t>
          </a:r>
        </a:p>
      </dgm:t>
    </dgm:pt>
    <dgm:pt modelId="{9A45CED3-2306-4DC5-ACAA-7567739D8F54}" type="parTrans" cxnId="{ACB681B1-4098-4631-94A2-5D87C8121EAD}">
      <dgm:prSet/>
      <dgm:spPr/>
      <dgm:t>
        <a:bodyPr/>
        <a:lstStyle/>
        <a:p>
          <a:endParaRPr lang="hu-HU"/>
        </a:p>
      </dgm:t>
    </dgm:pt>
    <dgm:pt modelId="{2AE15B5C-390C-4A5C-AA07-FE5F01B0AB80}" type="sibTrans" cxnId="{ACB681B1-4098-4631-94A2-5D87C8121EAD}">
      <dgm:prSet/>
      <dgm:spPr/>
      <dgm:t>
        <a:bodyPr/>
        <a:lstStyle/>
        <a:p>
          <a:endParaRPr lang="hu-HU"/>
        </a:p>
      </dgm:t>
    </dgm:pt>
    <dgm:pt modelId="{2D9482E0-38A3-492D-9B90-77E0096BDEE7}">
      <dgm:prSet phldrT="[Szöveg]" custT="1"/>
      <dgm:spPr/>
      <dgm:t>
        <a:bodyPr/>
        <a:lstStyle/>
        <a:p>
          <a:pPr rtl="0"/>
          <a:r>
            <a:rPr lang="hu-HU" sz="2000" dirty="0"/>
            <a:t>„Az RDR átfogó multidiszciplináris módszertant kínál a tényfeltáráshoz,  amely szükséges a hatalmas digitális hálózatokat és tereket létrehozó, irányító és elősegítő vállalatok </a:t>
          </a:r>
          <a:r>
            <a:rPr lang="hu-HU" sz="2000" dirty="0">
              <a:solidFill>
                <a:srgbClr val="FF0000"/>
              </a:solidFill>
            </a:rPr>
            <a:t>emberi jogi hatásainak felméréséhez</a:t>
          </a:r>
          <a:r>
            <a:rPr lang="hu-HU" sz="2000" dirty="0"/>
            <a:t>. „ </a:t>
          </a:r>
          <a:r>
            <a:rPr kumimoji="0" lang="hu-HU" altLang="hu-HU" sz="2100" b="0" i="0" u="none" strike="noStrike" cap="none" normalizeH="0" baseline="0" dirty="0">
              <a:ln/>
              <a:effectLst/>
              <a:latin typeface="+mn-lt"/>
            </a:rPr>
            <a:t>(</a:t>
          </a:r>
          <a:r>
            <a:rPr kumimoji="0" lang="hu-HU" altLang="hu-HU" sz="1800" b="0" i="0" u="none" strike="noStrike" cap="none" normalizeH="0" baseline="0" dirty="0">
              <a:ln/>
              <a:effectLst/>
              <a:latin typeface="+mn-lt"/>
            </a:rPr>
            <a:t>David Kaye, UN </a:t>
          </a:r>
          <a:r>
            <a:rPr kumimoji="0" lang="hu-HU" altLang="hu-HU" sz="1800" b="0" i="0" u="none" strike="noStrike" cap="none" normalizeH="0" baseline="0" dirty="0" err="1">
              <a:ln/>
              <a:effectLst/>
              <a:latin typeface="+mn-lt"/>
            </a:rPr>
            <a:t>Special</a:t>
          </a:r>
          <a:r>
            <a:rPr kumimoji="0" lang="hu-HU" altLang="hu-HU" sz="1800" b="0" i="0" u="none" strike="noStrike" cap="none" normalizeH="0" baseline="0" dirty="0">
              <a:ln/>
              <a:effectLst/>
              <a:latin typeface="+mn-lt"/>
            </a:rPr>
            <a:t> </a:t>
          </a:r>
          <a:r>
            <a:rPr kumimoji="0" lang="hu-HU" altLang="hu-HU" sz="1800" b="0" i="0" u="none" strike="noStrike" cap="none" normalizeH="0" baseline="0" dirty="0" err="1">
              <a:ln/>
              <a:effectLst/>
              <a:latin typeface="+mn-lt"/>
            </a:rPr>
            <a:t>Rapporteur</a:t>
          </a:r>
          <a:r>
            <a:rPr kumimoji="0" lang="hu-HU" altLang="hu-HU" sz="1800" b="0" i="0" u="none" strike="noStrike" cap="none" normalizeH="0" baseline="0" dirty="0">
              <a:ln/>
              <a:effectLst/>
              <a:latin typeface="+mn-lt"/>
            </a:rPr>
            <a:t> </a:t>
          </a:r>
          <a:r>
            <a:rPr kumimoji="0" lang="hu-HU" altLang="hu-HU" sz="1800" b="0" i="0" u="none" strike="noStrike" cap="none" normalizeH="0" baseline="0" dirty="0" err="1">
              <a:ln/>
              <a:effectLst/>
              <a:latin typeface="+mn-lt"/>
            </a:rPr>
            <a:t>on</a:t>
          </a:r>
          <a:r>
            <a:rPr kumimoji="0" lang="hu-HU" altLang="hu-HU" sz="1800" b="0" i="0" u="none" strike="noStrike" cap="none" normalizeH="0" baseline="0" dirty="0">
              <a:ln/>
              <a:effectLst/>
              <a:latin typeface="+mn-lt"/>
            </a:rPr>
            <a:t> </a:t>
          </a:r>
          <a:r>
            <a:rPr kumimoji="0" lang="hu-HU" altLang="hu-HU" sz="1800" b="0" i="0" u="none" strike="noStrike" cap="none" normalizeH="0" baseline="0" dirty="0" err="1">
              <a:ln/>
              <a:effectLst/>
              <a:latin typeface="+mn-lt"/>
            </a:rPr>
            <a:t>the</a:t>
          </a:r>
          <a:r>
            <a:rPr kumimoji="0" lang="hu-HU" altLang="hu-HU" sz="1800" b="0" i="0" u="none" strike="noStrike" cap="none" normalizeH="0" baseline="0" dirty="0">
              <a:ln/>
              <a:effectLst/>
              <a:latin typeface="+mn-lt"/>
            </a:rPr>
            <a:t> </a:t>
          </a:r>
          <a:r>
            <a:rPr kumimoji="0" lang="hu-HU" altLang="hu-HU" sz="1800" b="0" i="0" u="none" strike="noStrike" cap="none" normalizeH="0" baseline="0" dirty="0" err="1">
              <a:ln/>
              <a:effectLst/>
              <a:latin typeface="+mn-lt"/>
            </a:rPr>
            <a:t>promotion</a:t>
          </a:r>
          <a:r>
            <a:rPr kumimoji="0" lang="hu-HU" altLang="hu-HU" sz="1800" b="0" i="0" u="none" strike="noStrike" cap="none" normalizeH="0" baseline="0" dirty="0">
              <a:ln/>
              <a:effectLst/>
              <a:latin typeface="+mn-lt"/>
            </a:rPr>
            <a:t> and </a:t>
          </a:r>
          <a:r>
            <a:rPr kumimoji="0" lang="hu-HU" altLang="hu-HU" sz="1800" b="0" i="0" u="none" strike="noStrike" cap="none" normalizeH="0" baseline="0" dirty="0" err="1">
              <a:ln/>
              <a:effectLst/>
              <a:latin typeface="+mn-lt"/>
            </a:rPr>
            <a:t>protection</a:t>
          </a:r>
          <a:r>
            <a:rPr kumimoji="0" lang="hu-HU" altLang="hu-HU" sz="1800" b="0" i="0" u="none" strike="noStrike" cap="none" normalizeH="0" baseline="0" dirty="0">
              <a:ln/>
              <a:effectLst/>
              <a:latin typeface="+mn-lt"/>
            </a:rPr>
            <a:t> of </a:t>
          </a:r>
          <a:r>
            <a:rPr kumimoji="0" lang="hu-HU" altLang="hu-HU" sz="1800" b="0" i="0" u="none" strike="noStrike" cap="none" normalizeH="0" baseline="0" dirty="0" err="1">
              <a:ln/>
              <a:effectLst/>
              <a:latin typeface="+mn-lt"/>
            </a:rPr>
            <a:t>the</a:t>
          </a:r>
          <a:r>
            <a:rPr kumimoji="0" lang="hu-HU" altLang="hu-HU" sz="1800" b="0" i="0" u="none" strike="noStrike" cap="none" normalizeH="0" baseline="0" dirty="0">
              <a:ln/>
              <a:effectLst/>
              <a:latin typeface="+mn-lt"/>
            </a:rPr>
            <a:t> </a:t>
          </a:r>
          <a:r>
            <a:rPr kumimoji="0" lang="hu-HU" altLang="hu-HU" sz="1800" b="0" i="0" u="none" strike="noStrike" cap="none" normalizeH="0" baseline="0" dirty="0" err="1">
              <a:ln/>
              <a:effectLst/>
              <a:latin typeface="+mn-lt"/>
            </a:rPr>
            <a:t>right</a:t>
          </a:r>
          <a:r>
            <a:rPr kumimoji="0" lang="hu-HU" altLang="hu-HU" sz="1800" b="0" i="0" u="none" strike="noStrike" cap="none" normalizeH="0" baseline="0" dirty="0">
              <a:ln/>
              <a:effectLst/>
              <a:latin typeface="+mn-lt"/>
            </a:rPr>
            <a:t> </a:t>
          </a:r>
          <a:r>
            <a:rPr kumimoji="0" lang="hu-HU" altLang="hu-HU" sz="1800" b="0" i="0" u="none" strike="noStrike" cap="none" normalizeH="0" baseline="0" dirty="0" err="1">
              <a:ln/>
              <a:effectLst/>
              <a:latin typeface="+mn-lt"/>
            </a:rPr>
            <a:t>to</a:t>
          </a:r>
          <a:r>
            <a:rPr kumimoji="0" lang="hu-HU" altLang="hu-HU" sz="1800" b="0" i="0" u="none" strike="noStrike" cap="none" normalizeH="0" baseline="0" dirty="0">
              <a:ln/>
              <a:effectLst/>
              <a:latin typeface="+mn-lt"/>
            </a:rPr>
            <a:t> </a:t>
          </a:r>
          <a:r>
            <a:rPr kumimoji="0" lang="hu-HU" altLang="hu-HU" sz="1800" b="0" i="0" u="none" strike="noStrike" cap="none" normalizeH="0" baseline="0" dirty="0" err="1">
              <a:ln/>
              <a:effectLst/>
              <a:latin typeface="+mn-lt"/>
            </a:rPr>
            <a:t>freedom</a:t>
          </a:r>
          <a:r>
            <a:rPr kumimoji="0" lang="hu-HU" altLang="hu-HU" sz="1800" b="0" i="0" u="none" strike="noStrike" cap="none" normalizeH="0" baseline="0" dirty="0">
              <a:ln/>
              <a:effectLst/>
              <a:latin typeface="+mn-lt"/>
            </a:rPr>
            <a:t> of </a:t>
          </a:r>
          <a:r>
            <a:rPr kumimoji="0" lang="hu-HU" altLang="hu-HU" sz="1800" b="0" i="0" u="none" strike="noStrike" cap="none" normalizeH="0" baseline="0" dirty="0" err="1">
              <a:ln/>
              <a:effectLst/>
              <a:latin typeface="+mn-lt"/>
            </a:rPr>
            <a:t>opinion</a:t>
          </a:r>
          <a:r>
            <a:rPr kumimoji="0" lang="hu-HU" altLang="hu-HU" sz="1800" b="0" i="0" u="none" strike="noStrike" cap="none" normalizeH="0" baseline="0" dirty="0">
              <a:ln/>
              <a:effectLst/>
              <a:latin typeface="+mn-lt"/>
            </a:rPr>
            <a:t> and </a:t>
          </a:r>
          <a:r>
            <a:rPr kumimoji="0" lang="hu-HU" altLang="hu-HU" sz="1800" b="0" i="0" u="none" strike="noStrike" cap="none" normalizeH="0" baseline="0" dirty="0" err="1">
              <a:ln/>
              <a:effectLst/>
              <a:latin typeface="+mn-lt"/>
            </a:rPr>
            <a:t>expression</a:t>
          </a:r>
          <a:r>
            <a:rPr kumimoji="0" lang="hu-HU" altLang="hu-HU" sz="1800" b="0" i="0" u="none" strike="noStrike" cap="none" normalizeH="0" baseline="0" dirty="0">
              <a:ln/>
              <a:effectLst/>
              <a:latin typeface="+mn-lt"/>
            </a:rPr>
            <a:t>)</a:t>
          </a:r>
          <a:endParaRPr lang="hu-HU" sz="1800" dirty="0">
            <a:latin typeface="+mn-lt"/>
          </a:endParaRPr>
        </a:p>
      </dgm:t>
    </dgm:pt>
    <dgm:pt modelId="{7DA84FFC-5022-4DFD-BE26-21D3A36F8359}" type="parTrans" cxnId="{0435224E-87B0-41D2-9FBD-01FAD5EA0276}">
      <dgm:prSet/>
      <dgm:spPr/>
      <dgm:t>
        <a:bodyPr/>
        <a:lstStyle/>
        <a:p>
          <a:endParaRPr lang="hu-HU"/>
        </a:p>
      </dgm:t>
    </dgm:pt>
    <dgm:pt modelId="{99873009-856E-430A-AD95-3D219662E547}" type="sibTrans" cxnId="{0435224E-87B0-41D2-9FBD-01FAD5EA0276}">
      <dgm:prSet/>
      <dgm:spPr/>
      <dgm:t>
        <a:bodyPr/>
        <a:lstStyle/>
        <a:p>
          <a:endParaRPr lang="hu-HU"/>
        </a:p>
      </dgm:t>
    </dgm:pt>
    <dgm:pt modelId="{AC27C0B2-56F7-46F5-B633-104D00E2A744}">
      <dgm:prSet phldrT="[Szöveg]"/>
      <dgm:spPr/>
      <dgm:t>
        <a:bodyPr/>
        <a:lstStyle/>
        <a:p>
          <a:r>
            <a:rPr lang="hu-HU" dirty="0"/>
            <a:t>RDR </a:t>
          </a:r>
          <a:r>
            <a:rPr lang="hu-HU" dirty="0" err="1"/>
            <a:t>Corporate</a:t>
          </a:r>
          <a:r>
            <a:rPr lang="hu-HU" dirty="0"/>
            <a:t> </a:t>
          </a:r>
          <a:r>
            <a:rPr lang="hu-HU" dirty="0" err="1"/>
            <a:t>Accountability</a:t>
          </a:r>
          <a:r>
            <a:rPr lang="hu-HU" dirty="0"/>
            <a:t> Index </a:t>
          </a:r>
        </a:p>
        <a:p>
          <a:r>
            <a:rPr lang="hu-HU" dirty="0"/>
            <a:t>(vállalati elszámoltathatósági mutató) </a:t>
          </a:r>
        </a:p>
      </dgm:t>
    </dgm:pt>
    <dgm:pt modelId="{A9CCF333-3C53-45F0-9EA5-1C7557364355}" type="parTrans" cxnId="{C8A67A9D-426A-4317-A673-1EDC89479F9F}">
      <dgm:prSet/>
      <dgm:spPr/>
      <dgm:t>
        <a:bodyPr/>
        <a:lstStyle/>
        <a:p>
          <a:endParaRPr lang="hu-HU"/>
        </a:p>
      </dgm:t>
    </dgm:pt>
    <dgm:pt modelId="{603DC5FE-88B1-4AD4-A474-1AA11849A519}" type="sibTrans" cxnId="{C8A67A9D-426A-4317-A673-1EDC89479F9F}">
      <dgm:prSet/>
      <dgm:spPr/>
      <dgm:t>
        <a:bodyPr/>
        <a:lstStyle/>
        <a:p>
          <a:endParaRPr lang="hu-HU"/>
        </a:p>
      </dgm:t>
    </dgm:pt>
    <dgm:pt modelId="{15B58285-1B56-4391-93E0-1C8FD192D34B}">
      <dgm:prSet phldrT="[Szöveg]"/>
      <dgm:spPr/>
      <dgm:t>
        <a:bodyPr/>
        <a:lstStyle/>
        <a:p>
          <a:r>
            <a:rPr lang="hu-HU" dirty="0"/>
            <a:t>az internetes, mobil és telekommunikációs cégek éves értékelése azon általuk nyilvánosságra hozott szabályzatok, kötelezettségvállalásaik,  gyakorlatuk alapján, amelyek hatással vannak a felhasználók magánszférájára és véleménynyilvánítási szabadságára </a:t>
          </a:r>
        </a:p>
      </dgm:t>
    </dgm:pt>
    <dgm:pt modelId="{DFF58F9D-7FE7-4602-A685-FEE76B7C12C9}" type="parTrans" cxnId="{FA6EEDEE-09BF-4E90-9E7A-EADB12EC0AE4}">
      <dgm:prSet/>
      <dgm:spPr/>
      <dgm:t>
        <a:bodyPr/>
        <a:lstStyle/>
        <a:p>
          <a:endParaRPr lang="hu-HU"/>
        </a:p>
      </dgm:t>
    </dgm:pt>
    <dgm:pt modelId="{462E7337-5D11-4E06-98AD-997A36691FF3}" type="sibTrans" cxnId="{FA6EEDEE-09BF-4E90-9E7A-EADB12EC0AE4}">
      <dgm:prSet/>
      <dgm:spPr/>
      <dgm:t>
        <a:bodyPr/>
        <a:lstStyle/>
        <a:p>
          <a:endParaRPr lang="hu-HU"/>
        </a:p>
      </dgm:t>
    </dgm:pt>
    <dgm:pt modelId="{3E4BAEA9-D40F-4AE8-8F2F-7CD2FFB6D649}">
      <dgm:prSet phldrT="[Szöveg]"/>
      <dgm:spPr/>
      <dgm:t>
        <a:bodyPr/>
        <a:lstStyle/>
        <a:p>
          <a:r>
            <a:rPr lang="hu-HU" dirty="0"/>
            <a:t>RDR 2022  – 26 vállalat értékelése </a:t>
          </a:r>
        </a:p>
      </dgm:t>
    </dgm:pt>
    <dgm:pt modelId="{DB130A8B-F8DD-4054-8A2F-127746EC0BE6}" type="parTrans" cxnId="{A54F9B40-2AA4-42ED-832C-D18EFFD5CFB8}">
      <dgm:prSet/>
      <dgm:spPr/>
      <dgm:t>
        <a:bodyPr/>
        <a:lstStyle/>
        <a:p>
          <a:endParaRPr lang="hu-HU"/>
        </a:p>
      </dgm:t>
    </dgm:pt>
    <dgm:pt modelId="{4D4D1A2C-43E8-4C36-AEFC-A6B1C8969276}" type="sibTrans" cxnId="{A54F9B40-2AA4-42ED-832C-D18EFFD5CFB8}">
      <dgm:prSet/>
      <dgm:spPr/>
      <dgm:t>
        <a:bodyPr/>
        <a:lstStyle/>
        <a:p>
          <a:endParaRPr lang="hu-HU"/>
        </a:p>
      </dgm:t>
    </dgm:pt>
    <dgm:pt modelId="{A1C2A6FA-E15F-4AB4-9C91-55A3DD4DD70E}">
      <dgm:prSet/>
      <dgm:spPr/>
      <dgm:t>
        <a:bodyPr/>
        <a:lstStyle/>
        <a:p>
          <a:pPr rtl="0"/>
          <a:endParaRPr kumimoji="0" lang="hu-HU" altLang="hu-HU" sz="21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endParaRPr>
        </a:p>
      </dgm:t>
    </dgm:pt>
    <dgm:pt modelId="{B3BF94AE-6A58-4224-A074-B6E7596EE468}" type="parTrans" cxnId="{31A82CA5-D628-4B93-9F51-B5E0713BBDCC}">
      <dgm:prSet/>
      <dgm:spPr/>
      <dgm:t>
        <a:bodyPr/>
        <a:lstStyle/>
        <a:p>
          <a:endParaRPr lang="hu-HU"/>
        </a:p>
      </dgm:t>
    </dgm:pt>
    <dgm:pt modelId="{275DCCB9-1F12-47A2-AEF8-C8C44F0BD4C3}" type="sibTrans" cxnId="{31A82CA5-D628-4B93-9F51-B5E0713BBDCC}">
      <dgm:prSet/>
      <dgm:spPr/>
      <dgm:t>
        <a:bodyPr/>
        <a:lstStyle/>
        <a:p>
          <a:endParaRPr lang="hu-HU"/>
        </a:p>
      </dgm:t>
    </dgm:pt>
    <dgm:pt modelId="{C7F250C6-0E4B-4396-9644-8D15A745508B}">
      <dgm:prSet phldrT="[Szöveg]"/>
      <dgm:spPr/>
      <dgm:t>
        <a:bodyPr/>
        <a:lstStyle/>
        <a:p>
          <a:r>
            <a:rPr lang="hu-HU" dirty="0"/>
            <a:t>RDR 2025 – 14 nagyvállalat 43 platformjának értékelése </a:t>
          </a:r>
        </a:p>
      </dgm:t>
    </dgm:pt>
    <dgm:pt modelId="{E84ADA0F-EAEB-461B-93AC-878D86F702CB}" type="parTrans" cxnId="{99E9F243-9204-4441-8359-91D5234F2CC5}">
      <dgm:prSet/>
      <dgm:spPr/>
    </dgm:pt>
    <dgm:pt modelId="{F6220C28-4F66-4183-8030-42222664FFCD}" type="sibTrans" cxnId="{99E9F243-9204-4441-8359-91D5234F2CC5}">
      <dgm:prSet/>
      <dgm:spPr/>
    </dgm:pt>
    <dgm:pt modelId="{2DADA9BC-4BF2-4A04-890D-D39B49CBCAAF}" type="pres">
      <dgm:prSet presAssocID="{85CF87B4-2818-4FE1-A783-F63DDDA1B248}" presName="Name0" presStyleCnt="0">
        <dgm:presLayoutVars>
          <dgm:dir/>
          <dgm:animLvl val="lvl"/>
          <dgm:resizeHandles val="exact"/>
        </dgm:presLayoutVars>
      </dgm:prSet>
      <dgm:spPr/>
    </dgm:pt>
    <dgm:pt modelId="{4072DA76-5548-47A4-A59C-9B847F709EF2}" type="pres">
      <dgm:prSet presAssocID="{98309C43-9D4D-432A-80CE-164538D374B6}" presName="composite" presStyleCnt="0"/>
      <dgm:spPr/>
    </dgm:pt>
    <dgm:pt modelId="{71A9239C-8F06-41FB-A96C-4E2230D87A49}" type="pres">
      <dgm:prSet presAssocID="{98309C43-9D4D-432A-80CE-164538D374B6}" presName="parTx" presStyleLbl="alignNode1" presStyleIdx="0" presStyleCnt="2" custLinFactNeighborY="-1055">
        <dgm:presLayoutVars>
          <dgm:chMax val="0"/>
          <dgm:chPref val="0"/>
          <dgm:bulletEnabled val="1"/>
        </dgm:presLayoutVars>
      </dgm:prSet>
      <dgm:spPr/>
    </dgm:pt>
    <dgm:pt modelId="{75E9E8F2-5D1E-41B7-B922-AD688482AF5D}" type="pres">
      <dgm:prSet presAssocID="{98309C43-9D4D-432A-80CE-164538D374B6}" presName="desTx" presStyleLbl="alignAccFollowNode1" presStyleIdx="0" presStyleCnt="2">
        <dgm:presLayoutVars>
          <dgm:bulletEnabled val="1"/>
        </dgm:presLayoutVars>
      </dgm:prSet>
      <dgm:spPr/>
    </dgm:pt>
    <dgm:pt modelId="{B3777371-ADB6-4891-AB41-4A3E9788B3F5}" type="pres">
      <dgm:prSet presAssocID="{2AE15B5C-390C-4A5C-AA07-FE5F01B0AB80}" presName="space" presStyleCnt="0"/>
      <dgm:spPr/>
    </dgm:pt>
    <dgm:pt modelId="{AF718513-04A9-4B1D-ABBA-1F10F24CECBD}" type="pres">
      <dgm:prSet presAssocID="{AC27C0B2-56F7-46F5-B633-104D00E2A744}" presName="composite" presStyleCnt="0"/>
      <dgm:spPr/>
    </dgm:pt>
    <dgm:pt modelId="{583EFD67-0B76-46AC-9895-55574767585C}" type="pres">
      <dgm:prSet presAssocID="{AC27C0B2-56F7-46F5-B633-104D00E2A744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71CFA830-3525-4D2E-BFBF-62DE614EA105}" type="pres">
      <dgm:prSet presAssocID="{AC27C0B2-56F7-46F5-B633-104D00E2A744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BC4C6D10-241E-40CE-930F-AA85F2E54C34}" type="presOf" srcId="{98309C43-9D4D-432A-80CE-164538D374B6}" destId="{71A9239C-8F06-41FB-A96C-4E2230D87A49}" srcOrd="0" destOrd="0" presId="urn:microsoft.com/office/officeart/2005/8/layout/hList1"/>
    <dgm:cxn modelId="{BB699F1B-13C2-4AF1-BB8A-548DE5A5178E}" type="presOf" srcId="{85CF87B4-2818-4FE1-A783-F63DDDA1B248}" destId="{2DADA9BC-4BF2-4A04-890D-D39B49CBCAAF}" srcOrd="0" destOrd="0" presId="urn:microsoft.com/office/officeart/2005/8/layout/hList1"/>
    <dgm:cxn modelId="{A54F9B40-2AA4-42ED-832C-D18EFFD5CFB8}" srcId="{AC27C0B2-56F7-46F5-B633-104D00E2A744}" destId="{3E4BAEA9-D40F-4AE8-8F2F-7CD2FFB6D649}" srcOrd="1" destOrd="0" parTransId="{DB130A8B-F8DD-4054-8A2F-127746EC0BE6}" sibTransId="{4D4D1A2C-43E8-4C36-AEFC-A6B1C8969276}"/>
    <dgm:cxn modelId="{99E9F243-9204-4441-8359-91D5234F2CC5}" srcId="{AC27C0B2-56F7-46F5-B633-104D00E2A744}" destId="{C7F250C6-0E4B-4396-9644-8D15A745508B}" srcOrd="2" destOrd="0" parTransId="{E84ADA0F-EAEB-461B-93AC-878D86F702CB}" sibTransId="{F6220C28-4F66-4183-8030-42222664FFCD}"/>
    <dgm:cxn modelId="{8076CA68-26DD-40CB-BC1F-E95516F801A8}" type="presOf" srcId="{2D9482E0-38A3-492D-9B90-77E0096BDEE7}" destId="{75E9E8F2-5D1E-41B7-B922-AD688482AF5D}" srcOrd="0" destOrd="0" presId="urn:microsoft.com/office/officeart/2005/8/layout/hList1"/>
    <dgm:cxn modelId="{6B1F0769-F431-4146-A532-31DA1FCC2FC9}" type="presOf" srcId="{3E4BAEA9-D40F-4AE8-8F2F-7CD2FFB6D649}" destId="{71CFA830-3525-4D2E-BFBF-62DE614EA105}" srcOrd="0" destOrd="1" presId="urn:microsoft.com/office/officeart/2005/8/layout/hList1"/>
    <dgm:cxn modelId="{0435224E-87B0-41D2-9FBD-01FAD5EA0276}" srcId="{98309C43-9D4D-432A-80CE-164538D374B6}" destId="{2D9482E0-38A3-492D-9B90-77E0096BDEE7}" srcOrd="0" destOrd="0" parTransId="{7DA84FFC-5022-4DFD-BE26-21D3A36F8359}" sibTransId="{99873009-856E-430A-AD95-3D219662E547}"/>
    <dgm:cxn modelId="{1F2F3984-5189-4BC2-A1BB-ED2CE48F846D}" type="presOf" srcId="{C7F250C6-0E4B-4396-9644-8D15A745508B}" destId="{71CFA830-3525-4D2E-BFBF-62DE614EA105}" srcOrd="0" destOrd="2" presId="urn:microsoft.com/office/officeart/2005/8/layout/hList1"/>
    <dgm:cxn modelId="{BD188688-A5B3-4DE9-8E00-D68668318B7E}" type="presOf" srcId="{A1C2A6FA-E15F-4AB4-9C91-55A3DD4DD70E}" destId="{75E9E8F2-5D1E-41B7-B922-AD688482AF5D}" srcOrd="0" destOrd="1" presId="urn:microsoft.com/office/officeart/2005/8/layout/hList1"/>
    <dgm:cxn modelId="{C8A67A9D-426A-4317-A673-1EDC89479F9F}" srcId="{85CF87B4-2818-4FE1-A783-F63DDDA1B248}" destId="{AC27C0B2-56F7-46F5-B633-104D00E2A744}" srcOrd="1" destOrd="0" parTransId="{A9CCF333-3C53-45F0-9EA5-1C7557364355}" sibTransId="{603DC5FE-88B1-4AD4-A474-1AA11849A519}"/>
    <dgm:cxn modelId="{31A82CA5-D628-4B93-9F51-B5E0713BBDCC}" srcId="{98309C43-9D4D-432A-80CE-164538D374B6}" destId="{A1C2A6FA-E15F-4AB4-9C91-55A3DD4DD70E}" srcOrd="1" destOrd="0" parTransId="{B3BF94AE-6A58-4224-A074-B6E7596EE468}" sibTransId="{275DCCB9-1F12-47A2-AEF8-C8C44F0BD4C3}"/>
    <dgm:cxn modelId="{ACB681B1-4098-4631-94A2-5D87C8121EAD}" srcId="{85CF87B4-2818-4FE1-A783-F63DDDA1B248}" destId="{98309C43-9D4D-432A-80CE-164538D374B6}" srcOrd="0" destOrd="0" parTransId="{9A45CED3-2306-4DC5-ACAA-7567739D8F54}" sibTransId="{2AE15B5C-390C-4A5C-AA07-FE5F01B0AB80}"/>
    <dgm:cxn modelId="{9A829DC2-04FF-4FAB-9C52-BEC49A10E4DC}" type="presOf" srcId="{15B58285-1B56-4391-93E0-1C8FD192D34B}" destId="{71CFA830-3525-4D2E-BFBF-62DE614EA105}" srcOrd="0" destOrd="0" presId="urn:microsoft.com/office/officeart/2005/8/layout/hList1"/>
    <dgm:cxn modelId="{9BDC75E6-E8F7-4B96-987B-A9CADCB9E533}" type="presOf" srcId="{AC27C0B2-56F7-46F5-B633-104D00E2A744}" destId="{583EFD67-0B76-46AC-9895-55574767585C}" srcOrd="0" destOrd="0" presId="urn:microsoft.com/office/officeart/2005/8/layout/hList1"/>
    <dgm:cxn modelId="{FA6EEDEE-09BF-4E90-9E7A-EADB12EC0AE4}" srcId="{AC27C0B2-56F7-46F5-B633-104D00E2A744}" destId="{15B58285-1B56-4391-93E0-1C8FD192D34B}" srcOrd="0" destOrd="0" parTransId="{DFF58F9D-7FE7-4602-A685-FEE76B7C12C9}" sibTransId="{462E7337-5D11-4E06-98AD-997A36691FF3}"/>
    <dgm:cxn modelId="{26CEDA21-00C3-4311-ABAF-C7B37DEA2A15}" type="presParOf" srcId="{2DADA9BC-4BF2-4A04-890D-D39B49CBCAAF}" destId="{4072DA76-5548-47A4-A59C-9B847F709EF2}" srcOrd="0" destOrd="0" presId="urn:microsoft.com/office/officeart/2005/8/layout/hList1"/>
    <dgm:cxn modelId="{C36B0454-DF9F-4250-97BD-BF57FCC9E0D8}" type="presParOf" srcId="{4072DA76-5548-47A4-A59C-9B847F709EF2}" destId="{71A9239C-8F06-41FB-A96C-4E2230D87A49}" srcOrd="0" destOrd="0" presId="urn:microsoft.com/office/officeart/2005/8/layout/hList1"/>
    <dgm:cxn modelId="{8ECA4D20-6E21-4C78-A702-BE27CEA9375D}" type="presParOf" srcId="{4072DA76-5548-47A4-A59C-9B847F709EF2}" destId="{75E9E8F2-5D1E-41B7-B922-AD688482AF5D}" srcOrd="1" destOrd="0" presId="urn:microsoft.com/office/officeart/2005/8/layout/hList1"/>
    <dgm:cxn modelId="{53557112-CDAA-449F-867A-E1867792B267}" type="presParOf" srcId="{2DADA9BC-4BF2-4A04-890D-D39B49CBCAAF}" destId="{B3777371-ADB6-4891-AB41-4A3E9788B3F5}" srcOrd="1" destOrd="0" presId="urn:microsoft.com/office/officeart/2005/8/layout/hList1"/>
    <dgm:cxn modelId="{E0EB28FF-1F6E-4CFE-9E05-7AE39B0A58AB}" type="presParOf" srcId="{2DADA9BC-4BF2-4A04-890D-D39B49CBCAAF}" destId="{AF718513-04A9-4B1D-ABBA-1F10F24CECBD}" srcOrd="2" destOrd="0" presId="urn:microsoft.com/office/officeart/2005/8/layout/hList1"/>
    <dgm:cxn modelId="{42F1FA5E-EA55-4167-A0FB-ED9F795DEA54}" type="presParOf" srcId="{AF718513-04A9-4B1D-ABBA-1F10F24CECBD}" destId="{583EFD67-0B76-46AC-9895-55574767585C}" srcOrd="0" destOrd="0" presId="urn:microsoft.com/office/officeart/2005/8/layout/hList1"/>
    <dgm:cxn modelId="{3C9A743D-60D6-46D0-853B-CDAD308D4A46}" type="presParOf" srcId="{AF718513-04A9-4B1D-ABBA-1F10F24CECBD}" destId="{71CFA830-3525-4D2E-BFBF-62DE614EA10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E4B6993-89A9-4073-9194-9622AD930BAE}" type="doc">
      <dgm:prSet loTypeId="urn:microsoft.com/office/officeart/2005/8/layout/hList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hu-HU"/>
        </a:p>
      </dgm:t>
    </dgm:pt>
    <dgm:pt modelId="{4AC65E45-22F0-44DD-A2E6-F38CD80DF0FD}">
      <dgm:prSet phldrT="[Szöveg]"/>
      <dgm:spPr/>
      <dgm:t>
        <a:bodyPr/>
        <a:lstStyle/>
        <a:p>
          <a:r>
            <a:rPr lang="hu-HU" dirty="0" err="1"/>
            <a:t>Governance</a:t>
          </a:r>
          <a:endParaRPr lang="hu-HU" dirty="0"/>
        </a:p>
      </dgm:t>
    </dgm:pt>
    <dgm:pt modelId="{8FF247AB-8F21-4233-8687-ADD42340D345}" type="parTrans" cxnId="{80F876A3-D335-46D6-A7AB-966EF8AA43E4}">
      <dgm:prSet/>
      <dgm:spPr/>
      <dgm:t>
        <a:bodyPr/>
        <a:lstStyle/>
        <a:p>
          <a:endParaRPr lang="hu-HU"/>
        </a:p>
      </dgm:t>
    </dgm:pt>
    <dgm:pt modelId="{9B3A7BB9-8FD9-497B-BFD3-45C658129671}" type="sibTrans" cxnId="{80F876A3-D335-46D6-A7AB-966EF8AA43E4}">
      <dgm:prSet/>
      <dgm:spPr/>
      <dgm:t>
        <a:bodyPr/>
        <a:lstStyle/>
        <a:p>
          <a:endParaRPr lang="hu-HU"/>
        </a:p>
      </dgm:t>
    </dgm:pt>
    <dgm:pt modelId="{44C58571-3FDD-43C8-A49E-2EBCB56BD08A}">
      <dgm:prSet phldrT="[Szöveg]"/>
      <dgm:spPr/>
      <dgm:t>
        <a:bodyPr/>
        <a:lstStyle/>
        <a:p>
          <a:r>
            <a:rPr lang="hu-HU" dirty="0"/>
            <a:t>értékelik a  kötelezettségvállalások nyilvánosságát és azok megjelenését a különböző szolgáltatásokban</a:t>
          </a:r>
        </a:p>
      </dgm:t>
    </dgm:pt>
    <dgm:pt modelId="{0F2CC3A6-6FB7-464E-9466-18DB397B8D09}" type="parTrans" cxnId="{FB249FC4-EFDD-43E3-9FEE-88F29346ECC2}">
      <dgm:prSet/>
      <dgm:spPr/>
      <dgm:t>
        <a:bodyPr/>
        <a:lstStyle/>
        <a:p>
          <a:endParaRPr lang="hu-HU"/>
        </a:p>
      </dgm:t>
    </dgm:pt>
    <dgm:pt modelId="{50DE1110-D683-42F1-A629-58336A4BADFB}" type="sibTrans" cxnId="{FB249FC4-EFDD-43E3-9FEE-88F29346ECC2}">
      <dgm:prSet/>
      <dgm:spPr/>
      <dgm:t>
        <a:bodyPr/>
        <a:lstStyle/>
        <a:p>
          <a:endParaRPr lang="hu-HU"/>
        </a:p>
      </dgm:t>
    </dgm:pt>
    <dgm:pt modelId="{76B7B5B4-FC9A-4A65-B9EC-FDDEA94F8CCC}">
      <dgm:prSet phldrT="[Szöveg]"/>
      <dgm:spPr/>
      <dgm:t>
        <a:bodyPr/>
        <a:lstStyle/>
        <a:p>
          <a:r>
            <a:rPr lang="hu-HU" dirty="0"/>
            <a:t>Véleménynyilvánítás szabadsága</a:t>
          </a:r>
        </a:p>
      </dgm:t>
    </dgm:pt>
    <dgm:pt modelId="{610D6CE0-BCC5-42CA-BA69-7B7CC8E29851}" type="parTrans" cxnId="{4BBC97A3-3590-4EE7-9B78-0D57B6601AA3}">
      <dgm:prSet/>
      <dgm:spPr/>
      <dgm:t>
        <a:bodyPr/>
        <a:lstStyle/>
        <a:p>
          <a:endParaRPr lang="hu-HU"/>
        </a:p>
      </dgm:t>
    </dgm:pt>
    <dgm:pt modelId="{E90E82D7-9F7F-4CF9-B698-BCAAF8564973}" type="sibTrans" cxnId="{4BBC97A3-3590-4EE7-9B78-0D57B6601AA3}">
      <dgm:prSet/>
      <dgm:spPr/>
      <dgm:t>
        <a:bodyPr/>
        <a:lstStyle/>
        <a:p>
          <a:endParaRPr lang="hu-HU"/>
        </a:p>
      </dgm:t>
    </dgm:pt>
    <dgm:pt modelId="{411F7144-444F-4C16-AC0C-90580D05448F}">
      <dgm:prSet phldrT="[Szöveg]"/>
      <dgm:spPr/>
      <dgm:t>
        <a:bodyPr/>
        <a:lstStyle/>
        <a:p>
          <a:r>
            <a:rPr lang="hu-HU" dirty="0"/>
            <a:t>értékelik azon szabályzatok nyilvánosságát,  amelyek alapján értékelhető, hogy a vállalat tiszteletben tartja-e a nemzetközi jogi dokumentumokban rögzített véleménynyilvánítás szabadságát </a:t>
          </a:r>
        </a:p>
      </dgm:t>
    </dgm:pt>
    <dgm:pt modelId="{DD1BD2C1-1924-4653-8FA8-5997C22AE988}" type="parTrans" cxnId="{3FA69711-D8AA-4056-B85B-68FE974D4E46}">
      <dgm:prSet/>
      <dgm:spPr/>
      <dgm:t>
        <a:bodyPr/>
        <a:lstStyle/>
        <a:p>
          <a:endParaRPr lang="hu-HU"/>
        </a:p>
      </dgm:t>
    </dgm:pt>
    <dgm:pt modelId="{0D2CEB3B-076E-4889-B0F1-A64A973CFA2C}" type="sibTrans" cxnId="{3FA69711-D8AA-4056-B85B-68FE974D4E46}">
      <dgm:prSet/>
      <dgm:spPr/>
      <dgm:t>
        <a:bodyPr/>
        <a:lstStyle/>
        <a:p>
          <a:endParaRPr lang="hu-HU"/>
        </a:p>
      </dgm:t>
    </dgm:pt>
    <dgm:pt modelId="{1321844C-8A9B-4644-AE19-C4F0DAC43736}">
      <dgm:prSet phldrT="[Szöveg]"/>
      <dgm:spPr/>
      <dgm:t>
        <a:bodyPr/>
        <a:lstStyle/>
        <a:p>
          <a:r>
            <a:rPr lang="hu-HU" dirty="0"/>
            <a:t>Magánszféra</a:t>
          </a:r>
        </a:p>
      </dgm:t>
    </dgm:pt>
    <dgm:pt modelId="{1104F29C-21A2-47F2-8421-865D6A29A2EB}" type="parTrans" cxnId="{F0C114E3-6FEB-49ED-862A-C80B0164C6E3}">
      <dgm:prSet/>
      <dgm:spPr/>
      <dgm:t>
        <a:bodyPr/>
        <a:lstStyle/>
        <a:p>
          <a:endParaRPr lang="hu-HU"/>
        </a:p>
      </dgm:t>
    </dgm:pt>
    <dgm:pt modelId="{05EBC396-7FFD-4FB6-B1FF-B45AD7110D41}" type="sibTrans" cxnId="{F0C114E3-6FEB-49ED-862A-C80B0164C6E3}">
      <dgm:prSet/>
      <dgm:spPr/>
      <dgm:t>
        <a:bodyPr/>
        <a:lstStyle/>
        <a:p>
          <a:endParaRPr lang="hu-HU"/>
        </a:p>
      </dgm:t>
    </dgm:pt>
    <dgm:pt modelId="{D8C37AC5-3927-4DDE-BF16-0977D4C96AD0}">
      <dgm:prSet phldrT="[Szöveg]"/>
      <dgm:spPr/>
      <dgm:t>
        <a:bodyPr/>
        <a:lstStyle/>
        <a:p>
          <a:r>
            <a:rPr lang="hu-HU" dirty="0"/>
            <a:t>értékelik azon szabályzatok nyilvánosságát, amelyek alapján értékelhető, hogy a vállalat tiszteletben tartja-e a nemzetközi jogi dokumentumokban rögzített magánszféra védelmét</a:t>
          </a:r>
        </a:p>
      </dgm:t>
    </dgm:pt>
    <dgm:pt modelId="{6F80F783-8775-4E08-A551-B6894778850B}" type="parTrans" cxnId="{55C3EEFE-1778-4B08-8F15-CE890E0C9169}">
      <dgm:prSet/>
      <dgm:spPr/>
      <dgm:t>
        <a:bodyPr/>
        <a:lstStyle/>
        <a:p>
          <a:endParaRPr lang="hu-HU"/>
        </a:p>
      </dgm:t>
    </dgm:pt>
    <dgm:pt modelId="{2E76D6B3-A295-46B6-BE23-2A1782BE29BA}" type="sibTrans" cxnId="{55C3EEFE-1778-4B08-8F15-CE890E0C9169}">
      <dgm:prSet/>
      <dgm:spPr/>
      <dgm:t>
        <a:bodyPr/>
        <a:lstStyle/>
        <a:p>
          <a:endParaRPr lang="hu-HU"/>
        </a:p>
      </dgm:t>
    </dgm:pt>
    <dgm:pt modelId="{48660EA9-02C8-442E-9A44-B350480E7421}" type="pres">
      <dgm:prSet presAssocID="{DE4B6993-89A9-4073-9194-9622AD930BAE}" presName="Name0" presStyleCnt="0">
        <dgm:presLayoutVars>
          <dgm:dir/>
          <dgm:animLvl val="lvl"/>
          <dgm:resizeHandles val="exact"/>
        </dgm:presLayoutVars>
      </dgm:prSet>
      <dgm:spPr/>
    </dgm:pt>
    <dgm:pt modelId="{07DE774C-CC5F-4AED-85E7-E83501C778CC}" type="pres">
      <dgm:prSet presAssocID="{4AC65E45-22F0-44DD-A2E6-F38CD80DF0FD}" presName="composite" presStyleCnt="0"/>
      <dgm:spPr/>
    </dgm:pt>
    <dgm:pt modelId="{AB105F25-3875-4F8D-A8FE-D252FBCAE2F6}" type="pres">
      <dgm:prSet presAssocID="{4AC65E45-22F0-44DD-A2E6-F38CD80DF0FD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A378BC1F-7DCA-46B3-B1B5-B3A1CCDDDB25}" type="pres">
      <dgm:prSet presAssocID="{4AC65E45-22F0-44DD-A2E6-F38CD80DF0FD}" presName="desTx" presStyleLbl="alignAccFollowNode1" presStyleIdx="0" presStyleCnt="3">
        <dgm:presLayoutVars>
          <dgm:bulletEnabled val="1"/>
        </dgm:presLayoutVars>
      </dgm:prSet>
      <dgm:spPr/>
    </dgm:pt>
    <dgm:pt modelId="{3B97DB07-1E76-4393-BAEE-D03AED9AC0FC}" type="pres">
      <dgm:prSet presAssocID="{9B3A7BB9-8FD9-497B-BFD3-45C658129671}" presName="space" presStyleCnt="0"/>
      <dgm:spPr/>
    </dgm:pt>
    <dgm:pt modelId="{CC5C8F6A-0F05-484A-A9A7-EB2F7B50CC26}" type="pres">
      <dgm:prSet presAssocID="{76B7B5B4-FC9A-4A65-B9EC-FDDEA94F8CCC}" presName="composite" presStyleCnt="0"/>
      <dgm:spPr/>
    </dgm:pt>
    <dgm:pt modelId="{6E11ED7B-4FBA-43B0-9C0F-FA27404435BB}" type="pres">
      <dgm:prSet presAssocID="{76B7B5B4-FC9A-4A65-B9EC-FDDEA94F8CCC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00109CFC-E829-4831-BD9B-3CC17A1592AD}" type="pres">
      <dgm:prSet presAssocID="{76B7B5B4-FC9A-4A65-B9EC-FDDEA94F8CCC}" presName="desTx" presStyleLbl="alignAccFollowNode1" presStyleIdx="1" presStyleCnt="3">
        <dgm:presLayoutVars>
          <dgm:bulletEnabled val="1"/>
        </dgm:presLayoutVars>
      </dgm:prSet>
      <dgm:spPr/>
    </dgm:pt>
    <dgm:pt modelId="{B9EE0A9E-DDA8-4A73-AEE2-751D5090CAFA}" type="pres">
      <dgm:prSet presAssocID="{E90E82D7-9F7F-4CF9-B698-BCAAF8564973}" presName="space" presStyleCnt="0"/>
      <dgm:spPr/>
    </dgm:pt>
    <dgm:pt modelId="{BD492B27-D9F9-433B-916D-461F3009D86F}" type="pres">
      <dgm:prSet presAssocID="{1321844C-8A9B-4644-AE19-C4F0DAC43736}" presName="composite" presStyleCnt="0"/>
      <dgm:spPr/>
    </dgm:pt>
    <dgm:pt modelId="{24A5F96E-530B-4F40-9C97-D7C53D14C6ED}" type="pres">
      <dgm:prSet presAssocID="{1321844C-8A9B-4644-AE19-C4F0DAC43736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209F6213-6958-45ED-ACBE-A67F5E93B532}" type="pres">
      <dgm:prSet presAssocID="{1321844C-8A9B-4644-AE19-C4F0DAC43736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3FA69711-D8AA-4056-B85B-68FE974D4E46}" srcId="{76B7B5B4-FC9A-4A65-B9EC-FDDEA94F8CCC}" destId="{411F7144-444F-4C16-AC0C-90580D05448F}" srcOrd="0" destOrd="0" parTransId="{DD1BD2C1-1924-4653-8FA8-5997C22AE988}" sibTransId="{0D2CEB3B-076E-4889-B0F1-A64A973CFA2C}"/>
    <dgm:cxn modelId="{F6E5FE12-0CA5-4379-A888-E05DAE70D924}" type="presOf" srcId="{76B7B5B4-FC9A-4A65-B9EC-FDDEA94F8CCC}" destId="{6E11ED7B-4FBA-43B0-9C0F-FA27404435BB}" srcOrd="0" destOrd="0" presId="urn:microsoft.com/office/officeart/2005/8/layout/hList1"/>
    <dgm:cxn modelId="{B789122C-97E7-4737-B7F7-3362FBD9878A}" type="presOf" srcId="{44C58571-3FDD-43C8-A49E-2EBCB56BD08A}" destId="{A378BC1F-7DCA-46B3-B1B5-B3A1CCDDDB25}" srcOrd="0" destOrd="0" presId="urn:microsoft.com/office/officeart/2005/8/layout/hList1"/>
    <dgm:cxn modelId="{3361E131-DC63-46C5-B78C-A91E2A8C9A52}" type="presOf" srcId="{4AC65E45-22F0-44DD-A2E6-F38CD80DF0FD}" destId="{AB105F25-3875-4F8D-A8FE-D252FBCAE2F6}" srcOrd="0" destOrd="0" presId="urn:microsoft.com/office/officeart/2005/8/layout/hList1"/>
    <dgm:cxn modelId="{6E54A937-8A82-42B8-A4EC-EACC10B0B4E0}" type="presOf" srcId="{DE4B6993-89A9-4073-9194-9622AD930BAE}" destId="{48660EA9-02C8-442E-9A44-B350480E7421}" srcOrd="0" destOrd="0" presId="urn:microsoft.com/office/officeart/2005/8/layout/hList1"/>
    <dgm:cxn modelId="{4A91E69C-047F-481D-BC55-EF4D52751DD4}" type="presOf" srcId="{D8C37AC5-3927-4DDE-BF16-0977D4C96AD0}" destId="{209F6213-6958-45ED-ACBE-A67F5E93B532}" srcOrd="0" destOrd="0" presId="urn:microsoft.com/office/officeart/2005/8/layout/hList1"/>
    <dgm:cxn modelId="{80F876A3-D335-46D6-A7AB-966EF8AA43E4}" srcId="{DE4B6993-89A9-4073-9194-9622AD930BAE}" destId="{4AC65E45-22F0-44DD-A2E6-F38CD80DF0FD}" srcOrd="0" destOrd="0" parTransId="{8FF247AB-8F21-4233-8687-ADD42340D345}" sibTransId="{9B3A7BB9-8FD9-497B-BFD3-45C658129671}"/>
    <dgm:cxn modelId="{4BBC97A3-3590-4EE7-9B78-0D57B6601AA3}" srcId="{DE4B6993-89A9-4073-9194-9622AD930BAE}" destId="{76B7B5B4-FC9A-4A65-B9EC-FDDEA94F8CCC}" srcOrd="1" destOrd="0" parTransId="{610D6CE0-BCC5-42CA-BA69-7B7CC8E29851}" sibTransId="{E90E82D7-9F7F-4CF9-B698-BCAAF8564973}"/>
    <dgm:cxn modelId="{9F3B53B6-A17F-4539-83F6-390303D638DF}" type="presOf" srcId="{1321844C-8A9B-4644-AE19-C4F0DAC43736}" destId="{24A5F96E-530B-4F40-9C97-D7C53D14C6ED}" srcOrd="0" destOrd="0" presId="urn:microsoft.com/office/officeart/2005/8/layout/hList1"/>
    <dgm:cxn modelId="{FB249FC4-EFDD-43E3-9FEE-88F29346ECC2}" srcId="{4AC65E45-22F0-44DD-A2E6-F38CD80DF0FD}" destId="{44C58571-3FDD-43C8-A49E-2EBCB56BD08A}" srcOrd="0" destOrd="0" parTransId="{0F2CC3A6-6FB7-464E-9466-18DB397B8D09}" sibTransId="{50DE1110-D683-42F1-A629-58336A4BADFB}"/>
    <dgm:cxn modelId="{F0C114E3-6FEB-49ED-862A-C80B0164C6E3}" srcId="{DE4B6993-89A9-4073-9194-9622AD930BAE}" destId="{1321844C-8A9B-4644-AE19-C4F0DAC43736}" srcOrd="2" destOrd="0" parTransId="{1104F29C-21A2-47F2-8421-865D6A29A2EB}" sibTransId="{05EBC396-7FFD-4FB6-B1FF-B45AD7110D41}"/>
    <dgm:cxn modelId="{A57B9FE6-B216-4544-ADEC-112B874B4541}" type="presOf" srcId="{411F7144-444F-4C16-AC0C-90580D05448F}" destId="{00109CFC-E829-4831-BD9B-3CC17A1592AD}" srcOrd="0" destOrd="0" presId="urn:microsoft.com/office/officeart/2005/8/layout/hList1"/>
    <dgm:cxn modelId="{55C3EEFE-1778-4B08-8F15-CE890E0C9169}" srcId="{1321844C-8A9B-4644-AE19-C4F0DAC43736}" destId="{D8C37AC5-3927-4DDE-BF16-0977D4C96AD0}" srcOrd="0" destOrd="0" parTransId="{6F80F783-8775-4E08-A551-B6894778850B}" sibTransId="{2E76D6B3-A295-46B6-BE23-2A1782BE29BA}"/>
    <dgm:cxn modelId="{5C2836D7-7BE1-4C8E-8408-7A7A16ABD36C}" type="presParOf" srcId="{48660EA9-02C8-442E-9A44-B350480E7421}" destId="{07DE774C-CC5F-4AED-85E7-E83501C778CC}" srcOrd="0" destOrd="0" presId="urn:microsoft.com/office/officeart/2005/8/layout/hList1"/>
    <dgm:cxn modelId="{68C2E2DC-B603-473A-8528-CD525577C91B}" type="presParOf" srcId="{07DE774C-CC5F-4AED-85E7-E83501C778CC}" destId="{AB105F25-3875-4F8D-A8FE-D252FBCAE2F6}" srcOrd="0" destOrd="0" presId="urn:microsoft.com/office/officeart/2005/8/layout/hList1"/>
    <dgm:cxn modelId="{E2940A61-A591-4D44-9BAB-37567EC66243}" type="presParOf" srcId="{07DE774C-CC5F-4AED-85E7-E83501C778CC}" destId="{A378BC1F-7DCA-46B3-B1B5-B3A1CCDDDB25}" srcOrd="1" destOrd="0" presId="urn:microsoft.com/office/officeart/2005/8/layout/hList1"/>
    <dgm:cxn modelId="{D0A92B8D-0334-40BD-B449-A55923D0249A}" type="presParOf" srcId="{48660EA9-02C8-442E-9A44-B350480E7421}" destId="{3B97DB07-1E76-4393-BAEE-D03AED9AC0FC}" srcOrd="1" destOrd="0" presId="urn:microsoft.com/office/officeart/2005/8/layout/hList1"/>
    <dgm:cxn modelId="{65DDA671-CBE7-4689-85F1-9289239FA652}" type="presParOf" srcId="{48660EA9-02C8-442E-9A44-B350480E7421}" destId="{CC5C8F6A-0F05-484A-A9A7-EB2F7B50CC26}" srcOrd="2" destOrd="0" presId="urn:microsoft.com/office/officeart/2005/8/layout/hList1"/>
    <dgm:cxn modelId="{71A8ECAA-2914-4E61-8F34-81DD8D45BD8A}" type="presParOf" srcId="{CC5C8F6A-0F05-484A-A9A7-EB2F7B50CC26}" destId="{6E11ED7B-4FBA-43B0-9C0F-FA27404435BB}" srcOrd="0" destOrd="0" presId="urn:microsoft.com/office/officeart/2005/8/layout/hList1"/>
    <dgm:cxn modelId="{1831E4AC-CED4-4C45-A22F-0746410EAB07}" type="presParOf" srcId="{CC5C8F6A-0F05-484A-A9A7-EB2F7B50CC26}" destId="{00109CFC-E829-4831-BD9B-3CC17A1592AD}" srcOrd="1" destOrd="0" presId="urn:microsoft.com/office/officeart/2005/8/layout/hList1"/>
    <dgm:cxn modelId="{0CA66E8A-7A0C-4FAC-91DE-E2B98FC5F565}" type="presParOf" srcId="{48660EA9-02C8-442E-9A44-B350480E7421}" destId="{B9EE0A9E-DDA8-4A73-AEE2-751D5090CAFA}" srcOrd="3" destOrd="0" presId="urn:microsoft.com/office/officeart/2005/8/layout/hList1"/>
    <dgm:cxn modelId="{7F131538-F8A7-433B-9898-B5060954D3C7}" type="presParOf" srcId="{48660EA9-02C8-442E-9A44-B350480E7421}" destId="{BD492B27-D9F9-433B-916D-461F3009D86F}" srcOrd="4" destOrd="0" presId="urn:microsoft.com/office/officeart/2005/8/layout/hList1"/>
    <dgm:cxn modelId="{AFB9807B-CB3E-41DA-9CBC-303DA5EAF42C}" type="presParOf" srcId="{BD492B27-D9F9-433B-916D-461F3009D86F}" destId="{24A5F96E-530B-4F40-9C97-D7C53D14C6ED}" srcOrd="0" destOrd="0" presId="urn:microsoft.com/office/officeart/2005/8/layout/hList1"/>
    <dgm:cxn modelId="{F287F66F-F2EB-4876-A64F-ADA6A013FCAC}" type="presParOf" srcId="{BD492B27-D9F9-433B-916D-461F3009D86F}" destId="{209F6213-6958-45ED-ACBE-A67F5E93B53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A2530C7-6323-4298-9CA2-ED27A26EA129}" type="doc">
      <dgm:prSet loTypeId="urn:microsoft.com/office/officeart/2005/8/layout/list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hu-HU"/>
        </a:p>
      </dgm:t>
    </dgm:pt>
    <dgm:pt modelId="{204CAA71-42F3-4E33-A8CE-2FA9BDB7B18F}">
      <dgm:prSet phldrT="[Szöveg]" custT="1"/>
      <dgm:spPr/>
      <dgm:t>
        <a:bodyPr/>
        <a:lstStyle/>
        <a:p>
          <a:r>
            <a:rPr lang="hu-HU" sz="2400" b="1" dirty="0">
              <a:solidFill>
                <a:schemeClr val="tx1"/>
              </a:solidFill>
              <a:latin typeface="+mn-lt"/>
            </a:rPr>
            <a:t>Új jogintézmény – EU Digitális szolgáltatási rendelet (DSA)</a:t>
          </a:r>
        </a:p>
      </dgm:t>
    </dgm:pt>
    <dgm:pt modelId="{7388DA64-D754-49CC-9419-6B34C686C1EA}" type="parTrans" cxnId="{3EB0CCAF-39BD-479C-B378-7D9C4A6ACCB7}">
      <dgm:prSet/>
      <dgm:spPr/>
      <dgm:t>
        <a:bodyPr/>
        <a:lstStyle/>
        <a:p>
          <a:endParaRPr lang="hu-HU">
            <a:solidFill>
              <a:schemeClr val="tx1"/>
            </a:solidFill>
          </a:endParaRPr>
        </a:p>
      </dgm:t>
    </dgm:pt>
    <dgm:pt modelId="{2B5C80CA-6BA8-49F2-88DF-3EDA044DBB2B}" type="sibTrans" cxnId="{3EB0CCAF-39BD-479C-B378-7D9C4A6ACCB7}">
      <dgm:prSet/>
      <dgm:spPr/>
      <dgm:t>
        <a:bodyPr/>
        <a:lstStyle/>
        <a:p>
          <a:endParaRPr lang="hu-HU">
            <a:solidFill>
              <a:schemeClr val="tx1"/>
            </a:solidFill>
          </a:endParaRPr>
        </a:p>
      </dgm:t>
    </dgm:pt>
    <dgm:pt modelId="{69AF0924-F704-4DAF-A1C0-1AF4AB965233}">
      <dgm:prSet phldrT="[Szöveg]" custT="1"/>
      <dgm:spPr/>
      <dgm:t>
        <a:bodyPr/>
        <a:lstStyle/>
        <a:p>
          <a:r>
            <a:rPr lang="hu-HU" sz="2400" b="1" kern="1200" dirty="0">
              <a:solidFill>
                <a:schemeClr val="tx1"/>
              </a:solidFill>
              <a:latin typeface="+mn-lt"/>
              <a:ea typeface="+mn-ea"/>
              <a:cs typeface="+mn-cs"/>
            </a:rPr>
            <a:t>Rendszerszintű kockázatok azonosítása és kezelése </a:t>
          </a:r>
        </a:p>
      </dgm:t>
    </dgm:pt>
    <dgm:pt modelId="{4314462D-A448-4440-BB75-052B2443A525}" type="parTrans" cxnId="{1AA68AED-5282-4EF7-A233-59CE6EB3B199}">
      <dgm:prSet/>
      <dgm:spPr/>
      <dgm:t>
        <a:bodyPr/>
        <a:lstStyle/>
        <a:p>
          <a:endParaRPr lang="hu-HU">
            <a:solidFill>
              <a:schemeClr val="tx1"/>
            </a:solidFill>
          </a:endParaRPr>
        </a:p>
      </dgm:t>
    </dgm:pt>
    <dgm:pt modelId="{98F33E0E-1306-4168-A00C-8D8FC027FDE7}" type="sibTrans" cxnId="{1AA68AED-5282-4EF7-A233-59CE6EB3B199}">
      <dgm:prSet/>
      <dgm:spPr/>
      <dgm:t>
        <a:bodyPr/>
        <a:lstStyle/>
        <a:p>
          <a:endParaRPr lang="hu-HU">
            <a:solidFill>
              <a:schemeClr val="tx1"/>
            </a:solidFill>
          </a:endParaRPr>
        </a:p>
      </dgm:t>
    </dgm:pt>
    <dgm:pt modelId="{1DEC1385-2E25-4995-9848-5D2309A5327D}">
      <dgm:prSet phldrT="[Szöveg]" custT="1"/>
      <dgm:spPr/>
      <dgm:t>
        <a:bodyPr/>
        <a:lstStyle/>
        <a:p>
          <a:r>
            <a:rPr lang="hu-HU" sz="2400" b="1">
              <a:solidFill>
                <a:schemeClr val="tx1"/>
              </a:solidFill>
            </a:rPr>
            <a:t>Évente felülvizsgálat</a:t>
          </a:r>
          <a:endParaRPr lang="hu-HU" sz="2400" b="1" dirty="0">
            <a:solidFill>
              <a:schemeClr val="tx1"/>
            </a:solidFill>
          </a:endParaRPr>
        </a:p>
      </dgm:t>
    </dgm:pt>
    <dgm:pt modelId="{0AFCEFDE-554F-4483-A955-E26C8886F1FC}" type="parTrans" cxnId="{61D35988-8B0F-4F4B-9668-CDE333538377}">
      <dgm:prSet/>
      <dgm:spPr/>
      <dgm:t>
        <a:bodyPr/>
        <a:lstStyle/>
        <a:p>
          <a:endParaRPr lang="hu-HU">
            <a:solidFill>
              <a:schemeClr val="tx1"/>
            </a:solidFill>
          </a:endParaRPr>
        </a:p>
      </dgm:t>
    </dgm:pt>
    <dgm:pt modelId="{7BA82255-E6BC-4AB2-96ED-9827E9E93374}" type="sibTrans" cxnId="{61D35988-8B0F-4F4B-9668-CDE333538377}">
      <dgm:prSet/>
      <dgm:spPr/>
      <dgm:t>
        <a:bodyPr/>
        <a:lstStyle/>
        <a:p>
          <a:endParaRPr lang="hu-HU">
            <a:solidFill>
              <a:schemeClr val="tx1"/>
            </a:solidFill>
          </a:endParaRPr>
        </a:p>
      </dgm:t>
    </dgm:pt>
    <dgm:pt modelId="{A553A046-EE4A-4938-AED6-771B55D97577}">
      <dgm:prSet custT="1"/>
      <dgm:spPr/>
      <dgm:t>
        <a:bodyPr/>
        <a:lstStyle/>
        <a:p>
          <a:r>
            <a:rPr lang="hu-HU" sz="2000" dirty="0">
              <a:solidFill>
                <a:schemeClr val="tx1"/>
              </a:solidFill>
            </a:rPr>
            <a:t>Óriásplatformok, nagyon népszerű online keresőprogramok</a:t>
          </a:r>
        </a:p>
      </dgm:t>
    </dgm:pt>
    <dgm:pt modelId="{16FCA4F9-CC9D-4153-BA14-C754AC0D0FE1}" type="parTrans" cxnId="{4DBAC5DA-9E4D-45C9-AFA5-BC3A820E8756}">
      <dgm:prSet/>
      <dgm:spPr/>
      <dgm:t>
        <a:bodyPr/>
        <a:lstStyle/>
        <a:p>
          <a:endParaRPr lang="hu-HU">
            <a:solidFill>
              <a:schemeClr val="tx1"/>
            </a:solidFill>
          </a:endParaRPr>
        </a:p>
      </dgm:t>
    </dgm:pt>
    <dgm:pt modelId="{9DED0F12-C765-40D9-884D-B1D58FD17F12}" type="sibTrans" cxnId="{4DBAC5DA-9E4D-45C9-AFA5-BC3A820E8756}">
      <dgm:prSet/>
      <dgm:spPr/>
      <dgm:t>
        <a:bodyPr/>
        <a:lstStyle/>
        <a:p>
          <a:endParaRPr lang="hu-HU">
            <a:solidFill>
              <a:schemeClr val="tx1"/>
            </a:solidFill>
          </a:endParaRPr>
        </a:p>
      </dgm:t>
    </dgm:pt>
    <dgm:pt modelId="{E92238BE-536C-4C3D-A5C3-039FCFBC7879}">
      <dgm:prSet/>
      <dgm:spPr/>
      <dgm:t>
        <a:bodyPr/>
        <a:lstStyle/>
        <a:p>
          <a:r>
            <a:rPr lang="hu-HU" dirty="0">
              <a:solidFill>
                <a:schemeClr val="tx1"/>
              </a:solidFill>
            </a:rPr>
            <a:t>Önálló témakör az alapvető jogok gyakorlását érintő tényleges vagy várható hatások</a:t>
          </a:r>
        </a:p>
      </dgm:t>
    </dgm:pt>
    <dgm:pt modelId="{223ECA3E-8660-4D1C-B460-65E0358A1104}" type="parTrans" cxnId="{13374A08-6D8A-423A-B16D-5D1BCD7CB1FA}">
      <dgm:prSet/>
      <dgm:spPr/>
      <dgm:t>
        <a:bodyPr/>
        <a:lstStyle/>
        <a:p>
          <a:endParaRPr lang="hu-HU">
            <a:solidFill>
              <a:schemeClr val="tx1"/>
            </a:solidFill>
          </a:endParaRPr>
        </a:p>
      </dgm:t>
    </dgm:pt>
    <dgm:pt modelId="{ACD5D89D-869D-466A-9FD8-DF1413CE4F2E}" type="sibTrans" cxnId="{13374A08-6D8A-423A-B16D-5D1BCD7CB1FA}">
      <dgm:prSet/>
      <dgm:spPr/>
      <dgm:t>
        <a:bodyPr/>
        <a:lstStyle/>
        <a:p>
          <a:endParaRPr lang="hu-HU">
            <a:solidFill>
              <a:schemeClr val="tx1"/>
            </a:solidFill>
          </a:endParaRPr>
        </a:p>
      </dgm:t>
    </dgm:pt>
    <dgm:pt modelId="{655662F5-96EE-4CDA-BF3D-FBB17F5F07CB}">
      <dgm:prSet/>
      <dgm:spPr/>
      <dgm:t>
        <a:bodyPr/>
        <a:lstStyle/>
        <a:p>
          <a:r>
            <a:rPr lang="hu-HU" dirty="0">
              <a:solidFill>
                <a:schemeClr val="tx1"/>
              </a:solidFill>
            </a:rPr>
            <a:t>Pl. emberi méltóság, magánélethez való jog, személyes adatok védelme  </a:t>
          </a:r>
        </a:p>
      </dgm:t>
    </dgm:pt>
    <dgm:pt modelId="{6B778998-3E35-43AB-AD61-1E4951507968}" type="parTrans" cxnId="{58C2FEF1-C9F6-40DD-947F-B5EC315B81BC}">
      <dgm:prSet/>
      <dgm:spPr/>
      <dgm:t>
        <a:bodyPr/>
        <a:lstStyle/>
        <a:p>
          <a:endParaRPr lang="hu-HU">
            <a:solidFill>
              <a:schemeClr val="tx1"/>
            </a:solidFill>
          </a:endParaRPr>
        </a:p>
      </dgm:t>
    </dgm:pt>
    <dgm:pt modelId="{1D905D3F-EE4E-4686-88FF-38A704DE256F}" type="sibTrans" cxnId="{58C2FEF1-C9F6-40DD-947F-B5EC315B81BC}">
      <dgm:prSet/>
      <dgm:spPr/>
      <dgm:t>
        <a:bodyPr/>
        <a:lstStyle/>
        <a:p>
          <a:endParaRPr lang="hu-HU">
            <a:solidFill>
              <a:schemeClr val="tx1"/>
            </a:solidFill>
          </a:endParaRPr>
        </a:p>
      </dgm:t>
    </dgm:pt>
    <dgm:pt modelId="{F1B98095-4865-43A0-A1C8-164DEB29F254}" type="pres">
      <dgm:prSet presAssocID="{1A2530C7-6323-4298-9CA2-ED27A26EA129}" presName="linear" presStyleCnt="0">
        <dgm:presLayoutVars>
          <dgm:dir/>
          <dgm:animLvl val="lvl"/>
          <dgm:resizeHandles val="exact"/>
        </dgm:presLayoutVars>
      </dgm:prSet>
      <dgm:spPr/>
    </dgm:pt>
    <dgm:pt modelId="{E4DCF635-C3B4-418A-8008-A36A7D82FBD7}" type="pres">
      <dgm:prSet presAssocID="{204CAA71-42F3-4E33-A8CE-2FA9BDB7B18F}" presName="parentLin" presStyleCnt="0"/>
      <dgm:spPr/>
    </dgm:pt>
    <dgm:pt modelId="{E402395E-3D2C-40AB-AEEA-B310363359C4}" type="pres">
      <dgm:prSet presAssocID="{204CAA71-42F3-4E33-A8CE-2FA9BDB7B18F}" presName="parentLeftMargin" presStyleLbl="node1" presStyleIdx="0" presStyleCnt="3"/>
      <dgm:spPr/>
    </dgm:pt>
    <dgm:pt modelId="{21372A90-8D5A-4242-A4D7-2498C8FF9BFD}" type="pres">
      <dgm:prSet presAssocID="{204CAA71-42F3-4E33-A8CE-2FA9BDB7B18F}" presName="parentText" presStyleLbl="node1" presStyleIdx="0" presStyleCnt="3" custScaleY="154535" custLinFactNeighborX="3320" custLinFactNeighborY="-7888">
        <dgm:presLayoutVars>
          <dgm:chMax val="0"/>
          <dgm:bulletEnabled val="1"/>
        </dgm:presLayoutVars>
      </dgm:prSet>
      <dgm:spPr/>
    </dgm:pt>
    <dgm:pt modelId="{ACA6D8E5-78D4-4BD5-A731-4C0F3DC295C5}" type="pres">
      <dgm:prSet presAssocID="{204CAA71-42F3-4E33-A8CE-2FA9BDB7B18F}" presName="negativeSpace" presStyleCnt="0"/>
      <dgm:spPr/>
    </dgm:pt>
    <dgm:pt modelId="{F87CAC89-ABD6-4438-8EBD-A8215BE23274}" type="pres">
      <dgm:prSet presAssocID="{204CAA71-42F3-4E33-A8CE-2FA9BDB7B18F}" presName="childText" presStyleLbl="conFgAcc1" presStyleIdx="0" presStyleCnt="3">
        <dgm:presLayoutVars>
          <dgm:bulletEnabled val="1"/>
        </dgm:presLayoutVars>
      </dgm:prSet>
      <dgm:spPr/>
    </dgm:pt>
    <dgm:pt modelId="{5D9524A6-D8A1-4F53-9657-4ECE09BD5628}" type="pres">
      <dgm:prSet presAssocID="{2B5C80CA-6BA8-49F2-88DF-3EDA044DBB2B}" presName="spaceBetweenRectangles" presStyleCnt="0"/>
      <dgm:spPr/>
    </dgm:pt>
    <dgm:pt modelId="{20B31C24-6EB8-47F3-BA25-5BE3C52434AF}" type="pres">
      <dgm:prSet presAssocID="{69AF0924-F704-4DAF-A1C0-1AF4AB965233}" presName="parentLin" presStyleCnt="0"/>
      <dgm:spPr/>
    </dgm:pt>
    <dgm:pt modelId="{001AA42B-ADF3-4EA5-BA30-5F530BACB7E3}" type="pres">
      <dgm:prSet presAssocID="{69AF0924-F704-4DAF-A1C0-1AF4AB965233}" presName="parentLeftMargin" presStyleLbl="node1" presStyleIdx="0" presStyleCnt="3"/>
      <dgm:spPr/>
    </dgm:pt>
    <dgm:pt modelId="{EDB72C7E-E084-4ECD-AA15-002C4C70A2A2}" type="pres">
      <dgm:prSet presAssocID="{69AF0924-F704-4DAF-A1C0-1AF4AB965233}" presName="parentText" presStyleLbl="node1" presStyleIdx="1" presStyleCnt="3" custScaleX="99122" custScaleY="142382" custLinFactNeighborX="2262" custLinFactNeighborY="856">
        <dgm:presLayoutVars>
          <dgm:chMax val="0"/>
          <dgm:bulletEnabled val="1"/>
        </dgm:presLayoutVars>
      </dgm:prSet>
      <dgm:spPr/>
    </dgm:pt>
    <dgm:pt modelId="{5055AE25-519B-49F0-828C-F29E95BA04B2}" type="pres">
      <dgm:prSet presAssocID="{69AF0924-F704-4DAF-A1C0-1AF4AB965233}" presName="negativeSpace" presStyleCnt="0"/>
      <dgm:spPr/>
    </dgm:pt>
    <dgm:pt modelId="{18A28119-F0B2-4DC0-AE3B-B1C33194B42D}" type="pres">
      <dgm:prSet presAssocID="{69AF0924-F704-4DAF-A1C0-1AF4AB965233}" presName="childText" presStyleLbl="conFgAcc1" presStyleIdx="1" presStyleCnt="3">
        <dgm:presLayoutVars>
          <dgm:bulletEnabled val="1"/>
        </dgm:presLayoutVars>
      </dgm:prSet>
      <dgm:spPr/>
    </dgm:pt>
    <dgm:pt modelId="{9BBFACF7-DC9A-4A22-BAF6-4CE6FDF0D02F}" type="pres">
      <dgm:prSet presAssocID="{98F33E0E-1306-4168-A00C-8D8FC027FDE7}" presName="spaceBetweenRectangles" presStyleCnt="0"/>
      <dgm:spPr/>
    </dgm:pt>
    <dgm:pt modelId="{02872A35-FA90-4F59-8738-BB404E4FB64E}" type="pres">
      <dgm:prSet presAssocID="{1DEC1385-2E25-4995-9848-5D2309A5327D}" presName="parentLin" presStyleCnt="0"/>
      <dgm:spPr/>
    </dgm:pt>
    <dgm:pt modelId="{9F210515-828E-4397-B15C-915409BDED23}" type="pres">
      <dgm:prSet presAssocID="{1DEC1385-2E25-4995-9848-5D2309A5327D}" presName="parentLeftMargin" presStyleLbl="node1" presStyleIdx="1" presStyleCnt="3"/>
      <dgm:spPr/>
    </dgm:pt>
    <dgm:pt modelId="{81363069-E68D-4D73-924E-AE9A293B1420}" type="pres">
      <dgm:prSet presAssocID="{1DEC1385-2E25-4995-9848-5D2309A5327D}" presName="parentText" presStyleLbl="node1" presStyleIdx="2" presStyleCnt="3" custLinFactNeighborX="-13900" custLinFactNeighborY="6154">
        <dgm:presLayoutVars>
          <dgm:chMax val="0"/>
          <dgm:bulletEnabled val="1"/>
        </dgm:presLayoutVars>
      </dgm:prSet>
      <dgm:spPr/>
    </dgm:pt>
    <dgm:pt modelId="{2E627405-C7A0-4539-8FDD-4D1708CBADFC}" type="pres">
      <dgm:prSet presAssocID="{1DEC1385-2E25-4995-9848-5D2309A5327D}" presName="negativeSpace" presStyleCnt="0"/>
      <dgm:spPr/>
    </dgm:pt>
    <dgm:pt modelId="{D1A81680-1AFE-45E7-9BD0-615587B95299}" type="pres">
      <dgm:prSet presAssocID="{1DEC1385-2E25-4995-9848-5D2309A5327D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13374A08-6D8A-423A-B16D-5D1BCD7CB1FA}" srcId="{69AF0924-F704-4DAF-A1C0-1AF4AB965233}" destId="{E92238BE-536C-4C3D-A5C3-039FCFBC7879}" srcOrd="0" destOrd="0" parTransId="{223ECA3E-8660-4D1C-B460-65E0358A1104}" sibTransId="{ACD5D89D-869D-466A-9FD8-DF1413CE4F2E}"/>
    <dgm:cxn modelId="{91B3B131-4BD8-4933-895D-40B203DC797B}" type="presOf" srcId="{1DEC1385-2E25-4995-9848-5D2309A5327D}" destId="{9F210515-828E-4397-B15C-915409BDED23}" srcOrd="0" destOrd="0" presId="urn:microsoft.com/office/officeart/2005/8/layout/list1"/>
    <dgm:cxn modelId="{3188633D-8FB6-4657-A43F-9D612386768C}" type="presOf" srcId="{A553A046-EE4A-4938-AED6-771B55D97577}" destId="{F87CAC89-ABD6-4438-8EBD-A8215BE23274}" srcOrd="0" destOrd="0" presId="urn:microsoft.com/office/officeart/2005/8/layout/list1"/>
    <dgm:cxn modelId="{07B07D42-6117-49F2-820E-BD719B6F0727}" type="presOf" srcId="{69AF0924-F704-4DAF-A1C0-1AF4AB965233}" destId="{EDB72C7E-E084-4ECD-AA15-002C4C70A2A2}" srcOrd="1" destOrd="0" presId="urn:microsoft.com/office/officeart/2005/8/layout/list1"/>
    <dgm:cxn modelId="{A4632D43-1885-4FC6-8A8A-2B5379CFA42D}" type="presOf" srcId="{204CAA71-42F3-4E33-A8CE-2FA9BDB7B18F}" destId="{E402395E-3D2C-40AB-AEEA-B310363359C4}" srcOrd="0" destOrd="0" presId="urn:microsoft.com/office/officeart/2005/8/layout/list1"/>
    <dgm:cxn modelId="{35A43449-B0DA-4C1D-A92F-627DA49F6F96}" type="presOf" srcId="{E92238BE-536C-4C3D-A5C3-039FCFBC7879}" destId="{18A28119-F0B2-4DC0-AE3B-B1C33194B42D}" srcOrd="0" destOrd="0" presId="urn:microsoft.com/office/officeart/2005/8/layout/list1"/>
    <dgm:cxn modelId="{61D35988-8B0F-4F4B-9668-CDE333538377}" srcId="{1A2530C7-6323-4298-9CA2-ED27A26EA129}" destId="{1DEC1385-2E25-4995-9848-5D2309A5327D}" srcOrd="2" destOrd="0" parTransId="{0AFCEFDE-554F-4483-A955-E26C8886F1FC}" sibTransId="{7BA82255-E6BC-4AB2-96ED-9827E9E93374}"/>
    <dgm:cxn modelId="{AF32C5A4-ABB9-4CD2-949E-C662EFC54CD9}" type="presOf" srcId="{69AF0924-F704-4DAF-A1C0-1AF4AB965233}" destId="{001AA42B-ADF3-4EA5-BA30-5F530BACB7E3}" srcOrd="0" destOrd="0" presId="urn:microsoft.com/office/officeart/2005/8/layout/list1"/>
    <dgm:cxn modelId="{3EB0CCAF-39BD-479C-B378-7D9C4A6ACCB7}" srcId="{1A2530C7-6323-4298-9CA2-ED27A26EA129}" destId="{204CAA71-42F3-4E33-A8CE-2FA9BDB7B18F}" srcOrd="0" destOrd="0" parTransId="{7388DA64-D754-49CC-9419-6B34C686C1EA}" sibTransId="{2B5C80CA-6BA8-49F2-88DF-3EDA044DBB2B}"/>
    <dgm:cxn modelId="{0DECC8C7-21B9-45C8-8CDD-9DECFC713339}" type="presOf" srcId="{1DEC1385-2E25-4995-9848-5D2309A5327D}" destId="{81363069-E68D-4D73-924E-AE9A293B1420}" srcOrd="1" destOrd="0" presId="urn:microsoft.com/office/officeart/2005/8/layout/list1"/>
    <dgm:cxn modelId="{C4B609D3-A7D6-4D0A-9ECA-3BABD167B975}" type="presOf" srcId="{204CAA71-42F3-4E33-A8CE-2FA9BDB7B18F}" destId="{21372A90-8D5A-4242-A4D7-2498C8FF9BFD}" srcOrd="1" destOrd="0" presId="urn:microsoft.com/office/officeart/2005/8/layout/list1"/>
    <dgm:cxn modelId="{92279BD6-B089-426F-AA25-BCA123CD73F0}" type="presOf" srcId="{1A2530C7-6323-4298-9CA2-ED27A26EA129}" destId="{F1B98095-4865-43A0-A1C8-164DEB29F254}" srcOrd="0" destOrd="0" presId="urn:microsoft.com/office/officeart/2005/8/layout/list1"/>
    <dgm:cxn modelId="{4DBAC5DA-9E4D-45C9-AFA5-BC3A820E8756}" srcId="{204CAA71-42F3-4E33-A8CE-2FA9BDB7B18F}" destId="{A553A046-EE4A-4938-AED6-771B55D97577}" srcOrd="0" destOrd="0" parTransId="{16FCA4F9-CC9D-4153-BA14-C754AC0D0FE1}" sibTransId="{9DED0F12-C765-40D9-884D-B1D58FD17F12}"/>
    <dgm:cxn modelId="{DA6B47E6-4875-47CE-9809-CC69A12416A4}" type="presOf" srcId="{655662F5-96EE-4CDA-BF3D-FBB17F5F07CB}" destId="{18A28119-F0B2-4DC0-AE3B-B1C33194B42D}" srcOrd="0" destOrd="1" presId="urn:microsoft.com/office/officeart/2005/8/layout/list1"/>
    <dgm:cxn modelId="{1AA68AED-5282-4EF7-A233-59CE6EB3B199}" srcId="{1A2530C7-6323-4298-9CA2-ED27A26EA129}" destId="{69AF0924-F704-4DAF-A1C0-1AF4AB965233}" srcOrd="1" destOrd="0" parTransId="{4314462D-A448-4440-BB75-052B2443A525}" sibTransId="{98F33E0E-1306-4168-A00C-8D8FC027FDE7}"/>
    <dgm:cxn modelId="{58C2FEF1-C9F6-40DD-947F-B5EC315B81BC}" srcId="{69AF0924-F704-4DAF-A1C0-1AF4AB965233}" destId="{655662F5-96EE-4CDA-BF3D-FBB17F5F07CB}" srcOrd="1" destOrd="0" parTransId="{6B778998-3E35-43AB-AD61-1E4951507968}" sibTransId="{1D905D3F-EE4E-4686-88FF-38A704DE256F}"/>
    <dgm:cxn modelId="{987F923E-EBB9-4247-B8A1-B078BE0E3C54}" type="presParOf" srcId="{F1B98095-4865-43A0-A1C8-164DEB29F254}" destId="{E4DCF635-C3B4-418A-8008-A36A7D82FBD7}" srcOrd="0" destOrd="0" presId="urn:microsoft.com/office/officeart/2005/8/layout/list1"/>
    <dgm:cxn modelId="{1C06CB0B-8A87-45A8-A0AE-5EC817B34269}" type="presParOf" srcId="{E4DCF635-C3B4-418A-8008-A36A7D82FBD7}" destId="{E402395E-3D2C-40AB-AEEA-B310363359C4}" srcOrd="0" destOrd="0" presId="urn:microsoft.com/office/officeart/2005/8/layout/list1"/>
    <dgm:cxn modelId="{A208D7E2-6B57-4F66-9A58-CC10807AEF76}" type="presParOf" srcId="{E4DCF635-C3B4-418A-8008-A36A7D82FBD7}" destId="{21372A90-8D5A-4242-A4D7-2498C8FF9BFD}" srcOrd="1" destOrd="0" presId="urn:microsoft.com/office/officeart/2005/8/layout/list1"/>
    <dgm:cxn modelId="{89C33957-A43A-4FD6-93C5-58D2693C2401}" type="presParOf" srcId="{F1B98095-4865-43A0-A1C8-164DEB29F254}" destId="{ACA6D8E5-78D4-4BD5-A731-4C0F3DC295C5}" srcOrd="1" destOrd="0" presId="urn:microsoft.com/office/officeart/2005/8/layout/list1"/>
    <dgm:cxn modelId="{3E5466AE-1D06-475B-BFB0-550BE9EF0EE7}" type="presParOf" srcId="{F1B98095-4865-43A0-A1C8-164DEB29F254}" destId="{F87CAC89-ABD6-4438-8EBD-A8215BE23274}" srcOrd="2" destOrd="0" presId="urn:microsoft.com/office/officeart/2005/8/layout/list1"/>
    <dgm:cxn modelId="{FCCAFBA0-FA59-4227-A2BD-4BC0B2D87F0B}" type="presParOf" srcId="{F1B98095-4865-43A0-A1C8-164DEB29F254}" destId="{5D9524A6-D8A1-4F53-9657-4ECE09BD5628}" srcOrd="3" destOrd="0" presId="urn:microsoft.com/office/officeart/2005/8/layout/list1"/>
    <dgm:cxn modelId="{A2BAEB81-6E73-4602-B49A-7E1FF60AC652}" type="presParOf" srcId="{F1B98095-4865-43A0-A1C8-164DEB29F254}" destId="{20B31C24-6EB8-47F3-BA25-5BE3C52434AF}" srcOrd="4" destOrd="0" presId="urn:microsoft.com/office/officeart/2005/8/layout/list1"/>
    <dgm:cxn modelId="{64FD9411-8FE3-4D2E-BE25-BC6864E3F846}" type="presParOf" srcId="{20B31C24-6EB8-47F3-BA25-5BE3C52434AF}" destId="{001AA42B-ADF3-4EA5-BA30-5F530BACB7E3}" srcOrd="0" destOrd="0" presId="urn:microsoft.com/office/officeart/2005/8/layout/list1"/>
    <dgm:cxn modelId="{B1C11EBB-0091-427D-A201-857762BB6435}" type="presParOf" srcId="{20B31C24-6EB8-47F3-BA25-5BE3C52434AF}" destId="{EDB72C7E-E084-4ECD-AA15-002C4C70A2A2}" srcOrd="1" destOrd="0" presId="urn:microsoft.com/office/officeart/2005/8/layout/list1"/>
    <dgm:cxn modelId="{2F582919-BE91-4194-96F7-D7A640F94B22}" type="presParOf" srcId="{F1B98095-4865-43A0-A1C8-164DEB29F254}" destId="{5055AE25-519B-49F0-828C-F29E95BA04B2}" srcOrd="5" destOrd="0" presId="urn:microsoft.com/office/officeart/2005/8/layout/list1"/>
    <dgm:cxn modelId="{C24258D4-49E1-4B42-B646-A867DE8AE760}" type="presParOf" srcId="{F1B98095-4865-43A0-A1C8-164DEB29F254}" destId="{18A28119-F0B2-4DC0-AE3B-B1C33194B42D}" srcOrd="6" destOrd="0" presId="urn:microsoft.com/office/officeart/2005/8/layout/list1"/>
    <dgm:cxn modelId="{56C6208F-0A37-4D25-93F3-8ADDA8B8B9D0}" type="presParOf" srcId="{F1B98095-4865-43A0-A1C8-164DEB29F254}" destId="{9BBFACF7-DC9A-4A22-BAF6-4CE6FDF0D02F}" srcOrd="7" destOrd="0" presId="urn:microsoft.com/office/officeart/2005/8/layout/list1"/>
    <dgm:cxn modelId="{ADBAD45D-F6EA-4737-A595-51455B05A546}" type="presParOf" srcId="{F1B98095-4865-43A0-A1C8-164DEB29F254}" destId="{02872A35-FA90-4F59-8738-BB404E4FB64E}" srcOrd="8" destOrd="0" presId="urn:microsoft.com/office/officeart/2005/8/layout/list1"/>
    <dgm:cxn modelId="{A1B1E5BA-2CAB-425F-872E-82EF701DF358}" type="presParOf" srcId="{02872A35-FA90-4F59-8738-BB404E4FB64E}" destId="{9F210515-828E-4397-B15C-915409BDED23}" srcOrd="0" destOrd="0" presId="urn:microsoft.com/office/officeart/2005/8/layout/list1"/>
    <dgm:cxn modelId="{A6DF5F9A-9D80-4D51-9138-47F4C711E267}" type="presParOf" srcId="{02872A35-FA90-4F59-8738-BB404E4FB64E}" destId="{81363069-E68D-4D73-924E-AE9A293B1420}" srcOrd="1" destOrd="0" presId="urn:microsoft.com/office/officeart/2005/8/layout/list1"/>
    <dgm:cxn modelId="{808AD5F6-6514-4228-9CB6-D34E5AD26BC4}" type="presParOf" srcId="{F1B98095-4865-43A0-A1C8-164DEB29F254}" destId="{2E627405-C7A0-4539-8FDD-4D1708CBADFC}" srcOrd="9" destOrd="0" presId="urn:microsoft.com/office/officeart/2005/8/layout/list1"/>
    <dgm:cxn modelId="{1B9124F6-82B5-44C6-AA4B-3969ADF86D77}" type="presParOf" srcId="{F1B98095-4865-43A0-A1C8-164DEB29F254}" destId="{D1A81680-1AFE-45E7-9BD0-615587B9529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A75EDC-D87E-4469-89CF-93614E8B5DC8}">
      <dsp:nvSpPr>
        <dsp:cNvPr id="0" name=""/>
        <dsp:cNvSpPr/>
      </dsp:nvSpPr>
      <dsp:spPr>
        <a:xfrm>
          <a:off x="2438" y="1077817"/>
          <a:ext cx="2377523" cy="78866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300" kern="1200" dirty="0"/>
            <a:t>Tiszteletben tartás</a:t>
          </a:r>
        </a:p>
      </dsp:txBody>
      <dsp:txXfrm>
        <a:off x="2438" y="1077817"/>
        <a:ext cx="2377523" cy="788666"/>
      </dsp:txXfrm>
    </dsp:sp>
    <dsp:sp modelId="{F1E9E604-57E6-4F52-9D4D-21AA925768C2}">
      <dsp:nvSpPr>
        <dsp:cNvPr id="0" name=""/>
        <dsp:cNvSpPr/>
      </dsp:nvSpPr>
      <dsp:spPr>
        <a:xfrm>
          <a:off x="2438" y="1866484"/>
          <a:ext cx="2377523" cy="1808225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2300" kern="1200" dirty="0"/>
            <a:t>beavatkozástól való tartózkodás</a:t>
          </a:r>
        </a:p>
      </dsp:txBody>
      <dsp:txXfrm>
        <a:off x="2438" y="1866484"/>
        <a:ext cx="2377523" cy="1808225"/>
      </dsp:txXfrm>
    </dsp:sp>
    <dsp:sp modelId="{BF0D703D-5AED-4641-9EAD-BA96B34FDCF3}">
      <dsp:nvSpPr>
        <dsp:cNvPr id="0" name=""/>
        <dsp:cNvSpPr/>
      </dsp:nvSpPr>
      <dsp:spPr>
        <a:xfrm>
          <a:off x="2712814" y="1077817"/>
          <a:ext cx="2377523" cy="788666"/>
        </a:xfrm>
        <a:prstGeom prst="rect">
          <a:avLst/>
        </a:prstGeom>
        <a:solidFill>
          <a:schemeClr val="accent4">
            <a:hueOff val="2401755"/>
            <a:satOff val="9091"/>
            <a:lumOff val="-588"/>
            <a:alphaOff val="0"/>
          </a:schemeClr>
        </a:solidFill>
        <a:ln w="34925" cap="flat" cmpd="sng" algn="in">
          <a:solidFill>
            <a:schemeClr val="accent4">
              <a:hueOff val="2401755"/>
              <a:satOff val="9091"/>
              <a:lumOff val="-58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300" kern="1200" dirty="0"/>
            <a:t>Védelem</a:t>
          </a:r>
        </a:p>
      </dsp:txBody>
      <dsp:txXfrm>
        <a:off x="2712814" y="1077817"/>
        <a:ext cx="2377523" cy="788666"/>
      </dsp:txXfrm>
    </dsp:sp>
    <dsp:sp modelId="{A0B45E30-4407-4B7E-A044-75B9702280C5}">
      <dsp:nvSpPr>
        <dsp:cNvPr id="0" name=""/>
        <dsp:cNvSpPr/>
      </dsp:nvSpPr>
      <dsp:spPr>
        <a:xfrm>
          <a:off x="2712814" y="1866484"/>
          <a:ext cx="2377523" cy="1808225"/>
        </a:xfrm>
        <a:prstGeom prst="rect">
          <a:avLst/>
        </a:prstGeom>
        <a:solidFill>
          <a:schemeClr val="accent4">
            <a:tint val="40000"/>
            <a:alpha val="90000"/>
            <a:hueOff val="2505343"/>
            <a:satOff val="7103"/>
            <a:lumOff val="8"/>
            <a:alphaOff val="0"/>
          </a:schemeClr>
        </a:solidFill>
        <a:ln w="34925" cap="flat" cmpd="sng" algn="in">
          <a:solidFill>
            <a:schemeClr val="accent4">
              <a:tint val="40000"/>
              <a:alpha val="90000"/>
              <a:hueOff val="2505343"/>
              <a:satOff val="7103"/>
              <a:lumOff val="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2300" kern="1200" dirty="0"/>
            <a:t>annak érdekében hogy mások ne korlátozzák a jog gyakorlását </a:t>
          </a:r>
        </a:p>
      </dsp:txBody>
      <dsp:txXfrm>
        <a:off x="2712814" y="1866484"/>
        <a:ext cx="2377523" cy="1808225"/>
      </dsp:txXfrm>
    </dsp:sp>
    <dsp:sp modelId="{A5576E60-5874-4EC0-AE51-659FD45B6297}">
      <dsp:nvSpPr>
        <dsp:cNvPr id="0" name=""/>
        <dsp:cNvSpPr/>
      </dsp:nvSpPr>
      <dsp:spPr>
        <a:xfrm>
          <a:off x="5423191" y="1077817"/>
          <a:ext cx="2377523" cy="788666"/>
        </a:xfrm>
        <a:prstGeom prst="rect">
          <a:avLst/>
        </a:prstGeom>
        <a:solidFill>
          <a:schemeClr val="accent4">
            <a:hueOff val="4803510"/>
            <a:satOff val="18182"/>
            <a:lumOff val="-1177"/>
            <a:alphaOff val="0"/>
          </a:schemeClr>
        </a:solidFill>
        <a:ln w="34925" cap="flat" cmpd="sng" algn="in">
          <a:solidFill>
            <a:schemeClr val="accent4">
              <a:hueOff val="4803510"/>
              <a:satOff val="18182"/>
              <a:lumOff val="-117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300" kern="1200" dirty="0"/>
            <a:t>A gyakorlás biztosítása </a:t>
          </a:r>
        </a:p>
      </dsp:txBody>
      <dsp:txXfrm>
        <a:off x="5423191" y="1077817"/>
        <a:ext cx="2377523" cy="788666"/>
      </dsp:txXfrm>
    </dsp:sp>
    <dsp:sp modelId="{82638CBE-E043-4000-918F-019649AB3425}">
      <dsp:nvSpPr>
        <dsp:cNvPr id="0" name=""/>
        <dsp:cNvSpPr/>
      </dsp:nvSpPr>
      <dsp:spPr>
        <a:xfrm>
          <a:off x="5423191" y="1866484"/>
          <a:ext cx="2377523" cy="1808225"/>
        </a:xfrm>
        <a:prstGeom prst="rect">
          <a:avLst/>
        </a:prstGeom>
        <a:solidFill>
          <a:schemeClr val="accent4">
            <a:tint val="40000"/>
            <a:alpha val="90000"/>
            <a:hueOff val="5010687"/>
            <a:satOff val="14207"/>
            <a:lumOff val="17"/>
            <a:alphaOff val="0"/>
          </a:schemeClr>
        </a:solidFill>
        <a:ln w="34925" cap="flat" cmpd="sng" algn="in">
          <a:solidFill>
            <a:schemeClr val="accent4">
              <a:tint val="40000"/>
              <a:alpha val="90000"/>
              <a:hueOff val="5010687"/>
              <a:satOff val="14207"/>
              <a:lumOff val="1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2300" kern="1200" dirty="0"/>
            <a:t>megfelelő intézményi, eljárási rend kialakítása </a:t>
          </a:r>
        </a:p>
      </dsp:txBody>
      <dsp:txXfrm>
        <a:off x="5423191" y="1866484"/>
        <a:ext cx="2377523" cy="18082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D0CEFC-8560-4DCE-A1C4-60CE280114EB}">
      <dsp:nvSpPr>
        <dsp:cNvPr id="0" name=""/>
        <dsp:cNvSpPr/>
      </dsp:nvSpPr>
      <dsp:spPr>
        <a:xfrm rot="16200000">
          <a:off x="352" y="76343"/>
          <a:ext cx="1863537" cy="1863537"/>
        </a:xfrm>
        <a:prstGeom prst="downArrow">
          <a:avLst>
            <a:gd name="adj1" fmla="val 50000"/>
            <a:gd name="adj2" fmla="val 35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700" kern="1200" dirty="0"/>
            <a:t>alapjog</a:t>
          </a:r>
        </a:p>
      </dsp:txBody>
      <dsp:txXfrm rot="5400000">
        <a:off x="353" y="542226"/>
        <a:ext cx="1537418" cy="931769"/>
      </dsp:txXfrm>
    </dsp:sp>
    <dsp:sp modelId="{2319C56A-7B88-4F69-9D6B-C5FD2258368A}">
      <dsp:nvSpPr>
        <dsp:cNvPr id="0" name=""/>
        <dsp:cNvSpPr/>
      </dsp:nvSpPr>
      <dsp:spPr>
        <a:xfrm rot="5400000">
          <a:off x="1964468" y="12904"/>
          <a:ext cx="1863537" cy="1863537"/>
        </a:xfrm>
        <a:prstGeom prst="downArrow">
          <a:avLst>
            <a:gd name="adj1" fmla="val 50000"/>
            <a:gd name="adj2" fmla="val 35000"/>
          </a:avLst>
        </a:prstGeom>
        <a:solidFill>
          <a:schemeClr val="accent4">
            <a:hueOff val="4803510"/>
            <a:satOff val="18182"/>
            <a:lumOff val="-1177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700" kern="1200" dirty="0"/>
            <a:t>alapjog, alkotmányos érték</a:t>
          </a:r>
        </a:p>
      </dsp:txBody>
      <dsp:txXfrm rot="-5400000">
        <a:off x="2290588" y="478788"/>
        <a:ext cx="1537418" cy="93176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749BED-51F3-4F16-818A-296A5A528C51}">
      <dsp:nvSpPr>
        <dsp:cNvPr id="0" name=""/>
        <dsp:cNvSpPr/>
      </dsp:nvSpPr>
      <dsp:spPr>
        <a:xfrm>
          <a:off x="0" y="2254065"/>
          <a:ext cx="3660576" cy="73983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400" kern="1200" dirty="0"/>
            <a:t>egyéb jogszabályok</a:t>
          </a:r>
        </a:p>
      </dsp:txBody>
      <dsp:txXfrm>
        <a:off x="0" y="2254065"/>
        <a:ext cx="3660576" cy="399510"/>
      </dsp:txXfrm>
    </dsp:sp>
    <dsp:sp modelId="{09FA882C-5EF5-4E3D-A417-C4F328AE3A33}">
      <dsp:nvSpPr>
        <dsp:cNvPr id="0" name=""/>
        <dsp:cNvSpPr/>
      </dsp:nvSpPr>
      <dsp:spPr>
        <a:xfrm>
          <a:off x="0" y="2638780"/>
          <a:ext cx="3660576" cy="340323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400" kern="1200" dirty="0"/>
            <a:t>részletszabályok</a:t>
          </a:r>
        </a:p>
      </dsp:txBody>
      <dsp:txXfrm>
        <a:off x="0" y="2638780"/>
        <a:ext cx="3660576" cy="340323"/>
      </dsp:txXfrm>
    </dsp:sp>
    <dsp:sp modelId="{69969EA9-6EFD-4E0B-B975-A1A2620F06D8}">
      <dsp:nvSpPr>
        <dsp:cNvPr id="0" name=""/>
        <dsp:cNvSpPr/>
      </dsp:nvSpPr>
      <dsp:spPr>
        <a:xfrm rot="10800000">
          <a:off x="0" y="1127297"/>
          <a:ext cx="3660576" cy="1137865"/>
        </a:xfrm>
        <a:prstGeom prst="upArrowCallout">
          <a:avLst/>
        </a:prstGeom>
        <a:solidFill>
          <a:schemeClr val="accent4">
            <a:hueOff val="2401755"/>
            <a:satOff val="9091"/>
            <a:lumOff val="-588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400" kern="1200" dirty="0"/>
            <a:t>törvények</a:t>
          </a:r>
        </a:p>
      </dsp:txBody>
      <dsp:txXfrm rot="-10800000">
        <a:off x="0" y="1127297"/>
        <a:ext cx="3660576" cy="399390"/>
      </dsp:txXfrm>
    </dsp:sp>
    <dsp:sp modelId="{D25DA04A-59C5-4994-BED5-8C38F224CDA5}">
      <dsp:nvSpPr>
        <dsp:cNvPr id="0" name=""/>
        <dsp:cNvSpPr/>
      </dsp:nvSpPr>
      <dsp:spPr>
        <a:xfrm>
          <a:off x="0" y="1526688"/>
          <a:ext cx="1830288" cy="340221"/>
        </a:xfrm>
        <a:prstGeom prst="rect">
          <a:avLst/>
        </a:prstGeom>
        <a:solidFill>
          <a:schemeClr val="accent4">
            <a:tint val="40000"/>
            <a:alpha val="90000"/>
            <a:hueOff val="1252672"/>
            <a:satOff val="3552"/>
            <a:lumOff val="4"/>
            <a:alphaOff val="0"/>
          </a:schemeClr>
        </a:solidFill>
        <a:ln w="34925" cap="flat" cmpd="sng" algn="in">
          <a:solidFill>
            <a:schemeClr val="accent4">
              <a:tint val="40000"/>
              <a:alpha val="90000"/>
              <a:hueOff val="1252672"/>
              <a:satOff val="3552"/>
              <a:lumOff val="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400" kern="1200" dirty="0"/>
            <a:t>jogok</a:t>
          </a:r>
        </a:p>
      </dsp:txBody>
      <dsp:txXfrm>
        <a:off x="0" y="1526688"/>
        <a:ext cx="1830288" cy="340221"/>
      </dsp:txXfrm>
    </dsp:sp>
    <dsp:sp modelId="{491D2EC8-839F-4F3D-9F33-ADFFC7DD8650}">
      <dsp:nvSpPr>
        <dsp:cNvPr id="0" name=""/>
        <dsp:cNvSpPr/>
      </dsp:nvSpPr>
      <dsp:spPr>
        <a:xfrm>
          <a:off x="1830288" y="1526688"/>
          <a:ext cx="1830288" cy="340221"/>
        </a:xfrm>
        <a:prstGeom prst="rect">
          <a:avLst/>
        </a:prstGeom>
        <a:solidFill>
          <a:schemeClr val="accent4">
            <a:tint val="40000"/>
            <a:alpha val="90000"/>
            <a:hueOff val="2505343"/>
            <a:satOff val="7103"/>
            <a:lumOff val="8"/>
            <a:alphaOff val="0"/>
          </a:schemeClr>
        </a:solidFill>
        <a:ln w="34925" cap="flat" cmpd="sng" algn="in">
          <a:solidFill>
            <a:schemeClr val="accent4">
              <a:tint val="40000"/>
              <a:alpha val="90000"/>
              <a:hueOff val="2505343"/>
              <a:satOff val="7103"/>
              <a:lumOff val="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400" kern="1200" dirty="0"/>
            <a:t>kötelezettségek</a:t>
          </a:r>
        </a:p>
      </dsp:txBody>
      <dsp:txXfrm>
        <a:off x="1830288" y="1526688"/>
        <a:ext cx="1830288" cy="340221"/>
      </dsp:txXfrm>
    </dsp:sp>
    <dsp:sp modelId="{CE3382FC-D6BF-4194-A808-40FD026987BA}">
      <dsp:nvSpPr>
        <dsp:cNvPr id="0" name=""/>
        <dsp:cNvSpPr/>
      </dsp:nvSpPr>
      <dsp:spPr>
        <a:xfrm rot="10800000">
          <a:off x="0" y="529"/>
          <a:ext cx="3660576" cy="1137865"/>
        </a:xfrm>
        <a:prstGeom prst="upArrowCallout">
          <a:avLst/>
        </a:prstGeom>
        <a:solidFill>
          <a:schemeClr val="accent4">
            <a:hueOff val="4803510"/>
            <a:satOff val="18182"/>
            <a:lumOff val="-1177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400" kern="1200" dirty="0"/>
            <a:t>Alaptörvény </a:t>
          </a:r>
        </a:p>
      </dsp:txBody>
      <dsp:txXfrm rot="-10800000">
        <a:off x="0" y="529"/>
        <a:ext cx="3660576" cy="399390"/>
      </dsp:txXfrm>
    </dsp:sp>
    <dsp:sp modelId="{BEFD6930-AD0F-4007-8755-4672CC24EFFC}">
      <dsp:nvSpPr>
        <dsp:cNvPr id="0" name=""/>
        <dsp:cNvSpPr/>
      </dsp:nvSpPr>
      <dsp:spPr>
        <a:xfrm>
          <a:off x="0" y="399920"/>
          <a:ext cx="1830288" cy="340221"/>
        </a:xfrm>
        <a:prstGeom prst="rect">
          <a:avLst/>
        </a:prstGeom>
        <a:solidFill>
          <a:schemeClr val="accent4">
            <a:tint val="40000"/>
            <a:alpha val="90000"/>
            <a:hueOff val="3758015"/>
            <a:satOff val="10655"/>
            <a:lumOff val="13"/>
            <a:alphaOff val="0"/>
          </a:schemeClr>
        </a:solidFill>
        <a:ln w="34925" cap="flat" cmpd="sng" algn="in">
          <a:solidFill>
            <a:schemeClr val="accent4">
              <a:tint val="40000"/>
              <a:alpha val="90000"/>
              <a:hueOff val="3758015"/>
              <a:satOff val="10655"/>
              <a:lumOff val="1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400" kern="1200" dirty="0"/>
            <a:t>alapjogok katalógusa </a:t>
          </a:r>
        </a:p>
      </dsp:txBody>
      <dsp:txXfrm>
        <a:off x="0" y="399920"/>
        <a:ext cx="1830288" cy="340221"/>
      </dsp:txXfrm>
    </dsp:sp>
    <dsp:sp modelId="{7E3CA489-C9B0-416E-8CA4-5A67E027922C}">
      <dsp:nvSpPr>
        <dsp:cNvPr id="0" name=""/>
        <dsp:cNvSpPr/>
      </dsp:nvSpPr>
      <dsp:spPr>
        <a:xfrm>
          <a:off x="1830288" y="399920"/>
          <a:ext cx="1830288" cy="340221"/>
        </a:xfrm>
        <a:prstGeom prst="rect">
          <a:avLst/>
        </a:prstGeom>
        <a:solidFill>
          <a:schemeClr val="accent4">
            <a:tint val="40000"/>
            <a:alpha val="90000"/>
            <a:hueOff val="5010687"/>
            <a:satOff val="14207"/>
            <a:lumOff val="17"/>
            <a:alphaOff val="0"/>
          </a:schemeClr>
        </a:solidFill>
        <a:ln w="34925" cap="flat" cmpd="sng" algn="in">
          <a:solidFill>
            <a:schemeClr val="accent4">
              <a:tint val="40000"/>
              <a:alpha val="90000"/>
              <a:hueOff val="5010687"/>
              <a:satOff val="14207"/>
              <a:lumOff val="1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400" kern="1200" dirty="0"/>
            <a:t>alkotmányos értékek</a:t>
          </a:r>
        </a:p>
      </dsp:txBody>
      <dsp:txXfrm>
        <a:off x="1830288" y="399920"/>
        <a:ext cx="1830288" cy="34022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D91B78-8105-4FEA-A3D1-5E52A8677055}">
      <dsp:nvSpPr>
        <dsp:cNvPr id="0" name=""/>
        <dsp:cNvSpPr/>
      </dsp:nvSpPr>
      <dsp:spPr>
        <a:xfrm rot="16200000">
          <a:off x="814" y="11462"/>
          <a:ext cx="3793499" cy="3793499"/>
        </a:xfrm>
        <a:prstGeom prst="downArrow">
          <a:avLst>
            <a:gd name="adj1" fmla="val 50000"/>
            <a:gd name="adj2" fmla="val 35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000" kern="1200">
              <a:solidFill>
                <a:schemeClr val="tx1"/>
              </a:solidFill>
            </a:rPr>
            <a:t>az internet a nyilvánosság demokratizálódását eredményezte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000" kern="1200">
              <a:solidFill>
                <a:schemeClr val="tx1"/>
              </a:solidFill>
            </a:rPr>
            <a:t>lebomlott a korábbi információs kapuőrrendszer</a:t>
          </a:r>
          <a:endParaRPr lang="hu-HU" sz="2000" kern="1200" dirty="0">
            <a:solidFill>
              <a:schemeClr val="tx1"/>
            </a:solidFill>
          </a:endParaRPr>
        </a:p>
      </dsp:txBody>
      <dsp:txXfrm rot="5400000">
        <a:off x="814" y="959837"/>
        <a:ext cx="3129637" cy="1896749"/>
      </dsp:txXfrm>
    </dsp:sp>
    <dsp:sp modelId="{651011FF-01A1-4DB5-A00E-8DE7841E48FE}">
      <dsp:nvSpPr>
        <dsp:cNvPr id="0" name=""/>
        <dsp:cNvSpPr/>
      </dsp:nvSpPr>
      <dsp:spPr>
        <a:xfrm rot="5400000">
          <a:off x="3982550" y="11462"/>
          <a:ext cx="3793499" cy="3793499"/>
        </a:xfrm>
        <a:prstGeom prst="downArrow">
          <a:avLst>
            <a:gd name="adj1" fmla="val 50000"/>
            <a:gd name="adj2" fmla="val 35000"/>
          </a:avLst>
        </a:prstGeom>
        <a:solidFill>
          <a:schemeClr val="accent4">
            <a:hueOff val="4803510"/>
            <a:satOff val="18182"/>
            <a:lumOff val="-1177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000" kern="1200">
              <a:solidFill>
                <a:schemeClr val="tx1"/>
              </a:solidFill>
            </a:rPr>
            <a:t>az internet használatát biztosító szolgáltatások új kapuőrként azonosíthatók</a:t>
          </a:r>
          <a:endParaRPr lang="hu-HU" sz="2000" kern="1200" dirty="0">
            <a:solidFill>
              <a:schemeClr val="tx1"/>
            </a:solidFill>
          </a:endParaRPr>
        </a:p>
      </dsp:txBody>
      <dsp:txXfrm rot="-5400000">
        <a:off x="4646412" y="959837"/>
        <a:ext cx="3129637" cy="189674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B6EB08-A810-47B5-B676-105D37420BE7}">
      <dsp:nvSpPr>
        <dsp:cNvPr id="0" name=""/>
        <dsp:cNvSpPr/>
      </dsp:nvSpPr>
      <dsp:spPr>
        <a:xfrm rot="16200000">
          <a:off x="557466" y="726674"/>
          <a:ext cx="1872763" cy="2538167"/>
        </a:xfrm>
        <a:prstGeom prst="downArrow">
          <a:avLst>
            <a:gd name="adj1" fmla="val 50000"/>
            <a:gd name="adj2" fmla="val 35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800" kern="1200" dirty="0">
              <a:solidFill>
                <a:schemeClr val="tx1"/>
              </a:solidFill>
            </a:rPr>
            <a:t>véleménynyilvánítás szabadsága</a:t>
          </a:r>
          <a:endParaRPr lang="de-DE" sz="1800" kern="1200" dirty="0">
            <a:solidFill>
              <a:schemeClr val="tx1"/>
            </a:solidFill>
          </a:endParaRPr>
        </a:p>
      </dsp:txBody>
      <dsp:txXfrm rot="5400000">
        <a:off x="224764" y="1527567"/>
        <a:ext cx="2210433" cy="936381"/>
      </dsp:txXfrm>
    </dsp:sp>
    <dsp:sp modelId="{98DA1343-69BC-4C8B-AA5A-A5BB0B8EBA40}">
      <dsp:nvSpPr>
        <dsp:cNvPr id="0" name=""/>
        <dsp:cNvSpPr/>
      </dsp:nvSpPr>
      <dsp:spPr>
        <a:xfrm rot="5400000">
          <a:off x="4418216" y="499558"/>
          <a:ext cx="1888985" cy="2928742"/>
        </a:xfrm>
        <a:prstGeom prst="downArrow">
          <a:avLst>
            <a:gd name="adj1" fmla="val 50000"/>
            <a:gd name="adj2" fmla="val 35000"/>
          </a:avLst>
        </a:prstGeom>
        <a:solidFill>
          <a:schemeClr val="accent4">
            <a:hueOff val="4803510"/>
            <a:satOff val="18182"/>
            <a:lumOff val="-1177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800" kern="1200">
              <a:solidFill>
                <a:schemeClr val="tx1"/>
              </a:solidFill>
            </a:rPr>
            <a:t>más alapjogok</a:t>
          </a:r>
          <a:endParaRPr lang="de-DE" sz="1800" kern="1200" dirty="0">
            <a:solidFill>
              <a:schemeClr val="tx1"/>
            </a:solidFill>
          </a:endParaRPr>
        </a:p>
      </dsp:txBody>
      <dsp:txXfrm rot="-5400000">
        <a:off x="4228910" y="1491682"/>
        <a:ext cx="2598170" cy="94449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90F313-6B4B-452D-A24E-DCE58B68F306}">
      <dsp:nvSpPr>
        <dsp:cNvPr id="0" name=""/>
        <dsp:cNvSpPr/>
      </dsp:nvSpPr>
      <dsp:spPr>
        <a:xfrm rot="21300000">
          <a:off x="22318" y="2178420"/>
          <a:ext cx="7228171" cy="827734"/>
        </a:xfrm>
        <a:prstGeom prst="mathMinus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E4F786-B444-46D1-941F-7385049104A7}">
      <dsp:nvSpPr>
        <dsp:cNvPr id="0" name=""/>
        <dsp:cNvSpPr/>
      </dsp:nvSpPr>
      <dsp:spPr>
        <a:xfrm>
          <a:off x="872736" y="259228"/>
          <a:ext cx="2181842" cy="2073830"/>
        </a:xfrm>
        <a:prstGeom prst="downArrow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0FD4EE-D8AB-4305-A0F7-87A0F423BDFD}">
      <dsp:nvSpPr>
        <dsp:cNvPr id="0" name=""/>
        <dsp:cNvSpPr/>
      </dsp:nvSpPr>
      <dsp:spPr>
        <a:xfrm>
          <a:off x="3267724" y="0"/>
          <a:ext cx="3501025" cy="21775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200" kern="1200" dirty="0"/>
            <a:t> </a:t>
          </a:r>
          <a:r>
            <a:rPr lang="hu-HU" sz="2000" kern="1200" dirty="0"/>
            <a:t>más alapjogok, alkotmányos követelmények (emberi méltóság védelme, mások személyhez fűződő jogai, gyermekek jogai stb.) </a:t>
          </a:r>
          <a:endParaRPr lang="de-DE" sz="2000" kern="1200" dirty="0"/>
        </a:p>
      </dsp:txBody>
      <dsp:txXfrm>
        <a:off x="3267724" y="0"/>
        <a:ext cx="3501025" cy="2177521"/>
      </dsp:txXfrm>
    </dsp:sp>
    <dsp:sp modelId="{D4C0F69D-BA31-4DD0-BCDE-4EBC1B350B3E}">
      <dsp:nvSpPr>
        <dsp:cNvPr id="0" name=""/>
        <dsp:cNvSpPr/>
      </dsp:nvSpPr>
      <dsp:spPr>
        <a:xfrm>
          <a:off x="4218228" y="2851516"/>
          <a:ext cx="2181842" cy="2073830"/>
        </a:xfrm>
        <a:prstGeom prst="upArrow">
          <a:avLst/>
        </a:prstGeom>
        <a:solidFill>
          <a:schemeClr val="accent4">
            <a:hueOff val="4803510"/>
            <a:satOff val="18182"/>
            <a:lumOff val="-1177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35F017-2077-43E6-83A5-4085B8D8DE32}">
      <dsp:nvSpPr>
        <dsp:cNvPr id="0" name=""/>
        <dsp:cNvSpPr/>
      </dsp:nvSpPr>
      <dsp:spPr>
        <a:xfrm>
          <a:off x="777876" y="3007054"/>
          <a:ext cx="2953388" cy="21775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000" kern="1200" dirty="0"/>
            <a:t>véleménynyilvánítás szabadsága,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000" kern="1200" dirty="0"/>
            <a:t>sajtószabadság</a:t>
          </a:r>
          <a:endParaRPr lang="de-DE" sz="2000" kern="1200" dirty="0"/>
        </a:p>
      </dsp:txBody>
      <dsp:txXfrm>
        <a:off x="777876" y="3007054"/>
        <a:ext cx="2953388" cy="217752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BCBDF0-AE76-401F-9B6F-E548FBD2AAAF}">
      <dsp:nvSpPr>
        <dsp:cNvPr id="0" name=""/>
        <dsp:cNvSpPr/>
      </dsp:nvSpPr>
      <dsp:spPr>
        <a:xfrm>
          <a:off x="41" y="159048"/>
          <a:ext cx="4006522" cy="51840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800" kern="1200" dirty="0"/>
            <a:t>Államok</a:t>
          </a:r>
        </a:p>
      </dsp:txBody>
      <dsp:txXfrm>
        <a:off x="41" y="159048"/>
        <a:ext cx="4006522" cy="518400"/>
      </dsp:txXfrm>
    </dsp:sp>
    <dsp:sp modelId="{BB1D817E-D038-469D-93C2-941841B94F13}">
      <dsp:nvSpPr>
        <dsp:cNvPr id="0" name=""/>
        <dsp:cNvSpPr/>
      </dsp:nvSpPr>
      <dsp:spPr>
        <a:xfrm>
          <a:off x="41" y="677448"/>
          <a:ext cx="4006522" cy="4348079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1800" b="1" kern="1200" dirty="0">
              <a:latin typeface="+mn-lt"/>
              <a:ea typeface="Times New Roman" panose="02020603050405020304" pitchFamily="18" charset="0"/>
            </a:rPr>
            <a:t>iránymutatást </a:t>
          </a:r>
          <a:r>
            <a:rPr lang="hu-HU" sz="1800" kern="1200" dirty="0">
              <a:latin typeface="+mn-lt"/>
              <a:ea typeface="Times New Roman" panose="02020603050405020304" pitchFamily="18" charset="0"/>
            </a:rPr>
            <a:t>ad arra vonatkozóan, hogy a digitális korban hogyan teljesíthetik az emberi jogok védelméhez kapcsolódó feladataikat</a:t>
          </a:r>
          <a:endParaRPr lang="hu-HU" sz="1800" kern="1200" dirty="0">
            <a:latin typeface="+mn-lt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1800" b="1" kern="1200" dirty="0">
              <a:latin typeface="+mn-lt"/>
              <a:ea typeface="Times New Roman" panose="02020603050405020304" pitchFamily="18" charset="0"/>
            </a:rPr>
            <a:t>jogi eszközök </a:t>
          </a:r>
          <a:r>
            <a:rPr lang="hu-HU" sz="1800" kern="1200" dirty="0">
              <a:latin typeface="+mn-lt"/>
              <a:ea typeface="Times New Roman" panose="02020603050405020304" pitchFamily="18" charset="0"/>
            </a:rPr>
            <a:t>biztosítása a joghatóságuk alatt működő vállalatok által elkövetett jogsértésekkel szemben</a:t>
          </a:r>
          <a:endParaRPr lang="hu-HU" sz="1800" kern="1200" dirty="0">
            <a:latin typeface="+mn-lt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1800" b="1" kern="1200" dirty="0">
              <a:latin typeface="+mn-lt"/>
              <a:ea typeface="Times New Roman" panose="02020603050405020304" pitchFamily="18" charset="0"/>
            </a:rPr>
            <a:t>világos elvárások </a:t>
          </a:r>
          <a:r>
            <a:rPr lang="hu-HU" sz="1800" kern="1200" dirty="0">
              <a:latin typeface="+mn-lt"/>
              <a:ea typeface="Times New Roman" panose="02020603050405020304" pitchFamily="18" charset="0"/>
            </a:rPr>
            <a:t>megfogalmazása a területükön működő vállalatok számára az alapjogok tiszteletben tartásának érdekében</a:t>
          </a:r>
          <a:endParaRPr lang="hu-HU" sz="1800" kern="1200" dirty="0">
            <a:latin typeface="+mn-lt"/>
          </a:endParaRPr>
        </a:p>
      </dsp:txBody>
      <dsp:txXfrm>
        <a:off x="41" y="677448"/>
        <a:ext cx="4006522" cy="4348079"/>
      </dsp:txXfrm>
    </dsp:sp>
    <dsp:sp modelId="{C0ABDE7A-4DB5-4485-B39F-A5B7FB8F658E}">
      <dsp:nvSpPr>
        <dsp:cNvPr id="0" name=""/>
        <dsp:cNvSpPr/>
      </dsp:nvSpPr>
      <dsp:spPr>
        <a:xfrm>
          <a:off x="4567477" y="159048"/>
          <a:ext cx="4006522" cy="518400"/>
        </a:xfrm>
        <a:prstGeom prst="rect">
          <a:avLst/>
        </a:prstGeom>
        <a:solidFill>
          <a:schemeClr val="accent4">
            <a:hueOff val="4803510"/>
            <a:satOff val="18182"/>
            <a:lumOff val="-1177"/>
            <a:alphaOff val="0"/>
          </a:schemeClr>
        </a:solidFill>
        <a:ln w="34925" cap="flat" cmpd="sng" algn="in">
          <a:solidFill>
            <a:schemeClr val="accent4">
              <a:hueOff val="4803510"/>
              <a:satOff val="18182"/>
              <a:lumOff val="-117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800" kern="1200" dirty="0"/>
            <a:t>Vállalatok</a:t>
          </a:r>
        </a:p>
      </dsp:txBody>
      <dsp:txXfrm>
        <a:off x="4567477" y="159048"/>
        <a:ext cx="4006522" cy="518400"/>
      </dsp:txXfrm>
    </dsp:sp>
    <dsp:sp modelId="{86B15A2B-87A4-4243-9B7C-E65A235FBF43}">
      <dsp:nvSpPr>
        <dsp:cNvPr id="0" name=""/>
        <dsp:cNvSpPr/>
      </dsp:nvSpPr>
      <dsp:spPr>
        <a:xfrm>
          <a:off x="4567477" y="677448"/>
          <a:ext cx="4006522" cy="4348079"/>
        </a:xfrm>
        <a:prstGeom prst="rect">
          <a:avLst/>
        </a:prstGeom>
        <a:solidFill>
          <a:schemeClr val="accent4">
            <a:tint val="40000"/>
            <a:alpha val="90000"/>
            <a:hueOff val="5010687"/>
            <a:satOff val="14207"/>
            <a:lumOff val="17"/>
            <a:alphaOff val="0"/>
          </a:schemeClr>
        </a:solidFill>
        <a:ln w="34925" cap="flat" cmpd="sng" algn="in">
          <a:solidFill>
            <a:schemeClr val="accent4">
              <a:tint val="40000"/>
              <a:alpha val="90000"/>
              <a:hueOff val="5010687"/>
              <a:satOff val="14207"/>
              <a:lumOff val="1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1800" b="1" kern="1200" dirty="0"/>
            <a:t>vállalati felelősségvállalás </a:t>
          </a:r>
          <a:r>
            <a:rPr lang="hu-HU" sz="1800" kern="1200" dirty="0"/>
            <a:t>(</a:t>
          </a:r>
          <a:r>
            <a:rPr lang="hu-HU" sz="1800" kern="1200" dirty="0" err="1"/>
            <a:t>corporate</a:t>
          </a:r>
          <a:r>
            <a:rPr lang="hu-HU" sz="1800" kern="1200" dirty="0"/>
            <a:t> </a:t>
          </a:r>
          <a:r>
            <a:rPr lang="hu-HU" sz="1800" kern="1200" dirty="0" err="1"/>
            <a:t>social</a:t>
          </a:r>
          <a:r>
            <a:rPr lang="hu-HU" sz="1800" kern="1200" dirty="0"/>
            <a:t> </a:t>
          </a:r>
          <a:r>
            <a:rPr lang="hu-HU" sz="1800" kern="1200" dirty="0" err="1"/>
            <a:t>responsibility</a:t>
          </a:r>
          <a:r>
            <a:rPr lang="hu-HU" sz="1800" kern="1200" dirty="0"/>
            <a:t>) keretébe helyezi az alapvető emberi jogok tiszteletét. A vállalkozások tevékenységükkel nem sérthetik mások jogait, és kezelniük kell a tevékenységükkel összefüggésben felmerülő, az emberi jogok érvényesülésére káros hatásokat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1800" kern="1200" dirty="0"/>
            <a:t>az emberi jogok tiszteletben tartásával összefüggésben saját felelősségüket </a:t>
          </a:r>
          <a:r>
            <a:rPr lang="hu-HU" sz="1800" b="1" kern="1200" dirty="0"/>
            <a:t>policy kötelezettségvállalásban </a:t>
          </a:r>
          <a:r>
            <a:rPr lang="hu-HU" sz="1800" kern="1200" dirty="0"/>
            <a:t>rögzítsék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1800" kern="1200" dirty="0"/>
            <a:t>a kialakított működési elvek, intézkedések, eljárások, valamint az azokkal elért eredmények </a:t>
          </a:r>
          <a:r>
            <a:rPr lang="hu-HU" sz="1800" b="1" kern="1200" dirty="0"/>
            <a:t>átláthatóságát</a:t>
          </a:r>
        </a:p>
      </dsp:txBody>
      <dsp:txXfrm>
        <a:off x="4567477" y="677448"/>
        <a:ext cx="4006522" cy="434807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A9239C-8F06-41FB-A96C-4E2230D87A49}">
      <dsp:nvSpPr>
        <dsp:cNvPr id="0" name=""/>
        <dsp:cNvSpPr/>
      </dsp:nvSpPr>
      <dsp:spPr>
        <a:xfrm>
          <a:off x="43" y="417579"/>
          <a:ext cx="4163482" cy="79180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6032" tIns="146304" rIns="256032" bIns="146304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600" kern="1200" dirty="0"/>
            <a:t>RDR </a:t>
          </a:r>
        </a:p>
      </dsp:txBody>
      <dsp:txXfrm>
        <a:off x="43" y="417579"/>
        <a:ext cx="4163482" cy="791804"/>
      </dsp:txXfrm>
    </dsp:sp>
    <dsp:sp modelId="{75E9E8F2-5D1E-41B7-B922-AD688482AF5D}">
      <dsp:nvSpPr>
        <dsp:cNvPr id="0" name=""/>
        <dsp:cNvSpPr/>
      </dsp:nvSpPr>
      <dsp:spPr>
        <a:xfrm>
          <a:off x="43" y="1217737"/>
          <a:ext cx="4163482" cy="3324881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2000" kern="1200" dirty="0"/>
            <a:t>„Az RDR átfogó multidiszciplináris módszertant kínál a tényfeltáráshoz,  amely szükséges a hatalmas digitális hálózatokat és tereket létrehozó, irányító és elősegítő vállalatok </a:t>
          </a:r>
          <a:r>
            <a:rPr lang="hu-HU" sz="2000" kern="1200" dirty="0">
              <a:solidFill>
                <a:srgbClr val="FF0000"/>
              </a:solidFill>
            </a:rPr>
            <a:t>emberi jogi hatásainak felméréséhez</a:t>
          </a:r>
          <a:r>
            <a:rPr lang="hu-HU" sz="2000" kern="1200" dirty="0"/>
            <a:t>. „ </a:t>
          </a:r>
          <a:r>
            <a:rPr kumimoji="0" lang="hu-HU" altLang="hu-HU" sz="2100" b="0" i="0" u="none" strike="noStrike" kern="1200" cap="none" normalizeH="0" baseline="0" dirty="0">
              <a:ln/>
              <a:effectLst/>
              <a:latin typeface="+mn-lt"/>
            </a:rPr>
            <a:t>(</a:t>
          </a:r>
          <a:r>
            <a:rPr kumimoji="0" lang="hu-HU" altLang="hu-HU" sz="1800" b="0" i="0" u="none" strike="noStrike" kern="1200" cap="none" normalizeH="0" baseline="0" dirty="0">
              <a:ln/>
              <a:effectLst/>
              <a:latin typeface="+mn-lt"/>
            </a:rPr>
            <a:t>David Kaye, UN </a:t>
          </a:r>
          <a:r>
            <a:rPr kumimoji="0" lang="hu-HU" altLang="hu-HU" sz="1800" b="0" i="0" u="none" strike="noStrike" kern="1200" cap="none" normalizeH="0" baseline="0" dirty="0" err="1">
              <a:ln/>
              <a:effectLst/>
              <a:latin typeface="+mn-lt"/>
            </a:rPr>
            <a:t>Special</a:t>
          </a:r>
          <a:r>
            <a:rPr kumimoji="0" lang="hu-HU" altLang="hu-HU" sz="1800" b="0" i="0" u="none" strike="noStrike" kern="1200" cap="none" normalizeH="0" baseline="0" dirty="0">
              <a:ln/>
              <a:effectLst/>
              <a:latin typeface="+mn-lt"/>
            </a:rPr>
            <a:t> </a:t>
          </a:r>
          <a:r>
            <a:rPr kumimoji="0" lang="hu-HU" altLang="hu-HU" sz="1800" b="0" i="0" u="none" strike="noStrike" kern="1200" cap="none" normalizeH="0" baseline="0" dirty="0" err="1">
              <a:ln/>
              <a:effectLst/>
              <a:latin typeface="+mn-lt"/>
            </a:rPr>
            <a:t>Rapporteur</a:t>
          </a:r>
          <a:r>
            <a:rPr kumimoji="0" lang="hu-HU" altLang="hu-HU" sz="1800" b="0" i="0" u="none" strike="noStrike" kern="1200" cap="none" normalizeH="0" baseline="0" dirty="0">
              <a:ln/>
              <a:effectLst/>
              <a:latin typeface="+mn-lt"/>
            </a:rPr>
            <a:t> </a:t>
          </a:r>
          <a:r>
            <a:rPr kumimoji="0" lang="hu-HU" altLang="hu-HU" sz="1800" b="0" i="0" u="none" strike="noStrike" kern="1200" cap="none" normalizeH="0" baseline="0" dirty="0" err="1">
              <a:ln/>
              <a:effectLst/>
              <a:latin typeface="+mn-lt"/>
            </a:rPr>
            <a:t>on</a:t>
          </a:r>
          <a:r>
            <a:rPr kumimoji="0" lang="hu-HU" altLang="hu-HU" sz="1800" b="0" i="0" u="none" strike="noStrike" kern="1200" cap="none" normalizeH="0" baseline="0" dirty="0">
              <a:ln/>
              <a:effectLst/>
              <a:latin typeface="+mn-lt"/>
            </a:rPr>
            <a:t> </a:t>
          </a:r>
          <a:r>
            <a:rPr kumimoji="0" lang="hu-HU" altLang="hu-HU" sz="1800" b="0" i="0" u="none" strike="noStrike" kern="1200" cap="none" normalizeH="0" baseline="0" dirty="0" err="1">
              <a:ln/>
              <a:effectLst/>
              <a:latin typeface="+mn-lt"/>
            </a:rPr>
            <a:t>the</a:t>
          </a:r>
          <a:r>
            <a:rPr kumimoji="0" lang="hu-HU" altLang="hu-HU" sz="1800" b="0" i="0" u="none" strike="noStrike" kern="1200" cap="none" normalizeH="0" baseline="0" dirty="0">
              <a:ln/>
              <a:effectLst/>
              <a:latin typeface="+mn-lt"/>
            </a:rPr>
            <a:t> </a:t>
          </a:r>
          <a:r>
            <a:rPr kumimoji="0" lang="hu-HU" altLang="hu-HU" sz="1800" b="0" i="0" u="none" strike="noStrike" kern="1200" cap="none" normalizeH="0" baseline="0" dirty="0" err="1">
              <a:ln/>
              <a:effectLst/>
              <a:latin typeface="+mn-lt"/>
            </a:rPr>
            <a:t>promotion</a:t>
          </a:r>
          <a:r>
            <a:rPr kumimoji="0" lang="hu-HU" altLang="hu-HU" sz="1800" b="0" i="0" u="none" strike="noStrike" kern="1200" cap="none" normalizeH="0" baseline="0" dirty="0">
              <a:ln/>
              <a:effectLst/>
              <a:latin typeface="+mn-lt"/>
            </a:rPr>
            <a:t> and </a:t>
          </a:r>
          <a:r>
            <a:rPr kumimoji="0" lang="hu-HU" altLang="hu-HU" sz="1800" b="0" i="0" u="none" strike="noStrike" kern="1200" cap="none" normalizeH="0" baseline="0" dirty="0" err="1">
              <a:ln/>
              <a:effectLst/>
              <a:latin typeface="+mn-lt"/>
            </a:rPr>
            <a:t>protection</a:t>
          </a:r>
          <a:r>
            <a:rPr kumimoji="0" lang="hu-HU" altLang="hu-HU" sz="1800" b="0" i="0" u="none" strike="noStrike" kern="1200" cap="none" normalizeH="0" baseline="0" dirty="0">
              <a:ln/>
              <a:effectLst/>
              <a:latin typeface="+mn-lt"/>
            </a:rPr>
            <a:t> of </a:t>
          </a:r>
          <a:r>
            <a:rPr kumimoji="0" lang="hu-HU" altLang="hu-HU" sz="1800" b="0" i="0" u="none" strike="noStrike" kern="1200" cap="none" normalizeH="0" baseline="0" dirty="0" err="1">
              <a:ln/>
              <a:effectLst/>
              <a:latin typeface="+mn-lt"/>
            </a:rPr>
            <a:t>the</a:t>
          </a:r>
          <a:r>
            <a:rPr kumimoji="0" lang="hu-HU" altLang="hu-HU" sz="1800" b="0" i="0" u="none" strike="noStrike" kern="1200" cap="none" normalizeH="0" baseline="0" dirty="0">
              <a:ln/>
              <a:effectLst/>
              <a:latin typeface="+mn-lt"/>
            </a:rPr>
            <a:t> </a:t>
          </a:r>
          <a:r>
            <a:rPr kumimoji="0" lang="hu-HU" altLang="hu-HU" sz="1800" b="0" i="0" u="none" strike="noStrike" kern="1200" cap="none" normalizeH="0" baseline="0" dirty="0" err="1">
              <a:ln/>
              <a:effectLst/>
              <a:latin typeface="+mn-lt"/>
            </a:rPr>
            <a:t>right</a:t>
          </a:r>
          <a:r>
            <a:rPr kumimoji="0" lang="hu-HU" altLang="hu-HU" sz="1800" b="0" i="0" u="none" strike="noStrike" kern="1200" cap="none" normalizeH="0" baseline="0" dirty="0">
              <a:ln/>
              <a:effectLst/>
              <a:latin typeface="+mn-lt"/>
            </a:rPr>
            <a:t> </a:t>
          </a:r>
          <a:r>
            <a:rPr kumimoji="0" lang="hu-HU" altLang="hu-HU" sz="1800" b="0" i="0" u="none" strike="noStrike" kern="1200" cap="none" normalizeH="0" baseline="0" dirty="0" err="1">
              <a:ln/>
              <a:effectLst/>
              <a:latin typeface="+mn-lt"/>
            </a:rPr>
            <a:t>to</a:t>
          </a:r>
          <a:r>
            <a:rPr kumimoji="0" lang="hu-HU" altLang="hu-HU" sz="1800" b="0" i="0" u="none" strike="noStrike" kern="1200" cap="none" normalizeH="0" baseline="0" dirty="0">
              <a:ln/>
              <a:effectLst/>
              <a:latin typeface="+mn-lt"/>
            </a:rPr>
            <a:t> </a:t>
          </a:r>
          <a:r>
            <a:rPr kumimoji="0" lang="hu-HU" altLang="hu-HU" sz="1800" b="0" i="0" u="none" strike="noStrike" kern="1200" cap="none" normalizeH="0" baseline="0" dirty="0" err="1">
              <a:ln/>
              <a:effectLst/>
              <a:latin typeface="+mn-lt"/>
            </a:rPr>
            <a:t>freedom</a:t>
          </a:r>
          <a:r>
            <a:rPr kumimoji="0" lang="hu-HU" altLang="hu-HU" sz="1800" b="0" i="0" u="none" strike="noStrike" kern="1200" cap="none" normalizeH="0" baseline="0" dirty="0">
              <a:ln/>
              <a:effectLst/>
              <a:latin typeface="+mn-lt"/>
            </a:rPr>
            <a:t> of </a:t>
          </a:r>
          <a:r>
            <a:rPr kumimoji="0" lang="hu-HU" altLang="hu-HU" sz="1800" b="0" i="0" u="none" strike="noStrike" kern="1200" cap="none" normalizeH="0" baseline="0" dirty="0" err="1">
              <a:ln/>
              <a:effectLst/>
              <a:latin typeface="+mn-lt"/>
            </a:rPr>
            <a:t>opinion</a:t>
          </a:r>
          <a:r>
            <a:rPr kumimoji="0" lang="hu-HU" altLang="hu-HU" sz="1800" b="0" i="0" u="none" strike="noStrike" kern="1200" cap="none" normalizeH="0" baseline="0" dirty="0">
              <a:ln/>
              <a:effectLst/>
              <a:latin typeface="+mn-lt"/>
            </a:rPr>
            <a:t> and </a:t>
          </a:r>
          <a:r>
            <a:rPr kumimoji="0" lang="hu-HU" altLang="hu-HU" sz="1800" b="0" i="0" u="none" strike="noStrike" kern="1200" cap="none" normalizeH="0" baseline="0" dirty="0" err="1">
              <a:ln/>
              <a:effectLst/>
              <a:latin typeface="+mn-lt"/>
            </a:rPr>
            <a:t>expression</a:t>
          </a:r>
          <a:r>
            <a:rPr kumimoji="0" lang="hu-HU" altLang="hu-HU" sz="1800" b="0" i="0" u="none" strike="noStrike" kern="1200" cap="none" normalizeH="0" baseline="0" dirty="0">
              <a:ln/>
              <a:effectLst/>
              <a:latin typeface="+mn-lt"/>
            </a:rPr>
            <a:t>)</a:t>
          </a:r>
          <a:endParaRPr lang="hu-HU" sz="1800" kern="1200" dirty="0">
            <a:latin typeface="+mn-lt"/>
          </a:endParaRPr>
        </a:p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kumimoji="0" lang="hu-HU" altLang="hu-HU" sz="21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endParaRPr>
        </a:p>
      </dsp:txBody>
      <dsp:txXfrm>
        <a:off x="43" y="1217737"/>
        <a:ext cx="4163482" cy="3324881"/>
      </dsp:txXfrm>
    </dsp:sp>
    <dsp:sp modelId="{583EFD67-0B76-46AC-9895-55574767585C}">
      <dsp:nvSpPr>
        <dsp:cNvPr id="0" name=""/>
        <dsp:cNvSpPr/>
      </dsp:nvSpPr>
      <dsp:spPr>
        <a:xfrm>
          <a:off x="4746413" y="425933"/>
          <a:ext cx="4163482" cy="791804"/>
        </a:xfrm>
        <a:prstGeom prst="rect">
          <a:avLst/>
        </a:prstGeom>
        <a:solidFill>
          <a:schemeClr val="accent4">
            <a:hueOff val="4803510"/>
            <a:satOff val="18182"/>
            <a:lumOff val="-1177"/>
            <a:alphaOff val="0"/>
          </a:schemeClr>
        </a:solidFill>
        <a:ln w="34925" cap="flat" cmpd="sng" algn="in">
          <a:solidFill>
            <a:schemeClr val="accent4">
              <a:hueOff val="4803510"/>
              <a:satOff val="18182"/>
              <a:lumOff val="-117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900" kern="1200" dirty="0"/>
            <a:t>RDR </a:t>
          </a:r>
          <a:r>
            <a:rPr lang="hu-HU" sz="1900" kern="1200" dirty="0" err="1"/>
            <a:t>Corporate</a:t>
          </a:r>
          <a:r>
            <a:rPr lang="hu-HU" sz="1900" kern="1200" dirty="0"/>
            <a:t> </a:t>
          </a:r>
          <a:r>
            <a:rPr lang="hu-HU" sz="1900" kern="1200" dirty="0" err="1"/>
            <a:t>Accountability</a:t>
          </a:r>
          <a:r>
            <a:rPr lang="hu-HU" sz="1900" kern="1200" dirty="0"/>
            <a:t> Index 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900" kern="1200" dirty="0"/>
            <a:t>(vállalati elszámoltathatósági mutató) </a:t>
          </a:r>
        </a:p>
      </dsp:txBody>
      <dsp:txXfrm>
        <a:off x="4746413" y="425933"/>
        <a:ext cx="4163482" cy="791804"/>
      </dsp:txXfrm>
    </dsp:sp>
    <dsp:sp modelId="{71CFA830-3525-4D2E-BFBF-62DE614EA105}">
      <dsp:nvSpPr>
        <dsp:cNvPr id="0" name=""/>
        <dsp:cNvSpPr/>
      </dsp:nvSpPr>
      <dsp:spPr>
        <a:xfrm>
          <a:off x="4746413" y="1217737"/>
          <a:ext cx="4163482" cy="3324881"/>
        </a:xfrm>
        <a:prstGeom prst="rect">
          <a:avLst/>
        </a:prstGeom>
        <a:solidFill>
          <a:schemeClr val="accent4">
            <a:tint val="40000"/>
            <a:alpha val="90000"/>
            <a:hueOff val="5010687"/>
            <a:satOff val="14207"/>
            <a:lumOff val="17"/>
            <a:alphaOff val="0"/>
          </a:schemeClr>
        </a:solidFill>
        <a:ln w="34925" cap="flat" cmpd="sng" algn="in">
          <a:solidFill>
            <a:schemeClr val="accent4">
              <a:tint val="40000"/>
              <a:alpha val="90000"/>
              <a:hueOff val="5010687"/>
              <a:satOff val="14207"/>
              <a:lumOff val="1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1900" kern="1200" dirty="0"/>
            <a:t>az internetes, mobil és telekommunikációs cégek éves értékelése azon általuk nyilvánosságra hozott szabályzatok, kötelezettségvállalásaik,  gyakorlatuk alapján, amelyek hatással vannak a felhasználók magánszférájára és véleménynyilvánítási szabadságára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1900" kern="1200" dirty="0"/>
            <a:t>RDR 2022  – 26 vállalat értékelése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1900" kern="1200" dirty="0"/>
            <a:t>RDR 2025 – 14 nagyvállalat 43 platformjának értékelése </a:t>
          </a:r>
        </a:p>
      </dsp:txBody>
      <dsp:txXfrm>
        <a:off x="4746413" y="1217737"/>
        <a:ext cx="4163482" cy="332488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105F25-3875-4F8D-A8FE-D252FBCAE2F6}">
      <dsp:nvSpPr>
        <dsp:cNvPr id="0" name=""/>
        <dsp:cNvSpPr/>
      </dsp:nvSpPr>
      <dsp:spPr>
        <a:xfrm>
          <a:off x="3435" y="1084964"/>
          <a:ext cx="3349266" cy="76599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200" kern="1200" dirty="0" err="1"/>
            <a:t>Governance</a:t>
          </a:r>
          <a:endParaRPr lang="hu-HU" sz="2200" kern="1200" dirty="0"/>
        </a:p>
      </dsp:txBody>
      <dsp:txXfrm>
        <a:off x="3435" y="1084964"/>
        <a:ext cx="3349266" cy="765994"/>
      </dsp:txXfrm>
    </dsp:sp>
    <dsp:sp modelId="{A378BC1F-7DCA-46B3-B1B5-B3A1CCDDDB25}">
      <dsp:nvSpPr>
        <dsp:cNvPr id="0" name=""/>
        <dsp:cNvSpPr/>
      </dsp:nvSpPr>
      <dsp:spPr>
        <a:xfrm>
          <a:off x="3435" y="1850959"/>
          <a:ext cx="3349266" cy="3464876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2200" kern="1200" dirty="0"/>
            <a:t>értékelik a  kötelezettségvállalások nyilvánosságát és azok megjelenését a különböző szolgáltatásokban</a:t>
          </a:r>
        </a:p>
      </dsp:txBody>
      <dsp:txXfrm>
        <a:off x="3435" y="1850959"/>
        <a:ext cx="3349266" cy="3464876"/>
      </dsp:txXfrm>
    </dsp:sp>
    <dsp:sp modelId="{6E11ED7B-4FBA-43B0-9C0F-FA27404435BB}">
      <dsp:nvSpPr>
        <dsp:cNvPr id="0" name=""/>
        <dsp:cNvSpPr/>
      </dsp:nvSpPr>
      <dsp:spPr>
        <a:xfrm>
          <a:off x="3821598" y="1084964"/>
          <a:ext cx="3349266" cy="765994"/>
        </a:xfrm>
        <a:prstGeom prst="rect">
          <a:avLst/>
        </a:prstGeom>
        <a:solidFill>
          <a:schemeClr val="accent4">
            <a:hueOff val="2401755"/>
            <a:satOff val="9091"/>
            <a:lumOff val="-588"/>
            <a:alphaOff val="0"/>
          </a:schemeClr>
        </a:solidFill>
        <a:ln w="34925" cap="flat" cmpd="sng" algn="in">
          <a:solidFill>
            <a:schemeClr val="accent4">
              <a:hueOff val="2401755"/>
              <a:satOff val="9091"/>
              <a:lumOff val="-58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200" kern="1200" dirty="0"/>
            <a:t>Véleménynyilvánítás szabadsága</a:t>
          </a:r>
        </a:p>
      </dsp:txBody>
      <dsp:txXfrm>
        <a:off x="3821598" y="1084964"/>
        <a:ext cx="3349266" cy="765994"/>
      </dsp:txXfrm>
    </dsp:sp>
    <dsp:sp modelId="{00109CFC-E829-4831-BD9B-3CC17A1592AD}">
      <dsp:nvSpPr>
        <dsp:cNvPr id="0" name=""/>
        <dsp:cNvSpPr/>
      </dsp:nvSpPr>
      <dsp:spPr>
        <a:xfrm>
          <a:off x="3821598" y="1850959"/>
          <a:ext cx="3349266" cy="3464876"/>
        </a:xfrm>
        <a:prstGeom prst="rect">
          <a:avLst/>
        </a:prstGeom>
        <a:solidFill>
          <a:schemeClr val="accent4">
            <a:tint val="40000"/>
            <a:alpha val="90000"/>
            <a:hueOff val="2505343"/>
            <a:satOff val="7103"/>
            <a:lumOff val="8"/>
            <a:alphaOff val="0"/>
          </a:schemeClr>
        </a:solidFill>
        <a:ln w="34925" cap="flat" cmpd="sng" algn="in">
          <a:solidFill>
            <a:schemeClr val="accent4">
              <a:tint val="40000"/>
              <a:alpha val="90000"/>
              <a:hueOff val="2505343"/>
              <a:satOff val="7103"/>
              <a:lumOff val="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2200" kern="1200" dirty="0"/>
            <a:t>értékelik azon szabályzatok nyilvánosságát,  amelyek alapján értékelhető, hogy a vállalat tiszteletben tartja-e a nemzetközi jogi dokumentumokban rögzített véleménynyilvánítás szabadságát </a:t>
          </a:r>
        </a:p>
      </dsp:txBody>
      <dsp:txXfrm>
        <a:off x="3821598" y="1850959"/>
        <a:ext cx="3349266" cy="3464876"/>
      </dsp:txXfrm>
    </dsp:sp>
    <dsp:sp modelId="{24A5F96E-530B-4F40-9C97-D7C53D14C6ED}">
      <dsp:nvSpPr>
        <dsp:cNvPr id="0" name=""/>
        <dsp:cNvSpPr/>
      </dsp:nvSpPr>
      <dsp:spPr>
        <a:xfrm>
          <a:off x="7639762" y="1084964"/>
          <a:ext cx="3349266" cy="765994"/>
        </a:xfrm>
        <a:prstGeom prst="rect">
          <a:avLst/>
        </a:prstGeom>
        <a:solidFill>
          <a:schemeClr val="accent4">
            <a:hueOff val="4803510"/>
            <a:satOff val="18182"/>
            <a:lumOff val="-1177"/>
            <a:alphaOff val="0"/>
          </a:schemeClr>
        </a:solidFill>
        <a:ln w="34925" cap="flat" cmpd="sng" algn="in">
          <a:solidFill>
            <a:schemeClr val="accent4">
              <a:hueOff val="4803510"/>
              <a:satOff val="18182"/>
              <a:lumOff val="-117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200" kern="1200" dirty="0"/>
            <a:t>Magánszféra</a:t>
          </a:r>
        </a:p>
      </dsp:txBody>
      <dsp:txXfrm>
        <a:off x="7639762" y="1084964"/>
        <a:ext cx="3349266" cy="765994"/>
      </dsp:txXfrm>
    </dsp:sp>
    <dsp:sp modelId="{209F6213-6958-45ED-ACBE-A67F5E93B532}">
      <dsp:nvSpPr>
        <dsp:cNvPr id="0" name=""/>
        <dsp:cNvSpPr/>
      </dsp:nvSpPr>
      <dsp:spPr>
        <a:xfrm>
          <a:off x="7639762" y="1850959"/>
          <a:ext cx="3349266" cy="3464876"/>
        </a:xfrm>
        <a:prstGeom prst="rect">
          <a:avLst/>
        </a:prstGeom>
        <a:solidFill>
          <a:schemeClr val="accent4">
            <a:tint val="40000"/>
            <a:alpha val="90000"/>
            <a:hueOff val="5010687"/>
            <a:satOff val="14207"/>
            <a:lumOff val="17"/>
            <a:alphaOff val="0"/>
          </a:schemeClr>
        </a:solidFill>
        <a:ln w="34925" cap="flat" cmpd="sng" algn="in">
          <a:solidFill>
            <a:schemeClr val="accent4">
              <a:tint val="40000"/>
              <a:alpha val="90000"/>
              <a:hueOff val="5010687"/>
              <a:satOff val="14207"/>
              <a:lumOff val="1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2200" kern="1200" dirty="0"/>
            <a:t>értékelik azon szabályzatok nyilvánosságát, amelyek alapján értékelhető, hogy a vállalat tiszteletben tartja-e a nemzetközi jogi dokumentumokban rögzített magánszféra védelmét</a:t>
          </a:r>
        </a:p>
      </dsp:txBody>
      <dsp:txXfrm>
        <a:off x="7639762" y="1850959"/>
        <a:ext cx="3349266" cy="346487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7CAC89-ABD6-4438-8EBD-A8215BE23274}">
      <dsp:nvSpPr>
        <dsp:cNvPr id="0" name=""/>
        <dsp:cNvSpPr/>
      </dsp:nvSpPr>
      <dsp:spPr>
        <a:xfrm>
          <a:off x="0" y="796798"/>
          <a:ext cx="8771311" cy="88751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0751" tIns="479044" rIns="680751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2000" kern="1200" dirty="0">
              <a:solidFill>
                <a:schemeClr val="tx1"/>
              </a:solidFill>
            </a:rPr>
            <a:t>Óriásplatformok, nagyon népszerű online keresőprogramok</a:t>
          </a:r>
        </a:p>
      </dsp:txBody>
      <dsp:txXfrm>
        <a:off x="0" y="796798"/>
        <a:ext cx="8771311" cy="887512"/>
      </dsp:txXfrm>
    </dsp:sp>
    <dsp:sp modelId="{21372A90-8D5A-4242-A4D7-2498C8FF9BFD}">
      <dsp:nvSpPr>
        <dsp:cNvPr id="0" name=""/>
        <dsp:cNvSpPr/>
      </dsp:nvSpPr>
      <dsp:spPr>
        <a:xfrm>
          <a:off x="453125" y="33491"/>
          <a:ext cx="6139917" cy="104923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2074" tIns="0" rIns="232074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400" b="1" kern="1200" dirty="0">
              <a:solidFill>
                <a:schemeClr val="tx1"/>
              </a:solidFill>
              <a:latin typeface="+mn-lt"/>
            </a:rPr>
            <a:t>Új jogintézmény – EU Digitális szolgáltatási rendelet (DSA)</a:t>
          </a:r>
        </a:p>
      </dsp:txBody>
      <dsp:txXfrm>
        <a:off x="504344" y="84710"/>
        <a:ext cx="6037479" cy="946792"/>
      </dsp:txXfrm>
    </dsp:sp>
    <dsp:sp modelId="{18A28119-F0B2-4DC0-AE3B-B1C33194B42D}">
      <dsp:nvSpPr>
        <dsp:cNvPr id="0" name=""/>
        <dsp:cNvSpPr/>
      </dsp:nvSpPr>
      <dsp:spPr>
        <a:xfrm>
          <a:off x="0" y="2435748"/>
          <a:ext cx="8771311" cy="19199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4">
              <a:hueOff val="2401755"/>
              <a:satOff val="9091"/>
              <a:lumOff val="-58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0751" tIns="479044" rIns="680751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2300" kern="1200" dirty="0">
              <a:solidFill>
                <a:schemeClr val="tx1"/>
              </a:solidFill>
            </a:rPr>
            <a:t>Önálló témakör az alapvető jogok gyakorlását érintő tényleges vagy várható hatások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2300" kern="1200" dirty="0">
              <a:solidFill>
                <a:schemeClr val="tx1"/>
              </a:solidFill>
            </a:rPr>
            <a:t>Pl. emberi méltóság, magánélethez való jog, személyes adatok védelme  </a:t>
          </a:r>
        </a:p>
      </dsp:txBody>
      <dsp:txXfrm>
        <a:off x="0" y="2435748"/>
        <a:ext cx="8771311" cy="1919925"/>
      </dsp:txXfrm>
    </dsp:sp>
    <dsp:sp modelId="{EDB72C7E-E084-4ECD-AA15-002C4C70A2A2}">
      <dsp:nvSpPr>
        <dsp:cNvPr id="0" name=""/>
        <dsp:cNvSpPr/>
      </dsp:nvSpPr>
      <dsp:spPr>
        <a:xfrm>
          <a:off x="448485" y="1814323"/>
          <a:ext cx="6086009" cy="966716"/>
        </a:xfrm>
        <a:prstGeom prst="roundRect">
          <a:avLst/>
        </a:prstGeom>
        <a:solidFill>
          <a:schemeClr val="accent4">
            <a:hueOff val="2401755"/>
            <a:satOff val="9091"/>
            <a:lumOff val="-588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2074" tIns="0" rIns="232074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400" b="1" kern="1200" dirty="0">
              <a:solidFill>
                <a:schemeClr val="tx1"/>
              </a:solidFill>
              <a:latin typeface="+mn-lt"/>
              <a:ea typeface="+mn-ea"/>
              <a:cs typeface="+mn-cs"/>
            </a:rPr>
            <a:t>Rendszerszintű kockázatok azonosítása és kezelése </a:t>
          </a:r>
        </a:p>
      </dsp:txBody>
      <dsp:txXfrm>
        <a:off x="495676" y="1861514"/>
        <a:ext cx="5991627" cy="872334"/>
      </dsp:txXfrm>
    </dsp:sp>
    <dsp:sp modelId="{D1A81680-1AFE-45E7-9BD0-615587B95299}">
      <dsp:nvSpPr>
        <dsp:cNvPr id="0" name=""/>
        <dsp:cNvSpPr/>
      </dsp:nvSpPr>
      <dsp:spPr>
        <a:xfrm>
          <a:off x="0" y="4819353"/>
          <a:ext cx="8771311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4">
              <a:hueOff val="4803510"/>
              <a:satOff val="18182"/>
              <a:lumOff val="-117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363069-E68D-4D73-924E-AE9A293B1420}">
      <dsp:nvSpPr>
        <dsp:cNvPr id="0" name=""/>
        <dsp:cNvSpPr/>
      </dsp:nvSpPr>
      <dsp:spPr>
        <a:xfrm>
          <a:off x="377604" y="4521656"/>
          <a:ext cx="6139917" cy="678960"/>
        </a:xfrm>
        <a:prstGeom prst="roundRect">
          <a:avLst/>
        </a:prstGeom>
        <a:solidFill>
          <a:schemeClr val="accent4">
            <a:hueOff val="4803510"/>
            <a:satOff val="18182"/>
            <a:lumOff val="-1177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2074" tIns="0" rIns="232074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400" b="1" kern="1200">
              <a:solidFill>
                <a:schemeClr val="tx1"/>
              </a:solidFill>
            </a:rPr>
            <a:t>Évente felülvizsgálat</a:t>
          </a:r>
          <a:endParaRPr lang="hu-HU" sz="2400" b="1" kern="1200" dirty="0">
            <a:solidFill>
              <a:schemeClr val="tx1"/>
            </a:solidFill>
          </a:endParaRPr>
        </a:p>
      </dsp:txBody>
      <dsp:txXfrm>
        <a:off x="410748" y="4554800"/>
        <a:ext cx="6073629" cy="6126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arrow3">
  <dgm:title val=""/>
  <dgm:desc val=""/>
  <dgm:catLst>
    <dgm:cat type="relationship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none"/>
      <dgm:param type="vertAlign" val="none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gte" val="2">
            <dgm:constrLst>
              <dgm:constr type="w" for="ch" forName="divider" refType="w"/>
              <dgm:constr type="h" for="ch" forName="divider" refType="w" fact="0.2"/>
              <dgm:constr type="h" for="ch" forName="divider" refType="h" op="gte" fact="0.2"/>
              <dgm:constr type="h" for="ch" forName="divider" refType="h" op="lte" fact="0.4"/>
              <dgm:constr type="ctrX" for="ch" forName="divider" refType="w" fact="0.5"/>
              <dgm:constr type="ctrY" for="ch" forName="divider" refType="h" fact="0.5"/>
              <dgm:constr type="w" for="ch" forName="downArrow" refType="w" fact="0.3"/>
              <dgm:constr type="h" for="ch" forName="downArrow" refType="h" fact="0.4"/>
              <dgm:constr type="l" for="ch" forName="downArrow" refType="w" fact="0.1"/>
              <dgm:constr type="t" for="ch" forName="downArrow" refType="h" fact="0.05"/>
              <dgm:constr type="lOff" for="ch" forName="downArrow" refType="w" fact="0.02"/>
              <dgm:constr type="w" for="ch" forName="downArrowText" refType="w" fact="0.32"/>
              <dgm:constr type="h" for="ch" forName="downArrowText" refType="h" fact="0.42"/>
              <dgm:constr type="t" for="ch" forName="downArrowText"/>
              <dgm:constr type="r" for="ch" forName="downArrowText" refType="w" fact="0.85"/>
              <dgm:constr type="w" for="ch" forName="upArrow" refType="w" fact="0.3"/>
              <dgm:constr type="h" for="ch" forName="upArrow" refType="h" fact="0.4"/>
              <dgm:constr type="b" for="ch" forName="upArrow" refType="h" fact="0.95"/>
              <dgm:constr type="r" for="ch" forName="upArrow" refType="w" fact="0.9"/>
              <dgm:constr type="rOff" for="ch" forName="upArrow" refType="w" fact="-0.02"/>
              <dgm:constr type="w" for="ch" forName="upArrowText" refType="w" fact="0.32"/>
              <dgm:constr type="h" for="ch" forName="upArrowText" refType="h" fact="0.42"/>
              <dgm:constr type="b" for="ch" forName="upArrowText" refType="h"/>
              <dgm:constr type="l" for="ch" forName="upArrowText" refType="w" fact="0.15"/>
              <dgm:constr type="primFontSz" for="ch" ptType="node" op="equ" val="65"/>
            </dgm:constrLst>
          </dgm:if>
          <dgm:else name="Name4">
            <dgm:constrLst>
              <dgm:constr type="w" for="ch" forName="downArrow" refType="w" fact="0.4"/>
              <dgm:constr type="h" for="ch" forName="downArrow" refType="h" fact="0.8"/>
              <dgm:constr type="l" for="ch" forName="downArrow" refType="w" fact="0.02"/>
              <dgm:constr type="t" for="ch" forName="downArrow" refType="h" fact="0.05"/>
              <dgm:constr type="lOff" for="ch" forName="downArrow" refType="w" fact="0.02"/>
              <dgm:constr type="w" for="ch" forName="downArrowText" refType="w" fact="0.5"/>
              <dgm:constr type="h" for="ch" forName="downArrowText" refType="h"/>
              <dgm:constr type="t" for="ch" forName="downArrowText"/>
              <dgm:constr type="r" for="ch" forName="downArrowText" refType="w"/>
              <dgm:constr type="primFontSz" for="ch" ptType="node" op="equ" val="65"/>
            </dgm:constrLst>
          </dgm:else>
        </dgm:choose>
      </dgm:if>
      <dgm:else name="Name5">
        <dgm:choose name="Name6">
          <dgm:if name="Name7" axis="ch" ptType="node" func="cnt" op="gte" val="2">
            <dgm:constrLst>
              <dgm:constr type="w" for="ch" forName="divider" refType="w"/>
              <dgm:constr type="h" for="ch" forName="divider" refType="w" fact="0.2"/>
              <dgm:constr type="h" for="ch" forName="divider" refType="h" op="gte" fact="0.2"/>
              <dgm:constr type="h" for="ch" forName="divider" refType="h" op="lte" fact="0.4"/>
              <dgm:constr type="ctrX" for="ch" forName="divider" refType="w" fact="0.5"/>
              <dgm:constr type="ctrY" for="ch" forName="divider" refType="h" fact="0.5"/>
              <dgm:constr type="w" for="ch" forName="downArrow" refType="w" fact="0.3"/>
              <dgm:constr type="h" for="ch" forName="downArrow" refType="h" fact="0.4"/>
              <dgm:constr type="r" for="ch" forName="downArrow" refType="w" fact="0.9"/>
              <dgm:constr type="t" for="ch" forName="downArrow" refType="h" fact="0.05"/>
              <dgm:constr type="rOff" for="ch" forName="downArrow" refType="w" fact="-0.02"/>
              <dgm:constr type="w" for="ch" forName="downArrowText" refType="w" fact="0.32"/>
              <dgm:constr type="h" for="ch" forName="downArrowText" refType="h" fact="0.42"/>
              <dgm:constr type="t" for="ch" forName="downArrowText"/>
              <dgm:constr type="l" for="ch" forName="downArrowText" refType="w" fact="0.15"/>
              <dgm:constr type="w" for="ch" forName="upArrow" refType="w" fact="0.3"/>
              <dgm:constr type="h" for="ch" forName="upArrow" refType="h" fact="0.4"/>
              <dgm:constr type="b" for="ch" forName="upArrow" refType="h" fact="0.95"/>
              <dgm:constr type="l" for="ch" forName="upArrow" refType="w" fact="0.1"/>
              <dgm:constr type="lOff" for="ch" forName="upArrow" refType="w" fact="0.02"/>
              <dgm:constr type="w" for="ch" forName="upArrowText" refType="w" fact="0.32"/>
              <dgm:constr type="h" for="ch" forName="upArrowText" refType="h" fact="0.42"/>
              <dgm:constr type="b" for="ch" forName="upArrowText" refType="h"/>
              <dgm:constr type="r" for="ch" forName="upArrowText" refType="w" fact="0.85"/>
              <dgm:constr type="primFontSz" for="ch" ptType="node" op="equ" val="65"/>
            </dgm:constrLst>
          </dgm:if>
          <dgm:else name="Name8">
            <dgm:constrLst>
              <dgm:constr type="w" for="ch" forName="downArrow" refType="w" fact="0.4"/>
              <dgm:constr type="h" for="ch" forName="downArrow" refType="h" fact="0.8"/>
              <dgm:constr type="r" for="ch" forName="downArrow" refType="w" fact="0.98"/>
              <dgm:constr type="t" for="ch" forName="downArrow" refType="h" fact="0.05"/>
              <dgm:constr type="rOff" for="ch" forName="downArrow" refType="w" fact="-0.02"/>
              <dgm:constr type="w" for="ch" forName="downArrowText" refType="w" fact="0.5"/>
              <dgm:constr type="h" for="ch" forName="downArrowText" refType="h"/>
              <dgm:constr type="t" for="ch" forName="downArrowText"/>
              <dgm:constr type="l" for="ch" forName="downArrowText"/>
              <dgm:constr type="primFontSz" for="ch" ptType="node" op="equ" val="65"/>
            </dgm:constrLst>
          </dgm:else>
        </dgm:choose>
      </dgm:else>
    </dgm:choose>
    <dgm:ruleLst/>
    <dgm:choose name="Name9">
      <dgm:if name="Name10" axis="ch" ptType="node" func="cnt" op="gte" val="2">
        <dgm:layoutNode name="divider" styleLbl="fgShp">
          <dgm:alg type="sp"/>
          <dgm:choose name="Name11">
            <dgm:if name="Name12" func="var" arg="dir" op="equ" val="norm">
              <dgm:shape xmlns:r="http://schemas.openxmlformats.org/officeDocument/2006/relationships" rot="-5" type="mathMinus" r:blip="">
                <dgm:adjLst/>
              </dgm:shape>
            </dgm:if>
            <dgm:else name="Name13">
              <dgm:shape xmlns:r="http://schemas.openxmlformats.org/officeDocument/2006/relationships" rot="5" type="mathMinus" r:blip="">
                <dgm:adjLst/>
              </dgm:shape>
            </dgm:else>
          </dgm:choose>
          <dgm:presOf/>
          <dgm:constrLst/>
          <dgm:ruleLst/>
        </dgm:layoutNode>
      </dgm:if>
      <dgm:else name="Name14"/>
    </dgm:choose>
    <dgm:forEach name="Name15" axis="ch" ptType="node" cnt="1">
      <dgm:layoutNode name="downArrow" styleLbl="node1">
        <dgm:alg type="sp"/>
        <dgm:shape xmlns:r="http://schemas.openxmlformats.org/officeDocument/2006/relationships" type="downArrow" r:blip="">
          <dgm:adjLst/>
        </dgm:shape>
        <dgm:presOf/>
        <dgm:constrLst/>
        <dgm:ruleLst/>
      </dgm:layoutNode>
      <dgm:layoutNode name="downArrowText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/>
        <dgm:ruleLst>
          <dgm:rule type="primFontSz" val="5" fact="NaN" max="NaN"/>
        </dgm:ruleLst>
      </dgm:layoutNode>
    </dgm:forEach>
    <dgm:forEach name="Name16" axis="ch" ptType="node" st="2" cnt="1">
      <dgm:layoutNode name="upArrow" styleLbl="node1">
        <dgm:alg type="sp"/>
        <dgm:shape xmlns:r="http://schemas.openxmlformats.org/officeDocument/2006/relationships" type="upArrow" r:blip="">
          <dgm:adjLst/>
        </dgm:shape>
        <dgm:presOf/>
        <dgm:constrLst/>
        <dgm:ruleLst/>
      </dgm:layoutNode>
      <dgm:layoutNode name="upArrowText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48A3F3-5C82-4EA3-AA10-07C4BCFB2AA8}" type="datetimeFigureOut">
              <a:rPr lang="hu-HU" smtClean="0"/>
              <a:t>2026. 02. 27.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31DA39-9112-4AD1-BBBC-AB2BDF971E2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67873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51B785-8C84-294C-A068-030A51FBBE1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106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08B9EBBA-996F-894A-B54A-D6246ED52CEA}" type="datetimeFigureOut">
              <a:rPr lang="en-US" smtClean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hu-HU"/>
            </a:p>
          </p:txBody>
        </p:sp>
      </p:grpSp>
    </p:spTree>
    <p:extLst>
      <p:ext uri="{BB962C8B-B14F-4D97-AF65-F5344CB8AC3E}">
        <p14:creationId xmlns:p14="http://schemas.microsoft.com/office/powerpoint/2010/main" val="10528467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71049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DFA1846-DA80-1C48-A609-854EA85C59AD}" type="datetimeFigureOut">
              <a:rPr lang="en-US" smtClean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7561241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2/27/2026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51020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2/27/2026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183397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2/27/2026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751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2/27/2026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851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2/27/2026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6635949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2/27/2026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0331843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74128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288111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31415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</p:sldLayoutIdLst>
  <p:hf sldNum="0"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nDgIVseTkuE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hudoc.echr.coe.int/eng#{%22appno%22:[%2215428/16%22]}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5.xml"/><Relationship Id="rId3" Type="http://schemas.openxmlformats.org/officeDocument/2006/relationships/image" Target="../media/image4.png"/><Relationship Id="rId7" Type="http://schemas.openxmlformats.org/officeDocument/2006/relationships/diagramQuickStyle" Target="../diagrams/quickStyle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5.xml"/><Relationship Id="rId5" Type="http://schemas.openxmlformats.org/officeDocument/2006/relationships/diagramData" Target="../diagrams/data5.xml"/><Relationship Id="rId4" Type="http://schemas.openxmlformats.org/officeDocument/2006/relationships/image" Target="../media/image5.png"/><Relationship Id="rId9" Type="http://schemas.microsoft.com/office/2007/relationships/diagramDrawing" Target="../diagrams/drawing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46Too_X_RjA" TargetMode="Externa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cOIKo8TGPyw" TargetMode="Externa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liticalcapital.hu/kereses.php?article_read=1&amp;article_id=2826" TargetMode="External"/><Relationship Id="rId2" Type="http://schemas.openxmlformats.org/officeDocument/2006/relationships/hyperlink" Target="https://rankingdigitalrights.org/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independent.co.uk/life-style/gadgets-and-tech/un-declares-online-freedom-to-be-a-human-right-that-must-be-protected-a7120186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hu-HU" sz="3600" dirty="0"/>
              <a:t>Jogi alapismeretek</a:t>
            </a:r>
            <a:br>
              <a:rPr lang="hu-HU" sz="3600" dirty="0"/>
            </a:br>
            <a:r>
              <a:rPr lang="hu-HU" sz="3200" dirty="0"/>
              <a:t>Az alapjogok VÉDELME AZ  INFORMÁCIÓS TÁRSADALOMBAN </a:t>
            </a:r>
            <a:br>
              <a:rPr lang="hu-HU" sz="3200" dirty="0"/>
            </a:br>
            <a:r>
              <a:rPr lang="hu-HU" sz="3200" dirty="0"/>
              <a:t>2. előadás</a:t>
            </a:r>
          </a:p>
        </p:txBody>
      </p:sp>
      <p:sp>
        <p:nvSpPr>
          <p:cNvPr id="4" name="Téglalap 3"/>
          <p:cNvSpPr/>
          <p:nvPr/>
        </p:nvSpPr>
        <p:spPr>
          <a:xfrm>
            <a:off x="3935760" y="4869160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hu-HU" dirty="0"/>
              <a:t>Nagy Krisztina</a:t>
            </a:r>
          </a:p>
          <a:p>
            <a:pPr algn="ctr"/>
            <a:r>
              <a:rPr lang="en-US" dirty="0" err="1"/>
              <a:t>Budapesti</a:t>
            </a:r>
            <a:r>
              <a:rPr lang="en-US" dirty="0"/>
              <a:t> </a:t>
            </a:r>
            <a:r>
              <a:rPr lang="en-US" dirty="0" err="1"/>
              <a:t>Műszaki</a:t>
            </a:r>
            <a:r>
              <a:rPr lang="en-US" dirty="0"/>
              <a:t> </a:t>
            </a:r>
            <a:r>
              <a:rPr lang="en-US" dirty="0" err="1"/>
              <a:t>Egyetem</a:t>
            </a:r>
            <a:r>
              <a:rPr lang="en-US" dirty="0"/>
              <a:t> </a:t>
            </a:r>
          </a:p>
          <a:p>
            <a:pPr algn="ctr"/>
            <a:r>
              <a:rPr lang="en-US" dirty="0" err="1"/>
              <a:t>Gazdaság</a:t>
            </a:r>
            <a:r>
              <a:rPr lang="en-US" dirty="0"/>
              <a:t>-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Társadalomtudományi</a:t>
            </a:r>
            <a:r>
              <a:rPr lang="en-US" dirty="0"/>
              <a:t> </a:t>
            </a:r>
            <a:r>
              <a:rPr lang="en-US" dirty="0" err="1"/>
              <a:t>Kar</a:t>
            </a:r>
            <a:endParaRPr lang="en-US" dirty="0"/>
          </a:p>
          <a:p>
            <a:pPr algn="ctr"/>
            <a:r>
              <a:rPr lang="en-US" dirty="0" err="1"/>
              <a:t>Üzleti</a:t>
            </a:r>
            <a:r>
              <a:rPr lang="en-US" dirty="0"/>
              <a:t> Jog </a:t>
            </a:r>
            <a:r>
              <a:rPr lang="en-US" dirty="0" err="1"/>
              <a:t>Tanszék</a:t>
            </a:r>
            <a:endParaRPr lang="hu-HU" dirty="0"/>
          </a:p>
          <a:p>
            <a:pPr algn="ctr"/>
            <a:r>
              <a:rPr lang="hu-HU" dirty="0"/>
              <a:t>2026. Február 27.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252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hu-HU" sz="2400" dirty="0"/>
            </a:br>
            <a:r>
              <a:rPr lang="hu-HU" dirty="0">
                <a:latin typeface="+mn-lt"/>
              </a:rPr>
              <a:t>Az alapjogok jelentősége az online környezet szabályozásában</a:t>
            </a:r>
            <a:br>
              <a:rPr lang="hu-HU" sz="4900" dirty="0">
                <a:latin typeface="+mn-lt"/>
              </a:rPr>
            </a:br>
            <a:endParaRPr lang="en-US" sz="4900" dirty="0">
              <a:latin typeface="+mn-lt"/>
            </a:endParaRPr>
          </a:p>
        </p:txBody>
      </p:sp>
      <p:sp>
        <p:nvSpPr>
          <p:cNvPr id="8" name="Téglalap 7"/>
          <p:cNvSpPr/>
          <p:nvPr/>
        </p:nvSpPr>
        <p:spPr>
          <a:xfrm>
            <a:off x="2214647" y="2459857"/>
            <a:ext cx="8316924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endParaRPr lang="hu-HU" altLang="hu-HU" sz="2000" dirty="0"/>
          </a:p>
          <a:p>
            <a:pPr>
              <a:spcBef>
                <a:spcPct val="0"/>
              </a:spcBef>
            </a:pPr>
            <a:r>
              <a:rPr lang="hu-HU" altLang="hu-HU" sz="2000" dirty="0"/>
              <a:t>1</a:t>
            </a:r>
            <a:r>
              <a:rPr lang="hu-HU" altLang="hu-HU" sz="2800" dirty="0"/>
              <a:t>.  Alapjogok - fogalmi alapozás  </a:t>
            </a:r>
          </a:p>
          <a:p>
            <a:pPr marL="514350" indent="-514350">
              <a:spcBef>
                <a:spcPct val="0"/>
              </a:spcBef>
              <a:buAutoNum type="arabicPeriod" startAt="2"/>
            </a:pPr>
            <a:r>
              <a:rPr lang="hu-HU" altLang="hu-HU" sz="2800" dirty="0"/>
              <a:t>Az </a:t>
            </a:r>
            <a:r>
              <a:rPr lang="hu-HU" altLang="hu-HU" sz="2800"/>
              <a:t>alapjogok védelmének </a:t>
            </a:r>
            <a:r>
              <a:rPr lang="hu-HU" altLang="hu-HU" sz="2800" dirty="0"/>
              <a:t>rendszere </a:t>
            </a:r>
          </a:p>
          <a:p>
            <a:pPr marL="514350" indent="-514350">
              <a:spcBef>
                <a:spcPct val="0"/>
              </a:spcBef>
              <a:buAutoNum type="arabicPeriod" startAt="2"/>
            </a:pPr>
            <a:r>
              <a:rPr lang="hu-HU" altLang="hu-HU" sz="2800" dirty="0"/>
              <a:t>A véleménynyilvánítás szabadsága</a:t>
            </a:r>
          </a:p>
          <a:p>
            <a:pPr>
              <a:spcBef>
                <a:spcPct val="0"/>
              </a:spcBef>
            </a:pPr>
            <a:r>
              <a:rPr lang="hu-HU" sz="2800" dirty="0"/>
              <a:t>4.  Az információs társadalomban az alapjogok érvényesítésével kapcsolatban felmerülő kihívások</a:t>
            </a:r>
          </a:p>
          <a:p>
            <a:pPr marL="800100" lvl="1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u-HU" sz="2800" dirty="0"/>
              <a:t>a technológiai környezet fejlődésével megjelenő társadalmi kockázatok </a:t>
            </a:r>
          </a:p>
          <a:p>
            <a:pPr marL="800100" lvl="1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u-HU" sz="2800" dirty="0"/>
              <a:t>alapjogok védelme a digitális környezetben - aktuális helyzetkép, a szabályozás iránya </a:t>
            </a:r>
          </a:p>
          <a:p>
            <a:pPr>
              <a:spcBef>
                <a:spcPct val="0"/>
              </a:spcBef>
            </a:pPr>
            <a:endParaRPr lang="hu-HU" altLang="hu-HU" sz="2000" dirty="0"/>
          </a:p>
        </p:txBody>
      </p:sp>
      <p:sp>
        <p:nvSpPr>
          <p:cNvPr id="3" name="Lekerekített téglalap 2"/>
          <p:cNvSpPr/>
          <p:nvPr/>
        </p:nvSpPr>
        <p:spPr>
          <a:xfrm>
            <a:off x="1745973" y="2171700"/>
            <a:ext cx="8700054" cy="496369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95794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4E57D8D3-EA12-4173-BFAD-4BA88EAB83AF}"/>
              </a:ext>
            </a:extLst>
          </p:cNvPr>
          <p:cNvSpPr txBox="1"/>
          <p:nvPr/>
        </p:nvSpPr>
        <p:spPr>
          <a:xfrm>
            <a:off x="1226792" y="596027"/>
            <a:ext cx="6778558" cy="32543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89000"/>
              </a:lnSpc>
              <a:spcBef>
                <a:spcPct val="0"/>
              </a:spcBef>
              <a:spcAft>
                <a:spcPts val="600"/>
              </a:spcAft>
            </a:pPr>
            <a:endParaRPr lang="en-US" sz="6600" cap="all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7C585ABB-4B6B-1E9A-C342-5799142D0202}"/>
              </a:ext>
            </a:extLst>
          </p:cNvPr>
          <p:cNvSpPr txBox="1"/>
          <p:nvPr/>
        </p:nvSpPr>
        <p:spPr>
          <a:xfrm>
            <a:off x="1435510" y="806245"/>
            <a:ext cx="1012190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/>
              <a:t>Beszélgetés párban: </a:t>
            </a:r>
          </a:p>
          <a:p>
            <a:r>
              <a:rPr lang="hu-HU" sz="2400" dirty="0"/>
              <a:t>Mi az a szó, gondolat, ami eszébe jut, ha azt hallja: alapvető jogaim az online térben? </a:t>
            </a:r>
          </a:p>
          <a:p>
            <a:r>
              <a:rPr lang="hu-HU" sz="2400" dirty="0"/>
              <a:t>Találkozott-e már olyan helyzettel a digitális térben, amikor úgy érezte, hogy alapjoga sérült?  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185007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0B0C9-56FA-3CCD-7392-011C50241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B8921B3C-7176-276B-A322-3B9503C84BF0}"/>
              </a:ext>
            </a:extLst>
          </p:cNvPr>
          <p:cNvSpPr txBox="1"/>
          <p:nvPr/>
        </p:nvSpPr>
        <p:spPr>
          <a:xfrm>
            <a:off x="775641" y="235956"/>
            <a:ext cx="1019605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hu-HU" dirty="0"/>
          </a:p>
          <a:p>
            <a:r>
              <a:rPr lang="hu-HU" dirty="0">
                <a:hlinkClick r:id="rId2"/>
              </a:rPr>
              <a:t>https://www.youtube.com/watch?v=nDgIVseTkuE</a:t>
            </a:r>
            <a:endParaRPr lang="hu-HU" dirty="0"/>
          </a:p>
          <a:p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780128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899705" y="70502"/>
            <a:ext cx="8229600" cy="1143000"/>
          </a:xfrm>
        </p:spPr>
        <p:txBody>
          <a:bodyPr>
            <a:normAutofit/>
          </a:bodyPr>
          <a:lstStyle/>
          <a:p>
            <a:r>
              <a:rPr lang="hu-HU" sz="3600" dirty="0"/>
              <a:t>Alapvető emberi jogok - alapjogok</a:t>
            </a:r>
          </a:p>
        </p:txBody>
      </p:sp>
      <p:sp>
        <p:nvSpPr>
          <p:cNvPr id="3" name="Téglalap 2"/>
          <p:cNvSpPr/>
          <p:nvPr/>
        </p:nvSpPr>
        <p:spPr>
          <a:xfrm>
            <a:off x="1703512" y="908721"/>
            <a:ext cx="8856984" cy="69249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hu-HU" sz="2400" b="1" dirty="0"/>
              <a:t>Emberi jogok: </a:t>
            </a:r>
          </a:p>
          <a:p>
            <a:pPr>
              <a:defRPr/>
            </a:pPr>
            <a:endParaRPr lang="hu-HU" sz="2000" dirty="0"/>
          </a:p>
          <a:p>
            <a:pPr>
              <a:defRPr/>
            </a:pPr>
            <a:r>
              <a:rPr lang="hu-HU" sz="2000" dirty="0"/>
              <a:t>Az </a:t>
            </a:r>
            <a:r>
              <a:rPr lang="hu-HU" sz="2000" b="1" dirty="0"/>
              <a:t>egyén és az állam </a:t>
            </a:r>
            <a:r>
              <a:rPr lang="hu-HU" sz="2000" dirty="0"/>
              <a:t>közötti viszony döntő tényezői. Mindenkit megillető veleszületett, sérthetetlen, elidegeníthetetlen jogosultságok, amelyeket az állam nem adományoz, hanem elismer és tiszteletben tart.</a:t>
            </a:r>
          </a:p>
          <a:p>
            <a:pPr>
              <a:defRPr/>
            </a:pPr>
            <a:endParaRPr lang="hu-HU" sz="2400" dirty="0"/>
          </a:p>
          <a:p>
            <a:pPr>
              <a:defRPr/>
            </a:pPr>
            <a:r>
              <a:rPr lang="hu-HU" sz="2000" dirty="0"/>
              <a:t>Az emberi jogok szerepe: </a:t>
            </a:r>
          </a:p>
          <a:p>
            <a:pPr marL="457200" indent="-457200">
              <a:buFontTx/>
              <a:buChar char="-"/>
              <a:defRPr/>
            </a:pPr>
            <a:r>
              <a:rPr lang="hu-HU" sz="2000" dirty="0"/>
              <a:t>védelmet biztosítsanak az egyének számára az állami beavatkozásokkal szemben</a:t>
            </a:r>
          </a:p>
          <a:p>
            <a:pPr marL="457200" indent="-457200">
              <a:buFontTx/>
              <a:buChar char="-"/>
              <a:defRPr/>
            </a:pPr>
            <a:r>
              <a:rPr lang="hu-HU" sz="2000" dirty="0"/>
              <a:t>az emberek szabadon vehessenek részt a társadalmi életben és a különböző politikai folyamatokban</a:t>
            </a:r>
          </a:p>
          <a:p>
            <a:pPr marL="457200" indent="-457200">
              <a:buFontTx/>
              <a:buChar char="-"/>
              <a:defRPr/>
            </a:pPr>
            <a:r>
              <a:rPr lang="hu-HU" sz="2000" dirty="0"/>
              <a:t>biztosítják az emberek számára a saját élet, életmód meghatározását.  </a:t>
            </a:r>
          </a:p>
          <a:p>
            <a:pPr>
              <a:defRPr/>
            </a:pPr>
            <a:endParaRPr lang="hu-HU" sz="2400" dirty="0">
              <a:cs typeface="Times New Roman" pitchFamily="18" charset="0"/>
            </a:endParaRPr>
          </a:p>
          <a:p>
            <a:pPr>
              <a:defRPr/>
            </a:pPr>
            <a:r>
              <a:rPr lang="hu-HU" sz="2400" b="1" dirty="0">
                <a:cs typeface="Times New Roman" pitchFamily="18" charset="0"/>
              </a:rPr>
              <a:t>Alapjogok:</a:t>
            </a:r>
          </a:p>
          <a:p>
            <a:pPr>
              <a:defRPr/>
            </a:pPr>
            <a:endParaRPr lang="hu-HU" sz="2400" b="1" dirty="0">
              <a:cs typeface="Times New Roman" pitchFamily="18" charset="0"/>
            </a:endParaRPr>
          </a:p>
          <a:p>
            <a:pPr>
              <a:defRPr/>
            </a:pPr>
            <a:r>
              <a:rPr lang="hu-HU" sz="2000" dirty="0">
                <a:cs typeface="Times New Roman" pitchFamily="18" charset="0"/>
              </a:rPr>
              <a:t>Az egyes államok alkotmányaiban és a különböző nemzetközi emberi jogi egyezményekben felsorolt és ezáltal a tételes jog részévé tett emberi jogok. </a:t>
            </a:r>
          </a:p>
          <a:p>
            <a:pPr marL="457200" indent="-457200">
              <a:buFontTx/>
              <a:buChar char="-"/>
              <a:defRPr/>
            </a:pPr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1261167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/>
          <p:cNvSpPr txBox="1"/>
          <p:nvPr/>
        </p:nvSpPr>
        <p:spPr>
          <a:xfrm flipH="1">
            <a:off x="2253288" y="561694"/>
            <a:ext cx="794716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600" dirty="0"/>
              <a:t>Állami kötelezettségek az emberi jogokkal összefüggésben</a:t>
            </a:r>
          </a:p>
          <a:p>
            <a:endParaRPr lang="hu-HU" sz="2400" dirty="0"/>
          </a:p>
          <a:p>
            <a:endParaRPr lang="hu-HU" sz="2400" dirty="0"/>
          </a:p>
          <a:p>
            <a:r>
              <a:rPr lang="hu-HU" sz="2400" dirty="0"/>
              <a:t> </a:t>
            </a: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946903270"/>
              </p:ext>
            </p:extLst>
          </p:nvPr>
        </p:nvGraphicFramePr>
        <p:xfrm>
          <a:off x="2253288" y="1340768"/>
          <a:ext cx="7803153" cy="4752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35884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/>
          <p:cNvSpPr/>
          <p:nvPr/>
        </p:nvSpPr>
        <p:spPr>
          <a:xfrm>
            <a:off x="1631505" y="260649"/>
            <a:ext cx="9301966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hu-HU" sz="3600" dirty="0">
                <a:latin typeface="+mj-lt"/>
                <a:cs typeface="Times New Roman" pitchFamily="18" charset="0"/>
              </a:rPr>
              <a:t>Az emberi jogok generációi</a:t>
            </a:r>
          </a:p>
          <a:p>
            <a:pPr>
              <a:defRPr/>
            </a:pPr>
            <a:endParaRPr lang="hu-HU" sz="2000" dirty="0">
              <a:latin typeface="+mj-lt"/>
              <a:cs typeface="Times New Roman" pitchFamily="18" charset="0"/>
            </a:endParaRPr>
          </a:p>
          <a:p>
            <a:pPr marL="342900" indent="-342900">
              <a:buFontTx/>
              <a:buAutoNum type="arabicPeriod"/>
              <a:defRPr/>
            </a:pPr>
            <a:r>
              <a:rPr lang="hu-HU" sz="2000" dirty="0">
                <a:latin typeface="+mj-lt"/>
                <a:cs typeface="Times New Roman" pitchFamily="18" charset="0"/>
              </a:rPr>
              <a:t>Első generációs jogok (személyi és politikai szabadságjogok)</a:t>
            </a:r>
          </a:p>
          <a:p>
            <a:pPr marL="342900" indent="-342900">
              <a:defRPr/>
            </a:pPr>
            <a:r>
              <a:rPr lang="hu-HU" sz="2000" dirty="0">
                <a:latin typeface="+mj-lt"/>
                <a:cs typeface="Times New Roman" pitchFamily="18" charset="0"/>
              </a:rPr>
              <a:t>	Ezek ún. „szabadságorientált” jogok, amelyek a következőket foglalják magukban: az egyén élethez, szabadsághoz, biztonsághoz való joga, kínzás, rabszolgaság tilalma, politikai részvétel, vélemény-, gondolat-, lelkiismeret-, vallásszabadság, egyesülés és gyülekezés szabadsága. </a:t>
            </a:r>
            <a:r>
              <a:rPr lang="hu-HU" sz="2000" b="1" dirty="0">
                <a:latin typeface="+mj-lt"/>
                <a:cs typeface="Times New Roman" pitchFamily="18" charset="0"/>
              </a:rPr>
              <a:t>(Szabadság)</a:t>
            </a:r>
          </a:p>
          <a:p>
            <a:pPr marL="342900" indent="-342900">
              <a:defRPr/>
            </a:pPr>
            <a:endParaRPr lang="hu-HU" sz="2000" dirty="0">
              <a:latin typeface="+mj-lt"/>
              <a:cs typeface="Times New Roman" pitchFamily="18" charset="0"/>
            </a:endParaRPr>
          </a:p>
          <a:p>
            <a:pPr>
              <a:defRPr/>
            </a:pPr>
            <a:r>
              <a:rPr lang="hu-HU" sz="2000" dirty="0">
                <a:latin typeface="+mj-lt"/>
                <a:cs typeface="Times New Roman" pitchFamily="18" charset="0"/>
              </a:rPr>
              <a:t>2.    Második generációs jogok (gazdasági, szociális és kulturális jogok.)</a:t>
            </a:r>
          </a:p>
          <a:p>
            <a:pPr algn="just">
              <a:defRPr/>
            </a:pPr>
            <a:r>
              <a:rPr lang="hu-HU" sz="2000" dirty="0">
                <a:latin typeface="+mj-lt"/>
                <a:cs typeface="Times New Roman" pitchFamily="18" charset="0"/>
              </a:rPr>
              <a:t>       Ezek ún. „biztonságorientált” jogok, amelyek többek között az alábbiakat</a:t>
            </a:r>
          </a:p>
          <a:p>
            <a:pPr algn="just">
              <a:defRPr/>
            </a:pPr>
            <a:r>
              <a:rPr lang="hu-HU" sz="2000" dirty="0">
                <a:latin typeface="+mj-lt"/>
                <a:cs typeface="Times New Roman" pitchFamily="18" charset="0"/>
              </a:rPr>
              <a:t>       foglalják  magukban: munkához, oktatáshoz való jog, elfogadható  </a:t>
            </a:r>
          </a:p>
          <a:p>
            <a:pPr algn="just">
              <a:defRPr/>
            </a:pPr>
            <a:r>
              <a:rPr lang="hu-HU" sz="2000" dirty="0">
                <a:latin typeface="+mj-lt"/>
                <a:cs typeface="Times New Roman" pitchFamily="18" charset="0"/>
              </a:rPr>
              <a:t>       életszínvonalhoz, élelemhez, egészségügyi ellátáshoz való jog, tudományos</a:t>
            </a:r>
          </a:p>
          <a:p>
            <a:pPr algn="just">
              <a:defRPr/>
            </a:pPr>
            <a:r>
              <a:rPr lang="hu-HU" sz="2000" dirty="0">
                <a:latin typeface="+mj-lt"/>
                <a:cs typeface="Times New Roman" pitchFamily="18" charset="0"/>
              </a:rPr>
              <a:t>       kutatás szabadsága. </a:t>
            </a:r>
            <a:r>
              <a:rPr lang="hu-HU" sz="2000" b="1" dirty="0">
                <a:latin typeface="+mj-lt"/>
                <a:cs typeface="Times New Roman" pitchFamily="18" charset="0"/>
              </a:rPr>
              <a:t>(Egyenlőség)</a:t>
            </a:r>
          </a:p>
          <a:p>
            <a:pPr>
              <a:defRPr/>
            </a:pPr>
            <a:endParaRPr lang="hu-HU" sz="2000" dirty="0">
              <a:latin typeface="+mj-lt"/>
              <a:cs typeface="Times New Roman" pitchFamily="18" charset="0"/>
            </a:endParaRPr>
          </a:p>
          <a:p>
            <a:pPr marL="457200" indent="-457200">
              <a:buAutoNum type="arabicPeriod" startAt="3"/>
              <a:defRPr/>
            </a:pPr>
            <a:r>
              <a:rPr lang="hu-HU" sz="2000" dirty="0">
                <a:latin typeface="+mj-lt"/>
                <a:cs typeface="Times New Roman" pitchFamily="18" charset="0"/>
              </a:rPr>
              <a:t>Harmadik generációs jogok (globális problémákkal összefüggő jogok)  Ilyen például egy olyan környezetben való éléshez való jog, amely tiszta és pusztítástól védett, valamint a kulturális, politikai és gazdasági fejlődéshez való jog. </a:t>
            </a:r>
            <a:r>
              <a:rPr lang="hu-HU" sz="2000" b="1" dirty="0">
                <a:latin typeface="+mj-lt"/>
                <a:cs typeface="Times New Roman" pitchFamily="18" charset="0"/>
              </a:rPr>
              <a:t>(Szolidaritás)</a:t>
            </a:r>
          </a:p>
        </p:txBody>
      </p:sp>
    </p:spTree>
    <p:extLst>
      <p:ext uri="{BB962C8B-B14F-4D97-AF65-F5344CB8AC3E}">
        <p14:creationId xmlns:p14="http://schemas.microsoft.com/office/powerpoint/2010/main" val="163720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5"/>
          <p:cNvSpPr>
            <a:spLocks noChangeArrowheads="1"/>
          </p:cNvSpPr>
          <p:nvPr/>
        </p:nvSpPr>
        <p:spPr bwMode="auto">
          <a:xfrm>
            <a:off x="1775521" y="87016"/>
            <a:ext cx="8424863" cy="6924973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hu-HU" sz="3600" dirty="0">
                <a:latin typeface="+mj-lt"/>
                <a:cs typeface="Times New Roman" pitchFamily="18" charset="0"/>
              </a:rPr>
              <a:t>Az emberi jogok nemzetközi védelme</a:t>
            </a:r>
          </a:p>
          <a:p>
            <a:pPr algn="ctr">
              <a:defRPr/>
            </a:pPr>
            <a:endParaRPr lang="hu-HU" sz="3600" dirty="0">
              <a:latin typeface="+mj-lt"/>
              <a:cs typeface="Times New Roman" pitchFamily="18" charset="0"/>
            </a:endParaRPr>
          </a:p>
          <a:p>
            <a:pPr>
              <a:defRPr/>
            </a:pPr>
            <a:r>
              <a:rPr lang="hu-HU" sz="2400" b="1" dirty="0">
                <a:latin typeface="+mj-lt"/>
                <a:cs typeface="Times New Roman" pitchFamily="18" charset="0"/>
              </a:rPr>
              <a:t>Alapvető jogforrások:</a:t>
            </a:r>
          </a:p>
          <a:p>
            <a:pPr>
              <a:defRPr/>
            </a:pPr>
            <a:endParaRPr lang="hu-HU" sz="2400" dirty="0">
              <a:latin typeface="+mj-lt"/>
              <a:cs typeface="Times New Roman" pitchFamily="18" charset="0"/>
            </a:endParaRPr>
          </a:p>
          <a:p>
            <a:pPr>
              <a:defRPr/>
            </a:pPr>
            <a:r>
              <a:rPr lang="hu-HU" sz="2400" dirty="0">
                <a:latin typeface="+mj-lt"/>
                <a:cs typeface="Times New Roman" pitchFamily="18" charset="0"/>
              </a:rPr>
              <a:t>Emberi Jogok Egyetemes Nyilatkozata (1948) – ENSZ </a:t>
            </a:r>
          </a:p>
          <a:p>
            <a:pPr>
              <a:defRPr/>
            </a:pPr>
            <a:endParaRPr lang="hu-HU" sz="2400" dirty="0">
              <a:latin typeface="+mj-lt"/>
              <a:cs typeface="Times New Roman" pitchFamily="18" charset="0"/>
            </a:endParaRPr>
          </a:p>
          <a:p>
            <a:pPr>
              <a:defRPr/>
            </a:pPr>
            <a:r>
              <a:rPr lang="hu-HU" sz="2400" dirty="0">
                <a:latin typeface="+mj-lt"/>
                <a:cs typeface="Times New Roman" pitchFamily="18" charset="0"/>
              </a:rPr>
              <a:t>Polgári és Politikai Jogok Nemzetközi Egyezségokmánya (1966) – ENSZ</a:t>
            </a:r>
          </a:p>
          <a:p>
            <a:pPr>
              <a:defRPr/>
            </a:pPr>
            <a:endParaRPr lang="hu-HU" sz="2400" dirty="0"/>
          </a:p>
          <a:p>
            <a:pPr>
              <a:defRPr/>
            </a:pPr>
            <a:r>
              <a:rPr lang="hu-HU" sz="2400" dirty="0"/>
              <a:t>Gazdasági, Szociális és Kulturális Jogok Nemzetközi Egyezségokmánya (1966) – ENSZ </a:t>
            </a:r>
            <a:endParaRPr lang="hu-HU" sz="2400" dirty="0">
              <a:latin typeface="+mj-lt"/>
              <a:cs typeface="Times New Roman" pitchFamily="18" charset="0"/>
            </a:endParaRPr>
          </a:p>
          <a:p>
            <a:pPr>
              <a:defRPr/>
            </a:pPr>
            <a:endParaRPr lang="hu-HU" sz="2400" dirty="0">
              <a:latin typeface="+mj-lt"/>
              <a:cs typeface="Times New Roman" pitchFamily="18" charset="0"/>
            </a:endParaRPr>
          </a:p>
          <a:p>
            <a:pPr>
              <a:defRPr/>
            </a:pPr>
            <a:r>
              <a:rPr lang="hu-HU" sz="2400" dirty="0">
                <a:latin typeface="+mj-lt"/>
                <a:cs typeface="Times New Roman" pitchFamily="18" charset="0"/>
              </a:rPr>
              <a:t>Egyezmény az Emberi Jogok és Alapvető Szabadságjogok Védelméről </a:t>
            </a:r>
          </a:p>
          <a:p>
            <a:pPr>
              <a:defRPr/>
            </a:pPr>
            <a:r>
              <a:rPr lang="hu-HU" sz="2400" dirty="0">
                <a:latin typeface="+mj-lt"/>
                <a:cs typeface="Times New Roman" pitchFamily="18" charset="0"/>
              </a:rPr>
              <a:t>(Emberi Jogi Európai Egyezménye) (1950) - Európa Tanács</a:t>
            </a:r>
          </a:p>
        </p:txBody>
      </p:sp>
      <p:pic>
        <p:nvPicPr>
          <p:cNvPr id="50179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6320" y="3940182"/>
            <a:ext cx="1136828" cy="1577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33057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1627439" y="150426"/>
            <a:ext cx="8937122" cy="1392238"/>
          </a:xfrm>
        </p:spPr>
        <p:txBody>
          <a:bodyPr rtlCol="0">
            <a:noAutofit/>
          </a:bodyPr>
          <a:lstStyle/>
          <a:p>
            <a:pPr>
              <a:defRPr/>
            </a:pPr>
            <a:r>
              <a:rPr lang="hu-HU" altLang="hu-HU" sz="3200" dirty="0">
                <a:latin typeface="+mn-lt"/>
                <a:cs typeface="Times New Roman" pitchFamily="18" charset="0"/>
              </a:rPr>
              <a:t>Emberi jogok érvényesítésének nemzetközi fóruma Európában  - Európai Emberi Jogi Bíróság (Strasbourg</a:t>
            </a:r>
            <a:r>
              <a:rPr lang="hu-HU" altLang="hu-HU" sz="3200" dirty="0">
                <a:latin typeface="Times New Roman" pitchFamily="18" charset="0"/>
                <a:cs typeface="Times New Roman" pitchFamily="18" charset="0"/>
              </a:rPr>
              <a:t>)</a:t>
            </a:r>
            <a:br>
              <a:rPr lang="hu-HU" altLang="hu-HU" sz="3600" dirty="0">
                <a:latin typeface="Times New Roman" pitchFamily="18" charset="0"/>
                <a:cs typeface="Times New Roman" pitchFamily="18" charset="0"/>
              </a:rPr>
            </a:br>
            <a:endParaRPr lang="hu-HU" altLang="hu-H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>
          <a:xfrm>
            <a:off x="865240" y="1492502"/>
            <a:ext cx="11031792" cy="5721350"/>
          </a:xfrm>
        </p:spPr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hu-HU" altLang="hu-HU" sz="2000" dirty="0">
                <a:cs typeface="Times New Roman" pitchFamily="18" charset="0"/>
              </a:rPr>
              <a:t>Ítélkezés alapja: az </a:t>
            </a:r>
            <a:r>
              <a:rPr lang="hu-HU" altLang="hu-HU" sz="2000" b="1" dirty="0">
                <a:cs typeface="Times New Roman" pitchFamily="18" charset="0"/>
              </a:rPr>
              <a:t>Emberi Jogok Európai Egyezménye.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hu-HU" altLang="hu-HU" sz="2000" b="1" dirty="0">
                <a:cs typeface="Times New Roman" pitchFamily="18" charset="0"/>
              </a:rPr>
              <a:t>Eljárás indítására </a:t>
            </a:r>
            <a:r>
              <a:rPr lang="hu-HU" altLang="hu-HU" sz="2000" dirty="0">
                <a:cs typeface="Times New Roman" pitchFamily="18" charset="0"/>
              </a:rPr>
              <a:t>jogosultság:</a:t>
            </a:r>
          </a:p>
          <a:p>
            <a:pPr eaLnBrk="1" hangingPunct="1">
              <a:lnSpc>
                <a:spcPct val="80000"/>
              </a:lnSpc>
            </a:pPr>
            <a:r>
              <a:rPr lang="hu-HU" altLang="hu-HU" sz="2000" dirty="0">
                <a:cs typeface="Times New Roman" pitchFamily="18" charset="0"/>
              </a:rPr>
              <a:t>áldozati státusz 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hu-HU" altLang="hu-HU" sz="2000" dirty="0">
                <a:cs typeface="Times New Roman" pitchFamily="18" charset="0"/>
              </a:rPr>
              <a:t>eljárást indíthat: sérelmet szenvedett személy vagy hozzátartozó, aki kimerítette az összes hazai jogérvényesítési, jogorvoslati lehetőséget</a:t>
            </a:r>
          </a:p>
          <a:p>
            <a:pPr eaLnBrk="1" hangingPunct="1">
              <a:lnSpc>
                <a:spcPct val="80000"/>
              </a:lnSpc>
            </a:pPr>
            <a:r>
              <a:rPr lang="hu-HU" altLang="hu-HU" sz="2000" dirty="0">
                <a:cs typeface="Times New Roman" pitchFamily="18" charset="0"/>
              </a:rPr>
              <a:t>a sérelem az egyezmény által védett jogot érinti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hu-HU" altLang="hu-HU" sz="2000" dirty="0">
              <a:cs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hu-HU" altLang="hu-HU" sz="2000" dirty="0">
                <a:cs typeface="Times New Roman" pitchFamily="18" charset="0"/>
              </a:rPr>
              <a:t>Jogkövetkezménye: </a:t>
            </a:r>
          </a:p>
          <a:p>
            <a:pPr>
              <a:lnSpc>
                <a:spcPct val="80000"/>
              </a:lnSpc>
            </a:pPr>
            <a:r>
              <a:rPr lang="hu-HU" altLang="hu-HU" dirty="0">
                <a:cs typeface="Times New Roman" pitchFamily="18" charset="0"/>
              </a:rPr>
              <a:t>I</a:t>
            </a:r>
            <a:r>
              <a:rPr lang="hu-HU" altLang="hu-HU" sz="2000" dirty="0">
                <a:cs typeface="Times New Roman" pitchFamily="18" charset="0"/>
              </a:rPr>
              <a:t>gazságos elégtétel vagy kártérítés megítélése a sértett számára.</a:t>
            </a:r>
          </a:p>
          <a:p>
            <a:pPr>
              <a:lnSpc>
                <a:spcPct val="80000"/>
              </a:lnSpc>
            </a:pPr>
            <a:r>
              <a:rPr lang="hu-HU" altLang="hu-HU" sz="2000" dirty="0">
                <a:cs typeface="Times New Roman" pitchFamily="18" charset="0"/>
              </a:rPr>
              <a:t>Nem kötelezheti az országokat a szabály megváltoztatására, ahogy nem változtathatja meg a hazai bíróságok ítéleteit sem. </a:t>
            </a:r>
          </a:p>
          <a:p>
            <a:pPr marL="0" indent="0">
              <a:lnSpc>
                <a:spcPct val="80000"/>
              </a:lnSpc>
              <a:buNone/>
            </a:pPr>
            <a:endParaRPr lang="hu-HU" altLang="hu-HU" sz="2000" dirty="0"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r>
              <a:rPr lang="hu-HU" altLang="hu-HU" sz="2000" dirty="0">
                <a:cs typeface="Times New Roman" pitchFamily="18" charset="0"/>
              </a:rPr>
              <a:t>Legfontosabb eszköze a nyilvánosság</a:t>
            </a:r>
          </a:p>
          <a:p>
            <a:pPr>
              <a:lnSpc>
                <a:spcPct val="80000"/>
              </a:lnSpc>
            </a:pPr>
            <a:r>
              <a:rPr lang="hu-HU" altLang="hu-HU" sz="2000" dirty="0">
                <a:cs typeface="Times New Roman" pitchFamily="18" charset="0"/>
              </a:rPr>
              <a:t>A tagállami jogalkalmazás, bíróségi joggyakorlat alakítása </a:t>
            </a:r>
          </a:p>
        </p:txBody>
      </p:sp>
      <p:pic>
        <p:nvPicPr>
          <p:cNvPr id="542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6561" y="1974110"/>
            <a:ext cx="2358793" cy="26459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0927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/>
          <p:cNvSpPr/>
          <p:nvPr/>
        </p:nvSpPr>
        <p:spPr>
          <a:xfrm>
            <a:off x="967902" y="1204012"/>
            <a:ext cx="2404563" cy="50203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89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Jogeset</a:t>
            </a:r>
            <a:r>
              <a:rPr lang="en-US" sz="44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</a:p>
          <a:p>
            <a:pPr defTabSz="914400">
              <a:lnSpc>
                <a:spcPct val="89000"/>
              </a:lnSpc>
              <a:spcBef>
                <a:spcPct val="0"/>
              </a:spcBef>
              <a:spcAft>
                <a:spcPts val="600"/>
              </a:spcAft>
            </a:pPr>
            <a:endParaRPr lang="en-US" sz="4400" b="1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89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i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Szurovecz</a:t>
            </a:r>
            <a:r>
              <a:rPr lang="en-US" sz="3200" i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v. Hungary</a:t>
            </a:r>
            <a:br>
              <a:rPr lang="en-US" sz="3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3200" dirty="0">
                <a:solidFill>
                  <a:schemeClr val="tx2"/>
                </a:solidFill>
                <a:latin typeface="+mj-lt"/>
                <a:ea typeface="+mj-ea"/>
                <a:cs typeface="+mj-cs"/>
                <a:hlinkClick r:id="rId2"/>
              </a:rPr>
              <a:t>15428/16</a:t>
            </a:r>
            <a:br>
              <a:rPr lang="en-US" sz="3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hu-HU" sz="3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(</a:t>
            </a:r>
            <a:r>
              <a:rPr lang="en-US" sz="3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2019.</a:t>
            </a:r>
            <a:r>
              <a:rPr lang="hu-HU" sz="3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)</a:t>
            </a:r>
            <a:r>
              <a:rPr lang="en-US" sz="3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3" name="Téglalap 2"/>
          <p:cNvSpPr/>
          <p:nvPr/>
        </p:nvSpPr>
        <p:spPr>
          <a:xfrm>
            <a:off x="3618271" y="983226"/>
            <a:ext cx="7688825" cy="587477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endParaRPr lang="en-US" sz="1700" dirty="0">
              <a:solidFill>
                <a:schemeClr val="tx2"/>
              </a:solidFill>
            </a:endParaRPr>
          </a:p>
          <a:p>
            <a:pPr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r>
              <a:rPr lang="hu-HU" sz="2600" dirty="0">
                <a:solidFill>
                  <a:schemeClr val="tx2"/>
                </a:solidFill>
              </a:rPr>
              <a:t>A strasbourgi bírósági eljárás magyar eljárási előzménye, hogy 2015-ben az abcug.hu egyik újságírójától a magyar hatóságok megtagadták a belépést a debreceni menekülttáborba.  A hatóság az elutasításban a </a:t>
            </a:r>
            <a:r>
              <a:rPr lang="hu-HU" sz="2600" b="1" dirty="0">
                <a:solidFill>
                  <a:schemeClr val="tx2"/>
                </a:solidFill>
              </a:rPr>
              <a:t>menekülők magánélethez való jogának védelmére hivatkozott,</a:t>
            </a:r>
            <a:r>
              <a:rPr lang="hu-HU" sz="2600" dirty="0">
                <a:solidFill>
                  <a:schemeClr val="tx2"/>
                </a:solidFill>
              </a:rPr>
              <a:t> valamint arra, hogy sokan üldözés elől menekültek, és az ő hollétük nyilvánosságra kerülése az ő és a családjuk biztonságát is veszélyeztetheti.</a:t>
            </a:r>
          </a:p>
          <a:p>
            <a:pPr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endParaRPr lang="hu-HU" sz="2600" dirty="0">
              <a:solidFill>
                <a:schemeClr val="tx2"/>
              </a:solidFill>
            </a:endParaRPr>
          </a:p>
          <a:p>
            <a:pPr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r>
              <a:rPr lang="hu-HU" sz="2600" dirty="0">
                <a:solidFill>
                  <a:schemeClr val="tx2"/>
                </a:solidFill>
              </a:rPr>
              <a:t>Az újságíró a strasbourgi bírósághoz fordult a </a:t>
            </a:r>
            <a:r>
              <a:rPr lang="hu-HU" sz="2600" b="1" dirty="0">
                <a:solidFill>
                  <a:schemeClr val="tx2"/>
                </a:solidFill>
              </a:rPr>
              <a:t>véleménynyilvánítás szabadságának korlátozása </a:t>
            </a:r>
            <a:r>
              <a:rPr lang="hu-HU" sz="2600" dirty="0">
                <a:solidFill>
                  <a:schemeClr val="tx2"/>
                </a:solidFill>
              </a:rPr>
              <a:t>miatt. </a:t>
            </a:r>
          </a:p>
          <a:p>
            <a:pPr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endParaRPr lang="hu-HU" sz="2600" dirty="0">
              <a:solidFill>
                <a:schemeClr val="tx2"/>
              </a:solidFill>
            </a:endParaRPr>
          </a:p>
          <a:p>
            <a:pPr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r>
              <a:rPr lang="hu-HU" sz="2600" dirty="0">
                <a:solidFill>
                  <a:schemeClr val="tx2"/>
                </a:solidFill>
              </a:rPr>
              <a:t>Egyezmény 10. cikk </a:t>
            </a:r>
          </a:p>
          <a:p>
            <a:pPr defTabSz="914400">
              <a:lnSpc>
                <a:spcPct val="94000"/>
              </a:lnSpc>
              <a:spcAft>
                <a:spcPts val="200"/>
              </a:spcAft>
            </a:pPr>
            <a:endParaRPr lang="hu-HU" altLang="hu-HU" sz="2600" dirty="0">
              <a:solidFill>
                <a:schemeClr val="tx2"/>
              </a:solidFill>
            </a:endParaRPr>
          </a:p>
          <a:p>
            <a:pPr defTabSz="914400">
              <a:lnSpc>
                <a:spcPct val="94000"/>
              </a:lnSpc>
              <a:spcAft>
                <a:spcPts val="200"/>
              </a:spcAft>
            </a:pPr>
            <a:r>
              <a:rPr lang="hu-HU" altLang="hu-HU" sz="2600" i="1" dirty="0">
                <a:solidFill>
                  <a:schemeClr val="tx2"/>
                </a:solidFill>
              </a:rPr>
              <a:t>Mindenkinek joga van a véleménynyilvánítás szabadságához. Ez a jog magában foglalja a </a:t>
            </a:r>
            <a:r>
              <a:rPr lang="hu-HU" altLang="hu-HU" sz="2600" b="1" i="1" dirty="0">
                <a:solidFill>
                  <a:schemeClr val="tx2"/>
                </a:solidFill>
              </a:rPr>
              <a:t>véleményalkotás szabadságát </a:t>
            </a:r>
            <a:r>
              <a:rPr lang="hu-HU" altLang="hu-HU" sz="2600" i="1" dirty="0">
                <a:solidFill>
                  <a:schemeClr val="tx2"/>
                </a:solidFill>
              </a:rPr>
              <a:t>és az </a:t>
            </a:r>
            <a:r>
              <a:rPr lang="hu-HU" altLang="hu-HU" sz="2600" b="1" i="1" dirty="0">
                <a:solidFill>
                  <a:schemeClr val="tx2"/>
                </a:solidFill>
              </a:rPr>
              <a:t>információk, eszmék megismerésének és közlésének szabadságá</a:t>
            </a:r>
            <a:r>
              <a:rPr lang="hu-HU" altLang="hu-HU" sz="2600" i="1" dirty="0">
                <a:solidFill>
                  <a:schemeClr val="tx2"/>
                </a:solidFill>
              </a:rPr>
              <a:t>t országhatárokra tekintet nélkül és anélkül, hogy ebbe hatósági szerv beavatkozhasson.</a:t>
            </a:r>
            <a:endParaRPr lang="hu-HU" sz="2600" b="1" i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6249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/>
          <p:cNvSpPr/>
          <p:nvPr/>
        </p:nvSpPr>
        <p:spPr>
          <a:xfrm>
            <a:off x="1154319" y="496089"/>
            <a:ext cx="9883362" cy="50203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r>
              <a:rPr lang="hu-HU" sz="2400" dirty="0">
                <a:solidFill>
                  <a:schemeClr val="tx2"/>
                </a:solidFill>
              </a:rPr>
              <a:t>A strasbourgi bíróság kimondta, hogy  Magyarország a hatósági eljárással </a:t>
            </a:r>
            <a:r>
              <a:rPr lang="hu-HU" sz="2400" b="1" dirty="0">
                <a:solidFill>
                  <a:schemeClr val="tx2"/>
                </a:solidFill>
              </a:rPr>
              <a:t>megsértette a véleménynyilvánítás szabadságát. </a:t>
            </a:r>
          </a:p>
          <a:p>
            <a:pPr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endParaRPr lang="hu-HU" sz="2400" dirty="0">
              <a:solidFill>
                <a:schemeClr val="tx2"/>
              </a:solidFill>
            </a:endParaRPr>
          </a:p>
          <a:p>
            <a:pPr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r>
              <a:rPr lang="hu-HU" sz="2400" dirty="0">
                <a:solidFill>
                  <a:schemeClr val="tx2"/>
                </a:solidFill>
              </a:rPr>
              <a:t>A bíróság döntése alapján ugyan a tagállamok hatóságai jogszabályi felhatalmazás alapján eldönthetik hogyan biztosítják a sajtó menekülttáborokba való belépését, de </a:t>
            </a:r>
            <a:r>
              <a:rPr lang="hu-HU" sz="2400" b="1" dirty="0">
                <a:solidFill>
                  <a:schemeClr val="tx2"/>
                </a:solidFill>
              </a:rPr>
              <a:t>a közérdek mérlegelése nélkül</a:t>
            </a:r>
            <a:r>
              <a:rPr lang="hu-HU" sz="2400" dirty="0">
                <a:solidFill>
                  <a:schemeClr val="tx2"/>
                </a:solidFill>
              </a:rPr>
              <a:t> nem lehet általában megtiltani a sajtó belépését. </a:t>
            </a:r>
          </a:p>
          <a:p>
            <a:pPr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endParaRPr lang="hu-HU" sz="2400" dirty="0">
              <a:solidFill>
                <a:schemeClr val="tx2"/>
              </a:solidFill>
            </a:endParaRPr>
          </a:p>
          <a:p>
            <a:pPr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endParaRPr lang="hu-HU" sz="2400" b="1" dirty="0">
              <a:solidFill>
                <a:schemeClr val="tx2"/>
              </a:solidFill>
            </a:endParaRPr>
          </a:p>
          <a:p>
            <a:pPr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r>
              <a:rPr lang="hu-HU" sz="2400" b="1" dirty="0">
                <a:solidFill>
                  <a:schemeClr val="tx2"/>
                </a:solidFill>
              </a:rPr>
              <a:t>Indokolás </a:t>
            </a:r>
          </a:p>
          <a:p>
            <a:pPr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endParaRPr lang="hu-HU" sz="2400" b="1" dirty="0">
              <a:solidFill>
                <a:schemeClr val="tx2"/>
              </a:solidFill>
            </a:endParaRPr>
          </a:p>
          <a:p>
            <a:pPr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r>
              <a:rPr lang="hu-HU" sz="2400" dirty="0">
                <a:solidFill>
                  <a:schemeClr val="tx2"/>
                </a:solidFill>
              </a:rPr>
              <a:t>Az újságíró nem szenzációhajhász cikket szeretett volna készíteni, és elsősorban nem is az egyes menedékkérők személyét szerette volna bemutatni, hanem a </a:t>
            </a:r>
            <a:r>
              <a:rPr lang="hu-HU" sz="2400" b="1" dirty="0">
                <a:solidFill>
                  <a:schemeClr val="tx2"/>
                </a:solidFill>
              </a:rPr>
              <a:t>magyar hatóságok által biztosított körülményeket. </a:t>
            </a:r>
          </a:p>
          <a:p>
            <a:pPr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r>
              <a:rPr lang="hu-HU" sz="2400" dirty="0">
                <a:solidFill>
                  <a:schemeClr val="tx2"/>
                </a:solidFill>
              </a:rPr>
              <a:t>A belépést megtiltó állami hatóság nem vette figyelembe, hogy az újságíró vállalta, hogy csak előzetes (akár írásbeli) hozzájárulás esetén készít fényképet menedékkérőkről.</a:t>
            </a:r>
          </a:p>
        </p:txBody>
      </p:sp>
    </p:spTree>
    <p:extLst>
      <p:ext uri="{BB962C8B-B14F-4D97-AF65-F5344CB8AC3E}">
        <p14:creationId xmlns:p14="http://schemas.microsoft.com/office/powerpoint/2010/main" val="1715857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/>
          <p:cNvSpPr/>
          <p:nvPr/>
        </p:nvSpPr>
        <p:spPr>
          <a:xfrm>
            <a:off x="904568" y="574747"/>
            <a:ext cx="10923639" cy="545242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r>
              <a:rPr lang="hu-HU" sz="2600" dirty="0">
                <a:solidFill>
                  <a:schemeClr val="tx2"/>
                </a:solidFill>
              </a:rPr>
              <a:t>A bíróság nem fogadta el a magyar kormány azon érvét, hogy az újságíró más forrásokból is tudott információt szerezni, például civil szervezetek jelentéseiből, mivel  a bíróság szerint a közvetett adatoknak nincs olyan </a:t>
            </a:r>
            <a:r>
              <a:rPr lang="hu-HU" sz="2600" b="1" dirty="0">
                <a:solidFill>
                  <a:schemeClr val="tx2"/>
                </a:solidFill>
              </a:rPr>
              <a:t>meggyőző ereje a nyilvánosság szemében</a:t>
            </a:r>
            <a:r>
              <a:rPr lang="hu-HU" sz="2600" dirty="0">
                <a:solidFill>
                  <a:schemeClr val="tx2"/>
                </a:solidFill>
              </a:rPr>
              <a:t>, mint az elsőkézből származó információnak, illetve a civil szervezetek és más szereplők értelemszerűen részben mást tartanak relevánsnak, mint egy újságíró.</a:t>
            </a:r>
          </a:p>
          <a:p>
            <a:pPr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endParaRPr lang="hu-HU" sz="2600" dirty="0">
              <a:solidFill>
                <a:schemeClr val="tx2"/>
              </a:solidFill>
            </a:endParaRPr>
          </a:p>
          <a:p>
            <a:pPr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r>
              <a:rPr lang="hu-HU" sz="2600" dirty="0">
                <a:solidFill>
                  <a:schemeClr val="tx2"/>
                </a:solidFill>
              </a:rPr>
              <a:t> A bíróság értékelése szerint a szólásszabadság nemcsak a </a:t>
            </a:r>
            <a:r>
              <a:rPr lang="hu-HU" sz="2600" b="1" dirty="0">
                <a:solidFill>
                  <a:schemeClr val="tx2"/>
                </a:solidFill>
              </a:rPr>
              <a:t>gondolatok tartalmát, hanem azok közlési módját is védi</a:t>
            </a:r>
            <a:r>
              <a:rPr lang="hu-HU" sz="2600" dirty="0">
                <a:solidFill>
                  <a:schemeClr val="tx2"/>
                </a:solidFill>
              </a:rPr>
              <a:t>. Sem a tagállami hatóságok és bíróságok, sem a Bíróság nem vizsgálhatja felül, hogy egy újságíró milyen eszközzel és milyen formában kíván bemutatni egy ügyet.</a:t>
            </a:r>
          </a:p>
          <a:p>
            <a:pPr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endParaRPr lang="hu-HU" sz="2600" dirty="0">
              <a:solidFill>
                <a:schemeClr val="tx2"/>
              </a:solidFill>
            </a:endParaRPr>
          </a:p>
          <a:p>
            <a:pPr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r>
              <a:rPr lang="hu-HU" sz="2600" dirty="0">
                <a:solidFill>
                  <a:schemeClr val="tx2"/>
                </a:solidFill>
              </a:rPr>
              <a:t>A bíróság emellett azt is figyelembe vette, hogy az újságíró számára </a:t>
            </a:r>
            <a:r>
              <a:rPr lang="hu-HU" sz="2600" b="1" dirty="0">
                <a:solidFill>
                  <a:schemeClr val="tx2"/>
                </a:solidFill>
              </a:rPr>
              <a:t>nem állt rendelkezésre megfelelő jogorvoslati lehetőség</a:t>
            </a:r>
            <a:r>
              <a:rPr lang="hu-HU" sz="2600" dirty="0">
                <a:solidFill>
                  <a:schemeClr val="tx2"/>
                </a:solidFill>
              </a:rPr>
              <a:t> a hatóság döntésével szemben. </a:t>
            </a:r>
          </a:p>
          <a:p>
            <a:pPr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endParaRPr lang="hu-HU" sz="2600" dirty="0">
              <a:solidFill>
                <a:schemeClr val="tx2"/>
              </a:solidFill>
            </a:endParaRPr>
          </a:p>
          <a:p>
            <a:pPr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r>
              <a:rPr lang="hu-HU" sz="2600" dirty="0">
                <a:solidFill>
                  <a:schemeClr val="tx2"/>
                </a:solidFill>
              </a:rPr>
              <a:t>A bíróság kifogásolta, hogy a  magyar hatóság </a:t>
            </a:r>
            <a:r>
              <a:rPr lang="hu-HU" sz="2600" b="1" dirty="0">
                <a:solidFill>
                  <a:schemeClr val="tx2"/>
                </a:solidFill>
              </a:rPr>
              <a:t>nagyon röviden és sommásan indokolt </a:t>
            </a:r>
            <a:r>
              <a:rPr lang="hu-HU" sz="2600" dirty="0">
                <a:solidFill>
                  <a:schemeClr val="tx2"/>
                </a:solidFill>
              </a:rPr>
              <a:t>és nem mérlegelte a különböző érdekeket és abszolút tilalmat rendelt el, vagyis általában tiltotta meg a belépést.  A konkrét ügyben a bíróság nem látta igazoltnak a kényszerű társadalmi szükséglet fennállását, ami szükséges feltétele az alapjog korlátozásának. </a:t>
            </a:r>
          </a:p>
          <a:p>
            <a:pPr indent="-384048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endParaRPr lang="en-US" sz="15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4410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églalap 1"/>
          <p:cNvSpPr>
            <a:spLocks noChangeArrowheads="1"/>
          </p:cNvSpPr>
          <p:nvPr/>
        </p:nvSpPr>
        <p:spPr bwMode="auto">
          <a:xfrm>
            <a:off x="1847529" y="548680"/>
            <a:ext cx="8353425" cy="3724096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hu-HU" sz="3600" dirty="0">
                <a:latin typeface="+mj-lt"/>
                <a:cs typeface="Times New Roman" pitchFamily="18" charset="0"/>
              </a:rPr>
              <a:t>Az alapjogok védelmének rendszere  </a:t>
            </a:r>
          </a:p>
          <a:p>
            <a:pPr algn="just">
              <a:defRPr/>
            </a:pPr>
            <a:endParaRPr lang="hu-HU" sz="2000" b="1" dirty="0">
              <a:latin typeface="+mj-lt"/>
              <a:cs typeface="Times New Roman" pitchFamily="18" charset="0"/>
            </a:endParaRPr>
          </a:p>
          <a:p>
            <a:pPr algn="just">
              <a:defRPr/>
            </a:pPr>
            <a:r>
              <a:rPr lang="hu-HU" sz="2000" b="1" dirty="0">
                <a:latin typeface="+mj-lt"/>
                <a:cs typeface="Times New Roman" pitchFamily="18" charset="0"/>
              </a:rPr>
              <a:t>Korlátozhatóak-e az alapvető jogok? </a:t>
            </a:r>
          </a:p>
          <a:p>
            <a:pPr algn="just">
              <a:defRPr/>
            </a:pPr>
            <a:r>
              <a:rPr lang="hu-HU" sz="2000" dirty="0">
                <a:latin typeface="+mj-lt"/>
                <a:cs typeface="Times New Roman" pitchFamily="18" charset="0"/>
              </a:rPr>
              <a:t>Az alapvető jogokra és kötelezettségekre vonatkozó szabályokat törvény állapítja meg. </a:t>
            </a:r>
          </a:p>
          <a:p>
            <a:pPr algn="just">
              <a:defRPr/>
            </a:pPr>
            <a:endParaRPr lang="hu-HU" sz="2000" dirty="0">
              <a:latin typeface="+mj-lt"/>
              <a:cs typeface="Times New Roman" pitchFamily="18" charset="0"/>
            </a:endParaRPr>
          </a:p>
          <a:p>
            <a:pPr algn="just">
              <a:defRPr/>
            </a:pPr>
            <a:r>
              <a:rPr lang="hu-HU" sz="2000" dirty="0">
                <a:latin typeface="+mj-lt"/>
                <a:cs typeface="Times New Roman" pitchFamily="18" charset="0"/>
              </a:rPr>
              <a:t>Alapvető jog más alapvető jog érvényesülése vagy valamely alkotmányos érték védelme érdekében, a feltétlenül szükséges mértékben, az elérni kívánt céllal arányosan, az alapvető jog lényeges tartalmának tiszteletben tartásával korlátozható.</a:t>
            </a:r>
          </a:p>
          <a:p>
            <a:pPr algn="just">
              <a:defRPr/>
            </a:pPr>
            <a:r>
              <a:rPr lang="hu-HU" sz="2000" dirty="0">
                <a:latin typeface="+mj-lt"/>
                <a:cs typeface="Times New Roman" pitchFamily="18" charset="0"/>
              </a:rPr>
              <a:t>(Alaptörvény)</a:t>
            </a:r>
            <a:endParaRPr lang="hu-HU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" name="Diagram 1"/>
          <p:cNvGraphicFramePr/>
          <p:nvPr/>
        </p:nvGraphicFramePr>
        <p:xfrm>
          <a:off x="1775520" y="4413789"/>
          <a:ext cx="3828008" cy="20162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323558476"/>
              </p:ext>
            </p:extLst>
          </p:nvPr>
        </p:nvGraphicFramePr>
        <p:xfrm>
          <a:off x="7403405" y="3769375"/>
          <a:ext cx="3660576" cy="29944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303608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églalap 1"/>
          <p:cNvSpPr>
            <a:spLocks noChangeArrowheads="1"/>
          </p:cNvSpPr>
          <p:nvPr/>
        </p:nvSpPr>
        <p:spPr bwMode="auto">
          <a:xfrm>
            <a:off x="1536996" y="1"/>
            <a:ext cx="9023501" cy="618630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hu-HU" altLang="hu-HU" sz="3600" dirty="0">
                <a:latin typeface="+mn-lt"/>
                <a:cs typeface="Times New Roman" pitchFamily="18" charset="0"/>
              </a:rPr>
              <a:t>Alaptörvény </a:t>
            </a:r>
          </a:p>
          <a:p>
            <a:pPr eaLnBrk="1" hangingPunct="1">
              <a:defRPr/>
            </a:pPr>
            <a:endParaRPr lang="hu-HU" altLang="hu-HU" sz="2000" dirty="0">
              <a:latin typeface="+mn-lt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hu-HU" altLang="hu-HU" sz="2000" dirty="0">
                <a:latin typeface="+mn-lt"/>
                <a:cs typeface="Times New Roman" pitchFamily="18" charset="0"/>
              </a:rPr>
              <a:t>Az </a:t>
            </a:r>
            <a:r>
              <a:rPr lang="hu-HU" altLang="hu-HU" sz="2000" b="1" dirty="0">
                <a:latin typeface="+mn-lt"/>
                <a:cs typeface="Times New Roman" pitchFamily="18" charset="0"/>
              </a:rPr>
              <a:t>emberi méltóság </a:t>
            </a:r>
            <a:r>
              <a:rPr lang="hu-HU" altLang="hu-HU" sz="2000" dirty="0">
                <a:latin typeface="+mn-lt"/>
                <a:cs typeface="Times New Roman" pitchFamily="18" charset="0"/>
              </a:rPr>
              <a:t>sérthetetlen. Minden embernek joga van az élethez és az emberi méltósághoz, a magzat életét a fogantatástól kezdve védelem illeti meg.</a:t>
            </a:r>
          </a:p>
          <a:p>
            <a:pPr eaLnBrk="1" hangingPunct="1">
              <a:defRPr/>
            </a:pPr>
            <a:endParaRPr lang="hu-HU" altLang="hu-HU" sz="2000" i="1" dirty="0">
              <a:latin typeface="+mn-lt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hu-HU" altLang="hu-HU" sz="2000" dirty="0">
                <a:latin typeface="+mn-lt"/>
                <a:cs typeface="Times New Roman" pitchFamily="18" charset="0"/>
              </a:rPr>
              <a:t>Senkit nem lehet kínzásnak, embertelen, megalázó bánásmódnak vagy büntetésnek alávetni, valamint szolgaságban tartani.</a:t>
            </a:r>
          </a:p>
          <a:p>
            <a:pPr eaLnBrk="1" hangingPunct="1">
              <a:defRPr/>
            </a:pPr>
            <a:endParaRPr lang="hu-HU" altLang="hu-HU" sz="2000" dirty="0">
              <a:latin typeface="+mn-lt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hu-HU" altLang="hu-HU" sz="2000" dirty="0">
                <a:latin typeface="+mn-lt"/>
                <a:cs typeface="Times New Roman" pitchFamily="18" charset="0"/>
              </a:rPr>
              <a:t>Mindenkinek joga van a szabadsághoz és a személyi biztonsághoz.</a:t>
            </a:r>
          </a:p>
          <a:p>
            <a:pPr eaLnBrk="1" hangingPunct="1">
              <a:defRPr/>
            </a:pPr>
            <a:endParaRPr lang="hu-HU" altLang="hu-HU" sz="2000" dirty="0">
              <a:latin typeface="+mn-lt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hu-HU" altLang="hu-HU" sz="2000" dirty="0">
                <a:latin typeface="+mn-lt"/>
                <a:cs typeface="Times New Roman" pitchFamily="18" charset="0"/>
              </a:rPr>
              <a:t>A törvény előtt </a:t>
            </a:r>
            <a:r>
              <a:rPr lang="hu-HU" altLang="hu-HU" sz="2000" b="1" dirty="0">
                <a:latin typeface="+mn-lt"/>
                <a:cs typeface="Times New Roman" pitchFamily="18" charset="0"/>
              </a:rPr>
              <a:t>mindenki egyenlő</a:t>
            </a:r>
            <a:r>
              <a:rPr lang="hu-HU" altLang="hu-HU" sz="2000" dirty="0">
                <a:latin typeface="+mn-lt"/>
                <a:cs typeface="Times New Roman" pitchFamily="18" charset="0"/>
              </a:rPr>
              <a:t>. Minden ember jogképes.</a:t>
            </a:r>
          </a:p>
          <a:p>
            <a:pPr eaLnBrk="1" hangingPunct="1">
              <a:defRPr/>
            </a:pPr>
            <a:endParaRPr lang="hu-HU" altLang="hu-HU" sz="2000" dirty="0">
              <a:latin typeface="+mn-lt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hu-HU" altLang="hu-HU" sz="2000" dirty="0">
                <a:latin typeface="+mn-lt"/>
                <a:cs typeface="Times New Roman" pitchFamily="18" charset="0"/>
              </a:rPr>
              <a:t>Magyarország az alapvető jogokat mindenkinek bármely  megkülönböztetés, nevezetesen faj, szín, nem, fogyatékosság, nyelv, vallás, politikai vagy más vélemény, nemzeti vagy társadalmi származás, vagyoni, születési vagy egyéb helyzet </a:t>
            </a:r>
            <a:r>
              <a:rPr lang="hu-HU" altLang="hu-HU" sz="2000" b="1" dirty="0">
                <a:latin typeface="+mn-lt"/>
                <a:cs typeface="Times New Roman" pitchFamily="18" charset="0"/>
              </a:rPr>
              <a:t>szerinti különbségtétel nélkül biztosítja.</a:t>
            </a:r>
          </a:p>
          <a:p>
            <a:pPr eaLnBrk="1" hangingPunct="1">
              <a:defRPr/>
            </a:pPr>
            <a:endParaRPr lang="hu-HU" altLang="hu-HU" sz="2000" dirty="0">
              <a:latin typeface="+mn-lt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964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églalap 1"/>
          <p:cNvSpPr>
            <a:spLocks noChangeArrowheads="1"/>
          </p:cNvSpPr>
          <p:nvPr/>
        </p:nvSpPr>
        <p:spPr bwMode="auto">
          <a:xfrm>
            <a:off x="1752601" y="533401"/>
            <a:ext cx="8520113" cy="560153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hu-HU" altLang="hu-HU" sz="2000" dirty="0">
                <a:latin typeface="+mn-lt"/>
                <a:cs typeface="Times New Roman" pitchFamily="18" charset="0"/>
              </a:rPr>
              <a:t>Magyarország külön intézkedésekkel védi a gyermekeket, a nőket, az időseket és a fogyatékkal élőket.</a:t>
            </a:r>
          </a:p>
          <a:p>
            <a:pPr eaLnBrk="1" hangingPunct="1">
              <a:defRPr/>
            </a:pPr>
            <a:endParaRPr lang="hu-HU" altLang="hu-HU" sz="2000" dirty="0">
              <a:latin typeface="+mn-lt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hu-HU" altLang="hu-HU" sz="2000" dirty="0">
                <a:latin typeface="+mn-lt"/>
                <a:cs typeface="Times New Roman" pitchFamily="18" charset="0"/>
              </a:rPr>
              <a:t>Minden gyermeknek joga van a megfelelő testi, szellemi és erkölcsi fejlődéséhez szükséges védelemhez és gondoskodáshoz.</a:t>
            </a:r>
          </a:p>
          <a:p>
            <a:pPr eaLnBrk="1" hangingPunct="1">
              <a:defRPr/>
            </a:pPr>
            <a:endParaRPr lang="hu-HU" altLang="hu-HU" sz="2000" dirty="0">
              <a:latin typeface="+mn-lt"/>
              <a:cs typeface="Times New Roman" pitchFamily="18" charset="0"/>
            </a:endParaRPr>
          </a:p>
          <a:p>
            <a:pPr eaLnBrk="1" hangingPunct="1">
              <a:defRPr/>
            </a:pPr>
            <a:endParaRPr lang="hu-HU" altLang="hu-HU" sz="2000" dirty="0">
              <a:latin typeface="+mn-lt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hu-HU" altLang="hu-HU" sz="2000" dirty="0">
                <a:latin typeface="+mn-lt"/>
                <a:cs typeface="Times New Roman" pitchFamily="18" charset="0"/>
              </a:rPr>
              <a:t>Mindenkinek joga van ahhoz, hogy magán- és családi életét, otthonát, kapcsolattartását és</a:t>
            </a:r>
            <a:r>
              <a:rPr lang="hu-HU" altLang="hu-HU" sz="2000" b="1" dirty="0">
                <a:latin typeface="+mn-lt"/>
                <a:cs typeface="Times New Roman" pitchFamily="18" charset="0"/>
              </a:rPr>
              <a:t> jó hírnevét </a:t>
            </a:r>
            <a:r>
              <a:rPr lang="hu-HU" altLang="hu-HU" sz="2000" dirty="0">
                <a:latin typeface="+mn-lt"/>
                <a:cs typeface="Times New Roman" pitchFamily="18" charset="0"/>
              </a:rPr>
              <a:t>tiszteletben tartsák.</a:t>
            </a:r>
          </a:p>
          <a:p>
            <a:pPr eaLnBrk="1" hangingPunct="1">
              <a:defRPr/>
            </a:pPr>
            <a:endParaRPr lang="hu-HU" altLang="hu-HU" sz="2000" dirty="0">
              <a:latin typeface="+mn-lt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hu-HU" altLang="hu-HU" sz="2000" dirty="0">
                <a:latin typeface="+mn-lt"/>
                <a:cs typeface="Times New Roman" pitchFamily="18" charset="0"/>
              </a:rPr>
              <a:t>Mindenkinek joga </a:t>
            </a:r>
            <a:r>
              <a:rPr lang="hu-HU" altLang="hu-HU" sz="2000" b="1" dirty="0">
                <a:latin typeface="+mn-lt"/>
                <a:cs typeface="Times New Roman" pitchFamily="18" charset="0"/>
              </a:rPr>
              <a:t>van személyes adatai védelméhez</a:t>
            </a:r>
            <a:r>
              <a:rPr lang="hu-HU" altLang="hu-HU" sz="2000" dirty="0">
                <a:latin typeface="+mn-lt"/>
                <a:cs typeface="Times New Roman" pitchFamily="18" charset="0"/>
              </a:rPr>
              <a:t>, valamint a </a:t>
            </a:r>
            <a:r>
              <a:rPr lang="hu-HU" altLang="hu-HU" sz="2000" b="1" dirty="0">
                <a:latin typeface="+mn-lt"/>
                <a:cs typeface="Times New Roman" pitchFamily="18" charset="0"/>
              </a:rPr>
              <a:t>közérdekű adatok megismeréséhez és terjesztéséhez</a:t>
            </a:r>
            <a:r>
              <a:rPr lang="hu-HU" altLang="hu-HU" sz="2000" dirty="0">
                <a:latin typeface="+mn-lt"/>
                <a:cs typeface="Times New Roman" pitchFamily="18" charset="0"/>
              </a:rPr>
              <a:t>.</a:t>
            </a:r>
          </a:p>
          <a:p>
            <a:pPr eaLnBrk="1" hangingPunct="1">
              <a:defRPr/>
            </a:pPr>
            <a:endParaRPr lang="hu-HU" altLang="hu-HU" sz="2000" dirty="0">
              <a:latin typeface="+mn-lt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hu-HU" altLang="hu-HU" sz="2000" dirty="0">
                <a:latin typeface="+mn-lt"/>
                <a:cs typeface="Times New Roman" pitchFamily="18" charset="0"/>
              </a:rPr>
              <a:t>Mindenkinek joga van ahhoz, hogy az ellene emelt bármely vádat vagy valamely perben a jogait és kötelezettségeit törvény által felállított, független és pártatlan bíróság tisztességes és nyilvános tárgyaláson, ésszerű határidőn belül bírálja el.</a:t>
            </a:r>
          </a:p>
          <a:p>
            <a:pPr eaLnBrk="1" hangingPunct="1">
              <a:defRPr/>
            </a:pPr>
            <a:endParaRPr lang="hu-HU" altLang="hu-HU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47472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églalap 1"/>
          <p:cNvSpPr>
            <a:spLocks noChangeArrowheads="1"/>
          </p:cNvSpPr>
          <p:nvPr/>
        </p:nvSpPr>
        <p:spPr bwMode="auto">
          <a:xfrm>
            <a:off x="894735" y="188913"/>
            <a:ext cx="9490690" cy="62478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hu-HU" altLang="hu-HU" sz="2000" dirty="0">
                <a:latin typeface="+mn-lt"/>
                <a:cs typeface="Times New Roman" pitchFamily="18" charset="0"/>
              </a:rPr>
              <a:t>Mindenkinek joga van </a:t>
            </a:r>
            <a:r>
              <a:rPr lang="hu-HU" altLang="hu-HU" sz="2000" b="1" dirty="0">
                <a:latin typeface="+mn-lt"/>
                <a:cs typeface="Times New Roman" pitchFamily="18" charset="0"/>
              </a:rPr>
              <a:t>a gondolat, a lelkiismeret és a vallás szabadságához</a:t>
            </a:r>
            <a:r>
              <a:rPr lang="hu-HU" altLang="hu-HU" sz="2000" dirty="0">
                <a:latin typeface="+mn-lt"/>
                <a:cs typeface="Times New Roman" pitchFamily="18" charset="0"/>
              </a:rPr>
              <a:t>. </a:t>
            </a:r>
          </a:p>
          <a:p>
            <a:pPr eaLnBrk="1" hangingPunct="1">
              <a:defRPr/>
            </a:pPr>
            <a:r>
              <a:rPr lang="hu-HU" altLang="hu-HU" sz="2000" dirty="0">
                <a:latin typeface="+mn-lt"/>
                <a:cs typeface="Times New Roman" pitchFamily="18" charset="0"/>
              </a:rPr>
              <a:t>Ez a jog magában foglalja a vallás vagy más meggyőződés szabad megválasztását vagy megváltoztatását és azt a szabadságot, hogy vallását vagy más meggyőződését mindenki vallásos cselekmények, szertartások végzése útján vagy egyéb módon, akár egyénileg, akár másokkal együttesen, nyilvánosan vagy a magánéletben kinyilvánítsa vagy kinyilvánítását mellőzze, gyakorolja vagy tanítsa.</a:t>
            </a:r>
          </a:p>
          <a:p>
            <a:pPr eaLnBrk="1" hangingPunct="1">
              <a:defRPr/>
            </a:pPr>
            <a:endParaRPr lang="hu-HU" altLang="hu-HU" sz="2000" dirty="0">
              <a:latin typeface="+mn-lt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hu-HU" altLang="hu-HU" sz="2000" dirty="0">
                <a:latin typeface="+mn-lt"/>
                <a:cs typeface="Times New Roman" pitchFamily="18" charset="0"/>
              </a:rPr>
              <a:t>Mindenkinek joga van a békés </a:t>
            </a:r>
            <a:r>
              <a:rPr lang="hu-HU" altLang="hu-HU" sz="2000" b="1" dirty="0">
                <a:latin typeface="+mn-lt"/>
                <a:cs typeface="Times New Roman" pitchFamily="18" charset="0"/>
              </a:rPr>
              <a:t>gyülekezéshez</a:t>
            </a:r>
            <a:r>
              <a:rPr lang="hu-HU" altLang="hu-HU" sz="2000" dirty="0">
                <a:latin typeface="+mn-lt"/>
                <a:cs typeface="Times New Roman" pitchFamily="18" charset="0"/>
              </a:rPr>
              <a:t>.</a:t>
            </a:r>
          </a:p>
          <a:p>
            <a:pPr eaLnBrk="1" hangingPunct="1">
              <a:defRPr/>
            </a:pPr>
            <a:endParaRPr lang="hu-HU" altLang="hu-HU" sz="2000" dirty="0">
              <a:latin typeface="+mn-lt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hu-HU" altLang="hu-HU" sz="2000" dirty="0">
                <a:latin typeface="+mn-lt"/>
                <a:cs typeface="Times New Roman" pitchFamily="18" charset="0"/>
              </a:rPr>
              <a:t>Mindenkinek joga van </a:t>
            </a:r>
            <a:r>
              <a:rPr lang="hu-HU" altLang="hu-HU" sz="2000" b="1" dirty="0">
                <a:latin typeface="+mn-lt"/>
                <a:cs typeface="Times New Roman" pitchFamily="18" charset="0"/>
              </a:rPr>
              <a:t>szervezeteket létrehozni</a:t>
            </a:r>
            <a:r>
              <a:rPr lang="hu-HU" altLang="hu-HU" sz="2000" dirty="0">
                <a:latin typeface="+mn-lt"/>
                <a:cs typeface="Times New Roman" pitchFamily="18" charset="0"/>
              </a:rPr>
              <a:t>, és joga van szervezetekhez csatlakozni.</a:t>
            </a:r>
          </a:p>
          <a:p>
            <a:pPr eaLnBrk="1" hangingPunct="1">
              <a:defRPr/>
            </a:pPr>
            <a:endParaRPr lang="hu-HU" altLang="hu-HU" sz="2000" dirty="0">
              <a:latin typeface="+mn-lt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hu-HU" altLang="hu-HU" sz="2000" dirty="0">
                <a:latin typeface="+mn-lt"/>
                <a:cs typeface="Times New Roman" pitchFamily="18" charset="0"/>
              </a:rPr>
              <a:t>Mindenkinek joga van </a:t>
            </a:r>
            <a:r>
              <a:rPr lang="hu-HU" altLang="hu-HU" sz="2000" b="1" dirty="0">
                <a:latin typeface="+mn-lt"/>
                <a:cs typeface="Times New Roman" pitchFamily="18" charset="0"/>
              </a:rPr>
              <a:t>a véleménynyilvánítás szabadságához</a:t>
            </a:r>
            <a:r>
              <a:rPr lang="hu-HU" altLang="hu-HU" sz="2000" dirty="0">
                <a:latin typeface="+mn-lt"/>
                <a:cs typeface="Times New Roman" pitchFamily="18" charset="0"/>
              </a:rPr>
              <a:t>.</a:t>
            </a:r>
          </a:p>
          <a:p>
            <a:pPr eaLnBrk="1" hangingPunct="1">
              <a:defRPr/>
            </a:pPr>
            <a:endParaRPr lang="hu-HU" altLang="hu-HU" sz="2000" dirty="0">
              <a:latin typeface="+mn-lt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hu-HU" altLang="hu-HU" sz="2000" dirty="0">
                <a:latin typeface="+mn-lt"/>
                <a:cs typeface="Times New Roman" pitchFamily="18" charset="0"/>
              </a:rPr>
              <a:t>Magyarország elismeri és védi a </a:t>
            </a:r>
            <a:r>
              <a:rPr lang="hu-HU" altLang="hu-HU" sz="2000" b="1" dirty="0">
                <a:latin typeface="+mn-lt"/>
                <a:cs typeface="Times New Roman" pitchFamily="18" charset="0"/>
              </a:rPr>
              <a:t>sajtó szabadságát </a:t>
            </a:r>
            <a:r>
              <a:rPr lang="hu-HU" altLang="hu-HU" sz="2000" dirty="0">
                <a:latin typeface="+mn-lt"/>
                <a:cs typeface="Times New Roman" pitchFamily="18" charset="0"/>
              </a:rPr>
              <a:t>és sokszínűégét, biztosítja a demokratikus közvélemény kialakulásához szükséges szabad tájékoztatás feltételeit.</a:t>
            </a:r>
          </a:p>
          <a:p>
            <a:pPr eaLnBrk="1" hangingPunct="1">
              <a:defRPr/>
            </a:pPr>
            <a:endParaRPr lang="hu-HU" altLang="hu-HU" sz="2000" dirty="0">
              <a:latin typeface="+mn-lt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hu-HU" altLang="hu-HU" sz="2000" dirty="0">
                <a:latin typeface="+mn-lt"/>
                <a:cs typeface="Times New Roman" pitchFamily="18" charset="0"/>
              </a:rPr>
              <a:t>Magyarország biztosítja a </a:t>
            </a:r>
            <a:r>
              <a:rPr lang="hu-HU" altLang="hu-HU" sz="2000" b="1" dirty="0">
                <a:latin typeface="+mn-lt"/>
                <a:cs typeface="Times New Roman" pitchFamily="18" charset="0"/>
              </a:rPr>
              <a:t>tudományos kutatás és művészeti alkotás szabadságát</a:t>
            </a:r>
            <a:r>
              <a:rPr lang="hu-HU" altLang="hu-HU" sz="2000" dirty="0">
                <a:latin typeface="+mn-lt"/>
                <a:cs typeface="Times New Roman" pitchFamily="18" charset="0"/>
              </a:rPr>
              <a:t>, továbbá – a lehető legmagasabb szintű tudás megszerzése érdekében – a tanulás, valamint törvényben meghatározott keretek között a tanítás szabadságát.</a:t>
            </a:r>
          </a:p>
        </p:txBody>
      </p:sp>
    </p:spTree>
    <p:extLst>
      <p:ext uri="{BB962C8B-B14F-4D97-AF65-F5344CB8AC3E}">
        <p14:creationId xmlns:p14="http://schemas.microsoft.com/office/powerpoint/2010/main" val="33339824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22DDEA95-73A1-45EC-47E6-E05F071B0149}"/>
              </a:ext>
            </a:extLst>
          </p:cNvPr>
          <p:cNvSpPr txBox="1"/>
          <p:nvPr/>
        </p:nvSpPr>
        <p:spPr>
          <a:xfrm>
            <a:off x="1740309" y="599768"/>
            <a:ext cx="261937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4400" dirty="0"/>
              <a:t>Kahoot.it  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3961572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1919536" y="991430"/>
            <a:ext cx="8748464" cy="3083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60000"/>
              <a:defRPr/>
            </a:pPr>
            <a:endParaRPr lang="hu-HU" sz="2400" dirty="0"/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defRPr/>
            </a:pPr>
            <a:r>
              <a:rPr lang="hu-HU" sz="2000" dirty="0"/>
              <a:t>A véleménynyilvánítás szabadsága védelmének az újmédia környezetben is kitüntetett szerepe van. A véleménynyilvánítás szabadságát biztosító korábbi jogi eszközök, megoldások már nem adnak minden esetben megfelelő válaszokat az új médiakörnyezet felmerülő kérdésekre, problémákra.  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defRPr/>
            </a:pPr>
            <a:endParaRPr lang="hu-HU" sz="2400" dirty="0"/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defRPr/>
            </a:pPr>
            <a:endParaRPr lang="hu-HU" sz="2400" dirty="0"/>
          </a:p>
          <a:p>
            <a:pPr>
              <a:spcBef>
                <a:spcPct val="20000"/>
              </a:spcBef>
              <a:buClr>
                <a:schemeClr val="hlink"/>
              </a:buClr>
              <a:buSzPct val="60000"/>
              <a:defRPr/>
            </a:pPr>
            <a:endParaRPr lang="hu-HU" sz="2400" dirty="0">
              <a:effectLst>
                <a:outerShdw blurRad="38100" dist="38100" dir="2700000" algn="tl">
                  <a:srgbClr val="C0C0C0"/>
                </a:outerShdw>
              </a:effectLst>
              <a:latin typeface="+mj-lt"/>
            </a:endParaRPr>
          </a:p>
        </p:txBody>
      </p:sp>
      <p:sp>
        <p:nvSpPr>
          <p:cNvPr id="5129" name="Rectangle 9"/>
          <p:cNvSpPr>
            <a:spLocks noChangeArrowheads="1"/>
          </p:cNvSpPr>
          <p:nvPr/>
        </p:nvSpPr>
        <p:spPr bwMode="auto">
          <a:xfrm>
            <a:off x="10056813" y="549275"/>
            <a:ext cx="1841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endParaRPr lang="en-US" sz="32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" name="Téglalap 1"/>
          <p:cNvSpPr/>
          <p:nvPr/>
        </p:nvSpPr>
        <p:spPr>
          <a:xfrm>
            <a:off x="1919536" y="377330"/>
            <a:ext cx="777686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u-HU" altLang="hu-HU" sz="3200" b="1" dirty="0"/>
              <a:t>A véleménynyilvánítás szabadsága</a:t>
            </a:r>
          </a:p>
        </p:txBody>
      </p:sp>
      <p:graphicFrame>
        <p:nvGraphicFramePr>
          <p:cNvPr id="3" name="Diagram 2"/>
          <p:cNvGraphicFramePr/>
          <p:nvPr/>
        </p:nvGraphicFramePr>
        <p:xfrm>
          <a:off x="2260856" y="2708920"/>
          <a:ext cx="7776864" cy="38164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786881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églalap 1"/>
          <p:cNvSpPr>
            <a:spLocks noChangeArrowheads="1"/>
          </p:cNvSpPr>
          <p:nvPr/>
        </p:nvSpPr>
        <p:spPr bwMode="auto">
          <a:xfrm>
            <a:off x="1573328" y="39074"/>
            <a:ext cx="9108504" cy="507831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hu-HU" altLang="hu-HU" sz="2800" b="1" dirty="0">
                <a:cs typeface="Times New Roman" pitchFamily="18" charset="0"/>
              </a:rPr>
              <a:t>A véleménynyilvánítás szabadsága</a:t>
            </a:r>
          </a:p>
          <a:p>
            <a:pPr eaLnBrk="1" hangingPunct="1">
              <a:defRPr/>
            </a:pPr>
            <a:endParaRPr lang="hu-HU" altLang="hu-HU" sz="2000" b="1" dirty="0"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hu-HU" altLang="hu-HU" sz="2000" b="1" dirty="0">
                <a:cs typeface="Times New Roman" pitchFamily="18" charset="0"/>
              </a:rPr>
              <a:t>Emberi Jogok Európai Egyezménye</a:t>
            </a:r>
          </a:p>
          <a:p>
            <a:pPr eaLnBrk="1" hangingPunct="1">
              <a:defRPr/>
            </a:pPr>
            <a:endParaRPr lang="hu-HU" altLang="hu-HU" sz="2000" b="1" dirty="0">
              <a:latin typeface="+mn-lt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hu-HU" altLang="hu-HU" sz="2000" b="1" dirty="0">
                <a:latin typeface="+mn-lt"/>
                <a:cs typeface="Times New Roman" pitchFamily="18" charset="0"/>
              </a:rPr>
              <a:t>10. Cikk </a:t>
            </a:r>
          </a:p>
          <a:p>
            <a:pPr eaLnBrk="1" hangingPunct="1">
              <a:defRPr/>
            </a:pPr>
            <a:endParaRPr lang="hu-HU" altLang="hu-HU" sz="2000" b="1" dirty="0">
              <a:latin typeface="+mn-lt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hu-HU" altLang="hu-HU" sz="2000" b="1" dirty="0">
                <a:latin typeface="+mn-lt"/>
                <a:cs typeface="Times New Roman" pitchFamily="18" charset="0"/>
              </a:rPr>
              <a:t>Véleménynyilvánítás szabadsága </a:t>
            </a:r>
          </a:p>
          <a:p>
            <a:pPr eaLnBrk="1" hangingPunct="1">
              <a:defRPr/>
            </a:pPr>
            <a:r>
              <a:rPr lang="hu-HU" altLang="hu-HU" sz="2000" dirty="0">
                <a:latin typeface="+mn-lt"/>
                <a:cs typeface="Times New Roman" pitchFamily="18" charset="0"/>
              </a:rPr>
              <a:t>1.Mindenkinek joga van a véleménynyilvánítás szabadságához. Ez a jog magában foglalja a </a:t>
            </a:r>
            <a:r>
              <a:rPr lang="hu-HU" altLang="hu-HU" sz="2000" b="1" dirty="0">
                <a:latin typeface="+mn-lt"/>
                <a:cs typeface="Times New Roman" pitchFamily="18" charset="0"/>
              </a:rPr>
              <a:t>véleményalkotás szabadságát </a:t>
            </a:r>
            <a:r>
              <a:rPr lang="hu-HU" altLang="hu-HU" sz="2000" dirty="0">
                <a:latin typeface="+mn-lt"/>
                <a:cs typeface="Times New Roman" pitchFamily="18" charset="0"/>
              </a:rPr>
              <a:t>és az </a:t>
            </a:r>
            <a:r>
              <a:rPr lang="hu-HU" altLang="hu-HU" sz="2000" b="1" dirty="0">
                <a:latin typeface="+mn-lt"/>
                <a:cs typeface="Times New Roman" pitchFamily="18" charset="0"/>
              </a:rPr>
              <a:t>információk, eszmék megismerésének és közlésének szabadságá</a:t>
            </a:r>
            <a:r>
              <a:rPr lang="hu-HU" altLang="hu-HU" sz="2000" dirty="0">
                <a:latin typeface="+mn-lt"/>
                <a:cs typeface="Times New Roman" pitchFamily="18" charset="0"/>
              </a:rPr>
              <a:t>t országhatárokra tekintet nélkül és anélkül, hogy ebbe hatósági szerv beavatkozhasson. Ez a Cikk nem akadályozza, hogy az államok a rádió-, televízió- vagy mozgókép vállalatok működését engedélyezéshez kössék. </a:t>
            </a:r>
          </a:p>
          <a:p>
            <a:pPr marL="457200" indent="-457200" eaLnBrk="1" hangingPunct="1">
              <a:buFontTx/>
              <a:buAutoNum type="arabicPeriod"/>
              <a:defRPr/>
            </a:pPr>
            <a:endParaRPr lang="hu-HU" altLang="hu-HU" sz="2000" dirty="0">
              <a:latin typeface="+mn-lt"/>
              <a:cs typeface="Times New Roman" pitchFamily="18" charset="0"/>
            </a:endParaRPr>
          </a:p>
          <a:p>
            <a:pPr eaLnBrk="1" hangingPunct="1">
              <a:defRPr/>
            </a:pPr>
            <a:endParaRPr lang="hu-HU" altLang="hu-HU" sz="2000" dirty="0">
              <a:latin typeface="+mn-lt"/>
              <a:cs typeface="Times New Roman" pitchFamily="18" charset="0"/>
            </a:endParaRPr>
          </a:p>
          <a:p>
            <a:pPr eaLnBrk="1" hangingPunct="1">
              <a:defRPr/>
            </a:pPr>
            <a:endParaRPr lang="hu-HU" altLang="hu-HU" sz="1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82335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églalap 2"/>
          <p:cNvSpPr>
            <a:spLocks noChangeArrowheads="1"/>
          </p:cNvSpPr>
          <p:nvPr/>
        </p:nvSpPr>
        <p:spPr bwMode="auto">
          <a:xfrm>
            <a:off x="1847850" y="260350"/>
            <a:ext cx="8496300" cy="68634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hu-HU" altLang="hu-HU" sz="2000" b="1" dirty="0">
                <a:latin typeface="+mn-lt"/>
              </a:rPr>
              <a:t>Alaptörvény IX. cikk - Véleménynyilvánítás szabadsága, sajtószabadság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hu-HU" altLang="hu-HU" sz="2000" dirty="0">
              <a:latin typeface="+mn-lt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hu-HU" altLang="hu-HU" sz="2000" b="1" dirty="0">
                <a:latin typeface="+mn-lt"/>
              </a:rPr>
              <a:t>(1) Mindenkinek joga van a véleménynyilvánítás szabadságához.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hu-HU" altLang="hu-HU" sz="2000" b="1" dirty="0">
                <a:latin typeface="+mn-lt"/>
              </a:rPr>
              <a:t>(2) Magyarország elismeri és védi a sajtó szabadságát és sokszínűségét, biztosítja a demokratikus közvélemény kialakulásához szükséges szabad tájékoztatás feltételeit.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hu-HU" altLang="hu-HU" sz="2000" dirty="0">
                <a:latin typeface="+mn-lt"/>
              </a:rPr>
              <a:t>(3)A demokratikus közvélemény kialakulásához választási kampányidőszakban szükséges megfelelő tájékoztatás érdekében politikai reklám médiaszolgáltatásban kizárólag ellenérték nélkül, az esélyegyenlőséget biztosító, sarkalatos törvényben meghatározott feltételek mellett közölhető.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hu-HU" altLang="hu-HU" sz="2000" dirty="0">
                <a:latin typeface="+mn-lt"/>
              </a:rPr>
              <a:t>(4) A véleménynyilvánítás szabadságának a gyakorlása nem irányulhat mások emberi méltóságának a megsértésére.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hu-HU" altLang="hu-HU" sz="2000" dirty="0">
                <a:latin typeface="+mn-lt"/>
              </a:rPr>
              <a:t>(5) A véleménynyilvánítás szabadságának a gyakorlása nem irányulhat a magyar nemzet, a nemzeti, etnikai, faji vagy vallási közösségek méltóságának a megsértésére. Az ilyen közösséghez tartozó személyek - törvényben meghatározottak szerint - jogosultak a közösséget sértő véleménynyilvánítás ellen, emberi méltóságuk megsértése miatt igényeiket bíróság előtt érvényesíteni.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hu-HU" altLang="hu-HU" sz="2000" dirty="0">
                <a:latin typeface="+mn-lt"/>
              </a:rPr>
              <a:t>(6)A sajtószabadságra, valamint a médiaszolgáltatások, a sajtótermékek és a hírközlési piac felügyeletét ellátó szervre vonatkozó részletes szabályokat sarkalatos törvény határozza meg.</a:t>
            </a:r>
            <a:endParaRPr lang="de-DE" altLang="hu-HU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593096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zövegdoboz 1"/>
          <p:cNvSpPr txBox="1">
            <a:spLocks noChangeArrowheads="1"/>
          </p:cNvSpPr>
          <p:nvPr/>
        </p:nvSpPr>
        <p:spPr bwMode="auto">
          <a:xfrm>
            <a:off x="1524000" y="1"/>
            <a:ext cx="9144000" cy="6217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hu-HU" altLang="hu-HU" sz="2800" b="1" dirty="0"/>
              <a:t>                     </a:t>
            </a:r>
            <a:r>
              <a:rPr lang="hu-HU" altLang="hu-HU" sz="2000" b="1" dirty="0">
                <a:latin typeface="+mj-lt"/>
              </a:rPr>
              <a:t>A véleményszabadság korlátozása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hu-HU" altLang="hu-HU" sz="2000" dirty="0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hu-HU" altLang="hu-HU" sz="2000" dirty="0">
                <a:latin typeface="+mj-lt"/>
              </a:rPr>
              <a:t>Alapjogok összeütközése esetén, valamelyik ütköző jog korlátozására van szükség.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hu-HU" altLang="hu-HU" sz="2000" dirty="0">
                <a:latin typeface="+mj-lt"/>
              </a:rPr>
              <a:t>A véleményszabadságnak kitüntetett szerepe miatt csak kevés joggal szemben kell engednie.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hu-HU" altLang="hu-HU" sz="2000" dirty="0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hu-HU" altLang="hu-HU" sz="2000" dirty="0">
                <a:latin typeface="+mj-lt"/>
                <a:cs typeface="Times New Roman" pitchFamily="18" charset="0"/>
              </a:rPr>
              <a:t>„Alapvető jog más alapvető jog érvényesülése vagy valamely alkotmányos érték védelme érdekében, a feltétlenül szükséges mértékben, az elérni kívánt céllal arányosan, az alapvető jog lényeges tartalmának tiszteletben tartásával korlátozható.” (Alaptörvény)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hu-HU" altLang="hu-HU" sz="2000" dirty="0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hu-HU" altLang="hu-HU" sz="2000" dirty="0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hu-HU" altLang="hu-HU" sz="2000" dirty="0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hu-HU" altLang="hu-HU" sz="2000" dirty="0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hu-HU" altLang="hu-HU" sz="2000" dirty="0">
                <a:latin typeface="+mj-lt"/>
              </a:rPr>
              <a:t>	                            		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hu-HU" altLang="hu-HU" sz="2400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hu-HU" altLang="hu-HU" sz="2400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hu-HU" altLang="hu-HU" sz="2400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hu-HU" altLang="hu-HU" sz="1800" dirty="0"/>
          </a:p>
        </p:txBody>
      </p:sp>
      <p:pic>
        <p:nvPicPr>
          <p:cNvPr id="6861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0239" y="5035550"/>
            <a:ext cx="2257425" cy="150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2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588" y="5122863"/>
            <a:ext cx="2214562" cy="145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3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825" y="4741864"/>
            <a:ext cx="2484438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Diagram 2"/>
          <p:cNvGraphicFramePr/>
          <p:nvPr/>
        </p:nvGraphicFramePr>
        <p:xfrm>
          <a:off x="2605496" y="2031820"/>
          <a:ext cx="6981008" cy="29321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189773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/>
        </p:nvGraphicFramePr>
        <p:xfrm>
          <a:off x="2495600" y="1484784"/>
          <a:ext cx="7272808" cy="51845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zövegdoboz 2"/>
          <p:cNvSpPr txBox="1"/>
          <p:nvPr/>
        </p:nvSpPr>
        <p:spPr>
          <a:xfrm flipH="1">
            <a:off x="3045376" y="476672"/>
            <a:ext cx="61469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b="1" dirty="0"/>
              <a:t>A véleményszabadság korlátozása</a:t>
            </a:r>
          </a:p>
        </p:txBody>
      </p:sp>
    </p:spTree>
    <p:extLst>
      <p:ext uri="{BB962C8B-B14F-4D97-AF65-F5344CB8AC3E}">
        <p14:creationId xmlns:p14="http://schemas.microsoft.com/office/powerpoint/2010/main" val="8023307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/>
          <p:cNvSpPr/>
          <p:nvPr/>
        </p:nvSpPr>
        <p:spPr>
          <a:xfrm>
            <a:off x="924232" y="0"/>
            <a:ext cx="11071123" cy="6499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hu-HU" sz="2000" b="1" dirty="0">
                <a:cs typeface="Calibri" panose="020F0502020204030204" pitchFamily="34" charset="0"/>
              </a:rPr>
              <a:t>Hol húzódnak a véleményszabadság határai? </a:t>
            </a:r>
          </a:p>
          <a:p>
            <a:pPr>
              <a:lnSpc>
                <a:spcPct val="150000"/>
              </a:lnSpc>
            </a:pPr>
            <a:endParaRPr lang="hu-HU" sz="2000" dirty="0"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hu-HU" sz="2000" dirty="0">
                <a:cs typeface="Calibri" panose="020F0502020204030204" pitchFamily="34" charset="0"/>
              </a:rPr>
              <a:t>Közlések, amelyek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dirty="0">
                <a:cs typeface="Calibri" panose="020F0502020204030204" pitchFamily="34" charset="0"/>
              </a:rPr>
              <a:t>sértik meghatározott személyek emberi méltóságát, személyiségi jogait, magánéletét,</a:t>
            </a:r>
            <a:endParaRPr lang="en-US" sz="2000" dirty="0"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dirty="0">
                <a:cs typeface="Calibri" panose="020F0502020204030204" pitchFamily="34" charset="0"/>
              </a:rPr>
              <a:t>meghatározott társadalmi csoportokkal szemben gyűlöletet keltenek, hozzájárulnak az adott csoport kirekesztéséhez, megfélemlítéséhez,</a:t>
            </a:r>
            <a:endParaRPr lang="en-US" sz="2000" dirty="0"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dirty="0">
                <a:cs typeface="Calibri" panose="020F0502020204030204" pitchFamily="34" charset="0"/>
              </a:rPr>
              <a:t>szexuális és erőszakos tartalmak, szerencsejáték, de akár rossz konfliktuskezelési, együttélési mintákat közvetítő tartalmak káros hatással lehetnek a gyerekekre, azok fejlődésére . Az ilyen jellegű közlések a felnőttek számára jogszerűen elérhetők, de úgy kell őket közzétenni, hogy a gyerekek ahhoz nagy valószínűséggel ne férhessenek hozzá,</a:t>
            </a:r>
            <a:endParaRPr lang="en-US" sz="2000" dirty="0"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dirty="0">
                <a:cs typeface="Calibri" panose="020F0502020204030204" pitchFamily="34" charset="0"/>
              </a:rPr>
              <a:t>veszélyeztetik a társadalom egészének olyan érdekeit, mint a közbiztonság vagy a közegészség, </a:t>
            </a:r>
            <a:endParaRPr lang="en-US" sz="2000" dirty="0"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dirty="0">
                <a:cs typeface="Calibri" panose="020F0502020204030204" pitchFamily="34" charset="0"/>
              </a:rPr>
              <a:t>tisztességtelen eszközökkel igyekeznek befolyásolni a fogyasztói döntéseket,</a:t>
            </a:r>
            <a:endParaRPr lang="en-US" sz="2000" dirty="0"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000" dirty="0">
                <a:cs typeface="Calibri" panose="020F0502020204030204" pitchFamily="34" charset="0"/>
              </a:rPr>
              <a:t>valamely mű szerzőjének, a tartalom előállítójának üzleti érdekeit sértik, a szellemi alkotások védelmére vonatkozó szabályok figyelmen kívül hagyásával. </a:t>
            </a:r>
            <a:endParaRPr lang="en-US" sz="2000" dirty="0"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50252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/>
          <p:cNvSpPr txBox="1"/>
          <p:nvPr/>
        </p:nvSpPr>
        <p:spPr>
          <a:xfrm>
            <a:off x="1552845" y="188640"/>
            <a:ext cx="9439619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b="1" dirty="0"/>
              <a:t>Példa a véleménynyilvánítás szabadságának jogi korlátozására –</a:t>
            </a:r>
          </a:p>
          <a:p>
            <a:endParaRPr lang="hu-HU" sz="2400" b="1" dirty="0"/>
          </a:p>
          <a:p>
            <a:r>
              <a:rPr lang="hu-HU" sz="2400" b="1" dirty="0"/>
              <a:t>  Reklámozásra vonatkozó szabályok </a:t>
            </a:r>
          </a:p>
          <a:p>
            <a:endParaRPr lang="hu-HU" sz="2400" b="1" dirty="0"/>
          </a:p>
          <a:p>
            <a:endParaRPr lang="hu-HU" b="1" dirty="0"/>
          </a:p>
        </p:txBody>
      </p:sp>
      <p:sp>
        <p:nvSpPr>
          <p:cNvPr id="3" name="Szövegdoboz 2"/>
          <p:cNvSpPr txBox="1"/>
          <p:nvPr/>
        </p:nvSpPr>
        <p:spPr>
          <a:xfrm>
            <a:off x="1703512" y="2035299"/>
            <a:ext cx="878497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/>
              <a:t>A kereskedelmi közleményt (reklámot) is védi a  véleménynyilvánítás szabadsága, de más alapjogok és alkotmányos követelmények védelme érdekében a véleménynyilvánítás szabadsága korlátozható. </a:t>
            </a:r>
          </a:p>
          <a:p>
            <a:endParaRPr lang="hu-HU" sz="2000" dirty="0"/>
          </a:p>
          <a:p>
            <a:r>
              <a:rPr lang="hu-HU" sz="2000" dirty="0"/>
              <a:t>A kereskedelmi közleményeket a fogyasztók védelme érdekében jogszabályban korlátozhatja a törvényalkotó. </a:t>
            </a:r>
          </a:p>
          <a:p>
            <a:endParaRPr lang="hu-HU" sz="2000" dirty="0"/>
          </a:p>
          <a:p>
            <a:r>
              <a:rPr lang="hu-HU" sz="2000" dirty="0"/>
              <a:t>A jogi korlátot Magyarországon például a   </a:t>
            </a:r>
          </a:p>
          <a:p>
            <a:r>
              <a:rPr lang="hu-HU" sz="2000" dirty="0"/>
              <a:t>A fogyasztókkal szembeni tisztességtelen kereskedelmi gyakorlat tilalmáról szóló 2008. évi XLVII. Törvény (</a:t>
            </a:r>
            <a:r>
              <a:rPr lang="hu-HU" sz="2000" dirty="0" err="1"/>
              <a:t>Fttv</a:t>
            </a:r>
            <a:r>
              <a:rPr lang="hu-HU" sz="2000" dirty="0"/>
              <a:t>.) fogalmazza meg. </a:t>
            </a:r>
          </a:p>
          <a:p>
            <a:r>
              <a:rPr lang="hu-HU" sz="2000" dirty="0"/>
              <a:t>A törvényben meghatározott kereskedelmi gyakorlatok tisztességtelenek, és jogsértésként értékeli őket a hatóság.  </a:t>
            </a:r>
          </a:p>
          <a:p>
            <a:endParaRPr lang="hu-HU" sz="2000" dirty="0"/>
          </a:p>
          <a:p>
            <a:r>
              <a:rPr lang="hu-HU" sz="2000" dirty="0"/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787650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/>
          <p:cNvSpPr txBox="1"/>
          <p:nvPr/>
        </p:nvSpPr>
        <p:spPr>
          <a:xfrm>
            <a:off x="1631504" y="188640"/>
            <a:ext cx="80648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b="1" dirty="0"/>
              <a:t>Nézzük a konkrét jogi szabályt!</a:t>
            </a:r>
          </a:p>
          <a:p>
            <a:endParaRPr lang="hu-HU" b="1" dirty="0"/>
          </a:p>
        </p:txBody>
      </p:sp>
      <p:sp>
        <p:nvSpPr>
          <p:cNvPr id="3" name="Szövegdoboz 2"/>
          <p:cNvSpPr txBox="1"/>
          <p:nvPr/>
        </p:nvSpPr>
        <p:spPr>
          <a:xfrm>
            <a:off x="1631504" y="1254493"/>
            <a:ext cx="878497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hu-HU" sz="2000" dirty="0"/>
          </a:p>
          <a:p>
            <a:r>
              <a:rPr lang="hu-HU" sz="2000" dirty="0"/>
              <a:t>A </a:t>
            </a:r>
            <a:r>
              <a:rPr lang="hu-HU" sz="2000" dirty="0" err="1"/>
              <a:t>Fttv</a:t>
            </a:r>
            <a:r>
              <a:rPr lang="hu-HU" sz="2000" dirty="0"/>
              <a:t>. „Feketelistájának” 11. pontja szerint tisztességtelen kereskedelmi gyakorlatnak minősül az írott vagy elektronikus médiában szerkesztői tartalom használata az áru értékesítésének vagy más módon történő igénybevételének előmozdítására úgy, hogy ezért a vállalkozás ellenszolgáltatást nyújtott, ez azonban nem tűnik ki egyértelműen a tartalomból vagy a fogyasztó számára egyértelműen felismerhető képi vagy akusztikus elemekből (</a:t>
            </a:r>
            <a:r>
              <a:rPr lang="hu-HU" sz="2000" b="1" dirty="0"/>
              <a:t>szerkesztői tartalomnak álcázott reklám). </a:t>
            </a:r>
          </a:p>
          <a:p>
            <a:endParaRPr lang="hu-HU" sz="2000" dirty="0"/>
          </a:p>
          <a:p>
            <a:r>
              <a:rPr lang="hu-HU" sz="2000" dirty="0"/>
              <a:t>A hatóság ezt a </a:t>
            </a:r>
            <a:r>
              <a:rPr lang="hu-HU" sz="2000" dirty="0" err="1"/>
              <a:t>törvényhelyet</a:t>
            </a:r>
            <a:r>
              <a:rPr lang="hu-HU" sz="2000" dirty="0"/>
              <a:t> alkalmazza abban az esetben, ha egy influenszer nem tájékoztat a közösségi média posztban arról, hogy ellenszolgáltatást kapott a posztban szereplő termék megjelenítéséért. </a:t>
            </a:r>
          </a:p>
        </p:txBody>
      </p:sp>
    </p:spTree>
    <p:extLst>
      <p:ext uri="{BB962C8B-B14F-4D97-AF65-F5344CB8AC3E}">
        <p14:creationId xmlns:p14="http://schemas.microsoft.com/office/powerpoint/2010/main" val="24359733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 2"/>
          <p:cNvSpPr/>
          <p:nvPr/>
        </p:nvSpPr>
        <p:spPr>
          <a:xfrm>
            <a:off x="1631504" y="404665"/>
            <a:ext cx="864096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u-HU" sz="2000" b="1" dirty="0"/>
              <a:t>Jogeset</a:t>
            </a:r>
          </a:p>
          <a:p>
            <a:endParaRPr lang="hu-HU" dirty="0"/>
          </a:p>
          <a:p>
            <a:r>
              <a:rPr lang="hu-HU" sz="2000" dirty="0"/>
              <a:t>Influenszerek Facebook oldalain megjelenő reklámok, szponzorált üzenetek. </a:t>
            </a:r>
          </a:p>
          <a:p>
            <a:r>
              <a:rPr lang="hu-HU" sz="2000" dirty="0"/>
              <a:t>Korábban meglévő jogszabály alkalmazása a digitális térben megjelenő új kereskedelmi gyakorlatra. Gazdasági Versenyhivatal joggyakorlata.  </a:t>
            </a:r>
          </a:p>
        </p:txBody>
      </p:sp>
      <p:pic>
        <p:nvPicPr>
          <p:cNvPr id="1026" name="Picture 2" descr="A szponzorált YouTube-álomvilág: Az influencer marketing és ami mögötte van  - #Konzervtelef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829" y="2660614"/>
            <a:ext cx="4704553" cy="352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églalap 3"/>
          <p:cNvSpPr/>
          <p:nvPr/>
        </p:nvSpPr>
        <p:spPr>
          <a:xfrm>
            <a:off x="6683629" y="2834428"/>
            <a:ext cx="4572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hu-HU" dirty="0"/>
              <a:t>2016-ban 3 versenyfelügyeleti eljárást (VJ/110/2016., VJ/111/2016., VJ/112/2016.) is indított </a:t>
            </a:r>
            <a:r>
              <a:rPr lang="hu-HU" b="1" dirty="0"/>
              <a:t>„</a:t>
            </a:r>
            <a:r>
              <a:rPr lang="hu-HU" b="1" dirty="0" err="1"/>
              <a:t>influencer</a:t>
            </a:r>
            <a:r>
              <a:rPr lang="hu-HU" b="1" dirty="0"/>
              <a:t>”-ek (véleményvezérek) Facebook, illetve Instagram oldalain megjelent posztok kapcsán. </a:t>
            </a:r>
            <a:r>
              <a:rPr lang="hu-HU" dirty="0"/>
              <a:t>Valószínűsíthető volt, hogy az „</a:t>
            </a:r>
            <a:r>
              <a:rPr lang="hu-HU" dirty="0" err="1"/>
              <a:t>influencer</a:t>
            </a:r>
            <a:r>
              <a:rPr lang="hu-HU" dirty="0"/>
              <a:t>”-ek ellenszolgáltatásban részesültek a posztokért, azonban ezt nem közölték az influenszerek. </a:t>
            </a:r>
          </a:p>
        </p:txBody>
      </p:sp>
    </p:spTree>
    <p:extLst>
      <p:ext uri="{BB962C8B-B14F-4D97-AF65-F5344CB8AC3E}">
        <p14:creationId xmlns:p14="http://schemas.microsoft.com/office/powerpoint/2010/main" val="8462411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827538" y="-261992"/>
            <a:ext cx="8496944" cy="7109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defTabSz="914400" fontAlgn="base">
              <a:spcBef>
                <a:spcPct val="0"/>
              </a:spcBef>
              <a:spcAft>
                <a:spcPct val="0"/>
              </a:spcAft>
            </a:pPr>
            <a:endParaRPr lang="hu-HU" altLang="hu-HU" dirty="0">
              <a:latin typeface="Arial" charset="0"/>
              <a:cs typeface="Arial" charset="0"/>
            </a:endParaRPr>
          </a:p>
          <a:p>
            <a:pPr algn="just" defTabSz="914400" fontAlgn="base">
              <a:spcBef>
                <a:spcPct val="0"/>
              </a:spcBef>
              <a:spcAft>
                <a:spcPct val="0"/>
              </a:spcAft>
            </a:pPr>
            <a:r>
              <a:rPr lang="hu-HU" altLang="hu-HU" dirty="0">
                <a:latin typeface="Arial" charset="0"/>
                <a:cs typeface="Arial" charset="0"/>
              </a:rPr>
              <a:t>GVH által kialakított joggyakorlat: </a:t>
            </a:r>
          </a:p>
          <a:p>
            <a:pPr algn="just" defTabSz="914400" fontAlgn="base">
              <a:spcBef>
                <a:spcPct val="0"/>
              </a:spcBef>
              <a:spcAft>
                <a:spcPct val="0"/>
              </a:spcAft>
            </a:pPr>
            <a:r>
              <a:rPr lang="hu-HU" altLang="hu-HU" sz="2000" dirty="0">
                <a:cs typeface="Arial" charset="0"/>
              </a:rPr>
              <a:t>„A GVH szerint akkor tekinthető jogszerűnek egy magánszemély (legyen az közszereplő, véleményvezér, </a:t>
            </a:r>
            <a:r>
              <a:rPr lang="hu-HU" altLang="hu-HU" sz="2000" dirty="0" err="1">
                <a:cs typeface="Arial" charset="0"/>
              </a:rPr>
              <a:t>youtuber</a:t>
            </a:r>
            <a:r>
              <a:rPr lang="hu-HU" altLang="hu-HU" sz="2000" dirty="0">
                <a:cs typeface="Arial" charset="0"/>
              </a:rPr>
              <a:t>, </a:t>
            </a:r>
            <a:r>
              <a:rPr lang="hu-HU" altLang="hu-HU" sz="2000" dirty="0" err="1">
                <a:cs typeface="Arial" charset="0"/>
              </a:rPr>
              <a:t>blogger</a:t>
            </a:r>
            <a:r>
              <a:rPr lang="hu-HU" altLang="hu-HU" sz="2000" dirty="0">
                <a:cs typeface="Arial" charset="0"/>
              </a:rPr>
              <a:t>, </a:t>
            </a:r>
            <a:r>
              <a:rPr lang="hu-HU" altLang="hu-HU" sz="2000" dirty="0" err="1">
                <a:cs typeface="Arial" charset="0"/>
              </a:rPr>
              <a:t>vlogger</a:t>
            </a:r>
            <a:r>
              <a:rPr lang="hu-HU" altLang="hu-HU" sz="2000" dirty="0">
                <a:cs typeface="Arial" charset="0"/>
              </a:rPr>
              <a:t>) közösségi oldalán írt posztjainak sorában megjelenő fizetett (azaz, ellentételezett) tartalom, ha abban</a:t>
            </a:r>
          </a:p>
          <a:p>
            <a:pPr algn="just" defTabSz="914400" fontAlgn="base">
              <a:spcBef>
                <a:spcPct val="0"/>
              </a:spcBef>
              <a:spcAft>
                <a:spcPct val="0"/>
              </a:spcAft>
            </a:pPr>
            <a:endParaRPr lang="hu-HU" altLang="hu-HU" sz="2000" dirty="0">
              <a:cs typeface="Arial" charset="0"/>
            </a:endParaRP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hu-HU" sz="2000" dirty="0">
                <a:cs typeface="Arial" charset="0"/>
              </a:rPr>
              <a:t>egyszerűen, egyértelműen, közérthetően,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altLang="hu-HU" sz="2000" dirty="0">
                <a:cs typeface="Arial" charset="0"/>
              </a:rPr>
              <a:t> 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hu-HU" sz="2000" dirty="0">
                <a:cs typeface="Arial" charset="0"/>
              </a:rPr>
              <a:t>jól észlelhetően, hangsúlyosan, a fogyasztók számára szembetűnően jelenik meg, hogy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hu-HU" altLang="hu-HU" sz="2000" dirty="0">
              <a:cs typeface="Arial" charset="0"/>
            </a:endParaRP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altLang="hu-HU" sz="2000" dirty="0">
                <a:cs typeface="Arial" charset="0"/>
              </a:rPr>
              <a:t> az nem független, semleges vélemény vagy ajánlás, hanem ellenszolgáltatás vagy egyéb közvetlen gazdasági érdek (is) áll mögötte, ide értve azokat az eseteket is,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hu-HU" altLang="hu-HU" sz="2000" dirty="0">
              <a:cs typeface="Arial" charset="0"/>
            </a:endParaRPr>
          </a:p>
          <a:p>
            <a:pPr marL="400050" indent="-40005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romanLcPeriod"/>
            </a:pPr>
            <a:r>
              <a:rPr lang="hu-HU" altLang="hu-HU" sz="2000" dirty="0">
                <a:cs typeface="Arial" charset="0"/>
              </a:rPr>
              <a:t>amikor az oldal fenntartója, a magánszemély kedvezményt, ajándékot vagy szolgáltatást kap a posztért, azaz, az ajánlásért cserébe, valamint azt is,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altLang="hu-HU" sz="2000" dirty="0">
                <a:cs typeface="Arial" charset="0"/>
              </a:rPr>
              <a:t> 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altLang="hu-HU" sz="2000" dirty="0" err="1">
                <a:cs typeface="Arial" charset="0"/>
              </a:rPr>
              <a:t>ii</a:t>
            </a:r>
            <a:r>
              <a:rPr lang="hu-HU" altLang="hu-HU" sz="2000" dirty="0">
                <a:cs typeface="Arial" charset="0"/>
              </a:rPr>
              <a:t>. ha valaki saját vállalkozását vagy vállalkozásának termékét reklámozza (amennyiben ez a kapcsolat nem derül ki a kereskedelmi gyakorlatból, illetve nem is köztudott).” </a:t>
            </a:r>
          </a:p>
        </p:txBody>
      </p:sp>
    </p:spTree>
    <p:extLst>
      <p:ext uri="{BB962C8B-B14F-4D97-AF65-F5344CB8AC3E}">
        <p14:creationId xmlns:p14="http://schemas.microsoft.com/office/powerpoint/2010/main" val="245802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9616" y="276118"/>
            <a:ext cx="7581668" cy="6613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610930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/>
          <p:cNvSpPr txBox="1"/>
          <p:nvPr/>
        </p:nvSpPr>
        <p:spPr>
          <a:xfrm>
            <a:off x="766917" y="172176"/>
            <a:ext cx="9935226" cy="7663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b="1" dirty="0" err="1"/>
              <a:t>Meta</a:t>
            </a:r>
            <a:r>
              <a:rPr lang="hu-HU" sz="2400" b="1" dirty="0"/>
              <a:t> hirdetési szabályzata</a:t>
            </a:r>
          </a:p>
          <a:p>
            <a:endParaRPr lang="hu-HU" sz="2400" dirty="0"/>
          </a:p>
          <a:p>
            <a:r>
              <a:rPr lang="hu-HU" sz="2400" dirty="0"/>
              <a:t>https://transparency.meta.com/policies/ad-standards/</a:t>
            </a:r>
          </a:p>
          <a:p>
            <a:endParaRPr lang="hu-HU" sz="2400" dirty="0"/>
          </a:p>
          <a:p>
            <a:endParaRPr lang="hu-HU" sz="2400" dirty="0"/>
          </a:p>
          <a:p>
            <a:endParaRPr lang="hu-HU" sz="2400" dirty="0"/>
          </a:p>
          <a:p>
            <a:endParaRPr lang="hu-HU" sz="2400" dirty="0"/>
          </a:p>
          <a:p>
            <a:endParaRPr lang="hu-HU" sz="2400" dirty="0"/>
          </a:p>
          <a:p>
            <a:endParaRPr lang="hu-HU" sz="2400" dirty="0"/>
          </a:p>
          <a:p>
            <a:r>
              <a:rPr lang="hu-HU" sz="2400" dirty="0"/>
              <a:t>Korlátozza-e szabályzattal a </a:t>
            </a:r>
            <a:r>
              <a:rPr lang="hu-HU" sz="2400" dirty="0" err="1"/>
              <a:t>Meta</a:t>
            </a:r>
            <a:r>
              <a:rPr lang="hu-HU" sz="2400" dirty="0"/>
              <a:t> a felhasználók véleménynyilvánítás szabadságát? </a:t>
            </a:r>
          </a:p>
          <a:p>
            <a:endParaRPr lang="hu-HU" sz="2400" dirty="0"/>
          </a:p>
          <a:p>
            <a:r>
              <a:rPr lang="hu-HU" sz="2400" dirty="0"/>
              <a:t>Tartalmaz-e szabályt a </a:t>
            </a:r>
            <a:r>
              <a:rPr lang="hu-HU" sz="2400" dirty="0" err="1"/>
              <a:t>Meta</a:t>
            </a:r>
            <a:r>
              <a:rPr lang="hu-HU" sz="2400" dirty="0"/>
              <a:t> hirdetési szabályzata a termékmegjelenítés jelzésére? </a:t>
            </a:r>
          </a:p>
          <a:p>
            <a:endParaRPr lang="hu-HU" sz="2400" dirty="0"/>
          </a:p>
          <a:p>
            <a:r>
              <a:rPr lang="hu-HU" sz="2400" dirty="0"/>
              <a:t>Milyen termékeket nem reklámozhatnak a felhasználók</a:t>
            </a:r>
          </a:p>
          <a:p>
            <a:r>
              <a:rPr lang="hu-HU" sz="2400" dirty="0"/>
              <a:t> (pl. influenszerek)? </a:t>
            </a:r>
          </a:p>
          <a:p>
            <a:endParaRPr lang="hu-HU" sz="2400" dirty="0"/>
          </a:p>
          <a:p>
            <a:endParaRPr lang="hu-HU" sz="2400" dirty="0"/>
          </a:p>
          <a:p>
            <a:endParaRPr lang="hu-HU" dirty="0"/>
          </a:p>
          <a:p>
            <a:endParaRPr lang="hu-HU" dirty="0"/>
          </a:p>
        </p:txBody>
      </p:sp>
      <p:pic>
        <p:nvPicPr>
          <p:cNvPr id="4" name="Kép 3" descr="A képen minta, Grafika, pixel, tervezé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40050766-4B27-E261-F9EE-BA0ACEBD5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581" y="261694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5055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/>
          <p:cNvSpPr/>
          <p:nvPr/>
        </p:nvSpPr>
        <p:spPr>
          <a:xfrm>
            <a:off x="884904" y="0"/>
            <a:ext cx="11031794" cy="710963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hu-HU" sz="3600" dirty="0"/>
              <a:t>Az emberi jogok védelme a digitális környezetben </a:t>
            </a:r>
            <a:endParaRPr lang="hu-HU" sz="3600" dirty="0">
              <a:cs typeface="Calibri"/>
            </a:endParaRPr>
          </a:p>
          <a:p>
            <a:endParaRPr lang="hu-HU" dirty="0"/>
          </a:p>
          <a:p>
            <a:r>
              <a:rPr lang="hu-HU" sz="2400" dirty="0"/>
              <a:t>Az emberi jogok védelme a globális kommunikációs térben összetett felelősségi rendszerben helyezhető el, amelynek alapja és kiindulópontja, hogy az emberi jogok védelme tradicionálisan az államok kötelezettsége, az alapjogokat rögzítő nemzetközi egyezmények pedig a részes államokat kötik.</a:t>
            </a:r>
            <a:endParaRPr lang="hu-HU" sz="2400" dirty="0">
              <a:cs typeface="Calibri"/>
            </a:endParaRPr>
          </a:p>
          <a:p>
            <a:endParaRPr lang="hu-HU" sz="2400" dirty="0"/>
          </a:p>
          <a:p>
            <a:r>
              <a:rPr lang="hu-HU" sz="2400" dirty="0">
                <a:ea typeface="Times New Roman" panose="02020603050405020304" pitchFamily="18" charset="0"/>
              </a:rPr>
              <a:t>Az ENSZ Emberi Jogi Bizottságának 2011-ben megfogalmazott </a:t>
            </a:r>
            <a:r>
              <a:rPr lang="hu-HU" sz="2400" b="1" dirty="0" err="1">
                <a:ea typeface="Times New Roman" panose="02020603050405020304" pitchFamily="18" charset="0"/>
              </a:rPr>
              <a:t>Guiding</a:t>
            </a:r>
            <a:r>
              <a:rPr lang="hu-HU" sz="2400" b="1" dirty="0">
                <a:ea typeface="Times New Roman" panose="02020603050405020304" pitchFamily="18" charset="0"/>
              </a:rPr>
              <a:t> </a:t>
            </a:r>
            <a:r>
              <a:rPr lang="hu-HU" sz="2400" b="1" dirty="0" err="1">
                <a:ea typeface="Times New Roman" panose="02020603050405020304" pitchFamily="18" charset="0"/>
              </a:rPr>
              <a:t>Principles</a:t>
            </a:r>
            <a:r>
              <a:rPr lang="hu-HU" sz="2400" b="1" dirty="0">
                <a:ea typeface="Times New Roman" panose="02020603050405020304" pitchFamily="18" charset="0"/>
              </a:rPr>
              <a:t> </a:t>
            </a:r>
            <a:r>
              <a:rPr lang="hu-HU" sz="2400" b="1" dirty="0" err="1">
                <a:ea typeface="Times New Roman" panose="02020603050405020304" pitchFamily="18" charset="0"/>
              </a:rPr>
              <a:t>on</a:t>
            </a:r>
            <a:r>
              <a:rPr lang="hu-HU" sz="2400" b="1" dirty="0">
                <a:ea typeface="Times New Roman" panose="02020603050405020304" pitchFamily="18" charset="0"/>
              </a:rPr>
              <a:t> Business and Human </a:t>
            </a:r>
            <a:r>
              <a:rPr lang="hu-HU" sz="2400" b="1" dirty="0" err="1">
                <a:ea typeface="Times New Roman" panose="02020603050405020304" pitchFamily="18" charset="0"/>
              </a:rPr>
              <a:t>Rights</a:t>
            </a:r>
            <a:r>
              <a:rPr lang="hu-HU" sz="2400" b="1" dirty="0">
                <a:ea typeface="Times New Roman" panose="02020603050405020304" pitchFamily="18" charset="0"/>
              </a:rPr>
              <a:t> </a:t>
            </a:r>
            <a:r>
              <a:rPr lang="hu-HU" sz="2400" dirty="0">
                <a:ea typeface="Times New Roman" panose="02020603050405020304" pitchFamily="18" charset="0"/>
              </a:rPr>
              <a:t>című dokumentuma globális referenciapontként rögzíti az alapvető emberi jogok és az üzleti világ kapcsolatának elvi alapjait, és megoldási keretet kínál a globális gazdaság  kialakulásával összefüggő alapjogi kihívásokra. </a:t>
            </a:r>
          </a:p>
          <a:p>
            <a:endParaRPr lang="hu-HU" sz="2400" dirty="0"/>
          </a:p>
          <a:p>
            <a:r>
              <a:rPr lang="hu-HU" sz="2400" dirty="0"/>
              <a:t>Az alapvető emberi jogok online térben való védelmével összefüggésben az ENSZ Emberi Jogi Bizottsága rögzítette, hogy „</a:t>
            </a:r>
            <a:r>
              <a:rPr lang="hu-HU" sz="2400" b="1" dirty="0"/>
              <a:t>az embereket az offline világban megillető jogok ugyanúgy védelem alatt állnak az online környezetben is”</a:t>
            </a:r>
            <a:r>
              <a:rPr lang="hu-HU" sz="2400" dirty="0"/>
              <a:t>. (United </a:t>
            </a:r>
            <a:r>
              <a:rPr lang="hu-HU" sz="2400" dirty="0" err="1"/>
              <a:t>Nations</a:t>
            </a:r>
            <a:r>
              <a:rPr lang="hu-HU" sz="2400" dirty="0"/>
              <a:t> Human </a:t>
            </a:r>
            <a:r>
              <a:rPr lang="hu-HU" sz="2400" dirty="0" err="1"/>
              <a:t>Rights</a:t>
            </a:r>
            <a:r>
              <a:rPr lang="hu-HU" sz="2400" dirty="0"/>
              <a:t> </a:t>
            </a:r>
            <a:r>
              <a:rPr lang="hu-HU" sz="2400" dirty="0" err="1"/>
              <a:t>Council</a:t>
            </a:r>
            <a:r>
              <a:rPr lang="hu-HU" sz="2400" dirty="0"/>
              <a:t>  The </a:t>
            </a:r>
            <a:r>
              <a:rPr lang="hu-HU" sz="2400" dirty="0" err="1"/>
              <a:t>promotion</a:t>
            </a:r>
            <a:r>
              <a:rPr lang="hu-HU" sz="2400" dirty="0"/>
              <a:t>, </a:t>
            </a:r>
            <a:r>
              <a:rPr lang="hu-HU" sz="2400" dirty="0" err="1"/>
              <a:t>protection</a:t>
            </a:r>
            <a:r>
              <a:rPr lang="hu-HU" sz="2400" dirty="0"/>
              <a:t> and </a:t>
            </a:r>
            <a:r>
              <a:rPr lang="hu-HU" sz="2400" dirty="0" err="1"/>
              <a:t>enjoyment</a:t>
            </a:r>
            <a:r>
              <a:rPr lang="hu-HU" sz="2400" dirty="0"/>
              <a:t> of human </a:t>
            </a:r>
            <a:r>
              <a:rPr lang="hu-HU" sz="2400" dirty="0" err="1"/>
              <a:t>rights</a:t>
            </a:r>
            <a:r>
              <a:rPr lang="hu-HU" sz="2400" dirty="0"/>
              <a:t> </a:t>
            </a:r>
            <a:r>
              <a:rPr lang="hu-HU" sz="2400" dirty="0" err="1"/>
              <a:t>on</a:t>
            </a:r>
            <a:r>
              <a:rPr lang="hu-HU" sz="2400" dirty="0"/>
              <a:t> </a:t>
            </a:r>
            <a:r>
              <a:rPr lang="hu-HU" sz="2400" dirty="0" err="1"/>
              <a:t>the</a:t>
            </a:r>
            <a:r>
              <a:rPr lang="hu-HU" sz="2400" dirty="0"/>
              <a:t> Internet A/HRC/RES/20/8 16/07/2012.) </a:t>
            </a:r>
            <a:endParaRPr lang="hu-HU" sz="2400" dirty="0">
              <a:cs typeface="Calibri"/>
            </a:endParaRPr>
          </a:p>
          <a:p>
            <a:endParaRPr lang="hu-HU" sz="2400" dirty="0"/>
          </a:p>
          <a:p>
            <a:endParaRPr lang="hu-HU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99621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54FBE15A-B880-7708-C859-32B2AD784410}"/>
              </a:ext>
            </a:extLst>
          </p:cNvPr>
          <p:cNvSpPr txBox="1"/>
          <p:nvPr/>
        </p:nvSpPr>
        <p:spPr>
          <a:xfrm>
            <a:off x="1209368" y="135082"/>
            <a:ext cx="10982631" cy="53663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dirty="0">
              <a:cs typeface="Calibri"/>
            </a:endParaRPr>
          </a:p>
          <a:p>
            <a:r>
              <a:rPr lang="hu-HU" sz="2400" dirty="0">
                <a:ea typeface="+mn-lt"/>
                <a:cs typeface="+mn-lt"/>
              </a:rPr>
              <a:t>Az interneten működő globális szolgáltatók (pl. keresőmotor szolgáltatók, közösségi médiaplatformok) tevékenysége komplex módon érinti az alapvető emberi jogok érvényesülését. </a:t>
            </a:r>
          </a:p>
          <a:p>
            <a:endParaRPr lang="hu-HU" sz="2400" dirty="0">
              <a:ea typeface="+mn-lt"/>
              <a:cs typeface="+mn-lt"/>
            </a:endParaRPr>
          </a:p>
          <a:p>
            <a:pPr algn="just">
              <a:lnSpc>
                <a:spcPct val="107000"/>
              </a:lnSpc>
            </a:pPr>
            <a:r>
              <a:rPr lang="hu-HU" sz="2400" dirty="0">
                <a:ea typeface="Times New Roman" panose="02020603050405020304" pitchFamily="18" charset="0"/>
              </a:rPr>
              <a:t>Az ENSZ </a:t>
            </a:r>
            <a:r>
              <a:rPr lang="hu-HU" sz="2400" b="1" dirty="0" err="1">
                <a:ea typeface="Times New Roman" panose="02020603050405020304" pitchFamily="18" charset="0"/>
              </a:rPr>
              <a:t>Guiding</a:t>
            </a:r>
            <a:r>
              <a:rPr lang="hu-HU" sz="2400" b="1" dirty="0">
                <a:ea typeface="Times New Roman" panose="02020603050405020304" pitchFamily="18" charset="0"/>
              </a:rPr>
              <a:t> </a:t>
            </a:r>
            <a:r>
              <a:rPr lang="hu-HU" sz="2400" b="1" dirty="0" err="1">
                <a:ea typeface="Times New Roman" panose="02020603050405020304" pitchFamily="18" charset="0"/>
              </a:rPr>
              <a:t>Principles</a:t>
            </a:r>
            <a:r>
              <a:rPr lang="hu-HU" sz="2400" b="1" dirty="0">
                <a:ea typeface="Times New Roman" panose="02020603050405020304" pitchFamily="18" charset="0"/>
              </a:rPr>
              <a:t> </a:t>
            </a:r>
            <a:r>
              <a:rPr lang="hu-HU" sz="2400" b="1" dirty="0" err="1">
                <a:ea typeface="Times New Roman" panose="02020603050405020304" pitchFamily="18" charset="0"/>
              </a:rPr>
              <a:t>on</a:t>
            </a:r>
            <a:r>
              <a:rPr lang="hu-HU" sz="2400" b="1" dirty="0">
                <a:ea typeface="Times New Roman" panose="02020603050405020304" pitchFamily="18" charset="0"/>
              </a:rPr>
              <a:t> Business and Human </a:t>
            </a:r>
            <a:r>
              <a:rPr lang="hu-HU" sz="2400" b="1" dirty="0" err="1">
                <a:ea typeface="Times New Roman" panose="02020603050405020304" pitchFamily="18" charset="0"/>
              </a:rPr>
              <a:t>Rights</a:t>
            </a:r>
            <a:r>
              <a:rPr lang="hu-HU" sz="2400" b="1" dirty="0">
                <a:ea typeface="Times New Roman" panose="02020603050405020304" pitchFamily="18" charset="0"/>
              </a:rPr>
              <a:t> c. </a:t>
            </a:r>
            <a:r>
              <a:rPr lang="hu-HU" sz="2400" dirty="0">
                <a:ea typeface="Times New Roman" panose="02020603050405020304" pitchFamily="18" charset="0"/>
              </a:rPr>
              <a:t>dokumentuma a </a:t>
            </a:r>
            <a:r>
              <a:rPr lang="hu-HU" sz="2400" b="1" dirty="0">
                <a:ea typeface="Times New Roman" panose="02020603050405020304" pitchFamily="18" charset="0"/>
              </a:rPr>
              <a:t>„</a:t>
            </a:r>
            <a:r>
              <a:rPr lang="hu-HU" sz="2400" b="1" dirty="0" err="1">
                <a:ea typeface="Times New Roman" panose="02020603050405020304" pitchFamily="18" charset="0"/>
              </a:rPr>
              <a:t>Protect</a:t>
            </a:r>
            <a:r>
              <a:rPr lang="hu-HU" sz="2400" b="1" dirty="0">
                <a:ea typeface="Times New Roman" panose="02020603050405020304" pitchFamily="18" charset="0"/>
              </a:rPr>
              <a:t>, </a:t>
            </a:r>
            <a:r>
              <a:rPr lang="hu-HU" sz="2400" b="1" dirty="0" err="1">
                <a:ea typeface="Times New Roman" panose="02020603050405020304" pitchFamily="18" charset="0"/>
              </a:rPr>
              <a:t>Respect</a:t>
            </a:r>
            <a:r>
              <a:rPr lang="hu-HU" sz="2400" b="1" dirty="0">
                <a:ea typeface="Times New Roman" panose="02020603050405020304" pitchFamily="18" charset="0"/>
              </a:rPr>
              <a:t>, and </a:t>
            </a:r>
            <a:r>
              <a:rPr lang="hu-HU" sz="2400" b="1" dirty="0" err="1">
                <a:ea typeface="Times New Roman" panose="02020603050405020304" pitchFamily="18" charset="0"/>
              </a:rPr>
              <a:t>Remedy</a:t>
            </a:r>
            <a:r>
              <a:rPr lang="hu-HU" sz="2400" b="1" dirty="0">
                <a:ea typeface="Times New Roman" panose="02020603050405020304" pitchFamily="18" charset="0"/>
              </a:rPr>
              <a:t>” </a:t>
            </a:r>
            <a:r>
              <a:rPr lang="hu-HU" sz="2400" dirty="0">
                <a:ea typeface="Times New Roman" panose="02020603050405020304" pitchFamily="18" charset="0"/>
              </a:rPr>
              <a:t>keretrendszerének három pillérére építve határozza meg a tagállamok és a vállalatok elkülönülő, de egymást kiegészítő feladatait az emberi jogok védelmével összefüggésben. </a:t>
            </a:r>
          </a:p>
          <a:p>
            <a:endParaRPr lang="hu-HU" sz="2400" dirty="0">
              <a:ea typeface="+mn-lt"/>
              <a:cs typeface="+mn-lt"/>
            </a:endParaRPr>
          </a:p>
          <a:p>
            <a:endParaRPr lang="hu-HU" sz="2400" dirty="0">
              <a:cs typeface="Calibri"/>
            </a:endParaRPr>
          </a:p>
          <a:p>
            <a:endParaRPr lang="hu-HU" sz="2400" dirty="0">
              <a:ea typeface="+mn-lt"/>
              <a:cs typeface="+mn-lt"/>
            </a:endParaRP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500795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770430" y="188640"/>
            <a:ext cx="8229600" cy="1143000"/>
          </a:xfrm>
        </p:spPr>
        <p:txBody>
          <a:bodyPr>
            <a:noAutofit/>
          </a:bodyPr>
          <a:lstStyle/>
          <a:p>
            <a:pPr algn="l"/>
            <a:r>
              <a:rPr lang="hu-HU" sz="3600" dirty="0"/>
              <a:t>Nemzetközi védelem - </a:t>
            </a:r>
            <a:r>
              <a:rPr lang="en-US" sz="3600" dirty="0">
                <a:ea typeface="Times New Roman" panose="02020603050405020304" pitchFamily="18" charset="0"/>
              </a:rPr>
              <a:t>Guiding Principles on </a:t>
            </a:r>
            <a:r>
              <a:rPr lang="hu-HU" sz="3600" dirty="0">
                <a:ea typeface="Times New Roman" panose="02020603050405020304" pitchFamily="18" charset="0"/>
              </a:rPr>
              <a:t>Business and Human </a:t>
            </a:r>
            <a:r>
              <a:rPr lang="hu-HU" sz="3600" dirty="0" err="1">
                <a:ea typeface="Times New Roman" panose="02020603050405020304" pitchFamily="18" charset="0"/>
              </a:rPr>
              <a:t>Rights</a:t>
            </a:r>
            <a:r>
              <a:rPr lang="hu-HU" sz="3600" dirty="0"/>
              <a:t> </a:t>
            </a: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2778690118"/>
              </p:ext>
            </p:extLst>
          </p:nvPr>
        </p:nvGraphicFramePr>
        <p:xfrm>
          <a:off x="1770430" y="1484784"/>
          <a:ext cx="8574042" cy="51845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280266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54FBE15A-B880-7708-C859-32B2AD784410}"/>
              </a:ext>
            </a:extLst>
          </p:cNvPr>
          <p:cNvSpPr txBox="1"/>
          <p:nvPr/>
        </p:nvSpPr>
        <p:spPr>
          <a:xfrm>
            <a:off x="1209368" y="135082"/>
            <a:ext cx="10982631" cy="74789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dirty="0">
              <a:cs typeface="Calibri"/>
            </a:endParaRPr>
          </a:p>
          <a:p>
            <a:r>
              <a:rPr lang="hu-HU" sz="3600" dirty="0"/>
              <a:t>Az emberi jogok védelme a digitális környezetben - Európai Unió </a:t>
            </a:r>
            <a:endParaRPr lang="hu-HU" sz="3600" dirty="0">
              <a:cs typeface="Calibri"/>
            </a:endParaRPr>
          </a:p>
          <a:p>
            <a:endParaRPr lang="hu-HU" sz="2400" dirty="0">
              <a:cs typeface="Calibri"/>
            </a:endParaRPr>
          </a:p>
          <a:p>
            <a:r>
              <a:rPr lang="hu-HU" sz="2400" dirty="0"/>
              <a:t>A digitális átalakulás felgyorsulásával elérkezett az idő arra, hogy az EU megfogalmazza, hogyan kívánja érvényre juttatni a digitális környezetben az offline térben alkalmazandó értékeit és az általa az offline térben biztosított alapvető jogokat. A digitális átalakulás nem járhat visszalépéssel a jogok területén. Ami az offline térben jogellenes, az az online térben is az. (Európai nyilatkozat a digitális évtizedben érvényre juttatandó digitális jogokról és elvekről (2023/C 23/01)</a:t>
            </a:r>
          </a:p>
          <a:p>
            <a:endParaRPr lang="hu-HU" sz="2400" dirty="0">
              <a:ea typeface="+mn-lt"/>
              <a:cs typeface="+mn-lt"/>
            </a:endParaRPr>
          </a:p>
          <a:p>
            <a:r>
              <a:rPr lang="hu-HU" sz="2400" b="1" dirty="0">
                <a:ea typeface="+mn-lt"/>
                <a:cs typeface="+mn-lt"/>
              </a:rPr>
              <a:t>Az információs társadalomban az emberi jogok védelme a meglévő jogintézmények mellett új szabályozási megoldásokat, eszközöket igényel. </a:t>
            </a:r>
          </a:p>
          <a:p>
            <a:r>
              <a:rPr lang="hu-HU" sz="2400" b="1" dirty="0">
                <a:ea typeface="+mn-lt"/>
                <a:cs typeface="+mn-lt"/>
              </a:rPr>
              <a:t>Az Európai Unióban ezt célozza a GDPR (adatvédelmi szabályozás), vagy a Digitális szolgáltatási rendelet (DSA) (többek között online platformok szabályozása) elfogadása. </a:t>
            </a:r>
          </a:p>
          <a:p>
            <a:endParaRPr lang="hu-HU" sz="2400" dirty="0">
              <a:ea typeface="+mn-lt"/>
              <a:cs typeface="+mn-lt"/>
            </a:endParaRP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466349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/>
          <p:cNvSpPr txBox="1"/>
          <p:nvPr/>
        </p:nvSpPr>
        <p:spPr>
          <a:xfrm>
            <a:off x="2459089" y="2249488"/>
            <a:ext cx="144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hu-HU" dirty="0"/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566" y="116633"/>
            <a:ext cx="6962775" cy="1000125"/>
          </a:xfrm>
          <a:prstGeom prst="rect">
            <a:avLst/>
          </a:prstGeom>
          <a:solidFill>
            <a:schemeClr val="bg2"/>
          </a:solidFill>
        </p:spPr>
      </p:pic>
      <p:graphicFrame>
        <p:nvGraphicFramePr>
          <p:cNvPr id="2" name="Diagram 1"/>
          <p:cNvGraphicFramePr/>
          <p:nvPr/>
        </p:nvGraphicFramePr>
        <p:xfrm>
          <a:off x="1631505" y="1484784"/>
          <a:ext cx="8909939" cy="49685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zövegdoboz 3"/>
          <p:cNvSpPr txBox="1"/>
          <p:nvPr/>
        </p:nvSpPr>
        <p:spPr>
          <a:xfrm flipH="1">
            <a:off x="1664048" y="6309320"/>
            <a:ext cx="5901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Forrás: https://rankingdigitalrights.org/index2020 </a:t>
            </a:r>
          </a:p>
        </p:txBody>
      </p:sp>
    </p:spTree>
    <p:extLst>
      <p:ext uri="{BB962C8B-B14F-4D97-AF65-F5344CB8AC3E}">
        <p14:creationId xmlns:p14="http://schemas.microsoft.com/office/powerpoint/2010/main" val="40429543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 descr="A képen szöveg, képernyőkép, tervezé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7BF31CE6-6361-5C58-2D8F-24258476F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828" y="1697953"/>
            <a:ext cx="8893311" cy="5029636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A8D29756-BD3C-1067-BCBD-8E9670941771}"/>
              </a:ext>
            </a:extLst>
          </p:cNvPr>
          <p:cNvSpPr txBox="1"/>
          <p:nvPr/>
        </p:nvSpPr>
        <p:spPr>
          <a:xfrm>
            <a:off x="1601821" y="365995"/>
            <a:ext cx="84074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hu-HU" sz="2400" dirty="0"/>
              <a:t>RDR 2025 – 14 nagyvállalat 43 platformjának értékelése </a:t>
            </a:r>
          </a:p>
        </p:txBody>
      </p:sp>
    </p:spTree>
    <p:extLst>
      <p:ext uri="{BB962C8B-B14F-4D97-AF65-F5344CB8AC3E}">
        <p14:creationId xmlns:p14="http://schemas.microsoft.com/office/powerpoint/2010/main" val="10453475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1">
            <a:extLst>
              <a:ext uri="{FF2B5EF4-FFF2-40B4-BE49-F238E27FC236}">
                <a16:creationId xmlns:a16="http://schemas.microsoft.com/office/drawing/2014/main" id="{B74BF54F-94D0-4EEB-8563-68881144E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323" y="1365898"/>
            <a:ext cx="4758626" cy="4534582"/>
          </a:xfrm>
          <a:prstGeom prst="rect">
            <a:avLst/>
          </a:prstGeom>
        </p:spPr>
      </p:pic>
      <p:sp>
        <p:nvSpPr>
          <p:cNvPr id="3" name="Téglalap 2">
            <a:extLst>
              <a:ext uri="{FF2B5EF4-FFF2-40B4-BE49-F238E27FC236}">
                <a16:creationId xmlns:a16="http://schemas.microsoft.com/office/drawing/2014/main" id="{571EAC94-E413-4D0A-942E-6F95C791B18E}"/>
              </a:ext>
            </a:extLst>
          </p:cNvPr>
          <p:cNvSpPr/>
          <p:nvPr/>
        </p:nvSpPr>
        <p:spPr>
          <a:xfrm>
            <a:off x="1360405" y="495855"/>
            <a:ext cx="39453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hu-HU" sz="2400" b="1" dirty="0">
                <a:latin typeface="Poppins"/>
              </a:rPr>
              <a:t>2022 Big </a:t>
            </a:r>
            <a:r>
              <a:rPr lang="hu-HU" sz="2400" b="1" dirty="0" err="1">
                <a:latin typeface="Poppins"/>
              </a:rPr>
              <a:t>Tech</a:t>
            </a:r>
            <a:r>
              <a:rPr lang="hu-HU" sz="2400" b="1" dirty="0">
                <a:latin typeface="Poppins"/>
              </a:rPr>
              <a:t> RDR Index</a:t>
            </a:r>
          </a:p>
        </p:txBody>
      </p:sp>
      <p:pic>
        <p:nvPicPr>
          <p:cNvPr id="5" name="Kép 4" descr="A képen szöveg, képernyőkép, szám, Betűtípu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279BFF43-7753-FF8D-F614-E39CBDE80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4085" y="1365898"/>
            <a:ext cx="5546915" cy="4534582"/>
          </a:xfrm>
          <a:prstGeom prst="rect">
            <a:avLst/>
          </a:prstGeom>
        </p:spPr>
      </p:pic>
      <p:sp>
        <p:nvSpPr>
          <p:cNvPr id="6" name="Téglalap 5">
            <a:extLst>
              <a:ext uri="{FF2B5EF4-FFF2-40B4-BE49-F238E27FC236}">
                <a16:creationId xmlns:a16="http://schemas.microsoft.com/office/drawing/2014/main" id="{C48CF953-41AD-ED24-21C9-EDAF9C47328A}"/>
              </a:ext>
            </a:extLst>
          </p:cNvPr>
          <p:cNvSpPr/>
          <p:nvPr/>
        </p:nvSpPr>
        <p:spPr>
          <a:xfrm>
            <a:off x="7352865" y="578339"/>
            <a:ext cx="39693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hu-HU" sz="2400" b="1" dirty="0">
                <a:latin typeface="Poppins"/>
              </a:rPr>
              <a:t>2025 Big </a:t>
            </a:r>
            <a:r>
              <a:rPr lang="hu-HU" sz="2400" b="1" dirty="0" err="1">
                <a:latin typeface="Poppins"/>
              </a:rPr>
              <a:t>Tech</a:t>
            </a:r>
            <a:r>
              <a:rPr lang="hu-HU" sz="2400" b="1" dirty="0">
                <a:latin typeface="Poppins"/>
              </a:rPr>
              <a:t> RDR Index</a:t>
            </a:r>
          </a:p>
        </p:txBody>
      </p:sp>
    </p:spTree>
    <p:extLst>
      <p:ext uri="{BB962C8B-B14F-4D97-AF65-F5344CB8AC3E}">
        <p14:creationId xmlns:p14="http://schemas.microsoft.com/office/powerpoint/2010/main" val="3624528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/>
          <p:cNvSpPr/>
          <p:nvPr/>
        </p:nvSpPr>
        <p:spPr>
          <a:xfrm>
            <a:off x="1710733" y="620689"/>
            <a:ext cx="88204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hu-HU" sz="3600" dirty="0"/>
              <a:t>RDR Index kategóriák</a:t>
            </a:r>
          </a:p>
        </p:txBody>
      </p:sp>
      <p:graphicFrame>
        <p:nvGraphicFramePr>
          <p:cNvPr id="3" name="Diagram 2"/>
          <p:cNvGraphicFramePr/>
          <p:nvPr/>
        </p:nvGraphicFramePr>
        <p:xfrm>
          <a:off x="1091381" y="262388"/>
          <a:ext cx="10992464" cy="640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zövegdoboz 3"/>
          <p:cNvSpPr txBox="1"/>
          <p:nvPr/>
        </p:nvSpPr>
        <p:spPr>
          <a:xfrm>
            <a:off x="1991544" y="5949281"/>
            <a:ext cx="83956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2020-ban két fontos szemponttal egészült ki az értékelés: az algoritmusok és a személyre szabott reklámozás működésének nyilvánossága. </a:t>
            </a:r>
          </a:p>
        </p:txBody>
      </p:sp>
    </p:spTree>
    <p:extLst>
      <p:ext uri="{BB962C8B-B14F-4D97-AF65-F5344CB8AC3E}">
        <p14:creationId xmlns:p14="http://schemas.microsoft.com/office/powerpoint/2010/main" val="29806721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/>
          <p:cNvSpPr txBox="1"/>
          <p:nvPr/>
        </p:nvSpPr>
        <p:spPr>
          <a:xfrm>
            <a:off x="1268361" y="0"/>
            <a:ext cx="86356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dirty="0"/>
              <a:t>RDR Index 2025 – egyes rendszerszintű problémák 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490377F3-1835-0A45-F645-3C4048082C9E}"/>
              </a:ext>
            </a:extLst>
          </p:cNvPr>
          <p:cNvSpPr txBox="1"/>
          <p:nvPr/>
        </p:nvSpPr>
        <p:spPr>
          <a:xfrm>
            <a:off x="1194619" y="1515466"/>
            <a:ext cx="9802761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arenR"/>
            </a:pPr>
            <a:r>
              <a:rPr lang="hu-HU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Emberi jogi hatásvizsgálatok hiánya, különösen a célzott hirdetésekre vonatkozóan</a:t>
            </a:r>
          </a:p>
          <a:p>
            <a:r>
              <a:rPr lang="hu-HU" dirty="0"/>
              <a:t>A nagy platformok nem végeznek rendszeres, átfogó emberi jogi hatásvizsgálatot azzal kapcsolatban, hogy a belső szabályzataik, valamint a célzott hirdetésekre épülő működésük hogyan befolyásolja a felhasználók szólásszabadsághoz, a magánélethez és a megkülönböztetésmentességhez való jogát. </a:t>
            </a:r>
          </a:p>
          <a:p>
            <a:endParaRPr lang="hu-HU" dirty="0"/>
          </a:p>
          <a:p>
            <a:r>
              <a:rPr lang="hu-HU" dirty="0"/>
              <a:t>2) </a:t>
            </a:r>
            <a:r>
              <a:rPr lang="hu-HU" b="1" dirty="0"/>
              <a:t>A célzott hirdetési üzleti modell átláthatatlansága és végrehajtási hiányai</a:t>
            </a:r>
          </a:p>
          <a:p>
            <a:r>
              <a:rPr lang="hu-HU" dirty="0"/>
              <a:t>11 vállalat nem hozott nyilvánosságra információt a hirdetési tartalmi irányelvek megsértése miatt eltávolított hirdetésekről, és nem hozott nyilvánosságra bizonyítékot a hirdetéscélzási irányelveik betartatására vonatkozóan. (Kivételek: Alibaba, az </a:t>
            </a:r>
            <a:r>
              <a:rPr lang="hu-HU" dirty="0" err="1"/>
              <a:t>Alphabet</a:t>
            </a:r>
            <a:r>
              <a:rPr lang="hu-HU" dirty="0"/>
              <a:t> és a </a:t>
            </a:r>
            <a:r>
              <a:rPr lang="hu-HU" dirty="0" err="1"/>
              <a:t>ByteDance</a:t>
            </a:r>
            <a:r>
              <a:rPr lang="hu-HU" dirty="0"/>
              <a:t>)</a:t>
            </a:r>
          </a:p>
          <a:p>
            <a:endParaRPr lang="hu-HU" dirty="0"/>
          </a:p>
          <a:p>
            <a:r>
              <a:rPr lang="hu-HU" b="1" dirty="0"/>
              <a:t>3) Tartalommoderálás: saját szabályzatokok végrehajtásának átláthatatlansága</a:t>
            </a:r>
          </a:p>
          <a:p>
            <a:r>
              <a:rPr lang="hu-HU" dirty="0"/>
              <a:t>A vállalatok gyakran csak a felhasználókra vonatkozó szabályokat (pl. </a:t>
            </a:r>
            <a:r>
              <a:rPr lang="hu-HU" dirty="0" err="1"/>
              <a:t>Meta</a:t>
            </a:r>
            <a:r>
              <a:rPr lang="hu-HU" dirty="0"/>
              <a:t> Közösségi Alapelvek) közlik, de azt nem, hogyan alkalmazzák ezeket: kevés, töredezett és szolgáltatásonként eltérő adat érhető el, és a korábbi, ezen a területen jobban működő cégek is megrekedtek ezen a téren.​</a:t>
            </a:r>
          </a:p>
          <a:p>
            <a:endParaRPr lang="hu-HU" dirty="0"/>
          </a:p>
          <a:p>
            <a:r>
              <a:rPr lang="hu-HU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2054735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D234498C-4A70-89CC-4AE0-3475AD1CA61E}"/>
              </a:ext>
            </a:extLst>
          </p:cNvPr>
          <p:cNvSpPr txBox="1"/>
          <p:nvPr/>
        </p:nvSpPr>
        <p:spPr>
          <a:xfrm>
            <a:off x="914399" y="1281897"/>
            <a:ext cx="10451691" cy="4293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lang="hu-HU" b="0" i="0" dirty="0">
                <a:solidFill>
                  <a:srgbClr val="000000"/>
                </a:solidFill>
                <a:effectLst/>
                <a:latin typeface="Proxima Nova"/>
              </a:rPr>
              <a:t> Az ENSZ </a:t>
            </a:r>
            <a:r>
              <a:rPr lang="hu-HU" dirty="0" err="1">
                <a:solidFill>
                  <a:srgbClr val="000000"/>
                </a:solidFill>
                <a:latin typeface="Proxima Nova"/>
              </a:rPr>
              <a:t>Guiding</a:t>
            </a:r>
            <a:r>
              <a:rPr lang="hu-HU" dirty="0">
                <a:solidFill>
                  <a:srgbClr val="000000"/>
                </a:solidFill>
                <a:latin typeface="Proxima Nova"/>
              </a:rPr>
              <a:t> </a:t>
            </a:r>
            <a:r>
              <a:rPr lang="hu-HU" dirty="0" err="1">
                <a:solidFill>
                  <a:srgbClr val="000000"/>
                </a:solidFill>
                <a:latin typeface="Proxima Nova"/>
              </a:rPr>
              <a:t>Principles</a:t>
            </a:r>
            <a:r>
              <a:rPr lang="hu-HU" dirty="0">
                <a:solidFill>
                  <a:srgbClr val="000000"/>
                </a:solidFill>
                <a:latin typeface="Proxima Nova"/>
              </a:rPr>
              <a:t> </a:t>
            </a:r>
            <a:r>
              <a:rPr lang="hu-HU" dirty="0" err="1">
                <a:solidFill>
                  <a:srgbClr val="000000"/>
                </a:solidFill>
                <a:latin typeface="Proxima Nova"/>
              </a:rPr>
              <a:t>on</a:t>
            </a:r>
            <a:r>
              <a:rPr lang="hu-HU" dirty="0">
                <a:solidFill>
                  <a:srgbClr val="000000"/>
                </a:solidFill>
                <a:latin typeface="Proxima Nova"/>
              </a:rPr>
              <a:t> Business and Human </a:t>
            </a:r>
            <a:r>
              <a:rPr lang="hu-HU" dirty="0" err="1">
                <a:solidFill>
                  <a:srgbClr val="000000"/>
                </a:solidFill>
                <a:latin typeface="Proxima Nova"/>
              </a:rPr>
              <a:t>Rigths</a:t>
            </a:r>
            <a:r>
              <a:rPr lang="hu-HU" b="0" i="0" dirty="0">
                <a:solidFill>
                  <a:srgbClr val="000000"/>
                </a:solidFill>
                <a:effectLst/>
                <a:latin typeface="Proxima Nova"/>
              </a:rPr>
              <a:t> azt az elvárást fogalmazza meg a vállaltok felé, hogy tevékenységükkel kapcsolatban </a:t>
            </a:r>
            <a:r>
              <a:rPr lang="hu-HU" b="1" i="0" dirty="0">
                <a:solidFill>
                  <a:srgbClr val="000000"/>
                </a:solidFill>
                <a:effectLst/>
                <a:latin typeface="Proxima Nova"/>
              </a:rPr>
              <a:t>emberi jogi átvilágítást </a:t>
            </a:r>
            <a:r>
              <a:rPr lang="hu-HU" b="0" i="0" dirty="0">
                <a:solidFill>
                  <a:srgbClr val="000000"/>
                </a:solidFill>
                <a:effectLst/>
                <a:latin typeface="Proxima Nova"/>
              </a:rPr>
              <a:t>végezzenek. Ez magában foglalja a tényleges és potenciális emberi jogi hatások felmérését, valamint ezen hatásokra adott megfelelő reakciókat. </a:t>
            </a:r>
          </a:p>
          <a:p>
            <a:pPr algn="l">
              <a:spcAft>
                <a:spcPts val="1800"/>
              </a:spcAft>
            </a:pPr>
            <a:r>
              <a:rPr lang="hu-HU" b="0" i="0" dirty="0">
                <a:solidFill>
                  <a:srgbClr val="000000"/>
                </a:solidFill>
                <a:effectLst/>
                <a:latin typeface="Proxima Nova"/>
              </a:rPr>
              <a:t>Az emberi jogi hatásvizsgálat (HRIA) elemzi azokat a hatásokat, amelyeket az üzleti tevékenységek gyakorolnak az egyénekre, például a munkavállalókra, a helyi közösség tagjaira, a fogyasztókra és másokra. </a:t>
            </a:r>
          </a:p>
          <a:p>
            <a:pPr>
              <a:spcAft>
                <a:spcPts val="1800"/>
              </a:spcAft>
            </a:pPr>
            <a:r>
              <a:rPr lang="hu-HU" dirty="0">
                <a:solidFill>
                  <a:srgbClr val="000000"/>
                </a:solidFill>
                <a:latin typeface="Proxima Nova"/>
              </a:rPr>
              <a:t>Az alábbi rövid videó bemutatja a hatásvizsgálat egyes elemeit: </a:t>
            </a:r>
          </a:p>
          <a:p>
            <a:pPr>
              <a:spcAft>
                <a:spcPts val="1800"/>
              </a:spcAft>
            </a:pPr>
            <a:r>
              <a:rPr lang="hu-HU" dirty="0">
                <a:hlinkClick r:id="rId2"/>
              </a:rPr>
              <a:t>https://www.youtube.com/watch?v=46Too_X_RjA</a:t>
            </a:r>
            <a:endParaRPr lang="hu-HU" dirty="0"/>
          </a:p>
          <a:p>
            <a:pPr>
              <a:spcAft>
                <a:spcPts val="1800"/>
              </a:spcAft>
            </a:pPr>
            <a:endParaRPr lang="hu-HU" dirty="0"/>
          </a:p>
          <a:p>
            <a:pPr algn="l">
              <a:spcAft>
                <a:spcPts val="1800"/>
              </a:spcAft>
            </a:pPr>
            <a:endParaRPr lang="hu-HU" b="0" i="0" dirty="0">
              <a:solidFill>
                <a:srgbClr val="000000"/>
              </a:solidFill>
              <a:effectLst/>
              <a:latin typeface="Proxima Nova"/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7550716B-904D-C884-DD84-E58AFFE4F1D8}"/>
              </a:ext>
            </a:extLst>
          </p:cNvPr>
          <p:cNvSpPr txBox="1"/>
          <p:nvPr/>
        </p:nvSpPr>
        <p:spPr>
          <a:xfrm>
            <a:off x="914399" y="214511"/>
            <a:ext cx="941930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3200" dirty="0"/>
              <a:t>Nemzetközi védelem - </a:t>
            </a:r>
            <a:r>
              <a:rPr lang="en-US" sz="3200" dirty="0">
                <a:ea typeface="Times New Roman" panose="02020603050405020304" pitchFamily="18" charset="0"/>
              </a:rPr>
              <a:t>Guiding Principles on </a:t>
            </a:r>
            <a:r>
              <a:rPr lang="hu-HU" sz="3200" dirty="0">
                <a:ea typeface="Times New Roman" panose="02020603050405020304" pitchFamily="18" charset="0"/>
              </a:rPr>
              <a:t>Business and Human </a:t>
            </a:r>
            <a:r>
              <a:rPr lang="hu-HU" sz="3200" dirty="0" err="1">
                <a:ea typeface="Times New Roman" panose="02020603050405020304" pitchFamily="18" charset="0"/>
              </a:rPr>
              <a:t>Rights</a:t>
            </a:r>
            <a:r>
              <a:rPr lang="hu-HU" sz="3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260635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35FA8C53-26DE-65D3-99D0-6D1580041CDF}"/>
              </a:ext>
            </a:extLst>
          </p:cNvPr>
          <p:cNvSpPr txBox="1"/>
          <p:nvPr/>
        </p:nvSpPr>
        <p:spPr>
          <a:xfrm>
            <a:off x="766918" y="235974"/>
            <a:ext cx="111497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dirty="0"/>
              <a:t>EURÓPAI UNIÓ – JOGFEJLESZTÉS </a:t>
            </a:r>
          </a:p>
          <a:p>
            <a:r>
              <a:rPr lang="hu-HU" sz="3600" dirty="0"/>
              <a:t>AZ ALAPJOGOK VÉDELME ÉRDEKÉBEN A DIGITÁLIS TÉRBEN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6DDB0032-6148-D62F-90F3-82C85DEE0834}"/>
              </a:ext>
            </a:extLst>
          </p:cNvPr>
          <p:cNvSpPr txBox="1"/>
          <p:nvPr/>
        </p:nvSpPr>
        <p:spPr>
          <a:xfrm>
            <a:off x="1012236" y="2369574"/>
            <a:ext cx="104030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hlinkClick r:id="rId2"/>
              </a:rPr>
              <a:t>https://www.youtube.com/watch?v=cOIKo8TGPyw</a:t>
            </a:r>
            <a:endParaRPr lang="hu-HU" dirty="0"/>
          </a:p>
          <a:p>
            <a:endParaRPr lang="hu-HU" dirty="0"/>
          </a:p>
          <a:p>
            <a:endParaRPr lang="hu-HU" dirty="0"/>
          </a:p>
          <a:p>
            <a:r>
              <a:rPr lang="hu-HU" sz="1800" dirty="0"/>
              <a:t>EGYÜTTES NYILATKOZATOK EURÓPAI PARLAMENT TANÁCS EURÓPAI BIZOTTSÁG </a:t>
            </a:r>
          </a:p>
          <a:p>
            <a:r>
              <a:rPr lang="hu-HU" sz="1800" dirty="0"/>
              <a:t>Európai nyilatkozat a digitális évtizedben érvényre juttatandó digitális jogokról és elvekről (2023/C 23/01)</a:t>
            </a:r>
          </a:p>
        </p:txBody>
      </p:sp>
    </p:spTree>
    <p:extLst>
      <p:ext uri="{BB962C8B-B14F-4D97-AF65-F5344CB8AC3E}">
        <p14:creationId xmlns:p14="http://schemas.microsoft.com/office/powerpoint/2010/main" val="38258062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2034952" y="0"/>
            <a:ext cx="8229600" cy="1143000"/>
          </a:xfrm>
        </p:spPr>
        <p:txBody>
          <a:bodyPr>
            <a:normAutofit/>
          </a:bodyPr>
          <a:lstStyle/>
          <a:p>
            <a:r>
              <a:rPr lang="hu-HU" sz="3200" dirty="0"/>
              <a:t>Célok, elvek az Európai Unióban </a:t>
            </a:r>
          </a:p>
        </p:txBody>
      </p:sp>
      <p:sp>
        <p:nvSpPr>
          <p:cNvPr id="3" name="Téglalap 2"/>
          <p:cNvSpPr/>
          <p:nvPr/>
        </p:nvSpPr>
        <p:spPr>
          <a:xfrm>
            <a:off x="855405" y="692697"/>
            <a:ext cx="11080955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hu-HU" sz="2000" dirty="0"/>
              <a:t>EGYÜTTES NYILATKOZATOK EURÓPAI PARLAMENT TANÁCS EURÓPAI BIZOTTSÁG Európai nyilatkozat a digitális évtizedben érvényre juttatandó digitális jogokról és elvekről (2023/C 23/01)</a:t>
            </a:r>
          </a:p>
          <a:p>
            <a:endParaRPr lang="hu-HU" sz="2000" b="1" i="1" dirty="0"/>
          </a:p>
          <a:p>
            <a:r>
              <a:rPr lang="hu-HU" sz="2000" b="1" i="1" dirty="0"/>
              <a:t>Részvétel a digitális nyilvános térben</a:t>
            </a:r>
            <a:endParaRPr lang="hu-HU" sz="2000" dirty="0"/>
          </a:p>
          <a:p>
            <a:r>
              <a:rPr lang="hu-HU" sz="2000" dirty="0"/>
              <a:t>12. Mindenki számára biztosítani kell a megbízható, sokszínű és többnyelvű digitális környezethez való hozzáférést. A sokszínű tartalmakhoz való hozzáférés elősegíti a plurális nyilvános vitát és a demokráciában való tényleges, megkülönböztetéstől mentes részvételt.</a:t>
            </a:r>
          </a:p>
          <a:p>
            <a:r>
              <a:rPr lang="hu-HU" sz="2000" dirty="0"/>
              <a:t>13. Mindenkinek joga van a digitális környezetben a véleménynyilvánítás és a tájékozódás szabadságához, valamint a gyülekezés és az egyesülés szabadságához.</a:t>
            </a:r>
          </a:p>
          <a:p>
            <a:r>
              <a:rPr lang="hu-HU" sz="2000" dirty="0"/>
              <a:t>14. Mindenkinek képesnek kell lennie hozzáférni az azzal kapcsolatos információkhoz, hogy kinek a tulajdonában vannak, illetve kinek az ellenőrzése alatt állnak az általa igénybe vett médiaszolgáltatások. </a:t>
            </a:r>
          </a:p>
          <a:p>
            <a:r>
              <a:rPr lang="hu-HU" sz="2000" dirty="0"/>
              <a:t>15. Az online platformoknak, különösen az online óriásplatformoknak támogatniuk kell a szabad demokratikus vitát az online térben. Tekintettel az általuk nyújtott szolgáltatásoknak a közvélemény és a közbeszéd alakításában betöltött szerepére, az online óriásplatformoknak csökkenteniük kell a szolgáltatásaik működéséből és használatából eredő – többek között a félretájékoztatási és dezinformációs kampányokkal kapcsolatos – kockázatokat, és védeniük kell a véleménynyilvánítás szabadságát.</a:t>
            </a:r>
          </a:p>
          <a:p>
            <a:pPr algn="just"/>
            <a:endParaRPr lang="hu-HU" sz="2000" dirty="0"/>
          </a:p>
        </p:txBody>
      </p:sp>
    </p:spTree>
    <p:extLst>
      <p:ext uri="{BB962C8B-B14F-4D97-AF65-F5344CB8AC3E}">
        <p14:creationId xmlns:p14="http://schemas.microsoft.com/office/powerpoint/2010/main" val="17752764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 2"/>
          <p:cNvSpPr/>
          <p:nvPr/>
        </p:nvSpPr>
        <p:spPr>
          <a:xfrm>
            <a:off x="1618450" y="692696"/>
            <a:ext cx="903649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hu-HU" sz="2000" dirty="0"/>
          </a:p>
        </p:txBody>
      </p:sp>
      <p:sp>
        <p:nvSpPr>
          <p:cNvPr id="5" name="Téglalap 4"/>
          <p:cNvSpPr/>
          <p:nvPr/>
        </p:nvSpPr>
        <p:spPr>
          <a:xfrm>
            <a:off x="1524000" y="692696"/>
            <a:ext cx="904955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hu-HU" dirty="0"/>
            </a:br>
            <a:r>
              <a:rPr lang="hu-HU" dirty="0"/>
              <a:t>Elkötelezzük magunkat amellett, hogy:</a:t>
            </a:r>
            <a:br>
              <a:rPr lang="hu-HU" dirty="0"/>
            </a:br>
            <a:br>
              <a:rPr lang="hu-HU" dirty="0"/>
            </a:br>
            <a:r>
              <a:rPr lang="hu-HU" dirty="0"/>
              <a:t>a)továbbra is megvédjük az összes alapvető jogot az online térben, különösen a véleménynyilvánítás és a tájékozódás szabadságát, ezen belül is a tömegtájékoztatás szabadságát és sokszínűségét;</a:t>
            </a:r>
            <a:br>
              <a:rPr lang="hu-HU" dirty="0"/>
            </a:br>
            <a:br>
              <a:rPr lang="hu-HU" dirty="0"/>
            </a:br>
            <a:r>
              <a:rPr lang="hu-HU" dirty="0"/>
              <a:t>c)arányos intézkedéseket hozzunk annak érdekében, hogy küzdjünk a jogellenes tartalmak valamennyi formája ellen, maradéktalanul tiszteletben tartva az alapvető jogokat, köztük a véleménynyilvánítás és a tájékozódás szabadságához való jogot, és anélkül, hogy általános </a:t>
            </a:r>
            <a:r>
              <a:rPr lang="hu-HU" dirty="0" err="1"/>
              <a:t>nyomonkövetési</a:t>
            </a:r>
            <a:r>
              <a:rPr lang="hu-HU" dirty="0"/>
              <a:t> kötelezettségeket vagy cenzúrát vezetnénk be;</a:t>
            </a:r>
            <a:br>
              <a:rPr lang="hu-HU" dirty="0"/>
            </a:br>
            <a:br>
              <a:rPr lang="hu-HU" dirty="0"/>
            </a:br>
            <a:r>
              <a:rPr lang="hu-HU" dirty="0"/>
              <a:t>d)olyan digitális környezetet alakítsunk ki, ahol az emberek védve vannak a dezinformációval és az információmanipulációval, valamint a káros tartalmak egyéb formáival szemben, beleértve a zaklatást és a nemi alapú erőszakot is;</a:t>
            </a:r>
            <a:br>
              <a:rPr lang="hu-HU" dirty="0"/>
            </a:br>
            <a:br>
              <a:rPr lang="hu-HU" dirty="0"/>
            </a:br>
            <a:r>
              <a:rPr lang="hu-HU" dirty="0"/>
              <a:t>f)lehetővé tegyük az egyének számára, hogy szabadon hozhassanak meghatározott döntéseket, valamint korlátozzuk a sebezhetőségeknek és az elfogultságnak az elsősorban célzott hirdetések révén történő kihasználását.</a:t>
            </a:r>
          </a:p>
        </p:txBody>
      </p:sp>
    </p:spTree>
    <p:extLst>
      <p:ext uri="{BB962C8B-B14F-4D97-AF65-F5344CB8AC3E}">
        <p14:creationId xmlns:p14="http://schemas.microsoft.com/office/powerpoint/2010/main" val="23087174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Kockázatértékelés a szabályozásban </a:t>
            </a: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572045083"/>
              </p:ext>
            </p:extLst>
          </p:nvPr>
        </p:nvGraphicFramePr>
        <p:xfrm>
          <a:off x="1847527" y="1268759"/>
          <a:ext cx="8771311" cy="54860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773681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455E4651-9712-436A-A8A6-B6CF93FDB510}"/>
              </a:ext>
            </a:extLst>
          </p:cNvPr>
          <p:cNvSpPr txBox="1"/>
          <p:nvPr/>
        </p:nvSpPr>
        <p:spPr>
          <a:xfrm flipH="1">
            <a:off x="1847528" y="306800"/>
            <a:ext cx="8496944" cy="5948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Források: </a:t>
            </a:r>
          </a:p>
          <a:p>
            <a:endParaRPr lang="hu-HU" dirty="0"/>
          </a:p>
          <a:p>
            <a:pPr algn="just">
              <a:lnSpc>
                <a:spcPct val="107000"/>
              </a:lnSpc>
            </a:pPr>
            <a:r>
              <a:rPr lang="hu-HU" dirty="0">
                <a:ea typeface="Times New Roman" panose="02020603050405020304" pitchFamily="18" charset="0"/>
              </a:rPr>
              <a:t>United </a:t>
            </a:r>
            <a:r>
              <a:rPr lang="hu-HU" dirty="0" err="1">
                <a:ea typeface="Times New Roman" panose="02020603050405020304" pitchFamily="18" charset="0"/>
              </a:rPr>
              <a:t>Nations</a:t>
            </a:r>
            <a:r>
              <a:rPr lang="hu-HU" dirty="0">
                <a:ea typeface="Times New Roman" panose="02020603050405020304" pitchFamily="18" charset="0"/>
              </a:rPr>
              <a:t> – </a:t>
            </a:r>
            <a:r>
              <a:rPr lang="hu-HU" dirty="0" err="1">
                <a:ea typeface="Times New Roman" panose="02020603050405020304" pitchFamily="18" charset="0"/>
              </a:rPr>
              <a:t>Guiding</a:t>
            </a:r>
            <a:r>
              <a:rPr lang="hu-HU" dirty="0">
                <a:ea typeface="Times New Roman" panose="02020603050405020304" pitchFamily="18" charset="0"/>
              </a:rPr>
              <a:t> </a:t>
            </a:r>
            <a:r>
              <a:rPr lang="hu-HU" dirty="0" err="1">
                <a:ea typeface="Times New Roman" panose="02020603050405020304" pitchFamily="18" charset="0"/>
              </a:rPr>
              <a:t>Principles</a:t>
            </a:r>
            <a:r>
              <a:rPr lang="hu-HU" dirty="0">
                <a:ea typeface="Times New Roman" panose="02020603050405020304" pitchFamily="18" charset="0"/>
              </a:rPr>
              <a:t> </a:t>
            </a:r>
            <a:r>
              <a:rPr lang="hu-HU" dirty="0" err="1">
                <a:ea typeface="Times New Roman" panose="02020603050405020304" pitchFamily="18" charset="0"/>
              </a:rPr>
              <a:t>on</a:t>
            </a:r>
            <a:r>
              <a:rPr lang="hu-HU" dirty="0">
                <a:ea typeface="Times New Roman" panose="02020603050405020304" pitchFamily="18" charset="0"/>
              </a:rPr>
              <a:t> Business and Human </a:t>
            </a:r>
            <a:r>
              <a:rPr lang="hu-HU" dirty="0" err="1">
                <a:ea typeface="Times New Roman" panose="02020603050405020304" pitchFamily="18" charset="0"/>
              </a:rPr>
              <a:t>Rights</a:t>
            </a:r>
            <a:r>
              <a:rPr lang="hu-HU" dirty="0">
                <a:ea typeface="Times New Roman" panose="02020603050405020304" pitchFamily="18" charset="0"/>
              </a:rPr>
              <a:t>. 2011. http://www.ohchr.org/Documents/Publications/GuidingPrinciplesBusinessHR_EN.pdf </a:t>
            </a:r>
          </a:p>
          <a:p>
            <a:endParaRPr lang="hu-HU" dirty="0"/>
          </a:p>
          <a:p>
            <a:pPr algn="just">
              <a:spcAft>
                <a:spcPts val="0"/>
              </a:spcAft>
            </a:pPr>
            <a:r>
              <a:rPr lang="hu-HU" dirty="0"/>
              <a:t>EGYÜTTES NYILATKOZATOK EURÓPAI PARLAMENT TANÁCS EURÓPAI BIZOTTSÁG Európai nyilatkozat a digitális évtizedben érvényre juttatandó digitális jogokról és elvekről (2023/C 23/01)</a:t>
            </a:r>
          </a:p>
          <a:p>
            <a:pPr algn="just">
              <a:spcAft>
                <a:spcPts val="0"/>
              </a:spcAft>
            </a:pPr>
            <a:r>
              <a:rPr lang="hu-HU" dirty="0">
                <a:ea typeface="Times New Roman" panose="02020603050405020304" pitchFamily="18" charset="0"/>
              </a:rPr>
              <a:t>https://eur-lex.europa.eu/legal-content/HU/TXT/PDF/?uri=CELEX:32023C0123(01)</a:t>
            </a:r>
          </a:p>
          <a:p>
            <a:endParaRPr lang="hu-HU" dirty="0"/>
          </a:p>
          <a:p>
            <a:r>
              <a:rPr lang="hu-HU" dirty="0" err="1"/>
              <a:t>Ranking</a:t>
            </a:r>
            <a:r>
              <a:rPr lang="hu-HU" dirty="0"/>
              <a:t> Digital </a:t>
            </a:r>
            <a:r>
              <a:rPr lang="hu-HU" dirty="0" err="1"/>
              <a:t>Rights</a:t>
            </a:r>
            <a:endParaRPr lang="hu-HU" dirty="0"/>
          </a:p>
          <a:p>
            <a:r>
              <a:rPr lang="hu-HU" dirty="0">
                <a:hlinkClick r:id="rId2"/>
              </a:rPr>
              <a:t>https://rankingdigitalrights.org/</a:t>
            </a:r>
            <a:r>
              <a:rPr lang="hu-HU" dirty="0"/>
              <a:t> </a:t>
            </a:r>
          </a:p>
          <a:p>
            <a:endParaRPr lang="hu-HU" dirty="0"/>
          </a:p>
          <a:p>
            <a:r>
              <a:rPr lang="hu-HU" dirty="0" err="1"/>
              <a:t>Wessenauer</a:t>
            </a:r>
            <a:r>
              <a:rPr lang="hu-HU" dirty="0"/>
              <a:t> </a:t>
            </a:r>
            <a:r>
              <a:rPr lang="hu-HU" dirty="0" err="1"/>
              <a:t>Veszna</a:t>
            </a:r>
            <a:r>
              <a:rPr lang="hu-HU" dirty="0"/>
              <a:t>: Átláthatóság, társadalmi igazságosság és emberi jogok – szempontok a digitális platformok szabályozásához</a:t>
            </a:r>
          </a:p>
          <a:p>
            <a:r>
              <a:rPr lang="hu-HU" dirty="0">
                <a:hlinkClick r:id="rId3"/>
              </a:rPr>
              <a:t>https://www.politicalcapital.hu/kereses.php?article_read=1&amp;article_id=2826</a:t>
            </a:r>
            <a:endParaRPr lang="hu-HU" dirty="0"/>
          </a:p>
          <a:p>
            <a:endParaRPr lang="hu-HU" dirty="0"/>
          </a:p>
          <a:p>
            <a:endParaRPr lang="hu-HU" dirty="0"/>
          </a:p>
          <a:p>
            <a:endParaRPr lang="hu-HU" dirty="0"/>
          </a:p>
          <a:p>
            <a:endParaRPr lang="hu-HU" u="sng" dirty="0">
              <a:hlinkClick r:id="rId4"/>
            </a:endParaRP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851878580"/>
      </p:ext>
    </p:extLst>
  </p:cSld>
  <p:clrMapOvr>
    <a:masterClrMapping/>
  </p:clrMapOvr>
</p:sld>
</file>

<file path=ppt/theme/theme1.xml><?xml version="1.0" encoding="utf-8"?>
<a:theme xmlns:a="http://schemas.openxmlformats.org/drawingml/2006/main" name="Körülvágás">
  <a:themeElements>
    <a:clrScheme name="Körülvágás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Körülvágás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Körülvágá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TM10001105[[fn=Körülvágás]]</Template>
  <TotalTime>5644</TotalTime>
  <Words>3961</Words>
  <Application>Microsoft Office PowerPoint</Application>
  <PresentationFormat>Szélesvásznú</PresentationFormat>
  <Paragraphs>368</Paragraphs>
  <Slides>44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7</vt:i4>
      </vt:variant>
      <vt:variant>
        <vt:lpstr>Téma</vt:lpstr>
      </vt:variant>
      <vt:variant>
        <vt:i4>1</vt:i4>
      </vt:variant>
      <vt:variant>
        <vt:lpstr>Diacímek</vt:lpstr>
      </vt:variant>
      <vt:variant>
        <vt:i4>44</vt:i4>
      </vt:variant>
    </vt:vector>
  </HeadingPairs>
  <TitlesOfParts>
    <vt:vector size="52" baseType="lpstr">
      <vt:lpstr>Aptos</vt:lpstr>
      <vt:lpstr>Arial</vt:lpstr>
      <vt:lpstr>Calibri</vt:lpstr>
      <vt:lpstr>Franklin Gothic Book</vt:lpstr>
      <vt:lpstr>Poppins</vt:lpstr>
      <vt:lpstr>Proxima Nova</vt:lpstr>
      <vt:lpstr>Times New Roman</vt:lpstr>
      <vt:lpstr>Körülvágás</vt:lpstr>
      <vt:lpstr>Jogi alapismeretek Az alapjogok VÉDELME AZ  INFORMÁCIÓS TÁRSADALOMBAN  2. előadás</vt:lpstr>
      <vt:lpstr> Az alapjogok jelentősége az online környezet szabályozásában </vt:lpstr>
      <vt:lpstr>PowerPoint-bemutató</vt:lpstr>
      <vt:lpstr>PowerPoint-bemutató</vt:lpstr>
      <vt:lpstr>Alapvető emberi jogok - alapjogok</vt:lpstr>
      <vt:lpstr>PowerPoint-bemutató</vt:lpstr>
      <vt:lpstr>PowerPoint-bemutató</vt:lpstr>
      <vt:lpstr>PowerPoint-bemutató</vt:lpstr>
      <vt:lpstr>Emberi jogok érvényesítésének nemzetközi fóruma Európában  - Európai Emberi Jogi Bíróság (Strasbourg) 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Nemzetközi védelem - Guiding Principles on Business and Human Rights 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Célok, elvek az Európai Unióban </vt:lpstr>
      <vt:lpstr>PowerPoint-bemutató</vt:lpstr>
      <vt:lpstr>Kockázatértékelés a szabályozásban 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Jogi alapismeretek Az alapjogok VÉDELME AZ  INFORMÁCIÓS TÁRSADALOMBAN  2. előadás</dc:title>
  <dc:creator>Krisztina Nagy</dc:creator>
  <cp:lastModifiedBy>Windows-felhasználó</cp:lastModifiedBy>
  <cp:revision>4</cp:revision>
  <dcterms:created xsi:type="dcterms:W3CDTF">2024-08-29T07:32:39Z</dcterms:created>
  <dcterms:modified xsi:type="dcterms:W3CDTF">2026-02-27T12:22:07Z</dcterms:modified>
</cp:coreProperties>
</file>