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317" r:id="rId3"/>
    <p:sldId id="257" r:id="rId4"/>
    <p:sldId id="315" r:id="rId5"/>
    <p:sldId id="316" r:id="rId6"/>
    <p:sldId id="318" r:id="rId7"/>
    <p:sldId id="319" r:id="rId8"/>
    <p:sldId id="320" r:id="rId9"/>
    <p:sldId id="258" r:id="rId10"/>
    <p:sldId id="259" r:id="rId11"/>
    <p:sldId id="260" r:id="rId12"/>
    <p:sldId id="262" r:id="rId13"/>
    <p:sldId id="263" r:id="rId14"/>
    <p:sldId id="264" r:id="rId15"/>
    <p:sldId id="265" r:id="rId16"/>
    <p:sldId id="266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277" r:id="rId25"/>
    <p:sldId id="278" r:id="rId26"/>
    <p:sldId id="279" r:id="rId27"/>
    <p:sldId id="280" r:id="rId28"/>
    <p:sldId id="281" r:id="rId29"/>
    <p:sldId id="321" r:id="rId30"/>
    <p:sldId id="282" r:id="rId31"/>
    <p:sldId id="283" r:id="rId32"/>
    <p:sldId id="284" r:id="rId33"/>
    <p:sldId id="285" r:id="rId34"/>
    <p:sldId id="287" r:id="rId35"/>
    <p:sldId id="288" r:id="rId36"/>
    <p:sldId id="289" r:id="rId37"/>
    <p:sldId id="290" r:id="rId38"/>
    <p:sldId id="291" r:id="rId39"/>
    <p:sldId id="292" r:id="rId40"/>
    <p:sldId id="294" r:id="rId41"/>
    <p:sldId id="295" r:id="rId42"/>
    <p:sldId id="296" r:id="rId43"/>
    <p:sldId id="297" r:id="rId44"/>
    <p:sldId id="298" r:id="rId45"/>
    <p:sldId id="300" r:id="rId46"/>
    <p:sldId id="301" r:id="rId47"/>
    <p:sldId id="302" r:id="rId48"/>
    <p:sldId id="322" r:id="rId49"/>
    <p:sldId id="305" r:id="rId50"/>
    <p:sldId id="306" r:id="rId51"/>
    <p:sldId id="307" r:id="rId52"/>
    <p:sldId id="308" r:id="rId53"/>
    <p:sldId id="323" r:id="rId5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 autoAdjust="0"/>
    <p:restoredTop sz="94660"/>
  </p:normalViewPr>
  <p:slideViewPr>
    <p:cSldViewPr>
      <p:cViewPr varScale="1">
        <p:scale>
          <a:sx n="87" d="100"/>
          <a:sy n="87" d="100"/>
        </p:scale>
        <p:origin x="79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FCC782-6D34-401B-8577-184DCFC37A24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0DC41BB4-1D35-4A1B-AD7F-82DB1DEC0F27}">
      <dgm:prSet phldrT="[Szöveg]"/>
      <dgm:spPr/>
      <dgm:t>
        <a:bodyPr/>
        <a:lstStyle/>
        <a:p>
          <a:r>
            <a:rPr lang="hu-HU" dirty="0"/>
            <a:t>Zenemű</a:t>
          </a:r>
        </a:p>
      </dgm:t>
    </dgm:pt>
    <dgm:pt modelId="{A236E20E-48E3-4D8B-ADCD-C272349AC23B}" type="parTrans" cxnId="{F31C9ADA-B763-487F-A548-C30FD58330C7}">
      <dgm:prSet/>
      <dgm:spPr/>
      <dgm:t>
        <a:bodyPr/>
        <a:lstStyle/>
        <a:p>
          <a:endParaRPr lang="hu-HU"/>
        </a:p>
      </dgm:t>
    </dgm:pt>
    <dgm:pt modelId="{FE541BFF-D842-404D-AAB0-2F1826AF8760}" type="sibTrans" cxnId="{F31C9ADA-B763-487F-A548-C30FD58330C7}">
      <dgm:prSet/>
      <dgm:spPr/>
      <dgm:t>
        <a:bodyPr/>
        <a:lstStyle/>
        <a:p>
          <a:endParaRPr lang="hu-HU"/>
        </a:p>
      </dgm:t>
    </dgm:pt>
    <dgm:pt modelId="{852BC276-5F83-4DD3-BC5E-426CABAC727C}">
      <dgm:prSet phldrT="[Szöveg]"/>
      <dgm:spPr/>
      <dgm:t>
        <a:bodyPr/>
        <a:lstStyle/>
        <a:p>
          <a:r>
            <a:rPr lang="hu-HU" dirty="0"/>
            <a:t>Vers, regény, novella</a:t>
          </a:r>
        </a:p>
      </dgm:t>
    </dgm:pt>
    <dgm:pt modelId="{31B52963-EC9F-4342-8011-3AE847E7B04F}" type="parTrans" cxnId="{8AAF59E8-72EB-45AC-A211-43F8B4231D42}">
      <dgm:prSet/>
      <dgm:spPr/>
      <dgm:t>
        <a:bodyPr/>
        <a:lstStyle/>
        <a:p>
          <a:endParaRPr lang="hu-HU"/>
        </a:p>
      </dgm:t>
    </dgm:pt>
    <dgm:pt modelId="{AB63DD86-9D58-4242-B0A4-0B2CB5D8116C}" type="sibTrans" cxnId="{8AAF59E8-72EB-45AC-A211-43F8B4231D42}">
      <dgm:prSet/>
      <dgm:spPr/>
      <dgm:t>
        <a:bodyPr/>
        <a:lstStyle/>
        <a:p>
          <a:endParaRPr lang="hu-HU"/>
        </a:p>
      </dgm:t>
    </dgm:pt>
    <dgm:pt modelId="{4ECC1492-1920-4689-A0A8-32ECCA51D2F3}">
      <dgm:prSet phldrT="[Szöveg]"/>
      <dgm:spPr/>
      <dgm:t>
        <a:bodyPr/>
        <a:lstStyle/>
        <a:p>
          <a:r>
            <a:rPr lang="hu-HU" dirty="0"/>
            <a:t>Film</a:t>
          </a:r>
        </a:p>
      </dgm:t>
    </dgm:pt>
    <dgm:pt modelId="{8916C5C7-F0F9-4B6C-A1FD-DD7C0008D7D9}" type="parTrans" cxnId="{23A2E6C2-69A2-444B-BCFC-D4E33CDE9AC8}">
      <dgm:prSet/>
      <dgm:spPr/>
      <dgm:t>
        <a:bodyPr/>
        <a:lstStyle/>
        <a:p>
          <a:endParaRPr lang="hu-HU"/>
        </a:p>
      </dgm:t>
    </dgm:pt>
    <dgm:pt modelId="{29F89B7B-8947-4703-A856-6751C019EA91}" type="sibTrans" cxnId="{23A2E6C2-69A2-444B-BCFC-D4E33CDE9AC8}">
      <dgm:prSet/>
      <dgm:spPr/>
      <dgm:t>
        <a:bodyPr/>
        <a:lstStyle/>
        <a:p>
          <a:endParaRPr lang="hu-HU"/>
        </a:p>
      </dgm:t>
    </dgm:pt>
    <dgm:pt modelId="{22DB0996-8BC7-4532-83EC-16495F084D19}">
      <dgm:prSet phldrT="[Szöveg]"/>
      <dgm:spPr/>
      <dgm:t>
        <a:bodyPr/>
        <a:lstStyle/>
        <a:p>
          <a:r>
            <a:rPr lang="hu-HU" dirty="0"/>
            <a:t>Fotó</a:t>
          </a:r>
        </a:p>
      </dgm:t>
    </dgm:pt>
    <dgm:pt modelId="{B45ECBC7-4274-4F2D-A2CE-4F452206C7B3}" type="parTrans" cxnId="{0D3C6170-4C3C-474B-8407-5AED76C25205}">
      <dgm:prSet/>
      <dgm:spPr/>
      <dgm:t>
        <a:bodyPr/>
        <a:lstStyle/>
        <a:p>
          <a:endParaRPr lang="hu-HU"/>
        </a:p>
      </dgm:t>
    </dgm:pt>
    <dgm:pt modelId="{D1D72183-3DC4-4245-AAFC-08D69A6A925C}" type="sibTrans" cxnId="{0D3C6170-4C3C-474B-8407-5AED76C25205}">
      <dgm:prSet/>
      <dgm:spPr/>
      <dgm:t>
        <a:bodyPr/>
        <a:lstStyle/>
        <a:p>
          <a:endParaRPr lang="hu-HU"/>
        </a:p>
      </dgm:t>
    </dgm:pt>
    <dgm:pt modelId="{76F1979C-26D7-47C0-9999-740A5BBEB927}">
      <dgm:prSet phldrT="[Szöveg]"/>
      <dgm:spPr/>
      <dgm:t>
        <a:bodyPr/>
        <a:lstStyle/>
        <a:p>
          <a:r>
            <a:rPr lang="hu-HU" dirty="0"/>
            <a:t>Szobor</a:t>
          </a:r>
        </a:p>
      </dgm:t>
    </dgm:pt>
    <dgm:pt modelId="{06C597F4-7205-4293-B501-BF18FE533D44}" type="parTrans" cxnId="{A6157C3D-83B5-43CA-B268-5F57C954C2A8}">
      <dgm:prSet/>
      <dgm:spPr/>
      <dgm:t>
        <a:bodyPr/>
        <a:lstStyle/>
        <a:p>
          <a:endParaRPr lang="hu-HU"/>
        </a:p>
      </dgm:t>
    </dgm:pt>
    <dgm:pt modelId="{8DC78EA6-0A7E-4FD5-9A72-1ACA72BE736D}" type="sibTrans" cxnId="{A6157C3D-83B5-43CA-B268-5F57C954C2A8}">
      <dgm:prSet/>
      <dgm:spPr/>
      <dgm:t>
        <a:bodyPr/>
        <a:lstStyle/>
        <a:p>
          <a:endParaRPr lang="hu-HU"/>
        </a:p>
      </dgm:t>
    </dgm:pt>
    <dgm:pt modelId="{3BA6C391-98AE-4143-9369-9D3895C0BF4A}">
      <dgm:prSet phldrT="[Szöveg]"/>
      <dgm:spPr/>
      <dgm:t>
        <a:bodyPr/>
        <a:lstStyle/>
        <a:p>
          <a:r>
            <a:rPr lang="hu-HU" dirty="0"/>
            <a:t>Színdarab</a:t>
          </a:r>
        </a:p>
      </dgm:t>
    </dgm:pt>
    <dgm:pt modelId="{5ED3B60C-C639-4F43-B936-C12AF045C3E1}" type="parTrans" cxnId="{F137630F-33A9-46C1-96E6-15CC3B59373A}">
      <dgm:prSet/>
      <dgm:spPr/>
      <dgm:t>
        <a:bodyPr/>
        <a:lstStyle/>
        <a:p>
          <a:endParaRPr lang="hu-HU"/>
        </a:p>
      </dgm:t>
    </dgm:pt>
    <dgm:pt modelId="{7CC085B2-93E9-47EB-A4FC-AE98974F2753}" type="sibTrans" cxnId="{F137630F-33A9-46C1-96E6-15CC3B59373A}">
      <dgm:prSet/>
      <dgm:spPr/>
      <dgm:t>
        <a:bodyPr/>
        <a:lstStyle/>
        <a:p>
          <a:endParaRPr lang="hu-HU"/>
        </a:p>
      </dgm:t>
    </dgm:pt>
    <dgm:pt modelId="{9AE0FB88-16F5-4EC4-9C7E-242B44FCC51C}">
      <dgm:prSet phldrT="[Szöveg]"/>
      <dgm:spPr/>
      <dgm:t>
        <a:bodyPr/>
        <a:lstStyle/>
        <a:p>
          <a:r>
            <a:rPr lang="hu-HU" dirty="0"/>
            <a:t>Nyilvánosan tartott beszéd</a:t>
          </a:r>
        </a:p>
      </dgm:t>
    </dgm:pt>
    <dgm:pt modelId="{0ACD8F13-4595-424B-BC9A-5A58D6A8E4C2}" type="parTrans" cxnId="{51ECF8DF-3528-42C9-BAE6-5EC2460F5C68}">
      <dgm:prSet/>
      <dgm:spPr/>
      <dgm:t>
        <a:bodyPr/>
        <a:lstStyle/>
        <a:p>
          <a:endParaRPr lang="hu-HU"/>
        </a:p>
      </dgm:t>
    </dgm:pt>
    <dgm:pt modelId="{7DF3D65A-082E-4746-B9EE-FE10C3ED4141}" type="sibTrans" cxnId="{51ECF8DF-3528-42C9-BAE6-5EC2460F5C68}">
      <dgm:prSet/>
      <dgm:spPr/>
      <dgm:t>
        <a:bodyPr/>
        <a:lstStyle/>
        <a:p>
          <a:endParaRPr lang="hu-HU"/>
        </a:p>
      </dgm:t>
    </dgm:pt>
    <dgm:pt modelId="{CCDCB5A2-76E7-43B1-881C-BB01743AA9C0}">
      <dgm:prSet phldrT="[Szöveg]"/>
      <dgm:spPr/>
      <dgm:t>
        <a:bodyPr/>
        <a:lstStyle/>
        <a:p>
          <a:r>
            <a:rPr lang="hu-HU" dirty="0"/>
            <a:t>Szoftver</a:t>
          </a:r>
        </a:p>
      </dgm:t>
    </dgm:pt>
    <dgm:pt modelId="{B6E735BE-F38F-4436-967B-AA81159FE158}" type="parTrans" cxnId="{A46299A8-DB07-4AD8-9994-48E2550365D8}">
      <dgm:prSet/>
      <dgm:spPr/>
      <dgm:t>
        <a:bodyPr/>
        <a:lstStyle/>
        <a:p>
          <a:endParaRPr lang="hu-HU"/>
        </a:p>
      </dgm:t>
    </dgm:pt>
    <dgm:pt modelId="{B27581FE-9489-438A-A380-7E39F71F431B}" type="sibTrans" cxnId="{A46299A8-DB07-4AD8-9994-48E2550365D8}">
      <dgm:prSet/>
      <dgm:spPr/>
      <dgm:t>
        <a:bodyPr/>
        <a:lstStyle/>
        <a:p>
          <a:endParaRPr lang="hu-HU"/>
        </a:p>
      </dgm:t>
    </dgm:pt>
    <dgm:pt modelId="{979446A8-8250-4310-8F61-A65493FF14F1}">
      <dgm:prSet phldrT="[Szöveg]"/>
      <dgm:spPr/>
      <dgm:t>
        <a:bodyPr/>
        <a:lstStyle/>
        <a:p>
          <a:r>
            <a:rPr lang="hu-HU" dirty="0"/>
            <a:t>Adatbázis</a:t>
          </a:r>
        </a:p>
      </dgm:t>
    </dgm:pt>
    <dgm:pt modelId="{88B1C582-64D3-44D7-BF43-9FFAD088BDBC}" type="parTrans" cxnId="{B218653F-6DA2-4697-803F-D9BAE1C10203}">
      <dgm:prSet/>
      <dgm:spPr/>
      <dgm:t>
        <a:bodyPr/>
        <a:lstStyle/>
        <a:p>
          <a:endParaRPr lang="hu-HU"/>
        </a:p>
      </dgm:t>
    </dgm:pt>
    <dgm:pt modelId="{4DC62783-A57B-4B91-9183-2F5BC1EA2920}" type="sibTrans" cxnId="{B218653F-6DA2-4697-803F-D9BAE1C10203}">
      <dgm:prSet/>
      <dgm:spPr/>
      <dgm:t>
        <a:bodyPr/>
        <a:lstStyle/>
        <a:p>
          <a:endParaRPr lang="hu-HU"/>
        </a:p>
      </dgm:t>
    </dgm:pt>
    <dgm:pt modelId="{782FC282-2011-4A7C-9CF6-DD1B82202EB1}">
      <dgm:prSet phldrT="[Szöveg]"/>
      <dgm:spPr/>
      <dgm:t>
        <a:bodyPr/>
        <a:lstStyle/>
        <a:p>
          <a:r>
            <a:rPr lang="hu-HU" dirty="0"/>
            <a:t>Grafika</a:t>
          </a:r>
        </a:p>
      </dgm:t>
    </dgm:pt>
    <dgm:pt modelId="{E04D80F4-6F9D-4D65-AB89-FCA1EEFA61C0}" type="parTrans" cxnId="{2FC9D419-EE1E-4E6E-AEEE-FBD206E55F27}">
      <dgm:prSet/>
      <dgm:spPr/>
      <dgm:t>
        <a:bodyPr/>
        <a:lstStyle/>
        <a:p>
          <a:endParaRPr lang="hu-HU"/>
        </a:p>
      </dgm:t>
    </dgm:pt>
    <dgm:pt modelId="{2CFC416C-7B72-4797-9A12-F7F72B5B6D76}" type="sibTrans" cxnId="{2FC9D419-EE1E-4E6E-AEEE-FBD206E55F27}">
      <dgm:prSet/>
      <dgm:spPr/>
      <dgm:t>
        <a:bodyPr/>
        <a:lstStyle/>
        <a:p>
          <a:endParaRPr lang="hu-HU"/>
        </a:p>
      </dgm:t>
    </dgm:pt>
    <dgm:pt modelId="{F65AD74F-9A85-4A55-ADDA-BEF919352F28}">
      <dgm:prSet phldrT="[Szöveg]"/>
      <dgm:spPr/>
      <dgm:t>
        <a:bodyPr/>
        <a:lstStyle/>
        <a:p>
          <a:r>
            <a:rPr lang="hu-HU" dirty="0"/>
            <a:t>Építészeti mű</a:t>
          </a:r>
        </a:p>
      </dgm:t>
    </dgm:pt>
    <dgm:pt modelId="{3CEAC329-2965-422F-A14A-DCE186F584C2}" type="parTrans" cxnId="{D347D598-E69D-436E-ADF8-E354BAB7D7A0}">
      <dgm:prSet/>
      <dgm:spPr/>
      <dgm:t>
        <a:bodyPr/>
        <a:lstStyle/>
        <a:p>
          <a:endParaRPr lang="hu-HU"/>
        </a:p>
      </dgm:t>
    </dgm:pt>
    <dgm:pt modelId="{E76FBD8F-5867-456C-9823-2DED6C3D40FF}" type="sibTrans" cxnId="{D347D598-E69D-436E-ADF8-E354BAB7D7A0}">
      <dgm:prSet/>
      <dgm:spPr/>
      <dgm:t>
        <a:bodyPr/>
        <a:lstStyle/>
        <a:p>
          <a:endParaRPr lang="hu-HU"/>
        </a:p>
      </dgm:t>
    </dgm:pt>
    <dgm:pt modelId="{56BDE7DB-5D98-4BE3-978B-3FCDBB7BD3AD}">
      <dgm:prSet phldrT="[Szöveg]"/>
      <dgm:spPr/>
      <dgm:t>
        <a:bodyPr/>
        <a:lstStyle/>
        <a:p>
          <a:r>
            <a:rPr lang="hu-HU" dirty="0"/>
            <a:t>Jelmez, díszlet</a:t>
          </a:r>
        </a:p>
      </dgm:t>
    </dgm:pt>
    <dgm:pt modelId="{F80A78CE-1F01-467E-A749-F585AD9645B2}" type="parTrans" cxnId="{C88DC855-B710-410B-A4C5-25796B501CE2}">
      <dgm:prSet/>
      <dgm:spPr/>
      <dgm:t>
        <a:bodyPr/>
        <a:lstStyle/>
        <a:p>
          <a:endParaRPr lang="hu-HU"/>
        </a:p>
      </dgm:t>
    </dgm:pt>
    <dgm:pt modelId="{311CDAFD-FEA2-47B9-95AF-2080E7F5F32B}" type="sibTrans" cxnId="{C88DC855-B710-410B-A4C5-25796B501CE2}">
      <dgm:prSet/>
      <dgm:spPr/>
      <dgm:t>
        <a:bodyPr/>
        <a:lstStyle/>
        <a:p>
          <a:endParaRPr lang="hu-HU"/>
        </a:p>
      </dgm:t>
    </dgm:pt>
    <dgm:pt modelId="{8CB863D2-7E7C-44DB-9128-B16961FDF03F}" type="pres">
      <dgm:prSet presAssocID="{91FCC782-6D34-401B-8577-184DCFC37A2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hu-HU"/>
        </a:p>
      </dgm:t>
    </dgm:pt>
    <dgm:pt modelId="{933C700F-047F-429A-B007-8D4BF5909552}" type="pres">
      <dgm:prSet presAssocID="{0DC41BB4-1D35-4A1B-AD7F-82DB1DEC0F27}" presName="node" presStyleLbl="node1" presStyleIdx="0" presStyleCnt="12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96EA5810-C973-46B4-B975-795B7F7CD60F}" type="pres">
      <dgm:prSet presAssocID="{FE541BFF-D842-404D-AAB0-2F1826AF8760}" presName="sibTrans" presStyleCnt="0"/>
      <dgm:spPr/>
    </dgm:pt>
    <dgm:pt modelId="{F78F5AA6-EB16-493B-A210-C9F36799C6DA}" type="pres">
      <dgm:prSet presAssocID="{852BC276-5F83-4DD3-BC5E-426CABAC727C}" presName="node" presStyleLbl="node1" presStyleIdx="1" presStyleCnt="12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49085172-E4C5-402C-AC6C-5C43BC0DBAFA}" type="pres">
      <dgm:prSet presAssocID="{AB63DD86-9D58-4242-B0A4-0B2CB5D8116C}" presName="sibTrans" presStyleCnt="0"/>
      <dgm:spPr/>
    </dgm:pt>
    <dgm:pt modelId="{BE1C141B-BCAD-40E2-A501-31CECE6D09FE}" type="pres">
      <dgm:prSet presAssocID="{4ECC1492-1920-4689-A0A8-32ECCA51D2F3}" presName="node" presStyleLbl="node1" presStyleIdx="2" presStyleCnt="12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24D47942-9C6B-45FE-9E34-B205C2A408D4}" type="pres">
      <dgm:prSet presAssocID="{29F89B7B-8947-4703-A856-6751C019EA91}" presName="sibTrans" presStyleCnt="0"/>
      <dgm:spPr/>
    </dgm:pt>
    <dgm:pt modelId="{A225AADB-F9BA-4A22-A7AA-FE7A4EB9CCAA}" type="pres">
      <dgm:prSet presAssocID="{22DB0996-8BC7-4532-83EC-16495F084D19}" presName="node" presStyleLbl="node1" presStyleIdx="3" presStyleCnt="12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3FBA0CAD-91FA-4348-A2C1-846817493CFB}" type="pres">
      <dgm:prSet presAssocID="{D1D72183-3DC4-4245-AAFC-08D69A6A925C}" presName="sibTrans" presStyleCnt="0"/>
      <dgm:spPr/>
    </dgm:pt>
    <dgm:pt modelId="{4D5C76A7-8190-4EBF-A337-A7EDA4ECB1A0}" type="pres">
      <dgm:prSet presAssocID="{76F1979C-26D7-47C0-9999-740A5BBEB927}" presName="node" presStyleLbl="node1" presStyleIdx="4" presStyleCnt="12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FC05C8C6-12A0-41FB-89D9-4A27AEC8E3C7}" type="pres">
      <dgm:prSet presAssocID="{8DC78EA6-0A7E-4FD5-9A72-1ACA72BE736D}" presName="sibTrans" presStyleCnt="0"/>
      <dgm:spPr/>
    </dgm:pt>
    <dgm:pt modelId="{2990781B-02C5-454F-8463-C90C2C313A87}" type="pres">
      <dgm:prSet presAssocID="{3BA6C391-98AE-4143-9369-9D3895C0BF4A}" presName="node" presStyleLbl="node1" presStyleIdx="5" presStyleCnt="12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8233082C-5779-4D7A-9F15-FEA94F2A7691}" type="pres">
      <dgm:prSet presAssocID="{7CC085B2-93E9-47EB-A4FC-AE98974F2753}" presName="sibTrans" presStyleCnt="0"/>
      <dgm:spPr/>
    </dgm:pt>
    <dgm:pt modelId="{D01A47A2-429E-48FF-8CB5-CE765F5C6BBE}" type="pres">
      <dgm:prSet presAssocID="{9AE0FB88-16F5-4EC4-9C7E-242B44FCC51C}" presName="node" presStyleLbl="node1" presStyleIdx="6" presStyleCnt="12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F2B246D2-5E4E-4049-B013-6EDD9731F6A5}" type="pres">
      <dgm:prSet presAssocID="{7DF3D65A-082E-4746-B9EE-FE10C3ED4141}" presName="sibTrans" presStyleCnt="0"/>
      <dgm:spPr/>
    </dgm:pt>
    <dgm:pt modelId="{D9BF29D7-7FF8-4C0A-9EEF-FDBBA3943A85}" type="pres">
      <dgm:prSet presAssocID="{CCDCB5A2-76E7-43B1-881C-BB01743AA9C0}" presName="node" presStyleLbl="node1" presStyleIdx="7" presStyleCnt="12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19AFFF04-4A55-4D4E-91C6-5BCF7A8F4E1A}" type="pres">
      <dgm:prSet presAssocID="{B27581FE-9489-438A-A380-7E39F71F431B}" presName="sibTrans" presStyleCnt="0"/>
      <dgm:spPr/>
    </dgm:pt>
    <dgm:pt modelId="{E6F3118F-64ED-4214-845D-7D2A5788603E}" type="pres">
      <dgm:prSet presAssocID="{979446A8-8250-4310-8F61-A65493FF14F1}" presName="node" presStyleLbl="node1" presStyleIdx="8" presStyleCnt="12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85318015-4BBA-4553-B90B-9F7A7361D5D5}" type="pres">
      <dgm:prSet presAssocID="{4DC62783-A57B-4B91-9183-2F5BC1EA2920}" presName="sibTrans" presStyleCnt="0"/>
      <dgm:spPr/>
    </dgm:pt>
    <dgm:pt modelId="{84E88473-68A9-46D4-A3EC-A6E1A2A599CD}" type="pres">
      <dgm:prSet presAssocID="{782FC282-2011-4A7C-9CF6-DD1B82202EB1}" presName="node" presStyleLbl="node1" presStyleIdx="9" presStyleCnt="12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952E2376-030C-4AC3-A5E8-80EAF418265D}" type="pres">
      <dgm:prSet presAssocID="{2CFC416C-7B72-4797-9A12-F7F72B5B6D76}" presName="sibTrans" presStyleCnt="0"/>
      <dgm:spPr/>
    </dgm:pt>
    <dgm:pt modelId="{35C3300C-2548-41DB-BD53-45F6E9235414}" type="pres">
      <dgm:prSet presAssocID="{F65AD74F-9A85-4A55-ADDA-BEF919352F28}" presName="node" presStyleLbl="node1" presStyleIdx="10" presStyleCnt="12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0831083D-9215-426D-A95C-2FD5F3336405}" type="pres">
      <dgm:prSet presAssocID="{E76FBD8F-5867-456C-9823-2DED6C3D40FF}" presName="sibTrans" presStyleCnt="0"/>
      <dgm:spPr/>
    </dgm:pt>
    <dgm:pt modelId="{97F1E475-E5E7-4BE1-913B-5D160460838C}" type="pres">
      <dgm:prSet presAssocID="{56BDE7DB-5D98-4BE3-978B-3FCDBB7BD3AD}" presName="node" presStyleLbl="node1" presStyleIdx="11" presStyleCnt="12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</dgm:ptLst>
  <dgm:cxnLst>
    <dgm:cxn modelId="{C88DC855-B710-410B-A4C5-25796B501CE2}" srcId="{91FCC782-6D34-401B-8577-184DCFC37A24}" destId="{56BDE7DB-5D98-4BE3-978B-3FCDBB7BD3AD}" srcOrd="11" destOrd="0" parTransId="{F80A78CE-1F01-467E-A749-F585AD9645B2}" sibTransId="{311CDAFD-FEA2-47B9-95AF-2080E7F5F32B}"/>
    <dgm:cxn modelId="{456CD263-F346-4AC0-AC1A-BE07CB261E2A}" type="presOf" srcId="{CCDCB5A2-76E7-43B1-881C-BB01743AA9C0}" destId="{D9BF29D7-7FF8-4C0A-9EEF-FDBBA3943A85}" srcOrd="0" destOrd="0" presId="urn:microsoft.com/office/officeart/2005/8/layout/default"/>
    <dgm:cxn modelId="{DF251662-6167-4130-83C3-5886876C268C}" type="presOf" srcId="{0DC41BB4-1D35-4A1B-AD7F-82DB1DEC0F27}" destId="{933C700F-047F-429A-B007-8D4BF5909552}" srcOrd="0" destOrd="0" presId="urn:microsoft.com/office/officeart/2005/8/layout/default"/>
    <dgm:cxn modelId="{C736BF35-B2D3-4598-B150-8814CA32B8D7}" type="presOf" srcId="{76F1979C-26D7-47C0-9999-740A5BBEB927}" destId="{4D5C76A7-8190-4EBF-A337-A7EDA4ECB1A0}" srcOrd="0" destOrd="0" presId="urn:microsoft.com/office/officeart/2005/8/layout/default"/>
    <dgm:cxn modelId="{A6157C3D-83B5-43CA-B268-5F57C954C2A8}" srcId="{91FCC782-6D34-401B-8577-184DCFC37A24}" destId="{76F1979C-26D7-47C0-9999-740A5BBEB927}" srcOrd="4" destOrd="0" parTransId="{06C597F4-7205-4293-B501-BF18FE533D44}" sibTransId="{8DC78EA6-0A7E-4FD5-9A72-1ACA72BE736D}"/>
    <dgm:cxn modelId="{2E795B79-A306-4493-AAD4-BE00B4CDE04B}" type="presOf" srcId="{782FC282-2011-4A7C-9CF6-DD1B82202EB1}" destId="{84E88473-68A9-46D4-A3EC-A6E1A2A599CD}" srcOrd="0" destOrd="0" presId="urn:microsoft.com/office/officeart/2005/8/layout/default"/>
    <dgm:cxn modelId="{D347D598-E69D-436E-ADF8-E354BAB7D7A0}" srcId="{91FCC782-6D34-401B-8577-184DCFC37A24}" destId="{F65AD74F-9A85-4A55-ADDA-BEF919352F28}" srcOrd="10" destOrd="0" parTransId="{3CEAC329-2965-422F-A14A-DCE186F584C2}" sibTransId="{E76FBD8F-5867-456C-9823-2DED6C3D40FF}"/>
    <dgm:cxn modelId="{B218653F-6DA2-4697-803F-D9BAE1C10203}" srcId="{91FCC782-6D34-401B-8577-184DCFC37A24}" destId="{979446A8-8250-4310-8F61-A65493FF14F1}" srcOrd="8" destOrd="0" parTransId="{88B1C582-64D3-44D7-BF43-9FFAD088BDBC}" sibTransId="{4DC62783-A57B-4B91-9183-2F5BC1EA2920}"/>
    <dgm:cxn modelId="{3E09484F-77E7-4B9C-8503-6141F39FC5A3}" type="presOf" srcId="{3BA6C391-98AE-4143-9369-9D3895C0BF4A}" destId="{2990781B-02C5-454F-8463-C90C2C313A87}" srcOrd="0" destOrd="0" presId="urn:microsoft.com/office/officeart/2005/8/layout/default"/>
    <dgm:cxn modelId="{CB27878B-A03D-4C19-8D4E-48F5564E1170}" type="presOf" srcId="{F65AD74F-9A85-4A55-ADDA-BEF919352F28}" destId="{35C3300C-2548-41DB-BD53-45F6E9235414}" srcOrd="0" destOrd="0" presId="urn:microsoft.com/office/officeart/2005/8/layout/default"/>
    <dgm:cxn modelId="{2FC9D419-EE1E-4E6E-AEEE-FBD206E55F27}" srcId="{91FCC782-6D34-401B-8577-184DCFC37A24}" destId="{782FC282-2011-4A7C-9CF6-DD1B82202EB1}" srcOrd="9" destOrd="0" parTransId="{E04D80F4-6F9D-4D65-AB89-FCA1EEFA61C0}" sibTransId="{2CFC416C-7B72-4797-9A12-F7F72B5B6D76}"/>
    <dgm:cxn modelId="{56BEB4FE-90CD-4213-8FC5-A30A3C132845}" type="presOf" srcId="{22DB0996-8BC7-4532-83EC-16495F084D19}" destId="{A225AADB-F9BA-4A22-A7AA-FE7A4EB9CCAA}" srcOrd="0" destOrd="0" presId="urn:microsoft.com/office/officeart/2005/8/layout/default"/>
    <dgm:cxn modelId="{489BAFE6-980B-4966-B0CB-08DCAABF4812}" type="presOf" srcId="{56BDE7DB-5D98-4BE3-978B-3FCDBB7BD3AD}" destId="{97F1E475-E5E7-4BE1-913B-5D160460838C}" srcOrd="0" destOrd="0" presId="urn:microsoft.com/office/officeart/2005/8/layout/default"/>
    <dgm:cxn modelId="{51ECF8DF-3528-42C9-BAE6-5EC2460F5C68}" srcId="{91FCC782-6D34-401B-8577-184DCFC37A24}" destId="{9AE0FB88-16F5-4EC4-9C7E-242B44FCC51C}" srcOrd="6" destOrd="0" parTransId="{0ACD8F13-4595-424B-BC9A-5A58D6A8E4C2}" sibTransId="{7DF3D65A-082E-4746-B9EE-FE10C3ED4141}"/>
    <dgm:cxn modelId="{8AAF59E8-72EB-45AC-A211-43F8B4231D42}" srcId="{91FCC782-6D34-401B-8577-184DCFC37A24}" destId="{852BC276-5F83-4DD3-BC5E-426CABAC727C}" srcOrd="1" destOrd="0" parTransId="{31B52963-EC9F-4342-8011-3AE847E7B04F}" sibTransId="{AB63DD86-9D58-4242-B0A4-0B2CB5D8116C}"/>
    <dgm:cxn modelId="{D826DDA4-C71B-435F-AA05-84895E2B45E5}" type="presOf" srcId="{4ECC1492-1920-4689-A0A8-32ECCA51D2F3}" destId="{BE1C141B-BCAD-40E2-A501-31CECE6D09FE}" srcOrd="0" destOrd="0" presId="urn:microsoft.com/office/officeart/2005/8/layout/default"/>
    <dgm:cxn modelId="{0D3C6170-4C3C-474B-8407-5AED76C25205}" srcId="{91FCC782-6D34-401B-8577-184DCFC37A24}" destId="{22DB0996-8BC7-4532-83EC-16495F084D19}" srcOrd="3" destOrd="0" parTransId="{B45ECBC7-4274-4F2D-A2CE-4F452206C7B3}" sibTransId="{D1D72183-3DC4-4245-AAFC-08D69A6A925C}"/>
    <dgm:cxn modelId="{D01305C2-0A29-492E-AB32-BFC71DD0D809}" type="presOf" srcId="{91FCC782-6D34-401B-8577-184DCFC37A24}" destId="{8CB863D2-7E7C-44DB-9128-B16961FDF03F}" srcOrd="0" destOrd="0" presId="urn:microsoft.com/office/officeart/2005/8/layout/default"/>
    <dgm:cxn modelId="{F137630F-33A9-46C1-96E6-15CC3B59373A}" srcId="{91FCC782-6D34-401B-8577-184DCFC37A24}" destId="{3BA6C391-98AE-4143-9369-9D3895C0BF4A}" srcOrd="5" destOrd="0" parTransId="{5ED3B60C-C639-4F43-B936-C12AF045C3E1}" sibTransId="{7CC085B2-93E9-47EB-A4FC-AE98974F2753}"/>
    <dgm:cxn modelId="{A46299A8-DB07-4AD8-9994-48E2550365D8}" srcId="{91FCC782-6D34-401B-8577-184DCFC37A24}" destId="{CCDCB5A2-76E7-43B1-881C-BB01743AA9C0}" srcOrd="7" destOrd="0" parTransId="{B6E735BE-F38F-4436-967B-AA81159FE158}" sibTransId="{B27581FE-9489-438A-A380-7E39F71F431B}"/>
    <dgm:cxn modelId="{F31C9ADA-B763-487F-A548-C30FD58330C7}" srcId="{91FCC782-6D34-401B-8577-184DCFC37A24}" destId="{0DC41BB4-1D35-4A1B-AD7F-82DB1DEC0F27}" srcOrd="0" destOrd="0" parTransId="{A236E20E-48E3-4D8B-ADCD-C272349AC23B}" sibTransId="{FE541BFF-D842-404D-AAB0-2F1826AF8760}"/>
    <dgm:cxn modelId="{C75D57A4-CFC4-4EE5-AA7B-D2E28E949D13}" type="presOf" srcId="{979446A8-8250-4310-8F61-A65493FF14F1}" destId="{E6F3118F-64ED-4214-845D-7D2A5788603E}" srcOrd="0" destOrd="0" presId="urn:microsoft.com/office/officeart/2005/8/layout/default"/>
    <dgm:cxn modelId="{D29D0746-1F60-4186-9E04-2E8A288B53C4}" type="presOf" srcId="{852BC276-5F83-4DD3-BC5E-426CABAC727C}" destId="{F78F5AA6-EB16-493B-A210-C9F36799C6DA}" srcOrd="0" destOrd="0" presId="urn:microsoft.com/office/officeart/2005/8/layout/default"/>
    <dgm:cxn modelId="{6637D606-03EA-4978-AF2E-90A996E28368}" type="presOf" srcId="{9AE0FB88-16F5-4EC4-9C7E-242B44FCC51C}" destId="{D01A47A2-429E-48FF-8CB5-CE765F5C6BBE}" srcOrd="0" destOrd="0" presId="urn:microsoft.com/office/officeart/2005/8/layout/default"/>
    <dgm:cxn modelId="{23A2E6C2-69A2-444B-BCFC-D4E33CDE9AC8}" srcId="{91FCC782-6D34-401B-8577-184DCFC37A24}" destId="{4ECC1492-1920-4689-A0A8-32ECCA51D2F3}" srcOrd="2" destOrd="0" parTransId="{8916C5C7-F0F9-4B6C-A1FD-DD7C0008D7D9}" sibTransId="{29F89B7B-8947-4703-A856-6751C019EA91}"/>
    <dgm:cxn modelId="{C774E3C3-60C8-4470-BA7A-368ACEA73F0B}" type="presParOf" srcId="{8CB863D2-7E7C-44DB-9128-B16961FDF03F}" destId="{933C700F-047F-429A-B007-8D4BF5909552}" srcOrd="0" destOrd="0" presId="urn:microsoft.com/office/officeart/2005/8/layout/default"/>
    <dgm:cxn modelId="{40FD79E7-47AB-45DE-A05A-08A1D6F6B616}" type="presParOf" srcId="{8CB863D2-7E7C-44DB-9128-B16961FDF03F}" destId="{96EA5810-C973-46B4-B975-795B7F7CD60F}" srcOrd="1" destOrd="0" presId="urn:microsoft.com/office/officeart/2005/8/layout/default"/>
    <dgm:cxn modelId="{6B49FF3F-41C2-46CB-9A99-6D8996BD55D6}" type="presParOf" srcId="{8CB863D2-7E7C-44DB-9128-B16961FDF03F}" destId="{F78F5AA6-EB16-493B-A210-C9F36799C6DA}" srcOrd="2" destOrd="0" presId="urn:microsoft.com/office/officeart/2005/8/layout/default"/>
    <dgm:cxn modelId="{E3E20997-13A7-471A-98B4-FDF7A969A453}" type="presParOf" srcId="{8CB863D2-7E7C-44DB-9128-B16961FDF03F}" destId="{49085172-E4C5-402C-AC6C-5C43BC0DBAFA}" srcOrd="3" destOrd="0" presId="urn:microsoft.com/office/officeart/2005/8/layout/default"/>
    <dgm:cxn modelId="{DC6F2BB2-228D-44ED-8C1E-44D9BE595AC9}" type="presParOf" srcId="{8CB863D2-7E7C-44DB-9128-B16961FDF03F}" destId="{BE1C141B-BCAD-40E2-A501-31CECE6D09FE}" srcOrd="4" destOrd="0" presId="urn:microsoft.com/office/officeart/2005/8/layout/default"/>
    <dgm:cxn modelId="{DA227EDB-DCBE-4E87-BF91-85D2530ADE16}" type="presParOf" srcId="{8CB863D2-7E7C-44DB-9128-B16961FDF03F}" destId="{24D47942-9C6B-45FE-9E34-B205C2A408D4}" srcOrd="5" destOrd="0" presId="urn:microsoft.com/office/officeart/2005/8/layout/default"/>
    <dgm:cxn modelId="{9B3611F3-FE7F-436F-A7B5-73471551F264}" type="presParOf" srcId="{8CB863D2-7E7C-44DB-9128-B16961FDF03F}" destId="{A225AADB-F9BA-4A22-A7AA-FE7A4EB9CCAA}" srcOrd="6" destOrd="0" presId="urn:microsoft.com/office/officeart/2005/8/layout/default"/>
    <dgm:cxn modelId="{FF52EB5E-3E28-4CCB-A41D-66F70A4FAE42}" type="presParOf" srcId="{8CB863D2-7E7C-44DB-9128-B16961FDF03F}" destId="{3FBA0CAD-91FA-4348-A2C1-846817493CFB}" srcOrd="7" destOrd="0" presId="urn:microsoft.com/office/officeart/2005/8/layout/default"/>
    <dgm:cxn modelId="{E09B7F56-F7DB-42F4-BE39-425828DB078C}" type="presParOf" srcId="{8CB863D2-7E7C-44DB-9128-B16961FDF03F}" destId="{4D5C76A7-8190-4EBF-A337-A7EDA4ECB1A0}" srcOrd="8" destOrd="0" presId="urn:microsoft.com/office/officeart/2005/8/layout/default"/>
    <dgm:cxn modelId="{2B81E5D3-D703-4A6D-A73B-5D1FB8121C66}" type="presParOf" srcId="{8CB863D2-7E7C-44DB-9128-B16961FDF03F}" destId="{FC05C8C6-12A0-41FB-89D9-4A27AEC8E3C7}" srcOrd="9" destOrd="0" presId="urn:microsoft.com/office/officeart/2005/8/layout/default"/>
    <dgm:cxn modelId="{D3846AFB-0140-4F3C-B575-2EE76959A3DB}" type="presParOf" srcId="{8CB863D2-7E7C-44DB-9128-B16961FDF03F}" destId="{2990781B-02C5-454F-8463-C90C2C313A87}" srcOrd="10" destOrd="0" presId="urn:microsoft.com/office/officeart/2005/8/layout/default"/>
    <dgm:cxn modelId="{42FB77D7-2737-4928-A812-AA74F630A0D8}" type="presParOf" srcId="{8CB863D2-7E7C-44DB-9128-B16961FDF03F}" destId="{8233082C-5779-4D7A-9F15-FEA94F2A7691}" srcOrd="11" destOrd="0" presId="urn:microsoft.com/office/officeart/2005/8/layout/default"/>
    <dgm:cxn modelId="{5D0AF9AB-BBB7-4943-981F-09E7407709D6}" type="presParOf" srcId="{8CB863D2-7E7C-44DB-9128-B16961FDF03F}" destId="{D01A47A2-429E-48FF-8CB5-CE765F5C6BBE}" srcOrd="12" destOrd="0" presId="urn:microsoft.com/office/officeart/2005/8/layout/default"/>
    <dgm:cxn modelId="{5486F123-0CC6-4F81-8179-46A588C7CE2A}" type="presParOf" srcId="{8CB863D2-7E7C-44DB-9128-B16961FDF03F}" destId="{F2B246D2-5E4E-4049-B013-6EDD9731F6A5}" srcOrd="13" destOrd="0" presId="urn:microsoft.com/office/officeart/2005/8/layout/default"/>
    <dgm:cxn modelId="{51F77085-4234-48BF-B47A-D15E6AAE6BAB}" type="presParOf" srcId="{8CB863D2-7E7C-44DB-9128-B16961FDF03F}" destId="{D9BF29D7-7FF8-4C0A-9EEF-FDBBA3943A85}" srcOrd="14" destOrd="0" presId="urn:microsoft.com/office/officeart/2005/8/layout/default"/>
    <dgm:cxn modelId="{B8A66DEF-9610-4C93-8796-A768B9D53669}" type="presParOf" srcId="{8CB863D2-7E7C-44DB-9128-B16961FDF03F}" destId="{19AFFF04-4A55-4D4E-91C6-5BCF7A8F4E1A}" srcOrd="15" destOrd="0" presId="urn:microsoft.com/office/officeart/2005/8/layout/default"/>
    <dgm:cxn modelId="{EF5860C2-5739-4E7C-9599-60506C694F96}" type="presParOf" srcId="{8CB863D2-7E7C-44DB-9128-B16961FDF03F}" destId="{E6F3118F-64ED-4214-845D-7D2A5788603E}" srcOrd="16" destOrd="0" presId="urn:microsoft.com/office/officeart/2005/8/layout/default"/>
    <dgm:cxn modelId="{E0F8AACC-FD47-41B6-9F04-71AE301662ED}" type="presParOf" srcId="{8CB863D2-7E7C-44DB-9128-B16961FDF03F}" destId="{85318015-4BBA-4553-B90B-9F7A7361D5D5}" srcOrd="17" destOrd="0" presId="urn:microsoft.com/office/officeart/2005/8/layout/default"/>
    <dgm:cxn modelId="{3ACB69E1-F255-4ADA-B09F-D51A193F3DDF}" type="presParOf" srcId="{8CB863D2-7E7C-44DB-9128-B16961FDF03F}" destId="{84E88473-68A9-46D4-A3EC-A6E1A2A599CD}" srcOrd="18" destOrd="0" presId="urn:microsoft.com/office/officeart/2005/8/layout/default"/>
    <dgm:cxn modelId="{327A35A4-DE90-4272-8A81-4B3EBA49108A}" type="presParOf" srcId="{8CB863D2-7E7C-44DB-9128-B16961FDF03F}" destId="{952E2376-030C-4AC3-A5E8-80EAF418265D}" srcOrd="19" destOrd="0" presId="urn:microsoft.com/office/officeart/2005/8/layout/default"/>
    <dgm:cxn modelId="{40B24EFE-F449-4A7E-8EC7-1D49D444DE12}" type="presParOf" srcId="{8CB863D2-7E7C-44DB-9128-B16961FDF03F}" destId="{35C3300C-2548-41DB-BD53-45F6E9235414}" srcOrd="20" destOrd="0" presId="urn:microsoft.com/office/officeart/2005/8/layout/default"/>
    <dgm:cxn modelId="{EA521A7C-09D1-4E90-9C8A-781882A3CDEC}" type="presParOf" srcId="{8CB863D2-7E7C-44DB-9128-B16961FDF03F}" destId="{0831083D-9215-426D-A95C-2FD5F3336405}" srcOrd="21" destOrd="0" presId="urn:microsoft.com/office/officeart/2005/8/layout/default"/>
    <dgm:cxn modelId="{A22E1B51-B008-477F-B55B-AC1CA5632F42}" type="presParOf" srcId="{8CB863D2-7E7C-44DB-9128-B16961FDF03F}" destId="{97F1E475-E5E7-4BE1-913B-5D160460838C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60D35A-89D8-4DD1-A9FC-67E0994547E7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7A841EE1-5A2D-490E-BFF9-6BFD3D80FABD}">
      <dgm:prSet phldrT="[Szöveg]"/>
      <dgm:spPr/>
      <dgm:t>
        <a:bodyPr/>
        <a:lstStyle/>
        <a:p>
          <a:r>
            <a:rPr lang="hu-HU" cap="all" baseline="0" dirty="0">
              <a:latin typeface="Arial" panose="020B0604020202020204" pitchFamily="34" charset="0"/>
              <a:cs typeface="Arial" panose="020B0604020202020204" pitchFamily="34" charset="0"/>
            </a:rPr>
            <a:t>Szerzői jog</a:t>
          </a:r>
        </a:p>
      </dgm:t>
    </dgm:pt>
    <dgm:pt modelId="{C12B69F7-056A-4B3E-A3A4-74C0C113EAC8}" type="parTrans" cxnId="{CBBE4F25-25A8-42EA-9C1A-B6544D78E38B}">
      <dgm:prSet/>
      <dgm:spPr/>
      <dgm:t>
        <a:bodyPr/>
        <a:lstStyle/>
        <a:p>
          <a:endParaRPr lang="hu-HU"/>
        </a:p>
      </dgm:t>
    </dgm:pt>
    <dgm:pt modelId="{84A03CF3-831E-4CA9-BE6D-87F81B4B24E4}" type="sibTrans" cxnId="{CBBE4F25-25A8-42EA-9C1A-B6544D78E38B}">
      <dgm:prSet/>
      <dgm:spPr/>
      <dgm:t>
        <a:bodyPr/>
        <a:lstStyle/>
        <a:p>
          <a:endParaRPr lang="hu-HU"/>
        </a:p>
      </dgm:t>
    </dgm:pt>
    <dgm:pt modelId="{9AD0A7BA-4CD6-42F2-9818-CA18E62AE613}">
      <dgm:prSet phldrT="[Szöveg]"/>
      <dgm:spPr/>
      <dgm:t>
        <a:bodyPr/>
        <a:lstStyle/>
        <a:p>
          <a:r>
            <a:rPr lang="hu-HU" dirty="0"/>
            <a:t>Műszaki alkotások joga</a:t>
          </a:r>
        </a:p>
      </dgm:t>
    </dgm:pt>
    <dgm:pt modelId="{469C3295-073F-46E7-A212-0DD3719BF45C}" type="parTrans" cxnId="{8712EC78-702E-436E-ADF8-9C89583B6111}">
      <dgm:prSet/>
      <dgm:spPr/>
      <dgm:t>
        <a:bodyPr/>
        <a:lstStyle/>
        <a:p>
          <a:endParaRPr lang="hu-HU"/>
        </a:p>
      </dgm:t>
    </dgm:pt>
    <dgm:pt modelId="{AD3B0513-5255-492E-86F9-44DC67D44DA6}" type="sibTrans" cxnId="{8712EC78-702E-436E-ADF8-9C89583B6111}">
      <dgm:prSet/>
      <dgm:spPr/>
      <dgm:t>
        <a:bodyPr/>
        <a:lstStyle/>
        <a:p>
          <a:endParaRPr lang="hu-HU"/>
        </a:p>
      </dgm:t>
    </dgm:pt>
    <dgm:pt modelId="{236D52F6-D7E5-4697-A75B-D395512D206D}">
      <dgm:prSet phldrT="[Szöveg]"/>
      <dgm:spPr/>
      <dgm:t>
        <a:bodyPr/>
        <a:lstStyle/>
        <a:p>
          <a:r>
            <a:rPr lang="hu-HU" dirty="0"/>
            <a:t>Vállalat- és árujelzők joga</a:t>
          </a:r>
        </a:p>
      </dgm:t>
    </dgm:pt>
    <dgm:pt modelId="{862C1BAB-F1B3-4532-87A1-009989942337}" type="parTrans" cxnId="{08C23905-9054-4E92-97FE-399E319670F6}">
      <dgm:prSet/>
      <dgm:spPr/>
      <dgm:t>
        <a:bodyPr/>
        <a:lstStyle/>
        <a:p>
          <a:endParaRPr lang="hu-HU"/>
        </a:p>
      </dgm:t>
    </dgm:pt>
    <dgm:pt modelId="{B1390525-8EBD-4AEC-B305-BAD424626745}" type="sibTrans" cxnId="{08C23905-9054-4E92-97FE-399E319670F6}">
      <dgm:prSet/>
      <dgm:spPr/>
      <dgm:t>
        <a:bodyPr/>
        <a:lstStyle/>
        <a:p>
          <a:endParaRPr lang="hu-HU"/>
        </a:p>
      </dgm:t>
    </dgm:pt>
    <dgm:pt modelId="{54844C52-BEBE-494A-AC86-793BC3377B43}">
      <dgm:prSet phldrT="[Szöveg]"/>
      <dgm:spPr/>
      <dgm:t>
        <a:bodyPr/>
        <a:lstStyle/>
        <a:p>
          <a:r>
            <a:rPr lang="hu-HU" cap="all" baseline="0" dirty="0">
              <a:latin typeface="Arial" panose="020B0604020202020204" pitchFamily="34" charset="0"/>
              <a:cs typeface="Arial" panose="020B0604020202020204" pitchFamily="34" charset="0"/>
            </a:rPr>
            <a:t>Üzleti titokvédelem</a:t>
          </a:r>
        </a:p>
      </dgm:t>
    </dgm:pt>
    <dgm:pt modelId="{73EA3AE7-E1F6-4A3A-870B-347DCACE4DAB}" type="parTrans" cxnId="{F5B0355E-75F5-4546-BAEC-BC617EAB16C4}">
      <dgm:prSet/>
      <dgm:spPr/>
      <dgm:t>
        <a:bodyPr/>
        <a:lstStyle/>
        <a:p>
          <a:endParaRPr lang="hu-HU"/>
        </a:p>
      </dgm:t>
    </dgm:pt>
    <dgm:pt modelId="{1E1DF382-A09A-416F-8E1B-6F40F6146FFE}" type="sibTrans" cxnId="{F5B0355E-75F5-4546-BAEC-BC617EAB16C4}">
      <dgm:prSet/>
      <dgm:spPr/>
      <dgm:t>
        <a:bodyPr/>
        <a:lstStyle/>
        <a:p>
          <a:endParaRPr lang="hu-HU"/>
        </a:p>
      </dgm:t>
    </dgm:pt>
    <dgm:pt modelId="{CF9F51FE-B4C9-4A46-9E55-D68AFC12B1F5}">
      <dgm:prSet phldrT="[Szöveg]"/>
      <dgm:spPr/>
      <dgm:t>
        <a:bodyPr/>
        <a:lstStyle/>
        <a:p>
          <a:r>
            <a:rPr lang="hu-HU" dirty="0"/>
            <a:t>Know-how (védett ismeret)</a:t>
          </a:r>
        </a:p>
      </dgm:t>
    </dgm:pt>
    <dgm:pt modelId="{D35BAB17-4E2F-4C71-8284-042E2B38513E}" type="parTrans" cxnId="{40CE60DC-ECE3-4B26-8A3D-74662FD08B69}">
      <dgm:prSet/>
      <dgm:spPr/>
      <dgm:t>
        <a:bodyPr/>
        <a:lstStyle/>
        <a:p>
          <a:endParaRPr lang="hu-HU"/>
        </a:p>
      </dgm:t>
    </dgm:pt>
    <dgm:pt modelId="{6B9FDA23-FF71-4A91-B4D4-DEB5B5C976A9}" type="sibTrans" cxnId="{40CE60DC-ECE3-4B26-8A3D-74662FD08B69}">
      <dgm:prSet/>
      <dgm:spPr/>
      <dgm:t>
        <a:bodyPr/>
        <a:lstStyle/>
        <a:p>
          <a:endParaRPr lang="hu-HU"/>
        </a:p>
      </dgm:t>
    </dgm:pt>
    <dgm:pt modelId="{A303C92A-A94F-4613-99B9-E8A2CE408E50}">
      <dgm:prSet phldrT="[Szöveg]"/>
      <dgm:spPr/>
      <dgm:t>
        <a:bodyPr/>
        <a:lstStyle/>
        <a:p>
          <a:r>
            <a:rPr lang="hu-HU" cap="all" baseline="0" dirty="0">
              <a:latin typeface="Arial" panose="020B0604020202020204" pitchFamily="34" charset="0"/>
              <a:cs typeface="Arial" panose="020B0604020202020204" pitchFamily="34" charset="0"/>
            </a:rPr>
            <a:t>Iparjogvédelem</a:t>
          </a:r>
        </a:p>
      </dgm:t>
    </dgm:pt>
    <dgm:pt modelId="{0808CFB6-F728-4D86-86DC-1BACBE8BD6E2}" type="parTrans" cxnId="{97909D67-DD2E-4C13-98E9-924D27F6BA50}">
      <dgm:prSet/>
      <dgm:spPr/>
      <dgm:t>
        <a:bodyPr/>
        <a:lstStyle/>
        <a:p>
          <a:endParaRPr lang="hu-HU"/>
        </a:p>
      </dgm:t>
    </dgm:pt>
    <dgm:pt modelId="{F9AAAD3A-0256-43E5-A14F-F81BCA360974}" type="sibTrans" cxnId="{97909D67-DD2E-4C13-98E9-924D27F6BA50}">
      <dgm:prSet/>
      <dgm:spPr/>
      <dgm:t>
        <a:bodyPr/>
        <a:lstStyle/>
        <a:p>
          <a:endParaRPr lang="hu-HU"/>
        </a:p>
      </dgm:t>
    </dgm:pt>
    <dgm:pt modelId="{CC1A7B25-329F-4654-A4FD-50ED092606E6}">
      <dgm:prSet phldrT="[Szöveg]" custT="1"/>
      <dgm:spPr/>
      <dgm:t>
        <a:bodyPr/>
        <a:lstStyle/>
        <a:p>
          <a:r>
            <a:rPr lang="hu-HU" sz="2400" dirty="0">
              <a:latin typeface="Arial" panose="020B0604020202020204" pitchFamily="34" charset="0"/>
              <a:cs typeface="Arial" panose="020B0604020202020204" pitchFamily="34" charset="0"/>
            </a:rPr>
            <a:t>Szerzők joga</a:t>
          </a:r>
        </a:p>
      </dgm:t>
    </dgm:pt>
    <dgm:pt modelId="{4FBBF0CE-596A-4A0A-9D9A-7B881010AA7C}" type="parTrans" cxnId="{2FE15F47-BBDF-4415-84BE-6ADF433C5EB8}">
      <dgm:prSet/>
      <dgm:spPr/>
      <dgm:t>
        <a:bodyPr/>
        <a:lstStyle/>
        <a:p>
          <a:endParaRPr lang="hu-HU"/>
        </a:p>
      </dgm:t>
    </dgm:pt>
    <dgm:pt modelId="{30D64047-A67F-4F2D-9093-6DA1DAA47733}" type="sibTrans" cxnId="{2FE15F47-BBDF-4415-84BE-6ADF433C5EB8}">
      <dgm:prSet/>
      <dgm:spPr/>
      <dgm:t>
        <a:bodyPr/>
        <a:lstStyle/>
        <a:p>
          <a:endParaRPr lang="hu-HU"/>
        </a:p>
      </dgm:t>
    </dgm:pt>
    <dgm:pt modelId="{9540B1F8-8471-41F7-9110-9781A9D98017}">
      <dgm:prSet phldrT="[Szöveg]" custT="1"/>
      <dgm:spPr/>
      <dgm:t>
        <a:bodyPr/>
        <a:lstStyle/>
        <a:p>
          <a:pPr>
            <a:lnSpc>
              <a:spcPct val="100000"/>
            </a:lnSpc>
          </a:pPr>
          <a:r>
            <a:rPr lang="hu-HU" sz="2000" dirty="0"/>
            <a:t>Kapcsolódó és szomszédos jogok</a:t>
          </a:r>
        </a:p>
      </dgm:t>
    </dgm:pt>
    <dgm:pt modelId="{B01B530A-9C8E-4F79-A670-5E6F621BA6B6}" type="parTrans" cxnId="{66DBE986-5793-4F07-9303-7CFC76BA71F7}">
      <dgm:prSet/>
      <dgm:spPr/>
      <dgm:t>
        <a:bodyPr/>
        <a:lstStyle/>
        <a:p>
          <a:endParaRPr lang="hu-HU"/>
        </a:p>
      </dgm:t>
    </dgm:pt>
    <dgm:pt modelId="{616C0B69-B8E5-469A-B688-FBC3A01015CA}" type="sibTrans" cxnId="{66DBE986-5793-4F07-9303-7CFC76BA71F7}">
      <dgm:prSet/>
      <dgm:spPr/>
      <dgm:t>
        <a:bodyPr/>
        <a:lstStyle/>
        <a:p>
          <a:endParaRPr lang="hu-HU"/>
        </a:p>
      </dgm:t>
    </dgm:pt>
    <dgm:pt modelId="{1C209E00-DD18-4808-AFC5-E7A4BD3F94BF}" type="pres">
      <dgm:prSet presAssocID="{9960D35A-89D8-4DD1-A9FC-67E0994547E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hu-HU"/>
        </a:p>
      </dgm:t>
    </dgm:pt>
    <dgm:pt modelId="{A8D343D2-2FD9-41F6-9892-19BB94F4D23A}" type="pres">
      <dgm:prSet presAssocID="{7A841EE1-5A2D-490E-BFF9-6BFD3D80FABD}" presName="root" presStyleCnt="0"/>
      <dgm:spPr/>
    </dgm:pt>
    <dgm:pt modelId="{B4743E03-6271-4017-9052-DE5F993628EE}" type="pres">
      <dgm:prSet presAssocID="{7A841EE1-5A2D-490E-BFF9-6BFD3D80FABD}" presName="rootComposite" presStyleCnt="0"/>
      <dgm:spPr/>
    </dgm:pt>
    <dgm:pt modelId="{3ADD5BB2-F147-4BE6-A97E-696F303BDE0A}" type="pres">
      <dgm:prSet presAssocID="{7A841EE1-5A2D-490E-BFF9-6BFD3D80FABD}" presName="rootText" presStyleLbl="node1" presStyleIdx="0" presStyleCnt="3"/>
      <dgm:spPr/>
      <dgm:t>
        <a:bodyPr/>
        <a:lstStyle/>
        <a:p>
          <a:endParaRPr lang="hu-HU"/>
        </a:p>
      </dgm:t>
    </dgm:pt>
    <dgm:pt modelId="{7DFAB737-AB67-4E2D-868A-98575CCB3E30}" type="pres">
      <dgm:prSet presAssocID="{7A841EE1-5A2D-490E-BFF9-6BFD3D80FABD}" presName="rootConnector" presStyleLbl="node1" presStyleIdx="0" presStyleCnt="3"/>
      <dgm:spPr/>
      <dgm:t>
        <a:bodyPr/>
        <a:lstStyle/>
        <a:p>
          <a:endParaRPr lang="hu-HU"/>
        </a:p>
      </dgm:t>
    </dgm:pt>
    <dgm:pt modelId="{FF8E9AAF-49D7-410D-9CC5-AD5147EC08B2}" type="pres">
      <dgm:prSet presAssocID="{7A841EE1-5A2D-490E-BFF9-6BFD3D80FABD}" presName="childShape" presStyleCnt="0"/>
      <dgm:spPr/>
    </dgm:pt>
    <dgm:pt modelId="{CBA1F326-233A-4908-84F8-320439BFB6AD}" type="pres">
      <dgm:prSet presAssocID="{4FBBF0CE-596A-4A0A-9D9A-7B881010AA7C}" presName="Name13" presStyleLbl="parChTrans1D2" presStyleIdx="0" presStyleCnt="5"/>
      <dgm:spPr/>
      <dgm:t>
        <a:bodyPr/>
        <a:lstStyle/>
        <a:p>
          <a:endParaRPr lang="hu-HU"/>
        </a:p>
      </dgm:t>
    </dgm:pt>
    <dgm:pt modelId="{2A107C09-D7F9-4580-9DFC-3821EB1A0A4E}" type="pres">
      <dgm:prSet presAssocID="{CC1A7B25-329F-4654-A4FD-50ED092606E6}" presName="childText" presStyleLbl="bgAcc1" presStyleIdx="0" presStyleCnt="5" custScaleX="109746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2F6EECEA-8BDA-4486-AF1D-D8ADC9AD29ED}" type="pres">
      <dgm:prSet presAssocID="{B01B530A-9C8E-4F79-A670-5E6F621BA6B6}" presName="Name13" presStyleLbl="parChTrans1D2" presStyleIdx="1" presStyleCnt="5"/>
      <dgm:spPr/>
      <dgm:t>
        <a:bodyPr/>
        <a:lstStyle/>
        <a:p>
          <a:endParaRPr lang="hu-HU"/>
        </a:p>
      </dgm:t>
    </dgm:pt>
    <dgm:pt modelId="{340739EB-693E-4B8E-9D60-1CED0015C59D}" type="pres">
      <dgm:prSet presAssocID="{9540B1F8-8471-41F7-9110-9781A9D98017}" presName="childText" presStyleLbl="bgAcc1" presStyleIdx="1" presStyleCnt="5" custScaleX="123562" custScaleY="128738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3C808686-63A1-4690-AF47-AF7754DC1824}" type="pres">
      <dgm:prSet presAssocID="{A303C92A-A94F-4613-99B9-E8A2CE408E50}" presName="root" presStyleCnt="0"/>
      <dgm:spPr/>
    </dgm:pt>
    <dgm:pt modelId="{77DB48D5-183B-444A-B23F-BD3C9BEF70C5}" type="pres">
      <dgm:prSet presAssocID="{A303C92A-A94F-4613-99B9-E8A2CE408E50}" presName="rootComposite" presStyleCnt="0"/>
      <dgm:spPr/>
    </dgm:pt>
    <dgm:pt modelId="{7EB2146F-1244-4AEF-81D6-90C2E7A33BE9}" type="pres">
      <dgm:prSet presAssocID="{A303C92A-A94F-4613-99B9-E8A2CE408E50}" presName="rootText" presStyleLbl="node1" presStyleIdx="1" presStyleCnt="3"/>
      <dgm:spPr/>
      <dgm:t>
        <a:bodyPr/>
        <a:lstStyle/>
        <a:p>
          <a:endParaRPr lang="hu-HU"/>
        </a:p>
      </dgm:t>
    </dgm:pt>
    <dgm:pt modelId="{287A3655-D8D4-4841-87B2-F221FA9E0785}" type="pres">
      <dgm:prSet presAssocID="{A303C92A-A94F-4613-99B9-E8A2CE408E50}" presName="rootConnector" presStyleLbl="node1" presStyleIdx="1" presStyleCnt="3"/>
      <dgm:spPr/>
      <dgm:t>
        <a:bodyPr/>
        <a:lstStyle/>
        <a:p>
          <a:endParaRPr lang="hu-HU"/>
        </a:p>
      </dgm:t>
    </dgm:pt>
    <dgm:pt modelId="{B3E07953-42DA-4140-ADE6-0362483FD559}" type="pres">
      <dgm:prSet presAssocID="{A303C92A-A94F-4613-99B9-E8A2CE408E50}" presName="childShape" presStyleCnt="0"/>
      <dgm:spPr/>
    </dgm:pt>
    <dgm:pt modelId="{FC170AF0-8BCC-4901-AABE-16723A8A7BEC}" type="pres">
      <dgm:prSet presAssocID="{469C3295-073F-46E7-A212-0DD3719BF45C}" presName="Name13" presStyleLbl="parChTrans1D2" presStyleIdx="2" presStyleCnt="5"/>
      <dgm:spPr/>
      <dgm:t>
        <a:bodyPr/>
        <a:lstStyle/>
        <a:p>
          <a:endParaRPr lang="hu-HU"/>
        </a:p>
      </dgm:t>
    </dgm:pt>
    <dgm:pt modelId="{276A02C2-E46B-4E0C-9EBE-4A61CFAEAA1E}" type="pres">
      <dgm:prSet presAssocID="{9AD0A7BA-4CD6-42F2-9818-CA18E62AE613}" presName="childText" presStyleLbl="bgAcc1" presStyleIdx="2" presStyleCnt="5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1451DF56-2F9E-4CF1-993C-688CE6E5B7D2}" type="pres">
      <dgm:prSet presAssocID="{862C1BAB-F1B3-4532-87A1-009989942337}" presName="Name13" presStyleLbl="parChTrans1D2" presStyleIdx="3" presStyleCnt="5"/>
      <dgm:spPr/>
      <dgm:t>
        <a:bodyPr/>
        <a:lstStyle/>
        <a:p>
          <a:endParaRPr lang="hu-HU"/>
        </a:p>
      </dgm:t>
    </dgm:pt>
    <dgm:pt modelId="{5DECB47D-E845-4099-8DF0-DFF733AC05DC}" type="pres">
      <dgm:prSet presAssocID="{236D52F6-D7E5-4697-A75B-D395512D206D}" presName="childText" presStyleLbl="bgAcc1" presStyleIdx="3" presStyleCnt="5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0623A18B-36F7-43F7-8113-9FB7A6E5C2F5}" type="pres">
      <dgm:prSet presAssocID="{54844C52-BEBE-494A-AC86-793BC3377B43}" presName="root" presStyleCnt="0"/>
      <dgm:spPr/>
    </dgm:pt>
    <dgm:pt modelId="{595BC2FA-6235-4FEE-8904-9E860035DB9F}" type="pres">
      <dgm:prSet presAssocID="{54844C52-BEBE-494A-AC86-793BC3377B43}" presName="rootComposite" presStyleCnt="0"/>
      <dgm:spPr/>
    </dgm:pt>
    <dgm:pt modelId="{BAC8DF03-5EB5-463C-921B-E1D6D423C090}" type="pres">
      <dgm:prSet presAssocID="{54844C52-BEBE-494A-AC86-793BC3377B43}" presName="rootText" presStyleLbl="node1" presStyleIdx="2" presStyleCnt="3"/>
      <dgm:spPr/>
      <dgm:t>
        <a:bodyPr/>
        <a:lstStyle/>
        <a:p>
          <a:endParaRPr lang="hu-HU"/>
        </a:p>
      </dgm:t>
    </dgm:pt>
    <dgm:pt modelId="{ADDCB8D5-A382-4896-8C6E-D42C27C6C531}" type="pres">
      <dgm:prSet presAssocID="{54844C52-BEBE-494A-AC86-793BC3377B43}" presName="rootConnector" presStyleLbl="node1" presStyleIdx="2" presStyleCnt="3"/>
      <dgm:spPr/>
      <dgm:t>
        <a:bodyPr/>
        <a:lstStyle/>
        <a:p>
          <a:endParaRPr lang="hu-HU"/>
        </a:p>
      </dgm:t>
    </dgm:pt>
    <dgm:pt modelId="{A23ECCD8-3F92-4B44-9F81-896EA65A3ACA}" type="pres">
      <dgm:prSet presAssocID="{54844C52-BEBE-494A-AC86-793BC3377B43}" presName="childShape" presStyleCnt="0"/>
      <dgm:spPr/>
    </dgm:pt>
    <dgm:pt modelId="{A65E5187-664B-4AE6-A54C-64850BB78F89}" type="pres">
      <dgm:prSet presAssocID="{D35BAB17-4E2F-4C71-8284-042E2B38513E}" presName="Name13" presStyleLbl="parChTrans1D2" presStyleIdx="4" presStyleCnt="5"/>
      <dgm:spPr/>
      <dgm:t>
        <a:bodyPr/>
        <a:lstStyle/>
        <a:p>
          <a:endParaRPr lang="hu-HU"/>
        </a:p>
      </dgm:t>
    </dgm:pt>
    <dgm:pt modelId="{990C24A4-9B2D-430F-B227-19F5421EDBDF}" type="pres">
      <dgm:prSet presAssocID="{CF9F51FE-B4C9-4A46-9E55-D68AFC12B1F5}" presName="childText" presStyleLbl="bgAcc1" presStyleIdx="4" presStyleCnt="5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</dgm:ptLst>
  <dgm:cxnLst>
    <dgm:cxn modelId="{F5B0355E-75F5-4546-BAEC-BC617EAB16C4}" srcId="{9960D35A-89D8-4DD1-A9FC-67E0994547E7}" destId="{54844C52-BEBE-494A-AC86-793BC3377B43}" srcOrd="2" destOrd="0" parTransId="{73EA3AE7-E1F6-4A3A-870B-347DCACE4DAB}" sibTransId="{1E1DF382-A09A-416F-8E1B-6F40F6146FFE}"/>
    <dgm:cxn modelId="{A7C59287-50A8-405F-994D-772FA403D038}" type="presOf" srcId="{9960D35A-89D8-4DD1-A9FC-67E0994547E7}" destId="{1C209E00-DD18-4808-AFC5-E7A4BD3F94BF}" srcOrd="0" destOrd="0" presId="urn:microsoft.com/office/officeart/2005/8/layout/hierarchy3"/>
    <dgm:cxn modelId="{28962FBA-6642-4D7E-9BAD-E21C690C64CC}" type="presOf" srcId="{236D52F6-D7E5-4697-A75B-D395512D206D}" destId="{5DECB47D-E845-4099-8DF0-DFF733AC05DC}" srcOrd="0" destOrd="0" presId="urn:microsoft.com/office/officeart/2005/8/layout/hierarchy3"/>
    <dgm:cxn modelId="{D7DA2424-96E8-4B01-B148-89CF54B96E6E}" type="presOf" srcId="{54844C52-BEBE-494A-AC86-793BC3377B43}" destId="{BAC8DF03-5EB5-463C-921B-E1D6D423C090}" srcOrd="0" destOrd="0" presId="urn:microsoft.com/office/officeart/2005/8/layout/hierarchy3"/>
    <dgm:cxn modelId="{30C1812F-38B7-47BD-B1FA-23A4981EC0D3}" type="presOf" srcId="{862C1BAB-F1B3-4532-87A1-009989942337}" destId="{1451DF56-2F9E-4CF1-993C-688CE6E5B7D2}" srcOrd="0" destOrd="0" presId="urn:microsoft.com/office/officeart/2005/8/layout/hierarchy3"/>
    <dgm:cxn modelId="{8452E010-C73B-4AAC-B004-897C02A20029}" type="presOf" srcId="{D35BAB17-4E2F-4C71-8284-042E2B38513E}" destId="{A65E5187-664B-4AE6-A54C-64850BB78F89}" srcOrd="0" destOrd="0" presId="urn:microsoft.com/office/officeart/2005/8/layout/hierarchy3"/>
    <dgm:cxn modelId="{CBBE4F25-25A8-42EA-9C1A-B6544D78E38B}" srcId="{9960D35A-89D8-4DD1-A9FC-67E0994547E7}" destId="{7A841EE1-5A2D-490E-BFF9-6BFD3D80FABD}" srcOrd="0" destOrd="0" parTransId="{C12B69F7-056A-4B3E-A3A4-74C0C113EAC8}" sibTransId="{84A03CF3-831E-4CA9-BE6D-87F81B4B24E4}"/>
    <dgm:cxn modelId="{40CE60DC-ECE3-4B26-8A3D-74662FD08B69}" srcId="{54844C52-BEBE-494A-AC86-793BC3377B43}" destId="{CF9F51FE-B4C9-4A46-9E55-D68AFC12B1F5}" srcOrd="0" destOrd="0" parTransId="{D35BAB17-4E2F-4C71-8284-042E2B38513E}" sibTransId="{6B9FDA23-FF71-4A91-B4D4-DEB5B5C976A9}"/>
    <dgm:cxn modelId="{08C23905-9054-4E92-97FE-399E319670F6}" srcId="{A303C92A-A94F-4613-99B9-E8A2CE408E50}" destId="{236D52F6-D7E5-4697-A75B-D395512D206D}" srcOrd="1" destOrd="0" parTransId="{862C1BAB-F1B3-4532-87A1-009989942337}" sibTransId="{B1390525-8EBD-4AEC-B305-BAD424626745}"/>
    <dgm:cxn modelId="{B86360C0-5F60-449F-9740-0674BAF766D8}" type="presOf" srcId="{CC1A7B25-329F-4654-A4FD-50ED092606E6}" destId="{2A107C09-D7F9-4580-9DFC-3821EB1A0A4E}" srcOrd="0" destOrd="0" presId="urn:microsoft.com/office/officeart/2005/8/layout/hierarchy3"/>
    <dgm:cxn modelId="{D0B7B6F7-2B93-459E-AC7C-99DBE51980A8}" type="presOf" srcId="{CF9F51FE-B4C9-4A46-9E55-D68AFC12B1F5}" destId="{990C24A4-9B2D-430F-B227-19F5421EDBDF}" srcOrd="0" destOrd="0" presId="urn:microsoft.com/office/officeart/2005/8/layout/hierarchy3"/>
    <dgm:cxn modelId="{D15CDDD0-F65C-4A98-B8EC-84558925218A}" type="presOf" srcId="{469C3295-073F-46E7-A212-0DD3719BF45C}" destId="{FC170AF0-8BCC-4901-AABE-16723A8A7BEC}" srcOrd="0" destOrd="0" presId="urn:microsoft.com/office/officeart/2005/8/layout/hierarchy3"/>
    <dgm:cxn modelId="{2FE15F47-BBDF-4415-84BE-6ADF433C5EB8}" srcId="{7A841EE1-5A2D-490E-BFF9-6BFD3D80FABD}" destId="{CC1A7B25-329F-4654-A4FD-50ED092606E6}" srcOrd="0" destOrd="0" parTransId="{4FBBF0CE-596A-4A0A-9D9A-7B881010AA7C}" sibTransId="{30D64047-A67F-4F2D-9093-6DA1DAA47733}"/>
    <dgm:cxn modelId="{247F9D76-A69D-4157-A58A-D401CD4F8F46}" type="presOf" srcId="{9540B1F8-8471-41F7-9110-9781A9D98017}" destId="{340739EB-693E-4B8E-9D60-1CED0015C59D}" srcOrd="0" destOrd="0" presId="urn:microsoft.com/office/officeart/2005/8/layout/hierarchy3"/>
    <dgm:cxn modelId="{FA6A4E29-42CC-476B-B1C4-467CA9C01CEF}" type="presOf" srcId="{7A841EE1-5A2D-490E-BFF9-6BFD3D80FABD}" destId="{7DFAB737-AB67-4E2D-868A-98575CCB3E30}" srcOrd="1" destOrd="0" presId="urn:microsoft.com/office/officeart/2005/8/layout/hierarchy3"/>
    <dgm:cxn modelId="{66DBE986-5793-4F07-9303-7CFC76BA71F7}" srcId="{7A841EE1-5A2D-490E-BFF9-6BFD3D80FABD}" destId="{9540B1F8-8471-41F7-9110-9781A9D98017}" srcOrd="1" destOrd="0" parTransId="{B01B530A-9C8E-4F79-A670-5E6F621BA6B6}" sibTransId="{616C0B69-B8E5-469A-B688-FBC3A01015CA}"/>
    <dgm:cxn modelId="{8712EC78-702E-436E-ADF8-9C89583B6111}" srcId="{A303C92A-A94F-4613-99B9-E8A2CE408E50}" destId="{9AD0A7BA-4CD6-42F2-9818-CA18E62AE613}" srcOrd="0" destOrd="0" parTransId="{469C3295-073F-46E7-A212-0DD3719BF45C}" sibTransId="{AD3B0513-5255-492E-86F9-44DC67D44DA6}"/>
    <dgm:cxn modelId="{91ADB443-F852-4066-BDEE-B7F5FFEDAFC4}" type="presOf" srcId="{7A841EE1-5A2D-490E-BFF9-6BFD3D80FABD}" destId="{3ADD5BB2-F147-4BE6-A97E-696F303BDE0A}" srcOrd="0" destOrd="0" presId="urn:microsoft.com/office/officeart/2005/8/layout/hierarchy3"/>
    <dgm:cxn modelId="{C172F6A4-3F11-4FB3-9855-5768F08650D5}" type="presOf" srcId="{54844C52-BEBE-494A-AC86-793BC3377B43}" destId="{ADDCB8D5-A382-4896-8C6E-D42C27C6C531}" srcOrd="1" destOrd="0" presId="urn:microsoft.com/office/officeart/2005/8/layout/hierarchy3"/>
    <dgm:cxn modelId="{F153F316-A905-4797-94A6-6A944E7C162D}" type="presOf" srcId="{A303C92A-A94F-4613-99B9-E8A2CE408E50}" destId="{287A3655-D8D4-4841-87B2-F221FA9E0785}" srcOrd="1" destOrd="0" presId="urn:microsoft.com/office/officeart/2005/8/layout/hierarchy3"/>
    <dgm:cxn modelId="{C75F7214-B492-4B18-83DB-7AE5A396ED0F}" type="presOf" srcId="{4FBBF0CE-596A-4A0A-9D9A-7B881010AA7C}" destId="{CBA1F326-233A-4908-84F8-320439BFB6AD}" srcOrd="0" destOrd="0" presId="urn:microsoft.com/office/officeart/2005/8/layout/hierarchy3"/>
    <dgm:cxn modelId="{02FC3A28-306B-40FA-8EC8-3450ADEC0D88}" type="presOf" srcId="{B01B530A-9C8E-4F79-A670-5E6F621BA6B6}" destId="{2F6EECEA-8BDA-4486-AF1D-D8ADC9AD29ED}" srcOrd="0" destOrd="0" presId="urn:microsoft.com/office/officeart/2005/8/layout/hierarchy3"/>
    <dgm:cxn modelId="{97909D67-DD2E-4C13-98E9-924D27F6BA50}" srcId="{9960D35A-89D8-4DD1-A9FC-67E0994547E7}" destId="{A303C92A-A94F-4613-99B9-E8A2CE408E50}" srcOrd="1" destOrd="0" parTransId="{0808CFB6-F728-4D86-86DC-1BACBE8BD6E2}" sibTransId="{F9AAAD3A-0256-43E5-A14F-F81BCA360974}"/>
    <dgm:cxn modelId="{25B47C4B-FE9B-49B3-BEA1-C84D4CF77D70}" type="presOf" srcId="{9AD0A7BA-4CD6-42F2-9818-CA18E62AE613}" destId="{276A02C2-E46B-4E0C-9EBE-4A61CFAEAA1E}" srcOrd="0" destOrd="0" presId="urn:microsoft.com/office/officeart/2005/8/layout/hierarchy3"/>
    <dgm:cxn modelId="{87887A05-5EA3-482C-9140-91C35C4A74F2}" type="presOf" srcId="{A303C92A-A94F-4613-99B9-E8A2CE408E50}" destId="{7EB2146F-1244-4AEF-81D6-90C2E7A33BE9}" srcOrd="0" destOrd="0" presId="urn:microsoft.com/office/officeart/2005/8/layout/hierarchy3"/>
    <dgm:cxn modelId="{BDB2C71D-4404-4D8C-814F-A6836448095C}" type="presParOf" srcId="{1C209E00-DD18-4808-AFC5-E7A4BD3F94BF}" destId="{A8D343D2-2FD9-41F6-9892-19BB94F4D23A}" srcOrd="0" destOrd="0" presId="urn:microsoft.com/office/officeart/2005/8/layout/hierarchy3"/>
    <dgm:cxn modelId="{B0AB7506-E1BE-4238-B376-9B667F393824}" type="presParOf" srcId="{A8D343D2-2FD9-41F6-9892-19BB94F4D23A}" destId="{B4743E03-6271-4017-9052-DE5F993628EE}" srcOrd="0" destOrd="0" presId="urn:microsoft.com/office/officeart/2005/8/layout/hierarchy3"/>
    <dgm:cxn modelId="{C32AA427-C9AB-4CC5-A963-FBD9BB7E3232}" type="presParOf" srcId="{B4743E03-6271-4017-9052-DE5F993628EE}" destId="{3ADD5BB2-F147-4BE6-A97E-696F303BDE0A}" srcOrd="0" destOrd="0" presId="urn:microsoft.com/office/officeart/2005/8/layout/hierarchy3"/>
    <dgm:cxn modelId="{084B9F1E-A9A6-4F3C-8D4A-9E59051FBB15}" type="presParOf" srcId="{B4743E03-6271-4017-9052-DE5F993628EE}" destId="{7DFAB737-AB67-4E2D-868A-98575CCB3E30}" srcOrd="1" destOrd="0" presId="urn:microsoft.com/office/officeart/2005/8/layout/hierarchy3"/>
    <dgm:cxn modelId="{D13CCB32-11D8-4DD8-B016-4CBAEC55D5B9}" type="presParOf" srcId="{A8D343D2-2FD9-41F6-9892-19BB94F4D23A}" destId="{FF8E9AAF-49D7-410D-9CC5-AD5147EC08B2}" srcOrd="1" destOrd="0" presId="urn:microsoft.com/office/officeart/2005/8/layout/hierarchy3"/>
    <dgm:cxn modelId="{C4BDA3ED-2006-4898-AA84-2D9C5F4181AF}" type="presParOf" srcId="{FF8E9AAF-49D7-410D-9CC5-AD5147EC08B2}" destId="{CBA1F326-233A-4908-84F8-320439BFB6AD}" srcOrd="0" destOrd="0" presId="urn:microsoft.com/office/officeart/2005/8/layout/hierarchy3"/>
    <dgm:cxn modelId="{C81D835C-9197-4EE5-8EBC-A3ACC573A6A4}" type="presParOf" srcId="{FF8E9AAF-49D7-410D-9CC5-AD5147EC08B2}" destId="{2A107C09-D7F9-4580-9DFC-3821EB1A0A4E}" srcOrd="1" destOrd="0" presId="urn:microsoft.com/office/officeart/2005/8/layout/hierarchy3"/>
    <dgm:cxn modelId="{870874A0-A29C-41CB-A7FC-E761FFA53BE6}" type="presParOf" srcId="{FF8E9AAF-49D7-410D-9CC5-AD5147EC08B2}" destId="{2F6EECEA-8BDA-4486-AF1D-D8ADC9AD29ED}" srcOrd="2" destOrd="0" presId="urn:microsoft.com/office/officeart/2005/8/layout/hierarchy3"/>
    <dgm:cxn modelId="{5C68184E-D032-44DB-8452-B9B53CB2B66D}" type="presParOf" srcId="{FF8E9AAF-49D7-410D-9CC5-AD5147EC08B2}" destId="{340739EB-693E-4B8E-9D60-1CED0015C59D}" srcOrd="3" destOrd="0" presId="urn:microsoft.com/office/officeart/2005/8/layout/hierarchy3"/>
    <dgm:cxn modelId="{A0A7641B-9B27-4F54-8A7D-0C98B65CDD71}" type="presParOf" srcId="{1C209E00-DD18-4808-AFC5-E7A4BD3F94BF}" destId="{3C808686-63A1-4690-AF47-AF7754DC1824}" srcOrd="1" destOrd="0" presId="urn:microsoft.com/office/officeart/2005/8/layout/hierarchy3"/>
    <dgm:cxn modelId="{470E43E2-4E16-4951-907F-56E248376E4B}" type="presParOf" srcId="{3C808686-63A1-4690-AF47-AF7754DC1824}" destId="{77DB48D5-183B-444A-B23F-BD3C9BEF70C5}" srcOrd="0" destOrd="0" presId="urn:microsoft.com/office/officeart/2005/8/layout/hierarchy3"/>
    <dgm:cxn modelId="{9B3214E0-3058-49F2-BD8F-E04D15DCF576}" type="presParOf" srcId="{77DB48D5-183B-444A-B23F-BD3C9BEF70C5}" destId="{7EB2146F-1244-4AEF-81D6-90C2E7A33BE9}" srcOrd="0" destOrd="0" presId="urn:microsoft.com/office/officeart/2005/8/layout/hierarchy3"/>
    <dgm:cxn modelId="{49D3F72B-741E-4108-981D-4EF1DBB5B106}" type="presParOf" srcId="{77DB48D5-183B-444A-B23F-BD3C9BEF70C5}" destId="{287A3655-D8D4-4841-87B2-F221FA9E0785}" srcOrd="1" destOrd="0" presId="urn:microsoft.com/office/officeart/2005/8/layout/hierarchy3"/>
    <dgm:cxn modelId="{ADEFCECD-4B2D-40C2-BA2B-DB02170491F5}" type="presParOf" srcId="{3C808686-63A1-4690-AF47-AF7754DC1824}" destId="{B3E07953-42DA-4140-ADE6-0362483FD559}" srcOrd="1" destOrd="0" presId="urn:microsoft.com/office/officeart/2005/8/layout/hierarchy3"/>
    <dgm:cxn modelId="{A3EA29A6-2AF6-4D46-9AD1-BBDE7422BF15}" type="presParOf" srcId="{B3E07953-42DA-4140-ADE6-0362483FD559}" destId="{FC170AF0-8BCC-4901-AABE-16723A8A7BEC}" srcOrd="0" destOrd="0" presId="urn:microsoft.com/office/officeart/2005/8/layout/hierarchy3"/>
    <dgm:cxn modelId="{64B0880A-1FE1-43B1-9D71-13D5EE0DB3C5}" type="presParOf" srcId="{B3E07953-42DA-4140-ADE6-0362483FD559}" destId="{276A02C2-E46B-4E0C-9EBE-4A61CFAEAA1E}" srcOrd="1" destOrd="0" presId="urn:microsoft.com/office/officeart/2005/8/layout/hierarchy3"/>
    <dgm:cxn modelId="{12853AEB-069A-4850-9C8A-9720BCA2E7F3}" type="presParOf" srcId="{B3E07953-42DA-4140-ADE6-0362483FD559}" destId="{1451DF56-2F9E-4CF1-993C-688CE6E5B7D2}" srcOrd="2" destOrd="0" presId="urn:microsoft.com/office/officeart/2005/8/layout/hierarchy3"/>
    <dgm:cxn modelId="{532B1FE4-0F18-4912-ABB2-D224225D7AFA}" type="presParOf" srcId="{B3E07953-42DA-4140-ADE6-0362483FD559}" destId="{5DECB47D-E845-4099-8DF0-DFF733AC05DC}" srcOrd="3" destOrd="0" presId="urn:microsoft.com/office/officeart/2005/8/layout/hierarchy3"/>
    <dgm:cxn modelId="{B01CC2DD-1827-430A-85D3-60F13F37DF38}" type="presParOf" srcId="{1C209E00-DD18-4808-AFC5-E7A4BD3F94BF}" destId="{0623A18B-36F7-43F7-8113-9FB7A6E5C2F5}" srcOrd="2" destOrd="0" presId="urn:microsoft.com/office/officeart/2005/8/layout/hierarchy3"/>
    <dgm:cxn modelId="{380C2CF2-6959-4AB1-A3FD-D9D967D936B6}" type="presParOf" srcId="{0623A18B-36F7-43F7-8113-9FB7A6E5C2F5}" destId="{595BC2FA-6235-4FEE-8904-9E860035DB9F}" srcOrd="0" destOrd="0" presId="urn:microsoft.com/office/officeart/2005/8/layout/hierarchy3"/>
    <dgm:cxn modelId="{4B02A38F-22D4-41CA-AB76-DB1758C302C8}" type="presParOf" srcId="{595BC2FA-6235-4FEE-8904-9E860035DB9F}" destId="{BAC8DF03-5EB5-463C-921B-E1D6D423C090}" srcOrd="0" destOrd="0" presId="urn:microsoft.com/office/officeart/2005/8/layout/hierarchy3"/>
    <dgm:cxn modelId="{260984F7-C408-43BA-B430-04BEEF2DE5BB}" type="presParOf" srcId="{595BC2FA-6235-4FEE-8904-9E860035DB9F}" destId="{ADDCB8D5-A382-4896-8C6E-D42C27C6C531}" srcOrd="1" destOrd="0" presId="urn:microsoft.com/office/officeart/2005/8/layout/hierarchy3"/>
    <dgm:cxn modelId="{BE5F381F-5690-4D37-908A-EDA93F504E32}" type="presParOf" srcId="{0623A18B-36F7-43F7-8113-9FB7A6E5C2F5}" destId="{A23ECCD8-3F92-4B44-9F81-896EA65A3ACA}" srcOrd="1" destOrd="0" presId="urn:microsoft.com/office/officeart/2005/8/layout/hierarchy3"/>
    <dgm:cxn modelId="{43DD4549-8354-412F-8904-6743436F1F38}" type="presParOf" srcId="{A23ECCD8-3F92-4B44-9F81-896EA65A3ACA}" destId="{A65E5187-664B-4AE6-A54C-64850BB78F89}" srcOrd="0" destOrd="0" presId="urn:microsoft.com/office/officeart/2005/8/layout/hierarchy3"/>
    <dgm:cxn modelId="{AE46A4F5-4D91-4E2D-BCBF-4E83B6540697}" type="presParOf" srcId="{A23ECCD8-3F92-4B44-9F81-896EA65A3ACA}" destId="{990C24A4-9B2D-430F-B227-19F5421EDBDF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B6E434-2209-4C7C-A95C-3BF40BDC869C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hu-HU"/>
        </a:p>
      </dgm:t>
    </dgm:pt>
    <dgm:pt modelId="{F0D77795-EE3A-42E7-8B00-D11B11CF3C89}">
      <dgm:prSet phldrT="[Szöveg]"/>
      <dgm:spPr/>
      <dgm:t>
        <a:bodyPr/>
        <a:lstStyle/>
        <a:p>
          <a:r>
            <a:rPr lang="hu-HU" noProof="0" dirty="0">
              <a:latin typeface="Arial" panose="020B0604020202020204" pitchFamily="34" charset="0"/>
              <a:cs typeface="Arial" panose="020B0604020202020204" pitchFamily="34" charset="0"/>
            </a:rPr>
            <a:t>Védett lehet</a:t>
          </a:r>
          <a:endParaRPr lang="en-US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4675BDA-5CB9-4D26-A479-A626DD08B773}" type="parTrans" cxnId="{C0F3B1E4-0AB4-4693-A3F1-DC2E4B2227CD}">
      <dgm:prSet/>
      <dgm:spPr/>
      <dgm:t>
        <a:bodyPr/>
        <a:lstStyle/>
        <a:p>
          <a:endParaRPr lang="en-US" noProof="0" dirty="0"/>
        </a:p>
      </dgm:t>
    </dgm:pt>
    <dgm:pt modelId="{E6FFB4C9-C28E-40D4-8828-1B5A0E4E6B73}" type="sibTrans" cxnId="{C0F3B1E4-0AB4-4693-A3F1-DC2E4B2227CD}">
      <dgm:prSet/>
      <dgm:spPr/>
      <dgm:t>
        <a:bodyPr/>
        <a:lstStyle/>
        <a:p>
          <a:endParaRPr lang="en-US" noProof="0" dirty="0"/>
        </a:p>
      </dgm:t>
    </dgm:pt>
    <dgm:pt modelId="{664C1C65-884A-4BF3-A776-042AFDB77F30}">
      <dgm:prSet phldrT="[Szöveg]"/>
      <dgm:spPr/>
      <dgm:t>
        <a:bodyPr/>
        <a:lstStyle/>
        <a:p>
          <a:pPr algn="just">
            <a:buFont typeface="Wingdings" panose="05000000000000000000" pitchFamily="2" charset="2"/>
            <a:buChar char="ü"/>
          </a:pPr>
          <a:r>
            <a:rPr lang="en-US" noProof="0" dirty="0">
              <a:latin typeface="Arial" panose="020B0604020202020204" pitchFamily="34" charset="0"/>
              <a:cs typeface="Arial" panose="020B0604020202020204" pitchFamily="34" charset="0"/>
            </a:rPr>
            <a:t>Web</a:t>
          </a:r>
          <a:r>
            <a:rPr lang="hu-HU" noProof="0" dirty="0">
              <a:latin typeface="Arial" panose="020B0604020202020204" pitchFamily="34" charset="0"/>
              <a:cs typeface="Arial" panose="020B0604020202020204" pitchFamily="34" charset="0"/>
            </a:rPr>
            <a:t>oldal</a:t>
          </a:r>
          <a:endParaRPr lang="en-US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3635D85-DBC4-4A3B-9561-C2057C0FFDDE}" type="parTrans" cxnId="{CB3010C5-9F87-4C2C-8DD5-E15D3FF80728}">
      <dgm:prSet/>
      <dgm:spPr/>
      <dgm:t>
        <a:bodyPr/>
        <a:lstStyle/>
        <a:p>
          <a:endParaRPr lang="en-US" noProof="0" dirty="0"/>
        </a:p>
      </dgm:t>
    </dgm:pt>
    <dgm:pt modelId="{1772CAD0-D1A4-4E96-8BE3-AAB4F1BB0537}" type="sibTrans" cxnId="{CB3010C5-9F87-4C2C-8DD5-E15D3FF80728}">
      <dgm:prSet/>
      <dgm:spPr/>
      <dgm:t>
        <a:bodyPr/>
        <a:lstStyle/>
        <a:p>
          <a:endParaRPr lang="en-US" noProof="0" dirty="0"/>
        </a:p>
      </dgm:t>
    </dgm:pt>
    <dgm:pt modelId="{98061D0E-C214-4E5D-995E-CB1D7773DDAC}">
      <dgm:prSet phldrT="[Szöveg]"/>
      <dgm:spPr/>
      <dgm:t>
        <a:bodyPr/>
        <a:lstStyle/>
        <a:p>
          <a:r>
            <a:rPr lang="hu-HU" noProof="0" dirty="0" smtClean="0">
              <a:latin typeface="Arial" panose="020B0604020202020204" pitchFamily="34" charset="0"/>
              <a:cs typeface="Arial" panose="020B0604020202020204" pitchFamily="34" charset="0"/>
            </a:rPr>
            <a:t>NEM VÉDETT</a:t>
          </a:r>
          <a:endParaRPr lang="en-US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1375D4-26CC-4429-A92B-926C53C7475C}" type="parTrans" cxnId="{1AE19468-0AFC-43B9-9FA8-58A70431DCA5}">
      <dgm:prSet/>
      <dgm:spPr/>
      <dgm:t>
        <a:bodyPr/>
        <a:lstStyle/>
        <a:p>
          <a:endParaRPr lang="en-US" noProof="0" dirty="0"/>
        </a:p>
      </dgm:t>
    </dgm:pt>
    <dgm:pt modelId="{7F6DA9EC-FA9A-488C-BB64-1B3DD55FD273}" type="sibTrans" cxnId="{1AE19468-0AFC-43B9-9FA8-58A70431DCA5}">
      <dgm:prSet/>
      <dgm:spPr/>
      <dgm:t>
        <a:bodyPr/>
        <a:lstStyle/>
        <a:p>
          <a:endParaRPr lang="en-US" noProof="0" dirty="0"/>
        </a:p>
      </dgm:t>
    </dgm:pt>
    <dgm:pt modelId="{26139B59-AB2A-479B-BB75-8AB4A4CE21B2}">
      <dgm:prSet/>
      <dgm:spPr/>
      <dgm:t>
        <a:bodyPr/>
        <a:lstStyle/>
        <a:p>
          <a:pPr algn="l">
            <a:buFont typeface="Wingdings" panose="05000000000000000000" pitchFamily="2" charset="2"/>
            <a:buChar char="ü"/>
          </a:pPr>
          <a:r>
            <a:rPr lang="hu-HU" noProof="0" dirty="0">
              <a:latin typeface="Arial" panose="020B0604020202020204" pitchFamily="34" charset="0"/>
              <a:cs typeface="Arial" panose="020B0604020202020204" pitchFamily="34" charset="0"/>
            </a:rPr>
            <a:t>Grafikus felhasználói felület</a:t>
          </a:r>
          <a:r>
            <a:rPr lang="en-US" noProof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gm:t>
    </dgm:pt>
    <dgm:pt modelId="{4662CF17-E297-486C-814F-14A60AD2D712}" type="parTrans" cxnId="{EA39F67B-DA72-47B1-A725-B82AC1DC91ED}">
      <dgm:prSet/>
      <dgm:spPr/>
      <dgm:t>
        <a:bodyPr/>
        <a:lstStyle/>
        <a:p>
          <a:endParaRPr lang="en-US" noProof="0" dirty="0"/>
        </a:p>
      </dgm:t>
    </dgm:pt>
    <dgm:pt modelId="{F1673383-9BA9-4271-BD77-F4DBD8843424}" type="sibTrans" cxnId="{EA39F67B-DA72-47B1-A725-B82AC1DC91ED}">
      <dgm:prSet/>
      <dgm:spPr/>
      <dgm:t>
        <a:bodyPr/>
        <a:lstStyle/>
        <a:p>
          <a:endParaRPr lang="en-US" noProof="0" dirty="0"/>
        </a:p>
      </dgm:t>
    </dgm:pt>
    <dgm:pt modelId="{6484C537-102B-4B91-A7A9-D1B687961A62}">
      <dgm:prSet/>
      <dgm:spPr/>
      <dgm:t>
        <a:bodyPr/>
        <a:lstStyle/>
        <a:p>
          <a:pPr algn="just">
            <a:buFont typeface="Wingdings" panose="05000000000000000000" pitchFamily="2" charset="2"/>
            <a:buChar char="ü"/>
          </a:pPr>
          <a:r>
            <a:rPr lang="hu-HU" noProof="0" dirty="0">
              <a:latin typeface="Arial" panose="020B0604020202020204" pitchFamily="34" charset="0"/>
              <a:cs typeface="Arial" panose="020B0604020202020204" pitchFamily="34" charset="0"/>
            </a:rPr>
            <a:t>Utcai művészet</a:t>
          </a:r>
          <a:r>
            <a:rPr lang="en-US" noProof="0" dirty="0">
              <a:latin typeface="Arial" panose="020B0604020202020204" pitchFamily="34" charset="0"/>
              <a:cs typeface="Arial" panose="020B0604020202020204" pitchFamily="34" charset="0"/>
            </a:rPr>
            <a:t> (graffiti)</a:t>
          </a:r>
        </a:p>
      </dgm:t>
    </dgm:pt>
    <dgm:pt modelId="{29E03218-5D12-4A41-B83E-45CF0F0BDC07}" type="parTrans" cxnId="{C5D7F29C-E75B-4293-8022-233AC45608B4}">
      <dgm:prSet/>
      <dgm:spPr/>
      <dgm:t>
        <a:bodyPr/>
        <a:lstStyle/>
        <a:p>
          <a:endParaRPr lang="en-US" noProof="0" dirty="0"/>
        </a:p>
      </dgm:t>
    </dgm:pt>
    <dgm:pt modelId="{4BBF0319-60F0-4802-951C-143964BC7822}" type="sibTrans" cxnId="{C5D7F29C-E75B-4293-8022-233AC45608B4}">
      <dgm:prSet/>
      <dgm:spPr/>
      <dgm:t>
        <a:bodyPr/>
        <a:lstStyle/>
        <a:p>
          <a:endParaRPr lang="en-US" noProof="0" dirty="0"/>
        </a:p>
      </dgm:t>
    </dgm:pt>
    <dgm:pt modelId="{D62CD4AD-6052-496E-A285-BE71E15A7604}">
      <dgm:prSet phldrT="[Szöveg]"/>
      <dgm:spPr/>
      <dgm:t>
        <a:bodyPr/>
        <a:lstStyle/>
        <a:p>
          <a:pPr algn="just">
            <a:buFontTx/>
            <a:buChar char="−"/>
          </a:pPr>
          <a:r>
            <a:rPr lang="hu-HU" sz="2600" noProof="0" dirty="0" smtClean="0">
              <a:latin typeface="Arial" panose="020B0604020202020204" pitchFamily="34" charset="0"/>
              <a:cs typeface="Arial" panose="020B0604020202020204" pitchFamily="34" charset="0"/>
            </a:rPr>
            <a:t>Sajt</a:t>
          </a:r>
          <a:endParaRPr lang="en-US" sz="2600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722FD3-6C97-454A-A7CB-F972DE24D140}" type="parTrans" cxnId="{1B4D370F-84C3-4DB6-B5E4-78382AB348CB}">
      <dgm:prSet/>
      <dgm:spPr/>
      <dgm:t>
        <a:bodyPr/>
        <a:lstStyle/>
        <a:p>
          <a:endParaRPr lang="en-US" noProof="0" dirty="0"/>
        </a:p>
      </dgm:t>
    </dgm:pt>
    <dgm:pt modelId="{C0EDB470-AF3D-4757-AE86-D03004A98D2A}" type="sibTrans" cxnId="{1B4D370F-84C3-4DB6-B5E4-78382AB348CB}">
      <dgm:prSet/>
      <dgm:spPr/>
      <dgm:t>
        <a:bodyPr/>
        <a:lstStyle/>
        <a:p>
          <a:endParaRPr lang="en-US" noProof="0" dirty="0"/>
        </a:p>
      </dgm:t>
    </dgm:pt>
    <dgm:pt modelId="{35C55EFC-E734-4C55-AD41-0722E8E7DA28}">
      <dgm:prSet/>
      <dgm:spPr/>
      <dgm:t>
        <a:bodyPr/>
        <a:lstStyle/>
        <a:p>
          <a:pPr algn="l">
            <a:buFont typeface="Wingdings" panose="05000000000000000000" pitchFamily="2" charset="2"/>
            <a:buChar char="ü"/>
          </a:pPr>
          <a:r>
            <a:rPr lang="hu-HU" noProof="0" dirty="0">
              <a:latin typeface="Arial" panose="020B0604020202020204" pitchFamily="34" charset="0"/>
              <a:cs typeface="Arial" panose="020B0604020202020204" pitchFamily="34" charset="0"/>
            </a:rPr>
            <a:t>Játék</a:t>
          </a:r>
          <a:r>
            <a:rPr lang="en-US" noProof="0" dirty="0">
              <a:latin typeface="Arial" panose="020B0604020202020204" pitchFamily="34" charset="0"/>
              <a:cs typeface="Arial" panose="020B0604020202020204" pitchFamily="34" charset="0"/>
            </a:rPr>
            <a:t> (</a:t>
          </a:r>
          <a:r>
            <a:rPr lang="hu-HU" noProof="0" dirty="0">
              <a:latin typeface="Arial" panose="020B0604020202020204" pitchFamily="34" charset="0"/>
              <a:cs typeface="Arial" panose="020B0604020202020204" pitchFamily="34" charset="0"/>
            </a:rPr>
            <a:t>táblás</a:t>
          </a:r>
          <a:r>
            <a:rPr lang="en-US" noProof="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hu-HU" noProof="0" dirty="0">
              <a:latin typeface="Arial" panose="020B0604020202020204" pitchFamily="34" charset="0"/>
              <a:cs typeface="Arial" panose="020B0604020202020204" pitchFamily="34" charset="0"/>
            </a:rPr>
            <a:t>menekülő szoba </a:t>
          </a:r>
          <a:r>
            <a:rPr lang="hu-HU" noProof="0" dirty="0" err="1">
              <a:latin typeface="Arial" panose="020B0604020202020204" pitchFamily="34" charset="0"/>
              <a:cs typeface="Arial" panose="020B0604020202020204" pitchFamily="34" charset="0"/>
            </a:rPr>
            <a:t>stb</a:t>
          </a:r>
          <a:r>
            <a:rPr lang="en-US" noProof="0" dirty="0">
              <a:latin typeface="Arial" panose="020B0604020202020204" pitchFamily="34" charset="0"/>
              <a:cs typeface="Arial" panose="020B0604020202020204" pitchFamily="34" charset="0"/>
            </a:rPr>
            <a:t>.)</a:t>
          </a:r>
        </a:p>
      </dgm:t>
    </dgm:pt>
    <dgm:pt modelId="{8514B106-79F3-4BAE-B9F6-441BF7B16E1A}" type="parTrans" cxnId="{ED6AD8F2-A5A9-454F-AFCA-28D3938BD581}">
      <dgm:prSet/>
      <dgm:spPr/>
      <dgm:t>
        <a:bodyPr/>
        <a:lstStyle/>
        <a:p>
          <a:endParaRPr lang="en-US" noProof="0" dirty="0"/>
        </a:p>
      </dgm:t>
    </dgm:pt>
    <dgm:pt modelId="{56881F1F-0CD8-4947-871E-A0FC7E796240}" type="sibTrans" cxnId="{ED6AD8F2-A5A9-454F-AFCA-28D3938BD581}">
      <dgm:prSet/>
      <dgm:spPr/>
      <dgm:t>
        <a:bodyPr/>
        <a:lstStyle/>
        <a:p>
          <a:endParaRPr lang="en-US" noProof="0" dirty="0"/>
        </a:p>
      </dgm:t>
    </dgm:pt>
    <dgm:pt modelId="{F8DFA80A-2DF4-459B-96A8-26B4514A5300}">
      <dgm:prSet/>
      <dgm:spPr/>
      <dgm:t>
        <a:bodyPr/>
        <a:lstStyle/>
        <a:p>
          <a:pPr algn="just">
            <a:buFont typeface="Wingdings" panose="05000000000000000000" pitchFamily="2" charset="2"/>
            <a:buChar char="ü"/>
          </a:pPr>
          <a:r>
            <a:rPr lang="hu-HU" noProof="0" dirty="0">
              <a:latin typeface="Arial" panose="020B0604020202020204" pitchFamily="34" charset="0"/>
              <a:cs typeface="Arial" panose="020B0604020202020204" pitchFamily="34" charset="0"/>
            </a:rPr>
            <a:t>Lézershow</a:t>
          </a:r>
          <a:endParaRPr lang="en-US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D38B86-AFA6-4BC9-8391-86465666EE9C}" type="parTrans" cxnId="{8775851D-F9AB-4D68-ACB5-DD78789365E0}">
      <dgm:prSet/>
      <dgm:spPr/>
      <dgm:t>
        <a:bodyPr/>
        <a:lstStyle/>
        <a:p>
          <a:endParaRPr lang="en-US" noProof="0" dirty="0"/>
        </a:p>
      </dgm:t>
    </dgm:pt>
    <dgm:pt modelId="{F3382629-F013-41C3-BDF0-A3C7C6BF6ADF}" type="sibTrans" cxnId="{8775851D-F9AB-4D68-ACB5-DD78789365E0}">
      <dgm:prSet/>
      <dgm:spPr/>
      <dgm:t>
        <a:bodyPr/>
        <a:lstStyle/>
        <a:p>
          <a:endParaRPr lang="en-US" noProof="0" dirty="0"/>
        </a:p>
      </dgm:t>
    </dgm:pt>
    <dgm:pt modelId="{4E1EA25B-2272-4864-A2AA-B2FEA75EBBA8}">
      <dgm:prSet/>
      <dgm:spPr/>
      <dgm:t>
        <a:bodyPr/>
        <a:lstStyle/>
        <a:p>
          <a:pPr algn="just">
            <a:buFont typeface="Wingdings" panose="05000000000000000000" pitchFamily="2" charset="2"/>
            <a:buChar char="ü"/>
          </a:pPr>
          <a:r>
            <a:rPr lang="hu-HU" noProof="0" dirty="0">
              <a:latin typeface="Arial" panose="020B0604020202020204" pitchFamily="34" charset="0"/>
              <a:cs typeface="Arial" panose="020B0604020202020204" pitchFamily="34" charset="0"/>
            </a:rPr>
            <a:t>Belső design</a:t>
          </a:r>
          <a:endParaRPr lang="en-US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2FB8A65-A23B-4C09-8638-2EA47A3C8E5D}" type="parTrans" cxnId="{7C3D6F0E-4DBB-4A91-B534-EC0F5B1CD65D}">
      <dgm:prSet/>
      <dgm:spPr/>
      <dgm:t>
        <a:bodyPr/>
        <a:lstStyle/>
        <a:p>
          <a:endParaRPr lang="en-US" noProof="0" dirty="0"/>
        </a:p>
      </dgm:t>
    </dgm:pt>
    <dgm:pt modelId="{4399B1B2-03B7-4175-B3E5-297ED9A808BB}" type="sibTrans" cxnId="{7C3D6F0E-4DBB-4A91-B534-EC0F5B1CD65D}">
      <dgm:prSet/>
      <dgm:spPr/>
      <dgm:t>
        <a:bodyPr/>
        <a:lstStyle/>
        <a:p>
          <a:endParaRPr lang="en-US" noProof="0" dirty="0"/>
        </a:p>
      </dgm:t>
    </dgm:pt>
    <dgm:pt modelId="{FE39FD67-CD28-482B-BB81-DD213EC422B7}">
      <dgm:prSet phldrT="[Szöveg]" custT="1"/>
      <dgm:spPr/>
      <dgm:t>
        <a:bodyPr/>
        <a:lstStyle/>
        <a:p>
          <a:pPr algn="just">
            <a:buFontTx/>
            <a:buChar char="–"/>
          </a:pPr>
          <a:r>
            <a:rPr lang="hu-HU" sz="2600" noProof="0" dirty="0" smtClean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sz="2600" noProof="0" dirty="0" err="1" smtClean="0">
              <a:latin typeface="Arial" panose="020B0604020202020204" pitchFamily="34" charset="0"/>
              <a:cs typeface="Arial" panose="020B0604020202020204" pitchFamily="34" charset="0"/>
            </a:rPr>
            <a:t>arf</a:t>
          </a:r>
          <a:r>
            <a:rPr lang="hu-HU" sz="2600" noProof="0" dirty="0">
              <a:latin typeface="Arial" panose="020B0604020202020204" pitchFamily="34" charset="0"/>
              <a:cs typeface="Arial" panose="020B0604020202020204" pitchFamily="34" charset="0"/>
            </a:rPr>
            <a:t>ü</a:t>
          </a:r>
          <a:r>
            <a:rPr lang="en-US" sz="2600" noProof="0" dirty="0">
              <a:latin typeface="Arial" panose="020B0604020202020204" pitchFamily="34" charset="0"/>
              <a:cs typeface="Arial" panose="020B0604020202020204" pitchFamily="34" charset="0"/>
            </a:rPr>
            <a:t>m</a:t>
          </a:r>
          <a:endParaRPr lang="en-US" sz="2000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55C60A-4DDB-4E4E-AE43-34342618CA19}" type="parTrans" cxnId="{001E1FF2-8E8C-4348-8A24-650A0EA63468}">
      <dgm:prSet/>
      <dgm:spPr/>
      <dgm:t>
        <a:bodyPr/>
        <a:lstStyle/>
        <a:p>
          <a:endParaRPr lang="en-US" noProof="0" dirty="0"/>
        </a:p>
      </dgm:t>
    </dgm:pt>
    <dgm:pt modelId="{BF9623CD-8A7D-4C9B-98A9-1DE57D5E5B55}" type="sibTrans" cxnId="{001E1FF2-8E8C-4348-8A24-650A0EA63468}">
      <dgm:prSet/>
      <dgm:spPr/>
      <dgm:t>
        <a:bodyPr/>
        <a:lstStyle/>
        <a:p>
          <a:endParaRPr lang="en-US" noProof="0" dirty="0"/>
        </a:p>
      </dgm:t>
    </dgm:pt>
    <dgm:pt modelId="{E8AD4035-938B-4E24-A0D2-4A912CC289A0}">
      <dgm:prSet phldrT="[Szöveg]"/>
      <dgm:spPr/>
      <dgm:t>
        <a:bodyPr/>
        <a:lstStyle/>
        <a:p>
          <a:pPr algn="just">
            <a:buFontTx/>
            <a:buChar char="−"/>
          </a:pPr>
          <a:r>
            <a:rPr lang="hu-HU" sz="2600" noProof="0" dirty="0" smtClean="0">
              <a:latin typeface="Arial" panose="020B0604020202020204" pitchFamily="34" charset="0"/>
              <a:cs typeface="Arial" panose="020B0604020202020204" pitchFamily="34" charset="0"/>
            </a:rPr>
            <a:t>Algoritmus</a:t>
          </a:r>
          <a:endParaRPr lang="en-US" sz="2600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735221-68E7-4A4D-B9A0-5D5AAF0B4975}" type="parTrans" cxnId="{3E23C598-923B-4AC8-BCEF-E44489E3BA5B}">
      <dgm:prSet/>
      <dgm:spPr/>
      <dgm:t>
        <a:bodyPr/>
        <a:lstStyle/>
        <a:p>
          <a:endParaRPr lang="hu-HU"/>
        </a:p>
      </dgm:t>
    </dgm:pt>
    <dgm:pt modelId="{1A09DFD5-E04D-4DF0-9D21-C2E7047377BB}" type="sibTrans" cxnId="{3E23C598-923B-4AC8-BCEF-E44489E3BA5B}">
      <dgm:prSet/>
      <dgm:spPr/>
      <dgm:t>
        <a:bodyPr/>
        <a:lstStyle/>
        <a:p>
          <a:endParaRPr lang="hu-HU"/>
        </a:p>
      </dgm:t>
    </dgm:pt>
    <dgm:pt modelId="{63B234A6-2709-4738-8537-79B52FA9CDF7}">
      <dgm:prSet phldrT="[Szöveg]"/>
      <dgm:spPr/>
      <dgm:t>
        <a:bodyPr/>
        <a:lstStyle/>
        <a:p>
          <a:pPr algn="just">
            <a:buFontTx/>
            <a:buChar char="−"/>
          </a:pPr>
          <a:r>
            <a:rPr lang="hu-HU" sz="2600" noProof="0" dirty="0" smtClean="0">
              <a:latin typeface="Arial" panose="020B0604020202020204" pitchFamily="34" charset="0"/>
              <a:cs typeface="Arial" panose="020B0604020202020204" pitchFamily="34" charset="0"/>
            </a:rPr>
            <a:t>Ötlet</a:t>
          </a:r>
          <a:endParaRPr lang="en-US" sz="2600" noProof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A3E4ECF-2CD9-404C-B2C1-336F62FE93EC}" type="parTrans" cxnId="{CC457BB9-0B38-42D5-A231-0A28539EADCA}">
      <dgm:prSet/>
      <dgm:spPr/>
      <dgm:t>
        <a:bodyPr/>
        <a:lstStyle/>
        <a:p>
          <a:endParaRPr lang="hu-HU"/>
        </a:p>
      </dgm:t>
    </dgm:pt>
    <dgm:pt modelId="{EC259931-6F57-407E-AF83-35F0EAFB99BF}" type="sibTrans" cxnId="{CC457BB9-0B38-42D5-A231-0A28539EADCA}">
      <dgm:prSet/>
      <dgm:spPr/>
      <dgm:t>
        <a:bodyPr/>
        <a:lstStyle/>
        <a:p>
          <a:endParaRPr lang="hu-HU"/>
        </a:p>
      </dgm:t>
    </dgm:pt>
    <dgm:pt modelId="{57CF339F-AD21-49DE-8DE0-4767583C9D58}" type="pres">
      <dgm:prSet presAssocID="{98B6E434-2209-4C7C-A95C-3BF40BDC869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hu-HU"/>
        </a:p>
      </dgm:t>
    </dgm:pt>
    <dgm:pt modelId="{A0734E5F-E6E5-4B9F-A43A-58D089F2CA8A}" type="pres">
      <dgm:prSet presAssocID="{F0D77795-EE3A-42E7-8B00-D11B11CF3C89}" presName="composite" presStyleCnt="0"/>
      <dgm:spPr/>
    </dgm:pt>
    <dgm:pt modelId="{BE1A3704-4334-44DC-8E73-9E2D9EBD3B26}" type="pres">
      <dgm:prSet presAssocID="{F0D77795-EE3A-42E7-8B00-D11B11CF3C89}" presName="parTx" presStyleLbl="alignNode1" presStyleIdx="0" presStyleCnt="2" custScaleX="956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0E8B38B6-B487-433D-9722-F4987C580AD3}" type="pres">
      <dgm:prSet presAssocID="{F0D77795-EE3A-42E7-8B00-D11B11CF3C89}" presName="desTx" presStyleLbl="alignAccFollowNode1" presStyleIdx="0" presStyleCnt="2" custScaleX="93875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D5C5104F-AD53-4E0C-A0EC-699D9AF55545}" type="pres">
      <dgm:prSet presAssocID="{E6FFB4C9-C28E-40D4-8828-1B5A0E4E6B73}" presName="space" presStyleCnt="0"/>
      <dgm:spPr/>
    </dgm:pt>
    <dgm:pt modelId="{448218CC-965F-450C-B43A-F0DFC6E89B89}" type="pres">
      <dgm:prSet presAssocID="{98061D0E-C214-4E5D-995E-CB1D7773DDAC}" presName="composite" presStyleCnt="0"/>
      <dgm:spPr/>
    </dgm:pt>
    <dgm:pt modelId="{B3DD701C-9D37-4019-A62F-9C9A48CA2513}" type="pres">
      <dgm:prSet presAssocID="{98061D0E-C214-4E5D-995E-CB1D7773DDAC}" presName="parTx" presStyleLbl="alignNode1" presStyleIdx="1" presStyleCnt="2" custScaleX="64517" custLinFactNeighborX="-2226" custLinFactNeighborY="-1607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06884835-3DD6-4DBA-8717-1095B7793E54}" type="pres">
      <dgm:prSet presAssocID="{98061D0E-C214-4E5D-995E-CB1D7773DDAC}" presName="desTx" presStyleLbl="alignAccFollowNode1" presStyleIdx="1" presStyleCnt="2" custScaleX="65389" custScaleY="78715" custLinFactNeighborX="-1232" custLinFactNeighborY="-9520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</dgm:ptLst>
  <dgm:cxnLst>
    <dgm:cxn modelId="{CC457BB9-0B38-42D5-A231-0A28539EADCA}" srcId="{98061D0E-C214-4E5D-995E-CB1D7773DDAC}" destId="{63B234A6-2709-4738-8537-79B52FA9CDF7}" srcOrd="3" destOrd="0" parTransId="{AA3E4ECF-2CD9-404C-B2C1-336F62FE93EC}" sibTransId="{EC259931-6F57-407E-AF83-35F0EAFB99BF}"/>
    <dgm:cxn modelId="{3E23C598-923B-4AC8-BCEF-E44489E3BA5B}" srcId="{98061D0E-C214-4E5D-995E-CB1D7773DDAC}" destId="{E8AD4035-938B-4E24-A0D2-4A912CC289A0}" srcOrd="2" destOrd="0" parTransId="{B2735221-68E7-4A4D-B9A0-5D5AAF0B4975}" sibTransId="{1A09DFD5-E04D-4DF0-9D21-C2E7047377BB}"/>
    <dgm:cxn modelId="{E2CB7C01-457A-4B12-85B4-C928469271DB}" type="presOf" srcId="{FE39FD67-CD28-482B-BB81-DD213EC422B7}" destId="{06884835-3DD6-4DBA-8717-1095B7793E54}" srcOrd="0" destOrd="0" presId="urn:microsoft.com/office/officeart/2005/8/layout/hList1"/>
    <dgm:cxn modelId="{CCFEEB3D-2625-44A0-B721-D401DDDD22E8}" type="presOf" srcId="{F0D77795-EE3A-42E7-8B00-D11B11CF3C89}" destId="{BE1A3704-4334-44DC-8E73-9E2D9EBD3B26}" srcOrd="0" destOrd="0" presId="urn:microsoft.com/office/officeart/2005/8/layout/hList1"/>
    <dgm:cxn modelId="{EA39F67B-DA72-47B1-A725-B82AC1DC91ED}" srcId="{F0D77795-EE3A-42E7-8B00-D11B11CF3C89}" destId="{26139B59-AB2A-479B-BB75-8AB4A4CE21B2}" srcOrd="1" destOrd="0" parTransId="{4662CF17-E297-486C-814F-14A60AD2D712}" sibTransId="{F1673383-9BA9-4271-BD77-F4DBD8843424}"/>
    <dgm:cxn modelId="{8775851D-F9AB-4D68-ACB5-DD78789365E0}" srcId="{F0D77795-EE3A-42E7-8B00-D11B11CF3C89}" destId="{F8DFA80A-2DF4-459B-96A8-26B4514A5300}" srcOrd="4" destOrd="0" parTransId="{60D38B86-AFA6-4BC9-8391-86465666EE9C}" sibTransId="{F3382629-F013-41C3-BDF0-A3C7C6BF6ADF}"/>
    <dgm:cxn modelId="{62A3E8B3-33C0-4816-910F-C7DEF3F3431F}" type="presOf" srcId="{4E1EA25B-2272-4864-A2AA-B2FEA75EBBA8}" destId="{0E8B38B6-B487-433D-9722-F4987C580AD3}" srcOrd="0" destOrd="5" presId="urn:microsoft.com/office/officeart/2005/8/layout/hList1"/>
    <dgm:cxn modelId="{68601142-ADF7-4148-AE44-A9BABC78CBF8}" type="presOf" srcId="{D62CD4AD-6052-496E-A285-BE71E15A7604}" destId="{06884835-3DD6-4DBA-8717-1095B7793E54}" srcOrd="0" destOrd="1" presId="urn:microsoft.com/office/officeart/2005/8/layout/hList1"/>
    <dgm:cxn modelId="{471F6439-D40D-4646-8FD5-3E71E0512E87}" type="presOf" srcId="{35C55EFC-E734-4C55-AD41-0722E8E7DA28}" destId="{0E8B38B6-B487-433D-9722-F4987C580AD3}" srcOrd="0" destOrd="2" presId="urn:microsoft.com/office/officeart/2005/8/layout/hList1"/>
    <dgm:cxn modelId="{ED6AD8F2-A5A9-454F-AFCA-28D3938BD581}" srcId="{F0D77795-EE3A-42E7-8B00-D11B11CF3C89}" destId="{35C55EFC-E734-4C55-AD41-0722E8E7DA28}" srcOrd="2" destOrd="0" parTransId="{8514B106-79F3-4BAE-B9F6-441BF7B16E1A}" sibTransId="{56881F1F-0CD8-4947-871E-A0FC7E796240}"/>
    <dgm:cxn modelId="{F678AA54-4C98-454C-AB0D-9CB0BABD6086}" type="presOf" srcId="{F8DFA80A-2DF4-459B-96A8-26B4514A5300}" destId="{0E8B38B6-B487-433D-9722-F4987C580AD3}" srcOrd="0" destOrd="4" presId="urn:microsoft.com/office/officeart/2005/8/layout/hList1"/>
    <dgm:cxn modelId="{F836390B-943D-4482-B4AA-5F037509FE1B}" type="presOf" srcId="{E8AD4035-938B-4E24-A0D2-4A912CC289A0}" destId="{06884835-3DD6-4DBA-8717-1095B7793E54}" srcOrd="0" destOrd="2" presId="urn:microsoft.com/office/officeart/2005/8/layout/hList1"/>
    <dgm:cxn modelId="{A23FFC16-30FD-4FDE-A389-0E6E4F3D0072}" type="presOf" srcId="{664C1C65-884A-4BF3-A776-042AFDB77F30}" destId="{0E8B38B6-B487-433D-9722-F4987C580AD3}" srcOrd="0" destOrd="0" presId="urn:microsoft.com/office/officeart/2005/8/layout/hList1"/>
    <dgm:cxn modelId="{CB3010C5-9F87-4C2C-8DD5-E15D3FF80728}" srcId="{F0D77795-EE3A-42E7-8B00-D11B11CF3C89}" destId="{664C1C65-884A-4BF3-A776-042AFDB77F30}" srcOrd="0" destOrd="0" parTransId="{C3635D85-DBC4-4A3B-9561-C2057C0FFDDE}" sibTransId="{1772CAD0-D1A4-4E96-8BE3-AAB4F1BB0537}"/>
    <dgm:cxn modelId="{F3836131-632F-44D7-9B63-E594CA5092C7}" type="presOf" srcId="{26139B59-AB2A-479B-BB75-8AB4A4CE21B2}" destId="{0E8B38B6-B487-433D-9722-F4987C580AD3}" srcOrd="0" destOrd="1" presId="urn:microsoft.com/office/officeart/2005/8/layout/hList1"/>
    <dgm:cxn modelId="{1AE19468-0AFC-43B9-9FA8-58A70431DCA5}" srcId="{98B6E434-2209-4C7C-A95C-3BF40BDC869C}" destId="{98061D0E-C214-4E5D-995E-CB1D7773DDAC}" srcOrd="1" destOrd="0" parTransId="{601375D4-26CC-4429-A92B-926C53C7475C}" sibTransId="{7F6DA9EC-FA9A-488C-BB64-1B3DD55FD273}"/>
    <dgm:cxn modelId="{8BDF27C7-4A9A-4D01-86A4-F53FE1DAD6C4}" type="presOf" srcId="{98B6E434-2209-4C7C-A95C-3BF40BDC869C}" destId="{57CF339F-AD21-49DE-8DE0-4767583C9D58}" srcOrd="0" destOrd="0" presId="urn:microsoft.com/office/officeart/2005/8/layout/hList1"/>
    <dgm:cxn modelId="{C5D7F29C-E75B-4293-8022-233AC45608B4}" srcId="{F0D77795-EE3A-42E7-8B00-D11B11CF3C89}" destId="{6484C537-102B-4B91-A7A9-D1B687961A62}" srcOrd="3" destOrd="0" parTransId="{29E03218-5D12-4A41-B83E-45CF0F0BDC07}" sibTransId="{4BBF0319-60F0-4802-951C-143964BC7822}"/>
    <dgm:cxn modelId="{7C3D6F0E-4DBB-4A91-B534-EC0F5B1CD65D}" srcId="{F0D77795-EE3A-42E7-8B00-D11B11CF3C89}" destId="{4E1EA25B-2272-4864-A2AA-B2FEA75EBBA8}" srcOrd="5" destOrd="0" parTransId="{E2FB8A65-A23B-4C09-8638-2EA47A3C8E5D}" sibTransId="{4399B1B2-03B7-4175-B3E5-297ED9A808BB}"/>
    <dgm:cxn modelId="{0737962A-AE87-477F-9483-B8522192D8FE}" type="presOf" srcId="{98061D0E-C214-4E5D-995E-CB1D7773DDAC}" destId="{B3DD701C-9D37-4019-A62F-9C9A48CA2513}" srcOrd="0" destOrd="0" presId="urn:microsoft.com/office/officeart/2005/8/layout/hList1"/>
    <dgm:cxn modelId="{9AC3754C-BB98-4D36-8715-912D36149B1C}" type="presOf" srcId="{63B234A6-2709-4738-8537-79B52FA9CDF7}" destId="{06884835-3DD6-4DBA-8717-1095B7793E54}" srcOrd="0" destOrd="3" presId="urn:microsoft.com/office/officeart/2005/8/layout/hList1"/>
    <dgm:cxn modelId="{1B4D370F-84C3-4DB6-B5E4-78382AB348CB}" srcId="{98061D0E-C214-4E5D-995E-CB1D7773DDAC}" destId="{D62CD4AD-6052-496E-A285-BE71E15A7604}" srcOrd="1" destOrd="0" parTransId="{30722FD3-6C97-454A-A7CB-F972DE24D140}" sibTransId="{C0EDB470-AF3D-4757-AE86-D03004A98D2A}"/>
    <dgm:cxn modelId="{1694FAFD-B9FB-407C-B178-D2492404333D}" type="presOf" srcId="{6484C537-102B-4B91-A7A9-D1B687961A62}" destId="{0E8B38B6-B487-433D-9722-F4987C580AD3}" srcOrd="0" destOrd="3" presId="urn:microsoft.com/office/officeart/2005/8/layout/hList1"/>
    <dgm:cxn modelId="{C0F3B1E4-0AB4-4693-A3F1-DC2E4B2227CD}" srcId="{98B6E434-2209-4C7C-A95C-3BF40BDC869C}" destId="{F0D77795-EE3A-42E7-8B00-D11B11CF3C89}" srcOrd="0" destOrd="0" parTransId="{A4675BDA-5CB9-4D26-A479-A626DD08B773}" sibTransId="{E6FFB4C9-C28E-40D4-8828-1B5A0E4E6B73}"/>
    <dgm:cxn modelId="{001E1FF2-8E8C-4348-8A24-650A0EA63468}" srcId="{98061D0E-C214-4E5D-995E-CB1D7773DDAC}" destId="{FE39FD67-CD28-482B-BB81-DD213EC422B7}" srcOrd="0" destOrd="0" parTransId="{7955C60A-4DDB-4E4E-AE43-34342618CA19}" sibTransId="{BF9623CD-8A7D-4C9B-98A9-1DE57D5E5B55}"/>
    <dgm:cxn modelId="{900FE154-74DA-4093-B517-C5E24BF5BB5B}" type="presParOf" srcId="{57CF339F-AD21-49DE-8DE0-4767583C9D58}" destId="{A0734E5F-E6E5-4B9F-A43A-58D089F2CA8A}" srcOrd="0" destOrd="0" presId="urn:microsoft.com/office/officeart/2005/8/layout/hList1"/>
    <dgm:cxn modelId="{0C03A5C4-46C0-410C-B5C8-5A79492BD36B}" type="presParOf" srcId="{A0734E5F-E6E5-4B9F-A43A-58D089F2CA8A}" destId="{BE1A3704-4334-44DC-8E73-9E2D9EBD3B26}" srcOrd="0" destOrd="0" presId="urn:microsoft.com/office/officeart/2005/8/layout/hList1"/>
    <dgm:cxn modelId="{B50BA073-9805-4F38-9283-CD7AB67444DA}" type="presParOf" srcId="{A0734E5F-E6E5-4B9F-A43A-58D089F2CA8A}" destId="{0E8B38B6-B487-433D-9722-F4987C580AD3}" srcOrd="1" destOrd="0" presId="urn:microsoft.com/office/officeart/2005/8/layout/hList1"/>
    <dgm:cxn modelId="{F8F82582-DD8D-4DBB-9122-6362C7E846F8}" type="presParOf" srcId="{57CF339F-AD21-49DE-8DE0-4767583C9D58}" destId="{D5C5104F-AD53-4E0C-A0EC-699D9AF55545}" srcOrd="1" destOrd="0" presId="urn:microsoft.com/office/officeart/2005/8/layout/hList1"/>
    <dgm:cxn modelId="{9D0AF1A8-0B8B-47EE-81EA-3AB9C9DF7FE7}" type="presParOf" srcId="{57CF339F-AD21-49DE-8DE0-4767583C9D58}" destId="{448218CC-965F-450C-B43A-F0DFC6E89B89}" srcOrd="2" destOrd="0" presId="urn:microsoft.com/office/officeart/2005/8/layout/hList1"/>
    <dgm:cxn modelId="{C778842B-B839-477C-B578-8A23EDF93A09}" type="presParOf" srcId="{448218CC-965F-450C-B43A-F0DFC6E89B89}" destId="{B3DD701C-9D37-4019-A62F-9C9A48CA2513}" srcOrd="0" destOrd="0" presId="urn:microsoft.com/office/officeart/2005/8/layout/hList1"/>
    <dgm:cxn modelId="{260B2733-FE9E-4394-BC01-78B67809B29B}" type="presParOf" srcId="{448218CC-965F-450C-B43A-F0DFC6E89B89}" destId="{06884835-3DD6-4DBA-8717-1095B7793E5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3C700F-047F-429A-B007-8D4BF5909552}">
      <dsp:nvSpPr>
        <dsp:cNvPr id="0" name=""/>
        <dsp:cNvSpPr/>
      </dsp:nvSpPr>
      <dsp:spPr>
        <a:xfrm>
          <a:off x="436984" y="884"/>
          <a:ext cx="1630867" cy="9785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900" kern="1200" dirty="0"/>
            <a:t>Zenemű</a:t>
          </a:r>
        </a:p>
      </dsp:txBody>
      <dsp:txXfrm>
        <a:off x="436984" y="884"/>
        <a:ext cx="1630867" cy="978520"/>
      </dsp:txXfrm>
    </dsp:sp>
    <dsp:sp modelId="{F78F5AA6-EB16-493B-A210-C9F36799C6DA}">
      <dsp:nvSpPr>
        <dsp:cNvPr id="0" name=""/>
        <dsp:cNvSpPr/>
      </dsp:nvSpPr>
      <dsp:spPr>
        <a:xfrm>
          <a:off x="2230938" y="884"/>
          <a:ext cx="1630867" cy="9785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900" kern="1200" dirty="0"/>
            <a:t>Vers, regény, novella</a:t>
          </a:r>
        </a:p>
      </dsp:txBody>
      <dsp:txXfrm>
        <a:off x="2230938" y="884"/>
        <a:ext cx="1630867" cy="978520"/>
      </dsp:txXfrm>
    </dsp:sp>
    <dsp:sp modelId="{BE1C141B-BCAD-40E2-A501-31CECE6D09FE}">
      <dsp:nvSpPr>
        <dsp:cNvPr id="0" name=""/>
        <dsp:cNvSpPr/>
      </dsp:nvSpPr>
      <dsp:spPr>
        <a:xfrm>
          <a:off x="4024893" y="884"/>
          <a:ext cx="1630867" cy="9785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900" kern="1200" dirty="0"/>
            <a:t>Film</a:t>
          </a:r>
        </a:p>
      </dsp:txBody>
      <dsp:txXfrm>
        <a:off x="4024893" y="884"/>
        <a:ext cx="1630867" cy="978520"/>
      </dsp:txXfrm>
    </dsp:sp>
    <dsp:sp modelId="{A225AADB-F9BA-4A22-A7AA-FE7A4EB9CCAA}">
      <dsp:nvSpPr>
        <dsp:cNvPr id="0" name=""/>
        <dsp:cNvSpPr/>
      </dsp:nvSpPr>
      <dsp:spPr>
        <a:xfrm>
          <a:off x="5818848" y="884"/>
          <a:ext cx="1630867" cy="9785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900" kern="1200" dirty="0"/>
            <a:t>Fotó</a:t>
          </a:r>
        </a:p>
      </dsp:txBody>
      <dsp:txXfrm>
        <a:off x="5818848" y="884"/>
        <a:ext cx="1630867" cy="978520"/>
      </dsp:txXfrm>
    </dsp:sp>
    <dsp:sp modelId="{4D5C76A7-8190-4EBF-A337-A7EDA4ECB1A0}">
      <dsp:nvSpPr>
        <dsp:cNvPr id="0" name=""/>
        <dsp:cNvSpPr/>
      </dsp:nvSpPr>
      <dsp:spPr>
        <a:xfrm>
          <a:off x="436984" y="1142491"/>
          <a:ext cx="1630867" cy="9785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900" kern="1200" dirty="0"/>
            <a:t>Szobor</a:t>
          </a:r>
        </a:p>
      </dsp:txBody>
      <dsp:txXfrm>
        <a:off x="436984" y="1142491"/>
        <a:ext cx="1630867" cy="978520"/>
      </dsp:txXfrm>
    </dsp:sp>
    <dsp:sp modelId="{2990781B-02C5-454F-8463-C90C2C313A87}">
      <dsp:nvSpPr>
        <dsp:cNvPr id="0" name=""/>
        <dsp:cNvSpPr/>
      </dsp:nvSpPr>
      <dsp:spPr>
        <a:xfrm>
          <a:off x="2230938" y="1142491"/>
          <a:ext cx="1630867" cy="9785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900" kern="1200" dirty="0"/>
            <a:t>Színdarab</a:t>
          </a:r>
        </a:p>
      </dsp:txBody>
      <dsp:txXfrm>
        <a:off x="2230938" y="1142491"/>
        <a:ext cx="1630867" cy="978520"/>
      </dsp:txXfrm>
    </dsp:sp>
    <dsp:sp modelId="{D01A47A2-429E-48FF-8CB5-CE765F5C6BBE}">
      <dsp:nvSpPr>
        <dsp:cNvPr id="0" name=""/>
        <dsp:cNvSpPr/>
      </dsp:nvSpPr>
      <dsp:spPr>
        <a:xfrm>
          <a:off x="4024893" y="1142491"/>
          <a:ext cx="1630867" cy="9785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900" kern="1200" dirty="0"/>
            <a:t>Nyilvánosan tartott beszéd</a:t>
          </a:r>
        </a:p>
      </dsp:txBody>
      <dsp:txXfrm>
        <a:off x="4024893" y="1142491"/>
        <a:ext cx="1630867" cy="978520"/>
      </dsp:txXfrm>
    </dsp:sp>
    <dsp:sp modelId="{D9BF29D7-7FF8-4C0A-9EEF-FDBBA3943A85}">
      <dsp:nvSpPr>
        <dsp:cNvPr id="0" name=""/>
        <dsp:cNvSpPr/>
      </dsp:nvSpPr>
      <dsp:spPr>
        <a:xfrm>
          <a:off x="5818848" y="1142491"/>
          <a:ext cx="1630867" cy="9785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900" kern="1200" dirty="0"/>
            <a:t>Szoftver</a:t>
          </a:r>
        </a:p>
      </dsp:txBody>
      <dsp:txXfrm>
        <a:off x="5818848" y="1142491"/>
        <a:ext cx="1630867" cy="978520"/>
      </dsp:txXfrm>
    </dsp:sp>
    <dsp:sp modelId="{E6F3118F-64ED-4214-845D-7D2A5788603E}">
      <dsp:nvSpPr>
        <dsp:cNvPr id="0" name=""/>
        <dsp:cNvSpPr/>
      </dsp:nvSpPr>
      <dsp:spPr>
        <a:xfrm>
          <a:off x="436984" y="2284099"/>
          <a:ext cx="1630867" cy="9785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900" kern="1200" dirty="0"/>
            <a:t>Adatbázis</a:t>
          </a:r>
        </a:p>
      </dsp:txBody>
      <dsp:txXfrm>
        <a:off x="436984" y="2284099"/>
        <a:ext cx="1630867" cy="978520"/>
      </dsp:txXfrm>
    </dsp:sp>
    <dsp:sp modelId="{84E88473-68A9-46D4-A3EC-A6E1A2A599CD}">
      <dsp:nvSpPr>
        <dsp:cNvPr id="0" name=""/>
        <dsp:cNvSpPr/>
      </dsp:nvSpPr>
      <dsp:spPr>
        <a:xfrm>
          <a:off x="2230938" y="2284099"/>
          <a:ext cx="1630867" cy="9785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900" kern="1200" dirty="0"/>
            <a:t>Grafika</a:t>
          </a:r>
        </a:p>
      </dsp:txBody>
      <dsp:txXfrm>
        <a:off x="2230938" y="2284099"/>
        <a:ext cx="1630867" cy="978520"/>
      </dsp:txXfrm>
    </dsp:sp>
    <dsp:sp modelId="{35C3300C-2548-41DB-BD53-45F6E9235414}">
      <dsp:nvSpPr>
        <dsp:cNvPr id="0" name=""/>
        <dsp:cNvSpPr/>
      </dsp:nvSpPr>
      <dsp:spPr>
        <a:xfrm>
          <a:off x="4024893" y="2284099"/>
          <a:ext cx="1630867" cy="9785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900" kern="1200" dirty="0"/>
            <a:t>Építészeti mű</a:t>
          </a:r>
        </a:p>
      </dsp:txBody>
      <dsp:txXfrm>
        <a:off x="4024893" y="2284099"/>
        <a:ext cx="1630867" cy="978520"/>
      </dsp:txXfrm>
    </dsp:sp>
    <dsp:sp modelId="{97F1E475-E5E7-4BE1-913B-5D160460838C}">
      <dsp:nvSpPr>
        <dsp:cNvPr id="0" name=""/>
        <dsp:cNvSpPr/>
      </dsp:nvSpPr>
      <dsp:spPr>
        <a:xfrm>
          <a:off x="5818848" y="2284099"/>
          <a:ext cx="1630867" cy="9785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900" kern="1200" dirty="0"/>
            <a:t>Jelmez, díszlet</a:t>
          </a:r>
        </a:p>
      </dsp:txBody>
      <dsp:txXfrm>
        <a:off x="5818848" y="2284099"/>
        <a:ext cx="1630867" cy="9785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DD5BB2-F147-4BE6-A97E-696F303BDE0A}">
      <dsp:nvSpPr>
        <dsp:cNvPr id="0" name=""/>
        <dsp:cNvSpPr/>
      </dsp:nvSpPr>
      <dsp:spPr>
        <a:xfrm>
          <a:off x="701831" y="848"/>
          <a:ext cx="1852296" cy="9261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500" kern="1200" cap="all" baseline="0" dirty="0">
              <a:latin typeface="Arial" panose="020B0604020202020204" pitchFamily="34" charset="0"/>
              <a:cs typeface="Arial" panose="020B0604020202020204" pitchFamily="34" charset="0"/>
            </a:rPr>
            <a:t>Szerzői jog</a:t>
          </a:r>
        </a:p>
      </dsp:txBody>
      <dsp:txXfrm>
        <a:off x="728957" y="27974"/>
        <a:ext cx="1798044" cy="871896"/>
      </dsp:txXfrm>
    </dsp:sp>
    <dsp:sp modelId="{CBA1F326-233A-4908-84F8-320439BFB6AD}">
      <dsp:nvSpPr>
        <dsp:cNvPr id="0" name=""/>
        <dsp:cNvSpPr/>
      </dsp:nvSpPr>
      <dsp:spPr>
        <a:xfrm>
          <a:off x="887061" y="926996"/>
          <a:ext cx="185229" cy="6946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4611"/>
              </a:lnTo>
              <a:lnTo>
                <a:pt x="185229" y="694611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107C09-D7F9-4580-9DFC-3821EB1A0A4E}">
      <dsp:nvSpPr>
        <dsp:cNvPr id="0" name=""/>
        <dsp:cNvSpPr/>
      </dsp:nvSpPr>
      <dsp:spPr>
        <a:xfrm>
          <a:off x="1072290" y="1158533"/>
          <a:ext cx="1626256" cy="9261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2400" kern="1200" dirty="0">
              <a:latin typeface="Arial" panose="020B0604020202020204" pitchFamily="34" charset="0"/>
              <a:cs typeface="Arial" panose="020B0604020202020204" pitchFamily="34" charset="0"/>
            </a:rPr>
            <a:t>Szerzők joga</a:t>
          </a:r>
        </a:p>
      </dsp:txBody>
      <dsp:txXfrm>
        <a:off x="1099416" y="1185659"/>
        <a:ext cx="1572004" cy="871896"/>
      </dsp:txXfrm>
    </dsp:sp>
    <dsp:sp modelId="{2F6EECEA-8BDA-4486-AF1D-D8ADC9AD29ED}">
      <dsp:nvSpPr>
        <dsp:cNvPr id="0" name=""/>
        <dsp:cNvSpPr/>
      </dsp:nvSpPr>
      <dsp:spPr>
        <a:xfrm>
          <a:off x="887061" y="926996"/>
          <a:ext cx="185229" cy="19853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5374"/>
              </a:lnTo>
              <a:lnTo>
                <a:pt x="185229" y="198537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0739EB-693E-4B8E-9D60-1CED0015C59D}">
      <dsp:nvSpPr>
        <dsp:cNvPr id="0" name=""/>
        <dsp:cNvSpPr/>
      </dsp:nvSpPr>
      <dsp:spPr>
        <a:xfrm>
          <a:off x="1072290" y="2316218"/>
          <a:ext cx="1830987" cy="1192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hu-HU" sz="2000" kern="1200" dirty="0"/>
            <a:t>Kapcsolódó és szomszédos jogok</a:t>
          </a:r>
        </a:p>
      </dsp:txBody>
      <dsp:txXfrm>
        <a:off x="1107211" y="2351139"/>
        <a:ext cx="1761145" cy="1122462"/>
      </dsp:txXfrm>
    </dsp:sp>
    <dsp:sp modelId="{7EB2146F-1244-4AEF-81D6-90C2E7A33BE9}">
      <dsp:nvSpPr>
        <dsp:cNvPr id="0" name=""/>
        <dsp:cNvSpPr/>
      </dsp:nvSpPr>
      <dsp:spPr>
        <a:xfrm>
          <a:off x="3017201" y="848"/>
          <a:ext cx="1852296" cy="9261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500" kern="1200" cap="all" baseline="0" dirty="0">
              <a:latin typeface="Arial" panose="020B0604020202020204" pitchFamily="34" charset="0"/>
              <a:cs typeface="Arial" panose="020B0604020202020204" pitchFamily="34" charset="0"/>
            </a:rPr>
            <a:t>Iparjogvédelem</a:t>
          </a:r>
        </a:p>
      </dsp:txBody>
      <dsp:txXfrm>
        <a:off x="3044327" y="27974"/>
        <a:ext cx="1798044" cy="871896"/>
      </dsp:txXfrm>
    </dsp:sp>
    <dsp:sp modelId="{FC170AF0-8BCC-4901-AABE-16723A8A7BEC}">
      <dsp:nvSpPr>
        <dsp:cNvPr id="0" name=""/>
        <dsp:cNvSpPr/>
      </dsp:nvSpPr>
      <dsp:spPr>
        <a:xfrm>
          <a:off x="3202431" y="926996"/>
          <a:ext cx="185229" cy="6946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4611"/>
              </a:lnTo>
              <a:lnTo>
                <a:pt x="185229" y="694611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6A02C2-E46B-4E0C-9EBE-4A61CFAEAA1E}">
      <dsp:nvSpPr>
        <dsp:cNvPr id="0" name=""/>
        <dsp:cNvSpPr/>
      </dsp:nvSpPr>
      <dsp:spPr>
        <a:xfrm>
          <a:off x="3387661" y="1158533"/>
          <a:ext cx="1481836" cy="9261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900" kern="1200" dirty="0"/>
            <a:t>Műszaki alkotások joga</a:t>
          </a:r>
        </a:p>
      </dsp:txBody>
      <dsp:txXfrm>
        <a:off x="3414787" y="1185659"/>
        <a:ext cx="1427584" cy="871896"/>
      </dsp:txXfrm>
    </dsp:sp>
    <dsp:sp modelId="{1451DF56-2F9E-4CF1-993C-688CE6E5B7D2}">
      <dsp:nvSpPr>
        <dsp:cNvPr id="0" name=""/>
        <dsp:cNvSpPr/>
      </dsp:nvSpPr>
      <dsp:spPr>
        <a:xfrm>
          <a:off x="3202431" y="926996"/>
          <a:ext cx="185229" cy="18522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2296"/>
              </a:lnTo>
              <a:lnTo>
                <a:pt x="185229" y="1852296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ECB47D-E845-4099-8DF0-DFF733AC05DC}">
      <dsp:nvSpPr>
        <dsp:cNvPr id="0" name=""/>
        <dsp:cNvSpPr/>
      </dsp:nvSpPr>
      <dsp:spPr>
        <a:xfrm>
          <a:off x="3387661" y="2316218"/>
          <a:ext cx="1481836" cy="9261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900" kern="1200" dirty="0"/>
            <a:t>Vállalat- és árujelzők joga</a:t>
          </a:r>
        </a:p>
      </dsp:txBody>
      <dsp:txXfrm>
        <a:off x="3414787" y="2343344"/>
        <a:ext cx="1427584" cy="871896"/>
      </dsp:txXfrm>
    </dsp:sp>
    <dsp:sp modelId="{BAC8DF03-5EB5-463C-921B-E1D6D423C090}">
      <dsp:nvSpPr>
        <dsp:cNvPr id="0" name=""/>
        <dsp:cNvSpPr/>
      </dsp:nvSpPr>
      <dsp:spPr>
        <a:xfrm>
          <a:off x="5332572" y="848"/>
          <a:ext cx="1852296" cy="9261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500" kern="1200" cap="all" baseline="0" dirty="0">
              <a:latin typeface="Arial" panose="020B0604020202020204" pitchFamily="34" charset="0"/>
              <a:cs typeface="Arial" panose="020B0604020202020204" pitchFamily="34" charset="0"/>
            </a:rPr>
            <a:t>Üzleti titokvédelem</a:t>
          </a:r>
        </a:p>
      </dsp:txBody>
      <dsp:txXfrm>
        <a:off x="5359698" y="27974"/>
        <a:ext cx="1798044" cy="871896"/>
      </dsp:txXfrm>
    </dsp:sp>
    <dsp:sp modelId="{A65E5187-664B-4AE6-A54C-64850BB78F89}">
      <dsp:nvSpPr>
        <dsp:cNvPr id="0" name=""/>
        <dsp:cNvSpPr/>
      </dsp:nvSpPr>
      <dsp:spPr>
        <a:xfrm>
          <a:off x="5517801" y="926996"/>
          <a:ext cx="185229" cy="6946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4611"/>
              </a:lnTo>
              <a:lnTo>
                <a:pt x="185229" y="694611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0C24A4-9B2D-430F-B227-19F5421EDBDF}">
      <dsp:nvSpPr>
        <dsp:cNvPr id="0" name=""/>
        <dsp:cNvSpPr/>
      </dsp:nvSpPr>
      <dsp:spPr>
        <a:xfrm>
          <a:off x="5703031" y="1158533"/>
          <a:ext cx="1481836" cy="9261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900" kern="1200" dirty="0"/>
            <a:t>Know-how (védett ismeret)</a:t>
          </a:r>
        </a:p>
      </dsp:txBody>
      <dsp:txXfrm>
        <a:off x="5730157" y="1185659"/>
        <a:ext cx="1427584" cy="8718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1A3704-4334-44DC-8E73-9E2D9EBD3B26}">
      <dsp:nvSpPr>
        <dsp:cNvPr id="0" name=""/>
        <dsp:cNvSpPr/>
      </dsp:nvSpPr>
      <dsp:spPr>
        <a:xfrm>
          <a:off x="758" y="220499"/>
          <a:ext cx="4301635" cy="720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2300" kern="1200" noProof="0" dirty="0">
              <a:latin typeface="Arial" panose="020B0604020202020204" pitchFamily="34" charset="0"/>
              <a:cs typeface="Arial" panose="020B0604020202020204" pitchFamily="34" charset="0"/>
            </a:rPr>
            <a:t>Védett lehet</a:t>
          </a:r>
          <a:endParaRPr lang="en-US" sz="2300" kern="1200" noProof="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58" y="220499"/>
        <a:ext cx="4301635" cy="720000"/>
      </dsp:txXfrm>
    </dsp:sp>
    <dsp:sp modelId="{0E8B38B6-B487-433D-9722-F4987C580AD3}">
      <dsp:nvSpPr>
        <dsp:cNvPr id="0" name=""/>
        <dsp:cNvSpPr/>
      </dsp:nvSpPr>
      <dsp:spPr>
        <a:xfrm>
          <a:off x="40009" y="940499"/>
          <a:ext cx="4223133" cy="295087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en-US" sz="2300" kern="1200" noProof="0" dirty="0">
              <a:latin typeface="Arial" panose="020B0604020202020204" pitchFamily="34" charset="0"/>
              <a:cs typeface="Arial" panose="020B0604020202020204" pitchFamily="34" charset="0"/>
            </a:rPr>
            <a:t>Web</a:t>
          </a:r>
          <a:r>
            <a:rPr lang="hu-HU" sz="2300" kern="1200" noProof="0" dirty="0">
              <a:latin typeface="Arial" panose="020B0604020202020204" pitchFamily="34" charset="0"/>
              <a:cs typeface="Arial" panose="020B0604020202020204" pitchFamily="34" charset="0"/>
            </a:rPr>
            <a:t>oldal</a:t>
          </a:r>
          <a:endParaRPr lang="en-US" sz="2300" kern="1200" noProof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hu-HU" sz="2300" kern="1200" noProof="0" dirty="0">
              <a:latin typeface="Arial" panose="020B0604020202020204" pitchFamily="34" charset="0"/>
              <a:cs typeface="Arial" panose="020B0604020202020204" pitchFamily="34" charset="0"/>
            </a:rPr>
            <a:t>Grafikus felhasználói felület</a:t>
          </a:r>
          <a:r>
            <a:rPr lang="en-US" sz="2300" kern="1200" noProof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hu-HU" sz="2300" kern="1200" noProof="0" dirty="0">
              <a:latin typeface="Arial" panose="020B0604020202020204" pitchFamily="34" charset="0"/>
              <a:cs typeface="Arial" panose="020B0604020202020204" pitchFamily="34" charset="0"/>
            </a:rPr>
            <a:t>Játék</a:t>
          </a:r>
          <a:r>
            <a:rPr lang="en-US" sz="2300" kern="1200" noProof="0" dirty="0">
              <a:latin typeface="Arial" panose="020B0604020202020204" pitchFamily="34" charset="0"/>
              <a:cs typeface="Arial" panose="020B0604020202020204" pitchFamily="34" charset="0"/>
            </a:rPr>
            <a:t> (</a:t>
          </a:r>
          <a:r>
            <a:rPr lang="hu-HU" sz="2300" kern="1200" noProof="0" dirty="0">
              <a:latin typeface="Arial" panose="020B0604020202020204" pitchFamily="34" charset="0"/>
              <a:cs typeface="Arial" panose="020B0604020202020204" pitchFamily="34" charset="0"/>
            </a:rPr>
            <a:t>táblás</a:t>
          </a:r>
          <a:r>
            <a:rPr lang="en-US" sz="2300" kern="1200" noProof="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hu-HU" sz="2300" kern="1200" noProof="0" dirty="0">
              <a:latin typeface="Arial" panose="020B0604020202020204" pitchFamily="34" charset="0"/>
              <a:cs typeface="Arial" panose="020B0604020202020204" pitchFamily="34" charset="0"/>
            </a:rPr>
            <a:t>menekülő szoba </a:t>
          </a:r>
          <a:r>
            <a:rPr lang="hu-HU" sz="2300" kern="1200" noProof="0" dirty="0" err="1">
              <a:latin typeface="Arial" panose="020B0604020202020204" pitchFamily="34" charset="0"/>
              <a:cs typeface="Arial" panose="020B0604020202020204" pitchFamily="34" charset="0"/>
            </a:rPr>
            <a:t>stb</a:t>
          </a:r>
          <a:r>
            <a:rPr lang="en-US" sz="2300" kern="1200" noProof="0" dirty="0">
              <a:latin typeface="Arial" panose="020B0604020202020204" pitchFamily="34" charset="0"/>
              <a:cs typeface="Arial" panose="020B0604020202020204" pitchFamily="34" charset="0"/>
            </a:rPr>
            <a:t>.)</a:t>
          </a: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hu-HU" sz="2300" kern="1200" noProof="0" dirty="0">
              <a:latin typeface="Arial" panose="020B0604020202020204" pitchFamily="34" charset="0"/>
              <a:cs typeface="Arial" panose="020B0604020202020204" pitchFamily="34" charset="0"/>
            </a:rPr>
            <a:t>Utcai művészet</a:t>
          </a:r>
          <a:r>
            <a:rPr lang="en-US" sz="2300" kern="1200" noProof="0" dirty="0">
              <a:latin typeface="Arial" panose="020B0604020202020204" pitchFamily="34" charset="0"/>
              <a:cs typeface="Arial" panose="020B0604020202020204" pitchFamily="34" charset="0"/>
            </a:rPr>
            <a:t> (graffiti)</a:t>
          </a: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hu-HU" sz="2300" kern="1200" noProof="0" dirty="0">
              <a:latin typeface="Arial" panose="020B0604020202020204" pitchFamily="34" charset="0"/>
              <a:cs typeface="Arial" panose="020B0604020202020204" pitchFamily="34" charset="0"/>
            </a:rPr>
            <a:t>Lézershow</a:t>
          </a:r>
          <a:endParaRPr lang="en-US" sz="2300" kern="1200" noProof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hu-HU" sz="2300" kern="1200" noProof="0" dirty="0">
              <a:latin typeface="Arial" panose="020B0604020202020204" pitchFamily="34" charset="0"/>
              <a:cs typeface="Arial" panose="020B0604020202020204" pitchFamily="34" charset="0"/>
            </a:rPr>
            <a:t>Belső design</a:t>
          </a:r>
          <a:endParaRPr lang="en-US" sz="2300" kern="1200" noProof="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009" y="940499"/>
        <a:ext cx="4223133" cy="2950875"/>
      </dsp:txXfrm>
    </dsp:sp>
    <dsp:sp modelId="{B3DD701C-9D37-4019-A62F-9C9A48CA2513}">
      <dsp:nvSpPr>
        <dsp:cNvPr id="0" name=""/>
        <dsp:cNvSpPr/>
      </dsp:nvSpPr>
      <dsp:spPr>
        <a:xfrm>
          <a:off x="4851682" y="261775"/>
          <a:ext cx="2902411" cy="720000"/>
        </a:xfrm>
        <a:prstGeom prst="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accent5">
              <a:hueOff val="6237238"/>
              <a:satOff val="-4013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2300" kern="1200" noProof="0" dirty="0" smtClean="0">
              <a:latin typeface="Arial" panose="020B0604020202020204" pitchFamily="34" charset="0"/>
              <a:cs typeface="Arial" panose="020B0604020202020204" pitchFamily="34" charset="0"/>
            </a:rPr>
            <a:t>NEM VÉDETT</a:t>
          </a:r>
          <a:endParaRPr lang="en-US" sz="2300" kern="1200" noProof="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51682" y="261775"/>
        <a:ext cx="2902411" cy="720000"/>
      </dsp:txXfrm>
    </dsp:sp>
    <dsp:sp modelId="{06884835-3DD6-4DBA-8717-1095B7793E54}">
      <dsp:nvSpPr>
        <dsp:cNvPr id="0" name=""/>
        <dsp:cNvSpPr/>
      </dsp:nvSpPr>
      <dsp:spPr>
        <a:xfrm>
          <a:off x="4876785" y="1130646"/>
          <a:ext cx="2941640" cy="2322781"/>
        </a:xfrm>
        <a:prstGeom prst="rect">
          <a:avLst/>
        </a:prstGeom>
        <a:solidFill>
          <a:schemeClr val="accent5">
            <a:tint val="40000"/>
            <a:alpha val="90000"/>
            <a:hueOff val="6029015"/>
            <a:satOff val="58"/>
            <a:lumOff val="463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6029015"/>
              <a:satOff val="58"/>
              <a:lumOff val="4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hu-HU" sz="2600" kern="1200" noProof="0" dirty="0" smtClean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sz="2600" kern="1200" noProof="0" dirty="0" err="1" smtClean="0">
              <a:latin typeface="Arial" panose="020B0604020202020204" pitchFamily="34" charset="0"/>
              <a:cs typeface="Arial" panose="020B0604020202020204" pitchFamily="34" charset="0"/>
            </a:rPr>
            <a:t>arf</a:t>
          </a:r>
          <a:r>
            <a:rPr lang="hu-HU" sz="2600" kern="1200" noProof="0" dirty="0">
              <a:latin typeface="Arial" panose="020B0604020202020204" pitchFamily="34" charset="0"/>
              <a:cs typeface="Arial" panose="020B0604020202020204" pitchFamily="34" charset="0"/>
            </a:rPr>
            <a:t>ü</a:t>
          </a:r>
          <a:r>
            <a:rPr lang="en-US" sz="2600" kern="1200" noProof="0" dirty="0">
              <a:latin typeface="Arial" panose="020B0604020202020204" pitchFamily="34" charset="0"/>
              <a:cs typeface="Arial" panose="020B0604020202020204" pitchFamily="34" charset="0"/>
            </a:rPr>
            <a:t>m</a:t>
          </a:r>
          <a:endParaRPr lang="en-US" sz="2000" kern="1200" noProof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hu-HU" sz="2600" kern="1200" noProof="0" dirty="0" smtClean="0">
              <a:latin typeface="Arial" panose="020B0604020202020204" pitchFamily="34" charset="0"/>
              <a:cs typeface="Arial" panose="020B0604020202020204" pitchFamily="34" charset="0"/>
            </a:rPr>
            <a:t>Sajt</a:t>
          </a:r>
          <a:endParaRPr lang="en-US" sz="2600" kern="1200" noProof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hu-HU" sz="2600" kern="1200" noProof="0" dirty="0" smtClean="0">
              <a:latin typeface="Arial" panose="020B0604020202020204" pitchFamily="34" charset="0"/>
              <a:cs typeface="Arial" panose="020B0604020202020204" pitchFamily="34" charset="0"/>
            </a:rPr>
            <a:t>Algoritmus</a:t>
          </a:r>
          <a:endParaRPr lang="en-US" sz="2600" kern="1200" noProof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hu-HU" sz="2600" kern="1200" noProof="0" dirty="0" smtClean="0">
              <a:latin typeface="Arial" panose="020B0604020202020204" pitchFamily="34" charset="0"/>
              <a:cs typeface="Arial" panose="020B0604020202020204" pitchFamily="34" charset="0"/>
            </a:rPr>
            <a:t>Ötlet</a:t>
          </a:r>
          <a:endParaRPr lang="en-US" sz="2600" kern="1200" noProof="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76785" y="1130646"/>
        <a:ext cx="2941640" cy="2322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6382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73661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2855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8966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1516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9333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6560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111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1081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904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2660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3749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9940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1736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5231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91530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42767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43560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463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07770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</p:sldLayoutIdLst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0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ztnh.gov.hu/sites/default/files/szerzoi_jogi_agazatok_6_web.pd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306" y="514350"/>
            <a:ext cx="8505458" cy="1388841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76213" marR="5080" algn="ctr">
              <a:lnSpc>
                <a:spcPts val="5250"/>
              </a:lnSpc>
              <a:spcBef>
                <a:spcPts val="229"/>
              </a:spcBef>
            </a:pPr>
            <a:r>
              <a:rPr sz="4400" dirty="0" smtClean="0"/>
              <a:t>Sze</a:t>
            </a:r>
            <a:r>
              <a:rPr lang="hu-HU" sz="4400" dirty="0" err="1" smtClean="0"/>
              <a:t>llemi</a:t>
            </a:r>
            <a:r>
              <a:rPr lang="hu-HU" sz="4400" dirty="0" smtClean="0"/>
              <a:t> alkotások joga</a:t>
            </a:r>
            <a:br>
              <a:rPr lang="hu-HU" sz="4400" dirty="0" smtClean="0"/>
            </a:br>
            <a:r>
              <a:rPr lang="hu-HU" sz="4400" dirty="0" smtClean="0"/>
              <a:t>Szerzői </a:t>
            </a:r>
            <a:r>
              <a:rPr lang="hu-HU" sz="4400" dirty="0" smtClean="0"/>
              <a:t>jog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311699" y="2834125"/>
            <a:ext cx="8521065" cy="1153521"/>
          </a:xfrm>
          <a:prstGeom prst="rect">
            <a:avLst/>
          </a:prstGeom>
          <a:ln w="9524">
            <a:solidFill>
              <a:srgbClr val="FF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2425065" marR="2417445" indent="-1905" algn="ctr">
              <a:lnSpc>
                <a:spcPct val="100000"/>
              </a:lnSpc>
              <a:spcBef>
                <a:spcPts val="595"/>
              </a:spcBef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Dr.</a:t>
            </a:r>
            <a:r>
              <a:rPr sz="20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hu-HU" sz="2000" dirty="0" smtClean="0">
                <a:solidFill>
                  <a:schemeClr val="tx1"/>
                </a:solidFill>
                <a:latin typeface="Arial"/>
                <a:cs typeface="Arial"/>
              </a:rPr>
              <a:t>Tomasovszky Edit</a:t>
            </a:r>
          </a:p>
          <a:p>
            <a:pPr marL="2425065" marR="2417445" indent="-1905" algn="ctr">
              <a:lnSpc>
                <a:spcPct val="100000"/>
              </a:lnSpc>
              <a:spcBef>
                <a:spcPts val="595"/>
              </a:spcBef>
            </a:pPr>
            <a:r>
              <a:rPr sz="2000" dirty="0" smtClean="0">
                <a:solidFill>
                  <a:schemeClr val="tx1"/>
                </a:solidFill>
                <a:latin typeface="Arial"/>
                <a:cs typeface="Arial"/>
              </a:rPr>
              <a:t>BME</a:t>
            </a:r>
            <a:r>
              <a:rPr sz="2000" spc="-4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 smtClean="0">
                <a:solidFill>
                  <a:schemeClr val="tx1"/>
                </a:solidFill>
                <a:latin typeface="Arial"/>
                <a:cs typeface="Arial"/>
              </a:rPr>
              <a:t>G</a:t>
            </a:r>
            <a:r>
              <a:rPr lang="hu-HU" sz="2000" dirty="0" smtClean="0">
                <a:solidFill>
                  <a:schemeClr val="tx1"/>
                </a:solidFill>
                <a:latin typeface="Arial"/>
                <a:cs typeface="Arial"/>
              </a:rPr>
              <a:t>TK ÜJT</a:t>
            </a:r>
          </a:p>
          <a:p>
            <a:pPr marL="2425065" marR="2417445" indent="-1905" algn="ctr">
              <a:lnSpc>
                <a:spcPct val="100000"/>
              </a:lnSpc>
              <a:spcBef>
                <a:spcPts val="595"/>
              </a:spcBef>
            </a:pPr>
            <a:r>
              <a:rPr lang="hu-HU" sz="2000" dirty="0" smtClean="0">
                <a:solidFill>
                  <a:schemeClr val="tx1"/>
                </a:solidFill>
                <a:latin typeface="Arial"/>
                <a:cs typeface="Arial"/>
              </a:rPr>
              <a:t>2026.03.20.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28650" y="232281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 vert="horz" wrap="square" lIns="68580" tIns="34290" rIns="68580" bIns="34290" rtlCol="0" anchor="ctr">
            <a:normAutofit/>
          </a:bodyPr>
          <a:lstStyle/>
          <a:p>
            <a:pPr algn="ctr"/>
            <a:r>
              <a:rPr lang="hu-HU" b="1" cap="all" dirty="0" smtClean="0">
                <a:solidFill>
                  <a:schemeClr val="tx1"/>
                </a:solidFill>
              </a:rPr>
              <a:t>Mi minden lehet Szerzői mű?</a:t>
            </a:r>
            <a:endParaRPr lang="hu-HU" b="1" cap="all" dirty="0">
              <a:solidFill>
                <a:schemeClr val="tx1"/>
              </a:solidFill>
            </a:endParaRPr>
          </a:p>
        </p:txBody>
      </p:sp>
      <p:graphicFrame>
        <p:nvGraphicFramePr>
          <p:cNvPr id="6" name="Tartalom helye 5"/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82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584" y="339538"/>
            <a:ext cx="7053542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err="1"/>
              <a:t>Az</a:t>
            </a:r>
            <a:r>
              <a:rPr spc="-85" dirty="0"/>
              <a:t> </a:t>
            </a:r>
            <a:r>
              <a:rPr dirty="0" err="1" smtClean="0"/>
              <a:t>előadás</a:t>
            </a:r>
            <a:r>
              <a:rPr spc="-80" dirty="0" smtClean="0"/>
              <a:t> </a:t>
            </a:r>
            <a:r>
              <a:rPr dirty="0"/>
              <a:t>rövid</a:t>
            </a:r>
            <a:r>
              <a:rPr spc="-80" dirty="0"/>
              <a:t> </a:t>
            </a:r>
            <a:r>
              <a:rPr spc="-10" dirty="0"/>
              <a:t>áttekintése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275" y="1690701"/>
            <a:ext cx="7632700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marR="5080" indent="-356235">
              <a:lnSpc>
                <a:spcPct val="114599"/>
              </a:lnSpc>
              <a:spcBef>
                <a:spcPts val="100"/>
              </a:spcBef>
              <a:buAutoNum type="romanUcPeriod"/>
              <a:tabLst>
                <a:tab pos="495300" algn="l"/>
              </a:tabLst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-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18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védelem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általános</a:t>
            </a:r>
            <a:r>
              <a:rPr sz="18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sajátosságai,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funkcionális</a:t>
            </a:r>
            <a:r>
              <a:rPr sz="18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alkotások szerepe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94665" indent="-418465">
              <a:lnSpc>
                <a:spcPct val="100000"/>
              </a:lnSpc>
              <a:spcBef>
                <a:spcPts val="315"/>
              </a:spcBef>
              <a:buAutoNum type="romanUcPeriod"/>
              <a:tabLst>
                <a:tab pos="494665" algn="l"/>
              </a:tabLst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-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szoftverek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 védelméről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94665" indent="-481965">
              <a:lnSpc>
                <a:spcPct val="100000"/>
              </a:lnSpc>
              <a:spcBef>
                <a:spcPts val="315"/>
              </a:spcBef>
              <a:buAutoNum type="romanUcPeriod"/>
              <a:tabLst>
                <a:tab pos="494665" algn="l"/>
              </a:tabLst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adatbázis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 védelméről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80172" y="232280"/>
            <a:ext cx="8326506" cy="994172"/>
          </a:xfrm>
          <a:solidFill>
            <a:schemeClr val="accent5">
              <a:lumMod val="75000"/>
            </a:schemeClr>
          </a:solidFill>
        </p:spPr>
        <p:txBody>
          <a:bodyPr vert="horz" wrap="square" lIns="68580" tIns="34290" rIns="68580" bIns="34290" rtlCol="0" anchor="ctr">
            <a:normAutofit/>
          </a:bodyPr>
          <a:lstStyle/>
          <a:p>
            <a:pPr algn="ctr"/>
            <a:r>
              <a:rPr lang="hu-HU" sz="3600" b="1" cap="all" dirty="0"/>
              <a:t>Szellemi alkotások joga </a:t>
            </a:r>
          </a:p>
        </p:txBody>
      </p:sp>
      <p:graphicFrame>
        <p:nvGraphicFramePr>
          <p:cNvPr id="6" name="Tartalom helye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0742761"/>
              </p:ext>
            </p:extLst>
          </p:nvPr>
        </p:nvGraphicFramePr>
        <p:xfrm>
          <a:off x="628650" y="1514692"/>
          <a:ext cx="7886700" cy="3509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364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0" y="1594485"/>
            <a:ext cx="7772400" cy="430887"/>
          </a:xfrm>
        </p:spPr>
        <p:txBody>
          <a:bodyPr/>
          <a:lstStyle/>
          <a:p>
            <a:r>
              <a:rPr lang="hu-HU" b="1" dirty="0" smtClean="0"/>
              <a:t>OLTALMI FORMÁK</a:t>
            </a:r>
            <a:endParaRPr lang="hu-HU" b="1" dirty="0"/>
          </a:p>
        </p:txBody>
      </p:sp>
      <p:graphicFrame>
        <p:nvGraphicFramePr>
          <p:cNvPr id="4" name="Tartalom helye 3"/>
          <p:cNvGraphicFramePr>
            <a:graphicFrameLocks noGrp="1"/>
          </p:cNvGraphicFramePr>
          <p:nvPr>
            <p:ph idx="1"/>
            <p:extLst/>
          </p:nvPr>
        </p:nvGraphicFramePr>
        <p:xfrm>
          <a:off x="0" y="1508760"/>
          <a:ext cx="9144000" cy="3756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00320648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24350988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22920164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704324255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endParaRPr lang="hu-H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MIT VÉD?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OLTALOMKÉPESSÉG</a:t>
                      </a:r>
                      <a:r>
                        <a:rPr lang="hu-HU" sz="1400" baseline="0" dirty="0" smtClean="0"/>
                        <a:t> FELTÉTELEI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OLTALMI IDŐ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1202882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SZABADALOM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Műszaki</a:t>
                      </a:r>
                      <a:r>
                        <a:rPr lang="hu-HU" sz="1400" baseline="0" dirty="0" smtClean="0"/>
                        <a:t> megoldás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Újdonság;</a:t>
                      </a:r>
                    </a:p>
                    <a:p>
                      <a:r>
                        <a:rPr lang="hu-HU" sz="1400" dirty="0" smtClean="0"/>
                        <a:t>Feltalálói tevékenység;</a:t>
                      </a:r>
                    </a:p>
                    <a:p>
                      <a:r>
                        <a:rPr lang="hu-HU" sz="1400" dirty="0" smtClean="0"/>
                        <a:t>Ipari alkalmazhatóság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20 év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0834264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VÉDJEGY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Vállalat </a:t>
                      </a:r>
                      <a:r>
                        <a:rPr lang="hu-HU" sz="1400" dirty="0" err="1" smtClean="0"/>
                        <a:t>márkeneve</a:t>
                      </a:r>
                      <a:r>
                        <a:rPr lang="hu-HU" sz="1400" dirty="0" smtClean="0"/>
                        <a:t>, logója, szlogenje stb.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Ábrázolható megjelölés; Megkülönböztető képesség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10-10 év (korlátlanul megújítható)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5508535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FORMATERVEZÉSI MINTA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Termék megjelenése, csomagolása, dizájnja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Egyéni minta;</a:t>
                      </a:r>
                    </a:p>
                    <a:p>
                      <a:r>
                        <a:rPr lang="hu-HU" sz="1400" dirty="0" smtClean="0"/>
                        <a:t>Korábbi mintáktól eltérő</a:t>
                      </a:r>
                      <a:r>
                        <a:rPr lang="hu-HU" sz="1400" baseline="0" dirty="0" smtClean="0"/>
                        <a:t> összbenyomás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5-5 év (</a:t>
                      </a:r>
                      <a:r>
                        <a:rPr lang="hu-HU" sz="1400" dirty="0" err="1" smtClean="0"/>
                        <a:t>max</a:t>
                      </a:r>
                      <a:r>
                        <a:rPr lang="hu-HU" sz="1400" dirty="0" smtClean="0"/>
                        <a:t>.</a:t>
                      </a:r>
                      <a:r>
                        <a:rPr lang="hu-HU" sz="1400" baseline="0" dirty="0" smtClean="0"/>
                        <a:t> 25 évig fenntartható)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0656266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SZERZŐI JOG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Művészet, irodalom, tudomány területén alkotott művek; </a:t>
                      </a:r>
                    </a:p>
                    <a:p>
                      <a:r>
                        <a:rPr lang="hu-HU" sz="1400" dirty="0" smtClean="0"/>
                        <a:t>Funkcionális alkotások (szoftver, adatbázis)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Egyéni-eredeti jelleg</a:t>
                      </a:r>
                    </a:p>
                    <a:p>
                      <a:endParaRPr lang="hu-HU" sz="1400" dirty="0" smtClean="0"/>
                    </a:p>
                    <a:p>
                      <a:endParaRPr lang="hu-H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hu-HU" sz="1400" dirty="0" smtClean="0"/>
                        <a:t>Szerző élete</a:t>
                      </a:r>
                      <a:r>
                        <a:rPr lang="hu-HU" sz="1400" baseline="0" dirty="0" smtClean="0"/>
                        <a:t> + 70 év (kivételek)</a:t>
                      </a:r>
                      <a:endParaRPr lang="hu-H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04997200"/>
                  </a:ext>
                </a:extLst>
              </a:tr>
            </a:tbl>
          </a:graphicData>
        </a:graphic>
      </p:graphicFrame>
      <p:sp>
        <p:nvSpPr>
          <p:cNvPr id="5" name="Cím 1"/>
          <p:cNvSpPr txBox="1">
            <a:spLocks/>
          </p:cNvSpPr>
          <p:nvPr/>
        </p:nvSpPr>
        <p:spPr>
          <a:xfrm>
            <a:off x="324000" y="130430"/>
            <a:ext cx="8496000" cy="8019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wrap="square" lIns="68580" tIns="34290" rIns="68580" bIns="34290" rtlCol="0" anchor="ctr">
            <a:norm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hu-HU" b="1" cap="all" dirty="0" err="1" smtClean="0"/>
              <a:t>OlTALMI</a:t>
            </a:r>
            <a:r>
              <a:rPr lang="hu-HU" b="1" cap="all" dirty="0" smtClean="0"/>
              <a:t> FORMÁK</a:t>
            </a:r>
            <a:endParaRPr lang="hu-HU" b="1" cap="all" dirty="0"/>
          </a:p>
        </p:txBody>
      </p:sp>
    </p:spTree>
    <p:extLst>
      <p:ext uri="{BB962C8B-B14F-4D97-AF65-F5344CB8AC3E}">
        <p14:creationId xmlns:p14="http://schemas.microsoft.com/office/powerpoint/2010/main" val="287919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24000" y="130430"/>
            <a:ext cx="8496000" cy="801950"/>
          </a:xfrm>
          <a:solidFill>
            <a:schemeClr val="accent5">
              <a:lumMod val="75000"/>
            </a:schemeClr>
          </a:solidFill>
        </p:spPr>
        <p:txBody>
          <a:bodyPr vert="horz" wrap="square" lIns="68580" tIns="34290" rIns="68580" bIns="34290" rtlCol="0" anchor="ctr">
            <a:normAutofit/>
          </a:bodyPr>
          <a:lstStyle/>
          <a:p>
            <a:pPr algn="ctr"/>
            <a:r>
              <a:rPr lang="hu-HU" b="1" cap="all" dirty="0">
                <a:solidFill>
                  <a:schemeClr val="tx1"/>
                </a:solidFill>
              </a:rPr>
              <a:t>Mi nem számít?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24001" y="1134000"/>
            <a:ext cx="3812136" cy="3509438"/>
          </a:xfrm>
        </p:spPr>
        <p:txBody>
          <a:bodyPr>
            <a:normAutofit fontScale="92500"/>
          </a:bodyPr>
          <a:lstStyle/>
          <a:p>
            <a:endParaRPr lang="hu-HU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hu-HU" sz="2800" dirty="0">
                <a:latin typeface="Arial" panose="020B0604020202020204" pitchFamily="34" charset="0"/>
                <a:cs typeface="Arial" panose="020B0604020202020204" pitchFamily="34" charset="0"/>
              </a:rPr>
              <a:t>Mennyiség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hu-HU" sz="2800" dirty="0">
                <a:latin typeface="Arial" panose="020B0604020202020204" pitchFamily="34" charset="0"/>
                <a:cs typeface="Arial" panose="020B0604020202020204" pitchFamily="34" charset="0"/>
              </a:rPr>
              <a:t>Minőség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hu-HU" sz="2800" dirty="0">
                <a:latin typeface="Arial" panose="020B0604020202020204" pitchFamily="34" charset="0"/>
                <a:cs typeface="Arial" panose="020B0604020202020204" pitchFamily="34" charset="0"/>
              </a:rPr>
              <a:t>Esztétikai érték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hu-HU" sz="2800" dirty="0">
                <a:latin typeface="Arial" panose="020B0604020202020204" pitchFamily="34" charset="0"/>
                <a:cs typeface="Arial" panose="020B0604020202020204" pitchFamily="34" charset="0"/>
              </a:rPr>
              <a:t>Művészeti stílus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hu-HU" sz="2800" dirty="0">
                <a:latin typeface="Arial" panose="020B0604020202020204" pitchFamily="34" charset="0"/>
                <a:cs typeface="Arial" panose="020B0604020202020204" pitchFamily="34" charset="0"/>
              </a:rPr>
              <a:t>Alkotás színvonalára </a:t>
            </a:r>
            <a:r>
              <a:rPr lang="hu-H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vonatkozó értékítélet</a:t>
            </a:r>
            <a:endParaRPr lang="hu-H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456" y="1171575"/>
            <a:ext cx="2800350" cy="1400175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825" y="1171575"/>
            <a:ext cx="1400175" cy="1400175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137" y="3612895"/>
            <a:ext cx="2908771" cy="1515179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657" y="3520731"/>
            <a:ext cx="1607344" cy="1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273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3DF8252-56B5-4DC4-BFD6-E3A34BD95E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5056369"/>
              </p:ext>
            </p:extLst>
          </p:nvPr>
        </p:nvGraphicFramePr>
        <p:xfrm>
          <a:off x="634696" y="819150"/>
          <a:ext cx="7874608" cy="4111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Kép 7">
            <a:extLst>
              <a:ext uri="{FF2B5EF4-FFF2-40B4-BE49-F238E27FC236}">
                <a16:creationId xmlns:a16="http://schemas.microsoft.com/office/drawing/2014/main" id="{D0FBE9D2-E980-46D6-A854-13573A02AD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947668">
            <a:off x="107254" y="921636"/>
            <a:ext cx="1535502" cy="840239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CA2E96EE-BD29-436E-B527-F32785286F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347204">
            <a:off x="4166026" y="2749962"/>
            <a:ext cx="1376555" cy="722435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F878FB28-143E-48AE-BAAA-7E0D577769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436925">
            <a:off x="3420383" y="3604959"/>
            <a:ext cx="1134278" cy="758257"/>
          </a:xfrm>
          <a:prstGeom prst="rect">
            <a:avLst/>
          </a:prstGeom>
        </p:spPr>
      </p:pic>
      <p:sp>
        <p:nvSpPr>
          <p:cNvPr id="11" name="Cím 1">
            <a:extLst>
              <a:ext uri="{FF2B5EF4-FFF2-40B4-BE49-F238E27FC236}">
                <a16:creationId xmlns:a16="http://schemas.microsoft.com/office/drawing/2014/main" id="{0608EC96-0CA5-4FC4-9BF9-C030CDE32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130430"/>
            <a:ext cx="8496000" cy="443639"/>
          </a:xfrm>
          <a:solidFill>
            <a:schemeClr val="accent5">
              <a:lumMod val="75000"/>
            </a:schemeClr>
          </a:solidFill>
        </p:spPr>
        <p:txBody>
          <a:bodyPr vert="horz" wrap="square" lIns="68580" tIns="34290" rIns="68580" bIns="34290" rtlCol="0" anchor="ctr">
            <a:normAutofit fontScale="90000"/>
          </a:bodyPr>
          <a:lstStyle/>
          <a:p>
            <a:pPr algn="ctr"/>
            <a:r>
              <a:rPr lang="hu-HU" cap="all" dirty="0">
                <a:solidFill>
                  <a:schemeClr val="tx1"/>
                </a:solidFill>
              </a:rPr>
              <a:t>Néhány példa</a:t>
            </a:r>
          </a:p>
        </p:txBody>
      </p:sp>
    </p:spTree>
    <p:extLst>
      <p:ext uri="{BB962C8B-B14F-4D97-AF65-F5344CB8AC3E}">
        <p14:creationId xmlns:p14="http://schemas.microsoft.com/office/powerpoint/2010/main" val="2585730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24000" y="85125"/>
            <a:ext cx="8496000" cy="592969"/>
          </a:xfrm>
          <a:solidFill>
            <a:schemeClr val="accent5">
              <a:lumMod val="75000"/>
            </a:schemeClr>
          </a:solidFill>
        </p:spPr>
        <p:txBody>
          <a:bodyPr vert="horz" wrap="square" lIns="68580" tIns="34290" rIns="68580" bIns="34290" rtlCol="0" anchor="ctr">
            <a:normAutofit/>
          </a:bodyPr>
          <a:lstStyle/>
          <a:p>
            <a:pPr algn="ctr"/>
            <a:r>
              <a:rPr lang="hu-HU" b="1" cap="all" dirty="0">
                <a:solidFill>
                  <a:schemeClr val="tx1"/>
                </a:solidFill>
              </a:rPr>
              <a:t>kizárások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18A44C3-37E4-4280-BC49-B3ACE7F5A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00" y="966981"/>
            <a:ext cx="8495999" cy="399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50000"/>
              </a:spcBef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. </a:t>
            </a:r>
            <a:r>
              <a:rPr lang="hu-HU" b="1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Folklór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  <a:p>
            <a:pPr marL="600075" lvl="1" indent="-257175" algn="just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szerző, keletkezés ismeretlen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  <a:p>
            <a:pPr algn="just">
              <a:spcBef>
                <a:spcPct val="50000"/>
              </a:spcBef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2. </a:t>
            </a:r>
            <a:r>
              <a:rPr lang="hu-HU" b="1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Ötlet, elv, eljárás, matematikai művelet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  <a:p>
            <a:pPr marL="600075" lvl="1" indent="-257175" algn="just">
              <a:spcBef>
                <a:spcPct val="600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nem éri el a védelem formai minimumát</a:t>
            </a:r>
            <a:endParaRPr lang="hu-HU" dirty="0">
              <a:solidFill>
                <a:schemeClr val="tx1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  <a:p>
            <a:pPr marL="600075" lvl="1" indent="-257175" algn="just">
              <a:spcBef>
                <a:spcPct val="600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Ötlet pl. zene: hang, ritmus, akkordmenetek; TV: élő show „</a:t>
            </a:r>
            <a:r>
              <a:rPr lang="hu-HU" dirty="0" err="1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plot</a:t>
            </a:r>
            <a:r>
              <a:rPr lang="hu-HU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” 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  <a:p>
            <a:pPr algn="just">
              <a:spcBef>
                <a:spcPct val="50000"/>
              </a:spcBef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3. </a:t>
            </a:r>
            <a:r>
              <a:rPr lang="hu-HU" b="1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Jogszabályok, közjogi szervezetszabályozó eszközök, a bírósági vagy hatósági határozatok, a hatósági vagy más hivatalos közlemények és ügyiratok, valamint más hasonló rendelkezések	</a:t>
            </a:r>
          </a:p>
          <a:p>
            <a:pPr algn="just">
              <a:spcBef>
                <a:spcPct val="50000"/>
              </a:spcBef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	- </a:t>
            </a:r>
            <a:r>
              <a:rPr lang="hu-HU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társadalmi érdekből kizárt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(</a:t>
            </a:r>
            <a:r>
              <a:rPr lang="hu-HU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információhoz való hozzáférés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)</a:t>
            </a:r>
          </a:p>
          <a:p>
            <a:pPr algn="just">
              <a:spcBef>
                <a:spcPct val="50000"/>
              </a:spcBef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4. </a:t>
            </a:r>
            <a:r>
              <a:rPr lang="hu-HU" b="1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Sajtóközlemények alapjául szolgáló hírek, tények</a:t>
            </a:r>
          </a:p>
          <a:p>
            <a:pPr algn="just">
              <a:spcBef>
                <a:spcPct val="50000"/>
              </a:spcBef>
              <a:buClr>
                <a:schemeClr val="tx1"/>
              </a:buClr>
            </a:pPr>
            <a:endParaRPr lang="en-US" sz="15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73F2FD5-29A4-47BE-A32F-2BD2DF318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524" y="678094"/>
            <a:ext cx="1792475" cy="179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269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95" dirty="0"/>
              <a:t> </a:t>
            </a:r>
            <a:r>
              <a:rPr dirty="0"/>
              <a:t>funkcionális</a:t>
            </a:r>
            <a:r>
              <a:rPr spc="-170" dirty="0"/>
              <a:t> </a:t>
            </a:r>
            <a:r>
              <a:rPr dirty="0"/>
              <a:t>alkotások</a:t>
            </a:r>
            <a:r>
              <a:rPr spc="-114" dirty="0"/>
              <a:t> </a:t>
            </a:r>
            <a:r>
              <a:rPr dirty="0"/>
              <a:t>védelmének</a:t>
            </a:r>
            <a:r>
              <a:rPr spc="-114" dirty="0"/>
              <a:t> </a:t>
            </a:r>
            <a:r>
              <a:rPr spc="-10" dirty="0"/>
              <a:t>fejlődése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484584" y="1809750"/>
            <a:ext cx="8371840" cy="30544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941705" indent="-285750">
              <a:lnSpc>
                <a:spcPct val="114599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</a:rPr>
              <a:t>Az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oltalom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dilemmái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az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1970-es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években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-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mára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eldőltek,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de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máig</a:t>
            </a:r>
            <a:r>
              <a:rPr spc="-20" dirty="0">
                <a:solidFill>
                  <a:schemeClr val="tx1"/>
                </a:solidFill>
              </a:rPr>
              <a:t> ható </a:t>
            </a:r>
            <a:r>
              <a:rPr dirty="0">
                <a:solidFill>
                  <a:schemeClr val="tx1"/>
                </a:solidFill>
              </a:rPr>
              <a:t>megközelítésbeli</a:t>
            </a:r>
            <a:r>
              <a:rPr spc="-8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viták</a:t>
            </a:r>
          </a:p>
          <a:p>
            <a:pPr marL="298450" marR="12065" indent="-285750">
              <a:lnSpc>
                <a:spcPct val="187500"/>
              </a:lnSpc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</a:rPr>
              <a:t>USA</a:t>
            </a:r>
            <a:r>
              <a:rPr spc="-1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-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európai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szabadalmi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megközelítés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különbsége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(technika-fogalom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eltérése) </a:t>
            </a:r>
            <a:r>
              <a:rPr dirty="0">
                <a:solidFill>
                  <a:schemeClr val="tx1"/>
                </a:solidFill>
              </a:rPr>
              <a:t>patent</a:t>
            </a:r>
            <a:r>
              <a:rPr spc="-6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approach/copyright</a:t>
            </a:r>
            <a:r>
              <a:rPr spc="-6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approach/hybrid</a:t>
            </a:r>
            <a:r>
              <a:rPr spc="-6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approach</a:t>
            </a:r>
          </a:p>
          <a:p>
            <a:pPr marL="298450" indent="-285750">
              <a:lnSpc>
                <a:spcPct val="100000"/>
              </a:lnSpc>
              <a:spcBef>
                <a:spcPts val="189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</a:rPr>
              <a:t>Fontos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szempont: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befektető/vállalkozás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védelmének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elismerhetősége</a:t>
            </a:r>
          </a:p>
          <a:p>
            <a:pPr marL="298450" marR="5080" indent="-285750">
              <a:lnSpc>
                <a:spcPct val="114599"/>
              </a:lnSpc>
              <a:spcBef>
                <a:spcPts val="1575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</a:rPr>
              <a:t>Ma: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kikristályosodott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oltalmi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formák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egyenként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nem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alkalmasak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teljes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körben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spc="-50" dirty="0">
                <a:solidFill>
                  <a:schemeClr val="tx1"/>
                </a:solidFill>
              </a:rPr>
              <a:t>a </a:t>
            </a:r>
            <a:r>
              <a:rPr dirty="0">
                <a:solidFill>
                  <a:schemeClr val="tx1"/>
                </a:solidFill>
              </a:rPr>
              <a:t>védelemre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-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körkörös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védelem: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titokvédelem,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szerződések,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kizárólagos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jogok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9200" y="530755"/>
            <a:ext cx="233246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chemeClr val="tx1"/>
                </a:solidFill>
                <a:latin typeface="+mj-lt"/>
                <a:cs typeface="Arial"/>
              </a:rPr>
              <a:t>Szabadalom</a:t>
            </a:r>
            <a:endParaRPr sz="2800" dirty="0">
              <a:solidFill>
                <a:schemeClr val="tx1"/>
              </a:solidFill>
              <a:latin typeface="+mj-lt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81600" y="503825"/>
            <a:ext cx="26904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8844" algn="l"/>
              </a:tabLst>
            </a:pPr>
            <a:r>
              <a:rPr sz="2800" dirty="0" err="1" smtClean="0"/>
              <a:t>Szerző</a:t>
            </a:r>
            <a:r>
              <a:rPr lang="hu-HU" sz="2800" dirty="0" smtClean="0"/>
              <a:t>i </a:t>
            </a:r>
            <a:r>
              <a:rPr sz="2800" spc="-25" dirty="0" smtClean="0"/>
              <a:t>jog</a:t>
            </a:r>
            <a:endParaRPr sz="2800" spc="-25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6937" y="1217637"/>
          <a:ext cx="8086090" cy="3409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3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85725" marR="9652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Regisztrációval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keletkezik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(kevésbé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az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alkotóhoz kötött)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61976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Alkotással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keletkezik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(jobban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az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alkotóhoz kötött)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Műszaki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alkotás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Irodalmi,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művészeti,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tudományos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alkotás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85725" marR="59182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Új,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feltalálói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tevékenységen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alapul,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iparilag hasznosítható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Egyéni,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eredeti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szellemi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tevékenység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eredménye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85725" marR="90678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Elsősorban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anyagi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érdekek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biztosítása (innováció)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9861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Morális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és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anyagi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érdekek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biztosítása (alkotás)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8705">
                <a:tc>
                  <a:txBody>
                    <a:bodyPr/>
                    <a:lstStyle/>
                    <a:p>
                      <a:pPr marL="85725" marR="1390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Erős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korlátok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(védelmi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idő,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jogkimerülés,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szabad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felhasználások,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előhasználat,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továbbhasználat)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1485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Erős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korlátok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(szabad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felhasználás,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védelmi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idő,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jogkimerülés,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közös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jogkezelés)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8302075" cy="8726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z="2800" dirty="0"/>
              <a:t>A</a:t>
            </a:r>
            <a:r>
              <a:rPr sz="2800" spc="-195" dirty="0"/>
              <a:t> </a:t>
            </a:r>
            <a:r>
              <a:rPr sz="2800" spc="-10" dirty="0"/>
              <a:t>számítógéppel</a:t>
            </a:r>
            <a:r>
              <a:rPr sz="2800" spc="-105" dirty="0"/>
              <a:t> </a:t>
            </a:r>
            <a:r>
              <a:rPr sz="2800" spc="-10" dirty="0"/>
              <a:t>megvalósított</a:t>
            </a:r>
            <a:r>
              <a:rPr sz="2800" spc="-80" dirty="0"/>
              <a:t> </a:t>
            </a:r>
            <a:r>
              <a:rPr sz="2800" spc="-10" dirty="0"/>
              <a:t>találmányok </a:t>
            </a:r>
            <a:r>
              <a:rPr sz="2800" dirty="0"/>
              <a:t>szabadalmi</a:t>
            </a:r>
            <a:r>
              <a:rPr sz="2800" spc="-185" dirty="0"/>
              <a:t> </a:t>
            </a:r>
            <a:r>
              <a:rPr sz="2800" dirty="0"/>
              <a:t>oltalmáról</a:t>
            </a:r>
            <a:r>
              <a:rPr sz="2800" spc="-180" dirty="0"/>
              <a:t> </a:t>
            </a:r>
            <a:r>
              <a:rPr sz="2800" spc="-10" dirty="0"/>
              <a:t>röviden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69200"/>
            <a:ext cx="8368665" cy="345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Szt.</a:t>
            </a:r>
            <a:r>
              <a:rPr sz="180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1.</a:t>
            </a:r>
            <a:r>
              <a:rPr sz="1800" spc="2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§</a:t>
            </a:r>
            <a:r>
              <a:rPr sz="1800" spc="2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(2)</a:t>
            </a:r>
            <a:r>
              <a:rPr sz="1800" spc="2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“nem</a:t>
            </a:r>
            <a:r>
              <a:rPr sz="1800" spc="2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minősül...</a:t>
            </a:r>
            <a:r>
              <a:rPr sz="180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találmánynak</a:t>
            </a:r>
            <a:r>
              <a:rPr sz="1800" spc="2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különösen</a:t>
            </a:r>
            <a:r>
              <a:rPr sz="1800" spc="2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(az)</a:t>
            </a:r>
            <a:r>
              <a:rPr sz="1800" spc="2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üzletvitelre</a:t>
            </a:r>
            <a:r>
              <a:rPr sz="1800" spc="2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vonatkozó terv,</a:t>
            </a:r>
            <a:r>
              <a:rPr sz="18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szabály,</a:t>
            </a:r>
            <a:r>
              <a:rPr sz="18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18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eljárás,</a:t>
            </a:r>
            <a:r>
              <a:rPr sz="18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valamint</a:t>
            </a:r>
            <a:r>
              <a:rPr sz="18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számítógépi</a:t>
            </a:r>
            <a:r>
              <a:rPr sz="18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program.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29209" indent="382905">
              <a:lnSpc>
                <a:spcPct val="114599"/>
              </a:lnSpc>
              <a:spcBef>
                <a:spcPts val="1575"/>
              </a:spcBef>
              <a:buAutoNum type="arabicParenBoth" startAt="3"/>
              <a:tabLst>
                <a:tab pos="395605" algn="l"/>
              </a:tabLst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2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(2)</a:t>
            </a:r>
            <a:r>
              <a:rPr sz="1800" spc="3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bekezdésben</a:t>
            </a:r>
            <a:r>
              <a:rPr sz="1800" spc="3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felsoroltak</a:t>
            </a:r>
            <a:r>
              <a:rPr sz="1800" spc="3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szabadalmazhatósága</a:t>
            </a:r>
            <a:r>
              <a:rPr sz="1800" spc="3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csak</a:t>
            </a:r>
            <a:r>
              <a:rPr sz="1800" spc="3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annyiban</a:t>
            </a:r>
            <a:r>
              <a:rPr sz="1800" spc="3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kizárt,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amennyiben</a:t>
            </a:r>
            <a:r>
              <a:rPr sz="1800" u="heavy" spc="-3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a</a:t>
            </a:r>
            <a:r>
              <a:rPr sz="1800" u="heavy" spc="-3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szabadalmat</a:t>
            </a:r>
            <a:r>
              <a:rPr sz="1800" u="heavy" spc="-3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rájuk</a:t>
            </a:r>
            <a:r>
              <a:rPr sz="1800" u="heavy" spc="-3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kizárólag</a:t>
            </a:r>
            <a:r>
              <a:rPr sz="1800" u="heavy" spc="-3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e</a:t>
            </a:r>
            <a:r>
              <a:rPr sz="1800" u="heavy" spc="-3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minőségükben</a:t>
            </a:r>
            <a:r>
              <a:rPr sz="1800" u="heavy" spc="-3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1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igénylik.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Ld.</a:t>
            </a:r>
            <a:r>
              <a:rPr sz="18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chemeClr val="tx1"/>
                </a:solidFill>
                <a:latin typeface="Arial"/>
                <a:cs typeface="Arial"/>
              </a:rPr>
              <a:t>még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9900" marR="5080" lvl="1" indent="-304800">
              <a:lnSpc>
                <a:spcPct val="114599"/>
              </a:lnSpc>
              <a:spcBef>
                <a:spcPts val="1570"/>
              </a:spcBef>
              <a:buChar char="-"/>
              <a:tabLst>
                <a:tab pos="469900" algn="l"/>
              </a:tabLst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Green</a:t>
            </a:r>
            <a:r>
              <a:rPr sz="1800" spc="3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Paper</a:t>
            </a:r>
            <a:r>
              <a:rPr sz="1800" spc="3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on</a:t>
            </a:r>
            <a:r>
              <a:rPr sz="1800" spc="3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sz="1800" spc="3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Community</a:t>
            </a:r>
            <a:r>
              <a:rPr sz="1800" spc="3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Patent</a:t>
            </a:r>
            <a:r>
              <a:rPr sz="1800" spc="3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1800" spc="3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sz="1800" spc="3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Patent</a:t>
            </a:r>
            <a:r>
              <a:rPr sz="1800" spc="3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System</a:t>
            </a:r>
            <a:r>
              <a:rPr sz="1800" spc="3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in</a:t>
            </a:r>
            <a:r>
              <a:rPr sz="1800" spc="3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Europe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1997</a:t>
            </a:r>
            <a:r>
              <a:rPr sz="18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COM</a:t>
            </a:r>
            <a:r>
              <a:rPr sz="18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(1997)</a:t>
            </a:r>
            <a:r>
              <a:rPr sz="18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314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final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9900" marR="6985" lvl="1" indent="-304800">
              <a:lnSpc>
                <a:spcPct val="114599"/>
              </a:lnSpc>
              <a:buChar char="-"/>
              <a:tabLst>
                <a:tab pos="469900" algn="l"/>
              </a:tabLst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Proposal</a:t>
            </a:r>
            <a:r>
              <a:rPr sz="18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for</a:t>
            </a:r>
            <a:r>
              <a:rPr sz="18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Directive</a:t>
            </a:r>
            <a:r>
              <a:rPr sz="18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18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sz="18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European</a:t>
            </a:r>
            <a:r>
              <a:rPr sz="18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Parliament</a:t>
            </a:r>
            <a:r>
              <a:rPr sz="18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18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18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sz="18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Council</a:t>
            </a:r>
            <a:r>
              <a:rPr sz="18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on</a:t>
            </a:r>
            <a:r>
              <a:rPr sz="18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patentability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computer-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implemented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inventions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COM/2002/0092</a:t>
            </a:r>
            <a:r>
              <a:rPr sz="18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final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95" dirty="0"/>
              <a:t> </a:t>
            </a:r>
            <a:r>
              <a:rPr dirty="0"/>
              <a:t>szoftver</a:t>
            </a:r>
            <a:r>
              <a:rPr spc="-110" dirty="0"/>
              <a:t> </a:t>
            </a:r>
            <a:r>
              <a:rPr dirty="0"/>
              <a:t>és</a:t>
            </a:r>
            <a:r>
              <a:rPr spc="-80" dirty="0"/>
              <a:t> </a:t>
            </a:r>
            <a:r>
              <a:rPr dirty="0"/>
              <a:t>az</a:t>
            </a:r>
            <a:r>
              <a:rPr spc="-85" dirty="0"/>
              <a:t> </a:t>
            </a:r>
            <a:r>
              <a:rPr dirty="0"/>
              <a:t>adatbázis</a:t>
            </a:r>
            <a:r>
              <a:rPr spc="-80" dirty="0"/>
              <a:t> </a:t>
            </a:r>
            <a:r>
              <a:rPr dirty="0"/>
              <a:t>gazdasági</a:t>
            </a:r>
            <a:r>
              <a:rPr spc="-85" dirty="0"/>
              <a:t> </a:t>
            </a:r>
            <a:r>
              <a:rPr spc="-10" dirty="0"/>
              <a:t>jelentősége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466223" y="1885950"/>
            <a:ext cx="8371840" cy="1331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Szoftver-</a:t>
            </a:r>
            <a:r>
              <a:rPr spc="-5" dirty="0"/>
              <a:t> </a:t>
            </a:r>
            <a:r>
              <a:rPr dirty="0"/>
              <a:t>és</a:t>
            </a:r>
            <a:r>
              <a:rPr spc="-5" dirty="0"/>
              <a:t> </a:t>
            </a:r>
            <a:r>
              <a:rPr dirty="0"/>
              <a:t>adatbázis</a:t>
            </a:r>
            <a:r>
              <a:rPr spc="-5" dirty="0"/>
              <a:t> </a:t>
            </a:r>
            <a:r>
              <a:rPr dirty="0"/>
              <a:t>ipar</a:t>
            </a:r>
            <a:r>
              <a:rPr spc="-5" dirty="0"/>
              <a:t> </a:t>
            </a:r>
            <a:r>
              <a:rPr spc="-10" dirty="0"/>
              <a:t>eredményei:</a:t>
            </a:r>
          </a:p>
          <a:p>
            <a:pPr marL="12700" marR="5080">
              <a:lnSpc>
                <a:spcPct val="187500"/>
              </a:lnSpc>
            </a:pPr>
            <a:r>
              <a:rPr spc="-20" dirty="0"/>
              <a:t>SZTNH: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szerzői</a:t>
            </a:r>
            <a:r>
              <a:rPr spc="-30" dirty="0"/>
              <a:t> </a:t>
            </a:r>
            <a:r>
              <a:rPr dirty="0"/>
              <a:t>jogi</a:t>
            </a:r>
            <a:r>
              <a:rPr spc="-25" dirty="0"/>
              <a:t> </a:t>
            </a:r>
            <a:r>
              <a:rPr dirty="0"/>
              <a:t>ágazatok</a:t>
            </a:r>
            <a:r>
              <a:rPr spc="-20" dirty="0"/>
              <a:t> </a:t>
            </a:r>
            <a:r>
              <a:rPr dirty="0"/>
              <a:t>gazdasági</a:t>
            </a:r>
            <a:r>
              <a:rPr spc="-20" dirty="0"/>
              <a:t> </a:t>
            </a:r>
            <a:r>
              <a:rPr dirty="0"/>
              <a:t>súlya</a:t>
            </a:r>
            <a:r>
              <a:rPr spc="-25" dirty="0"/>
              <a:t> </a:t>
            </a:r>
            <a:r>
              <a:rPr dirty="0"/>
              <a:t>Magyarországon</a:t>
            </a:r>
            <a:r>
              <a:rPr spc="-20" dirty="0"/>
              <a:t> </a:t>
            </a:r>
            <a:r>
              <a:rPr dirty="0"/>
              <a:t>6.</a:t>
            </a:r>
            <a:r>
              <a:rPr spc="-20" dirty="0"/>
              <a:t> </a:t>
            </a:r>
            <a:r>
              <a:rPr spc="-10" dirty="0" smtClean="0"/>
              <a:t>202</a:t>
            </a:r>
            <a:r>
              <a:rPr lang="hu-HU" spc="-10" dirty="0" smtClean="0"/>
              <a:t>0</a:t>
            </a:r>
            <a:r>
              <a:rPr spc="-10" dirty="0" smtClean="0"/>
              <a:t>. </a:t>
            </a:r>
            <a:r>
              <a:rPr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https://www.sztnh.gov.hu/sites/default/files/szerzoi_jogi_agazatok_6_web.pdf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572" y="268350"/>
            <a:ext cx="8704828" cy="4665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350800"/>
            <a:ext cx="8382000" cy="4506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660" y="261875"/>
            <a:ext cx="8261140" cy="45958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574" y="158100"/>
            <a:ext cx="8057025" cy="48520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73026"/>
            <a:ext cx="6823075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dirty="0"/>
              <a:t>A</a:t>
            </a:r>
            <a:r>
              <a:rPr spc="-195" dirty="0"/>
              <a:t> </a:t>
            </a:r>
            <a:r>
              <a:rPr dirty="0"/>
              <a:t>szoftver</a:t>
            </a:r>
            <a:r>
              <a:rPr spc="-75" dirty="0"/>
              <a:t> </a:t>
            </a:r>
            <a:r>
              <a:rPr dirty="0"/>
              <a:t>és</a:t>
            </a:r>
            <a:r>
              <a:rPr spc="-65" dirty="0"/>
              <a:t> </a:t>
            </a:r>
            <a:r>
              <a:rPr dirty="0"/>
              <a:t>az</a:t>
            </a:r>
            <a:r>
              <a:rPr spc="-65" dirty="0"/>
              <a:t> </a:t>
            </a:r>
            <a:r>
              <a:rPr dirty="0"/>
              <a:t>adatbázis</a:t>
            </a:r>
            <a:r>
              <a:rPr spc="-60" dirty="0"/>
              <a:t> </a:t>
            </a:r>
            <a:r>
              <a:rPr dirty="0"/>
              <a:t>jogi</a:t>
            </a:r>
            <a:r>
              <a:rPr spc="-65" dirty="0"/>
              <a:t> </a:t>
            </a:r>
            <a:r>
              <a:rPr spc="-10" dirty="0"/>
              <a:t>védelmének </a:t>
            </a:r>
            <a:r>
              <a:rPr dirty="0"/>
              <a:t>eszköztára</a:t>
            </a:r>
            <a:r>
              <a:rPr spc="-190" dirty="0"/>
              <a:t> </a:t>
            </a:r>
            <a:r>
              <a:rPr spc="-10" dirty="0"/>
              <a:t>(áttekintés)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504950"/>
            <a:ext cx="7848600" cy="3260508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-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titokvédelem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eszközei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89000" lvl="1" indent="-377190">
              <a:lnSpc>
                <a:spcPct val="100000"/>
              </a:lnSpc>
              <a:spcBef>
                <a:spcPts val="330"/>
              </a:spcBef>
              <a:buAutoNum type="alphaLcPeriod"/>
              <a:tabLst>
                <a:tab pos="889000" algn="l"/>
              </a:tabLst>
            </a:pP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Szolgálati</a:t>
            </a:r>
            <a:r>
              <a:rPr sz="14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titok</a:t>
            </a:r>
            <a:r>
              <a:rPr sz="14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(munkaszerződés,</a:t>
            </a:r>
            <a:r>
              <a:rPr sz="14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megbízási</a:t>
            </a:r>
            <a:r>
              <a:rPr sz="14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szerződés</a:t>
            </a:r>
            <a:r>
              <a:rPr sz="14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keretében)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89000" lvl="1" indent="-377190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889000" algn="l"/>
              </a:tabLst>
            </a:pP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Üzleti</a:t>
            </a:r>
            <a:r>
              <a:rPr sz="14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titok</a:t>
            </a:r>
            <a:r>
              <a:rPr sz="14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(elsősorban</a:t>
            </a:r>
            <a:r>
              <a:rPr sz="14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B2B</a:t>
            </a:r>
            <a:r>
              <a:rPr sz="14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viszonylatokban)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89000" lvl="1" indent="-367030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889000" algn="l"/>
              </a:tabLst>
            </a:pP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Know-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how</a:t>
            </a:r>
            <a:r>
              <a:rPr sz="14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(minden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 viszonylatban)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254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Szellemi</a:t>
            </a:r>
            <a:r>
              <a:rPr sz="18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tulajdonjogi</a:t>
            </a:r>
            <a:r>
              <a:rPr sz="18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védelem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89000" lvl="1" indent="-377190">
              <a:lnSpc>
                <a:spcPct val="100000"/>
              </a:lnSpc>
              <a:spcBef>
                <a:spcPts val="330"/>
              </a:spcBef>
              <a:buAutoNum type="alphaLcPeriod"/>
              <a:tabLst>
                <a:tab pos="889000" algn="l"/>
              </a:tabLst>
            </a:pP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14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14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védelem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89000" lvl="1" indent="-377190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889000" algn="l"/>
              </a:tabLst>
            </a:pP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Iparjogvédelem</a:t>
            </a:r>
            <a:r>
              <a:rPr sz="14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4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szabadalmi</a:t>
            </a:r>
            <a:r>
              <a:rPr sz="14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oltalom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254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Szerződéses</a:t>
            </a:r>
            <a:r>
              <a:rPr sz="18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konstrukciók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89000" lvl="1" indent="-377190">
              <a:lnSpc>
                <a:spcPct val="100000"/>
              </a:lnSpc>
              <a:spcBef>
                <a:spcPts val="330"/>
              </a:spcBef>
              <a:buAutoNum type="alphaLcPeriod"/>
              <a:tabLst>
                <a:tab pos="889000" algn="l"/>
              </a:tabLst>
            </a:pP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Vállalkozási</a:t>
            </a:r>
            <a:r>
              <a:rPr sz="14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szerződések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89000" lvl="1" indent="-377190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889000" algn="l"/>
              </a:tabLst>
            </a:pP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Üzemeltetési</a:t>
            </a:r>
            <a:r>
              <a:rPr sz="14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szerződések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89000" lvl="1" indent="-367030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889000" algn="l"/>
              </a:tabLst>
            </a:pP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Felhasználási/Licenciaszerződések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89000" lvl="1" indent="-377190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889000" algn="l"/>
              </a:tabLst>
            </a:pP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Jogátruházó</a:t>
            </a:r>
            <a:r>
              <a:rPr sz="14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szerződések….és</a:t>
            </a:r>
            <a:r>
              <a:rPr sz="14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ezek</a:t>
            </a:r>
            <a:r>
              <a:rPr sz="14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vegyületei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9333" y="1091184"/>
            <a:ext cx="7361555" cy="160845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434590" marR="5080" indent="-2422525">
              <a:lnSpc>
                <a:spcPts val="6220"/>
              </a:lnSpc>
              <a:spcBef>
                <a:spcPts val="225"/>
              </a:spcBef>
            </a:pPr>
            <a:r>
              <a:rPr sz="5200" dirty="0"/>
              <a:t>II.</a:t>
            </a:r>
            <a:r>
              <a:rPr sz="5200" spc="-40" dirty="0"/>
              <a:t> </a:t>
            </a:r>
            <a:r>
              <a:rPr sz="5200" dirty="0"/>
              <a:t>Szoftverek</a:t>
            </a:r>
            <a:r>
              <a:rPr sz="5200" spc="-35" dirty="0"/>
              <a:t> </a:t>
            </a:r>
            <a:r>
              <a:rPr sz="5200" dirty="0"/>
              <a:t>szerzői</a:t>
            </a:r>
            <a:r>
              <a:rPr sz="5200" spc="-35" dirty="0"/>
              <a:t> </a:t>
            </a:r>
            <a:r>
              <a:rPr sz="5200" spc="-20" dirty="0"/>
              <a:t>jogi </a:t>
            </a:r>
            <a:r>
              <a:rPr sz="5200" spc="-10" dirty="0"/>
              <a:t>védelme</a:t>
            </a:r>
            <a:endParaRPr sz="5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95" dirty="0"/>
              <a:t> </a:t>
            </a:r>
            <a:r>
              <a:rPr dirty="0"/>
              <a:t>A</a:t>
            </a:r>
            <a:r>
              <a:rPr spc="-195" dirty="0"/>
              <a:t> </a:t>
            </a:r>
            <a:r>
              <a:rPr dirty="0"/>
              <a:t>szoftver</a:t>
            </a:r>
            <a:r>
              <a:rPr spc="-60" dirty="0"/>
              <a:t> </a:t>
            </a:r>
            <a:r>
              <a:rPr dirty="0"/>
              <a:t>(jogi)</a:t>
            </a:r>
            <a:r>
              <a:rPr spc="-55" dirty="0"/>
              <a:t> </a:t>
            </a:r>
            <a:r>
              <a:rPr spc="-10" dirty="0"/>
              <a:t>fogalma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289165" cy="6228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  <a:tabLst>
                <a:tab pos="762000" algn="l"/>
                <a:tab pos="1633855" algn="l"/>
                <a:tab pos="2617470" algn="l"/>
                <a:tab pos="4095115" algn="l"/>
                <a:tab pos="5840095" algn="l"/>
              </a:tabLst>
            </a:pP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John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Tukey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(1958):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elektronikus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adatfeldolgozó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berendezések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számítógép)</a:t>
            </a:r>
            <a:r>
              <a:rPr sz="18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memóriájában</a:t>
            </a:r>
            <a:r>
              <a:rPr sz="18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elhelyezkedő,</a:t>
            </a:r>
            <a:r>
              <a:rPr sz="18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azokat</a:t>
            </a:r>
            <a:r>
              <a:rPr sz="18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működtető</a:t>
            </a:r>
            <a:r>
              <a:rPr sz="18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program.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06561" y="1216355"/>
            <a:ext cx="838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(például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2005026"/>
            <a:ext cx="8371205" cy="29715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4450" algn="just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USA</a:t>
            </a:r>
            <a:r>
              <a:rPr sz="18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Copyright</a:t>
            </a:r>
            <a:r>
              <a:rPr sz="1800" spc="1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Act</a:t>
            </a:r>
            <a:r>
              <a:rPr sz="1800" spc="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(1980)</a:t>
            </a:r>
            <a:r>
              <a:rPr sz="1800" spc="2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“utasítások</a:t>
            </a:r>
            <a:r>
              <a:rPr sz="1800" spc="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sorozata,</a:t>
            </a:r>
            <a:r>
              <a:rPr sz="1800" spc="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mely</a:t>
            </a:r>
            <a:r>
              <a:rPr sz="1800" spc="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közvetve</a:t>
            </a:r>
            <a:r>
              <a:rPr sz="1800" spc="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1800" spc="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közvetlenül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számítógépben</a:t>
            </a:r>
            <a:r>
              <a:rPr sz="18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alkalmazva</a:t>
            </a:r>
            <a:r>
              <a:rPr sz="18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meghatározott</a:t>
            </a:r>
            <a:r>
              <a:rPr sz="18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eredmény</a:t>
            </a:r>
            <a:r>
              <a:rPr sz="18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létrehozását</a:t>
            </a:r>
            <a:r>
              <a:rPr sz="18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célozza”.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6350" algn="just">
              <a:lnSpc>
                <a:spcPct val="114599"/>
              </a:lnSpc>
              <a:spcBef>
                <a:spcPts val="1575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EU</a:t>
            </a:r>
            <a:r>
              <a:rPr sz="1800" spc="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Szoftver</a:t>
            </a:r>
            <a:r>
              <a:rPr sz="1800" spc="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irányelv</a:t>
            </a:r>
            <a:r>
              <a:rPr sz="1800" spc="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(1991):</a:t>
            </a:r>
            <a:r>
              <a:rPr sz="1800" spc="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“a</a:t>
            </a:r>
            <a:r>
              <a:rPr sz="1800" spc="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védelem</a:t>
            </a:r>
            <a:r>
              <a:rPr sz="1800" spc="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számítógépi</a:t>
            </a:r>
            <a:r>
              <a:rPr sz="1800" spc="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programok</a:t>
            </a:r>
            <a:r>
              <a:rPr sz="1800" spc="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bármely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formában</a:t>
            </a:r>
            <a:r>
              <a:rPr sz="18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történő</a:t>
            </a:r>
            <a:r>
              <a:rPr sz="18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kifejezésére</a:t>
            </a:r>
            <a:r>
              <a:rPr sz="18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vonatkozik”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114599"/>
              </a:lnSpc>
              <a:spcBef>
                <a:spcPts val="1570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Szjt.</a:t>
            </a:r>
            <a:r>
              <a:rPr sz="1800" spc="20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(1999)</a:t>
            </a:r>
            <a:r>
              <a:rPr sz="180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“a</a:t>
            </a:r>
            <a:r>
              <a:rPr sz="1800" spc="20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számítógépi</a:t>
            </a:r>
            <a:r>
              <a:rPr sz="180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programalkotás</a:t>
            </a:r>
            <a:r>
              <a:rPr sz="1800" spc="20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180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hozzá</a:t>
            </a:r>
            <a:r>
              <a:rPr sz="1800" spc="20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tartozó</a:t>
            </a:r>
            <a:r>
              <a:rPr sz="180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dokumentáció</a:t>
            </a:r>
            <a:r>
              <a:rPr sz="1800" spc="20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chemeClr val="tx1"/>
                </a:solidFill>
                <a:latin typeface="Arial"/>
                <a:cs typeface="Arial"/>
              </a:rPr>
              <a:t>(a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továbbiakban:</a:t>
            </a:r>
            <a:r>
              <a:rPr sz="1800" spc="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szoftver)</a:t>
            </a:r>
            <a:r>
              <a:rPr sz="1800" spc="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akár</a:t>
            </a:r>
            <a:r>
              <a:rPr sz="1800" spc="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forráskódban,</a:t>
            </a:r>
            <a:r>
              <a:rPr sz="1800" spc="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akár</a:t>
            </a:r>
            <a:r>
              <a:rPr sz="1800" spc="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tárgykódban</a:t>
            </a:r>
            <a:r>
              <a:rPr sz="1800" spc="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1800" spc="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bármilyen</a:t>
            </a:r>
            <a:r>
              <a:rPr sz="1800" spc="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chemeClr val="tx1"/>
                </a:solidFill>
                <a:latin typeface="Arial"/>
                <a:cs typeface="Arial"/>
              </a:rPr>
              <a:t>más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formában</a:t>
            </a:r>
            <a:r>
              <a:rPr sz="1800" spc="1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rögzített</a:t>
            </a:r>
            <a:r>
              <a:rPr sz="1800" spc="1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minden</a:t>
            </a:r>
            <a:r>
              <a:rPr sz="1800" spc="12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fajtája,</a:t>
            </a:r>
            <a:r>
              <a:rPr sz="1800" spc="1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ideértve</a:t>
            </a:r>
            <a:r>
              <a:rPr sz="1800" spc="1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12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felhasználói</a:t>
            </a:r>
            <a:r>
              <a:rPr sz="1800" spc="1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programot</a:t>
            </a:r>
            <a:r>
              <a:rPr sz="1800" spc="1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1800" spc="12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spc="-25" dirty="0">
                <a:solidFill>
                  <a:schemeClr val="tx1"/>
                </a:solidFill>
                <a:latin typeface="Arial"/>
                <a:cs typeface="Arial"/>
              </a:rPr>
              <a:t>az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operációs</a:t>
            </a:r>
            <a:r>
              <a:rPr sz="18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rendszert</a:t>
            </a:r>
            <a:r>
              <a:rPr sz="18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is,”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584" y="339538"/>
            <a:ext cx="8126016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95" dirty="0"/>
              <a:t> </a:t>
            </a:r>
            <a:r>
              <a:rPr dirty="0"/>
              <a:t>szoftver</a:t>
            </a:r>
            <a:r>
              <a:rPr spc="-120" dirty="0"/>
              <a:t> </a:t>
            </a:r>
            <a:r>
              <a:rPr dirty="0"/>
              <a:t>mint</a:t>
            </a:r>
            <a:r>
              <a:rPr spc="-90" dirty="0"/>
              <a:t> </a:t>
            </a:r>
            <a:r>
              <a:rPr dirty="0"/>
              <a:t>titok</a:t>
            </a:r>
            <a:r>
              <a:rPr spc="-90" dirty="0"/>
              <a:t> </a:t>
            </a:r>
            <a:r>
              <a:rPr dirty="0"/>
              <a:t>védelméről</a:t>
            </a:r>
            <a:r>
              <a:rPr spc="-85" dirty="0"/>
              <a:t> </a:t>
            </a:r>
            <a:r>
              <a:rPr spc="-10" dirty="0"/>
              <a:t>röviden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76350"/>
            <a:ext cx="8374380" cy="354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7950" algn="just">
              <a:lnSpc>
                <a:spcPct val="116100"/>
              </a:lnSpc>
              <a:spcBef>
                <a:spcPts val="100"/>
              </a:spcBef>
            </a:pP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1.</a:t>
            </a:r>
            <a:r>
              <a:rPr sz="1400" spc="4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§</a:t>
            </a:r>
            <a:r>
              <a:rPr sz="1400" spc="4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(1)</a:t>
            </a:r>
            <a:r>
              <a:rPr sz="1400" spc="4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Üzleti</a:t>
            </a:r>
            <a:r>
              <a:rPr sz="1400" spc="4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titok</a:t>
            </a:r>
            <a:r>
              <a:rPr sz="1400" spc="4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400" spc="4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gazdasági</a:t>
            </a:r>
            <a:r>
              <a:rPr sz="1400" u="heavy" spc="42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tevékenységhez</a:t>
            </a:r>
            <a:r>
              <a:rPr sz="1400" u="heavy" spc="41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kapcsolódó,</a:t>
            </a:r>
            <a:r>
              <a:rPr sz="1400" u="heavy" spc="42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titkos</a:t>
            </a:r>
            <a:r>
              <a:rPr sz="1400" u="heavy" spc="42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400" spc="4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egészben,</a:t>
            </a:r>
            <a:r>
              <a:rPr sz="1400" spc="4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1400" spc="4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elemeinek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összességeként</a:t>
            </a:r>
            <a:r>
              <a:rPr sz="140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140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közismert</a:t>
            </a:r>
            <a:r>
              <a:rPr sz="140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140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40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érintett</a:t>
            </a:r>
            <a:r>
              <a:rPr sz="140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gazdasági</a:t>
            </a:r>
            <a:r>
              <a:rPr sz="140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tevékenységet</a:t>
            </a:r>
            <a:r>
              <a:rPr sz="140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végző</a:t>
            </a:r>
            <a:r>
              <a:rPr sz="140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személyek</a:t>
            </a:r>
            <a:r>
              <a:rPr sz="140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számára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1400" spc="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könnyen</a:t>
            </a:r>
            <a:r>
              <a:rPr sz="1400" spc="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hozzáférhető</a:t>
            </a:r>
            <a:r>
              <a:rPr sz="14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sz="14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ennélfogva</a:t>
            </a:r>
            <a:r>
              <a:rPr sz="1400" u="heavy" spc="8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vagyoni</a:t>
            </a:r>
            <a:r>
              <a:rPr sz="1400" u="heavy" spc="9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értékkel</a:t>
            </a:r>
            <a:r>
              <a:rPr sz="1400" u="heavy" spc="8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bíró</a:t>
            </a:r>
            <a:r>
              <a:rPr sz="1400" spc="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olyan</a:t>
            </a:r>
            <a:r>
              <a:rPr sz="14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tény,</a:t>
            </a:r>
            <a:r>
              <a:rPr sz="1400" spc="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tájékoztatás,</a:t>
            </a:r>
            <a:r>
              <a:rPr sz="14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egyéb</a:t>
            </a:r>
            <a:r>
              <a:rPr sz="1400" spc="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adat</a:t>
            </a:r>
            <a:r>
              <a:rPr sz="1400" spc="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chemeClr val="tx1"/>
                </a:solidFill>
                <a:latin typeface="Arial"/>
                <a:cs typeface="Arial"/>
              </a:rPr>
              <a:t>és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400" spc="3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azokból</a:t>
            </a:r>
            <a:r>
              <a:rPr sz="1400" spc="3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készült</a:t>
            </a:r>
            <a:r>
              <a:rPr sz="1400" spc="3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összeállítás,</a:t>
            </a:r>
            <a:r>
              <a:rPr sz="1400" spc="3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amelynek</a:t>
            </a:r>
            <a:r>
              <a:rPr sz="1400" spc="3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a</a:t>
            </a:r>
            <a:r>
              <a:rPr sz="1400" u="heavy" spc="36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titokban</a:t>
            </a:r>
            <a:r>
              <a:rPr sz="1400" u="heavy" spc="36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tartása</a:t>
            </a:r>
            <a:r>
              <a:rPr sz="1400" u="heavy" spc="37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érdekében</a:t>
            </a:r>
            <a:r>
              <a:rPr sz="1400" u="heavy" spc="36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a</a:t>
            </a:r>
            <a:r>
              <a:rPr sz="1400" u="heavy" spc="36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titok</a:t>
            </a:r>
            <a:r>
              <a:rPr sz="1400" u="heavy" spc="37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jogosultja</a:t>
            </a:r>
            <a:r>
              <a:rPr sz="1400" u="heavy" spc="36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az</a:t>
            </a:r>
            <a:r>
              <a:rPr sz="1400" u="heavy" spc="37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spc="-1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adott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helyzetben</a:t>
            </a:r>
            <a:r>
              <a:rPr sz="1400" u="heavy" spc="-5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általában</a:t>
            </a:r>
            <a:r>
              <a:rPr sz="1400" u="heavy" spc="-5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elvárható</a:t>
            </a:r>
            <a:r>
              <a:rPr sz="1400" u="heavy" spc="-5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magatartást</a:t>
            </a:r>
            <a:r>
              <a:rPr sz="1400" u="heavy" spc="-4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spc="-1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tanúsítja.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107950" algn="just">
              <a:lnSpc>
                <a:spcPct val="116100"/>
              </a:lnSpc>
              <a:spcBef>
                <a:spcPts val="375"/>
              </a:spcBef>
            </a:pP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(2)</a:t>
            </a:r>
            <a:r>
              <a:rPr sz="1400" spc="3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Védett</a:t>
            </a:r>
            <a:r>
              <a:rPr sz="1400" spc="3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ismeret</a:t>
            </a:r>
            <a:r>
              <a:rPr sz="1400" spc="3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(know-how)</a:t>
            </a:r>
            <a:r>
              <a:rPr sz="1400" spc="3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az</a:t>
            </a:r>
            <a:r>
              <a:rPr sz="1400" u="heavy" spc="36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üzleti</a:t>
            </a:r>
            <a:r>
              <a:rPr sz="1400" u="heavy" spc="36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titoknak</a:t>
            </a:r>
            <a:r>
              <a:rPr sz="1400" u="heavy" spc="36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minősülő,</a:t>
            </a:r>
            <a:r>
              <a:rPr sz="1400" u="heavy" spc="36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azonosításra</a:t>
            </a:r>
            <a:r>
              <a:rPr sz="1400" u="heavy" spc="36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alkalmas</a:t>
            </a:r>
            <a:r>
              <a:rPr sz="1400" u="heavy" spc="36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módon</a:t>
            </a:r>
            <a:r>
              <a:rPr sz="1400" u="heavy" spc="36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spc="-1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rögzített,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műszaki,</a:t>
            </a:r>
            <a:r>
              <a:rPr sz="1400" u="heavy" spc="3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gazdasági</a:t>
            </a:r>
            <a:r>
              <a:rPr sz="1400" u="heavy" spc="4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vagy</a:t>
            </a:r>
            <a:r>
              <a:rPr sz="1400" u="heavy" spc="4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szervezési</a:t>
            </a:r>
            <a:r>
              <a:rPr sz="1400" u="heavy" spc="4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ismeret,</a:t>
            </a:r>
            <a:r>
              <a:rPr sz="1400" u="heavy" spc="4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megoldás,</a:t>
            </a:r>
            <a:r>
              <a:rPr sz="1400" u="heavy" spc="4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tapasztalat</a:t>
            </a:r>
            <a:r>
              <a:rPr sz="1400" u="heavy" spc="3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vagy</a:t>
            </a:r>
            <a:r>
              <a:rPr sz="1400" u="heavy" spc="4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ezek</a:t>
            </a:r>
            <a:r>
              <a:rPr sz="1400" u="heavy" spc="4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összeállítása.</a:t>
            </a:r>
            <a:r>
              <a:rPr sz="1400" u="heavy" spc="8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(2018.</a:t>
            </a:r>
            <a:r>
              <a:rPr sz="1400" spc="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chemeClr val="tx1"/>
                </a:solidFill>
                <a:latin typeface="Arial"/>
                <a:cs typeface="Arial"/>
              </a:rPr>
              <a:t>évi </a:t>
            </a:r>
            <a:r>
              <a:rPr sz="1400" spc="-20" dirty="0">
                <a:solidFill>
                  <a:schemeClr val="tx1"/>
                </a:solidFill>
                <a:latin typeface="Arial"/>
                <a:cs typeface="Arial"/>
              </a:rPr>
              <a:t>LIV.</a:t>
            </a:r>
            <a:r>
              <a:rPr sz="1400" spc="-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törvény)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116100"/>
              </a:lnSpc>
            </a:pP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8.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§</a:t>
            </a:r>
            <a:r>
              <a:rPr sz="14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(4)</a:t>
            </a:r>
            <a:r>
              <a:rPr sz="1400" u="heavy" spc="-4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A</a:t>
            </a:r>
            <a:r>
              <a:rPr sz="1400" u="heavy" spc="-8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munkavállaló</a:t>
            </a:r>
            <a:r>
              <a:rPr sz="1400" u="heavy" spc="-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köteles</a:t>
            </a:r>
            <a:r>
              <a:rPr sz="1400" u="heavy" spc="-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a</a:t>
            </a:r>
            <a:r>
              <a:rPr sz="1400" u="heavy" spc="-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munkája</a:t>
            </a:r>
            <a:r>
              <a:rPr sz="1400" u="heavy" spc="-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során</a:t>
            </a:r>
            <a:r>
              <a:rPr sz="1400" u="heavy" spc="-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tudomására</a:t>
            </a:r>
            <a:r>
              <a:rPr sz="1400" u="heavy" spc="-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jutott</a:t>
            </a:r>
            <a:r>
              <a:rPr sz="1400" u="heavy" spc="-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üzleti</a:t>
            </a:r>
            <a:r>
              <a:rPr sz="1400" u="heavy" spc="-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titkot</a:t>
            </a:r>
            <a:r>
              <a:rPr sz="1400" u="heavy" spc="-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megőrizni.</a:t>
            </a:r>
            <a:r>
              <a:rPr sz="1400" u="heavy" spc="2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Ezen</a:t>
            </a:r>
            <a:r>
              <a:rPr sz="14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túlmenően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sem</a:t>
            </a:r>
            <a:r>
              <a:rPr sz="1400"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közölhet</a:t>
            </a:r>
            <a:r>
              <a:rPr sz="1400"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illetéktelen</a:t>
            </a:r>
            <a:r>
              <a:rPr sz="1400"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személlyel</a:t>
            </a:r>
            <a:r>
              <a:rPr sz="14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olyan</a:t>
            </a:r>
            <a:r>
              <a:rPr sz="1400" u="heavy" spc="3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adatot,</a:t>
            </a:r>
            <a:r>
              <a:rPr sz="1400" u="heavy" spc="2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amely</a:t>
            </a:r>
            <a:r>
              <a:rPr sz="1400" u="heavy" spc="2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munkaköre</a:t>
            </a:r>
            <a:r>
              <a:rPr sz="1400" u="heavy" spc="2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betöltésével</a:t>
            </a:r>
            <a:r>
              <a:rPr sz="1400" u="heavy" spc="2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összefüggésben</a:t>
            </a:r>
            <a:r>
              <a:rPr sz="1400" u="heavy" spc="3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jutott</a:t>
            </a:r>
            <a:r>
              <a:rPr sz="1400" u="heavy" spc="2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1400" u="heavy" spc="-5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a</a:t>
            </a:r>
            <a:r>
              <a:rPr sz="14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tudomására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sz="1400" spc="3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1400" spc="3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amelynek</a:t>
            </a:r>
            <a:r>
              <a:rPr sz="1400" spc="3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közlése</a:t>
            </a:r>
            <a:r>
              <a:rPr sz="1400" spc="3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400" spc="3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munkáltatóra</a:t>
            </a:r>
            <a:r>
              <a:rPr sz="1400" spc="3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1400" spc="3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más</a:t>
            </a:r>
            <a:r>
              <a:rPr sz="1400" spc="3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személyre</a:t>
            </a:r>
            <a:r>
              <a:rPr sz="1400" spc="3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hátrányos</a:t>
            </a:r>
            <a:r>
              <a:rPr sz="1400" spc="3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következménnyel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járhat.</a:t>
            </a:r>
            <a:r>
              <a:rPr sz="14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4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titoktartás</a:t>
            </a:r>
            <a:r>
              <a:rPr sz="1400" spc="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1400" spc="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terjed</a:t>
            </a:r>
            <a:r>
              <a:rPr sz="1400" spc="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ki</a:t>
            </a:r>
            <a:r>
              <a:rPr sz="1400" spc="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400" spc="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közérdekű</a:t>
            </a:r>
            <a:r>
              <a:rPr sz="1400" spc="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adatok</a:t>
            </a:r>
            <a:r>
              <a:rPr sz="1400" spc="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nyilvánosságára</a:t>
            </a:r>
            <a:r>
              <a:rPr sz="1400" spc="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1400" spc="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400" spc="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közérdekből</a:t>
            </a:r>
            <a:r>
              <a:rPr sz="1400" spc="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nyilvános</a:t>
            </a:r>
            <a:r>
              <a:rPr sz="1400" spc="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adatra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vonatkozó,</a:t>
            </a:r>
            <a:r>
              <a:rPr sz="1400" spc="2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törvényben</a:t>
            </a:r>
            <a:r>
              <a:rPr sz="1400" spc="2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meghatározott</a:t>
            </a:r>
            <a:r>
              <a:rPr sz="1400" spc="2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adatszolgáltatási</a:t>
            </a:r>
            <a:r>
              <a:rPr sz="1400" spc="2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1400" spc="2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tájékoztatási</a:t>
            </a:r>
            <a:r>
              <a:rPr sz="1400" spc="2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kötelezettségre.</a:t>
            </a:r>
            <a:r>
              <a:rPr sz="1400" spc="2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(2012.</a:t>
            </a:r>
            <a:r>
              <a:rPr sz="1400" spc="2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évi</a:t>
            </a:r>
            <a:r>
              <a:rPr sz="1400" spc="3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chemeClr val="tx1"/>
                </a:solidFill>
                <a:latin typeface="Arial"/>
                <a:cs typeface="Arial"/>
              </a:rPr>
              <a:t>II.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törvény)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95" dirty="0"/>
              <a:t> </a:t>
            </a:r>
            <a:r>
              <a:rPr dirty="0"/>
              <a:t>szoftver</a:t>
            </a:r>
            <a:r>
              <a:rPr spc="-135" dirty="0"/>
              <a:t> </a:t>
            </a:r>
            <a:r>
              <a:rPr dirty="0"/>
              <a:t>szerzői</a:t>
            </a:r>
            <a:r>
              <a:rPr spc="-95" dirty="0"/>
              <a:t> </a:t>
            </a:r>
            <a:r>
              <a:rPr dirty="0"/>
              <a:t>jogilag</a:t>
            </a:r>
            <a:r>
              <a:rPr spc="-95" dirty="0"/>
              <a:t> </a:t>
            </a:r>
            <a:r>
              <a:rPr dirty="0"/>
              <a:t>releváns</a:t>
            </a:r>
            <a:r>
              <a:rPr spc="-95" dirty="0"/>
              <a:t> </a:t>
            </a:r>
            <a:r>
              <a:rPr spc="-10" dirty="0"/>
              <a:t>sajátosságai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99" y="1690701"/>
            <a:ext cx="6731000" cy="2828594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414"/>
              </a:spcBef>
              <a:buFont typeface="Wingdings" panose="05000000000000000000" pitchFamily="2" charset="2"/>
              <a:buChar char="Ø"/>
              <a:tabLst>
                <a:tab pos="316865" algn="l"/>
              </a:tabLst>
            </a:pP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Funkcionális</a:t>
            </a:r>
            <a:r>
              <a:rPr sz="24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mű</a:t>
            </a:r>
            <a:r>
              <a:rPr sz="24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(nem</a:t>
            </a:r>
            <a:r>
              <a:rPr sz="24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esztétikai</a:t>
            </a:r>
            <a:r>
              <a:rPr sz="24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jelentősége</a:t>
            </a:r>
            <a:r>
              <a:rPr sz="24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chemeClr val="tx1"/>
                </a:solidFill>
                <a:latin typeface="Arial"/>
                <a:cs typeface="Arial"/>
              </a:rPr>
              <a:t>van)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Font typeface="Wingdings" panose="05000000000000000000" pitchFamily="2" charset="2"/>
              <a:buChar char="Ø"/>
              <a:tabLst>
                <a:tab pos="316865" algn="l"/>
              </a:tabLst>
            </a:pP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Felhasználás</a:t>
            </a:r>
            <a:r>
              <a:rPr sz="24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jellemzően</a:t>
            </a:r>
            <a:r>
              <a:rPr sz="24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üzleti</a:t>
            </a:r>
            <a:r>
              <a:rPr sz="24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chemeClr val="tx1"/>
                </a:solidFill>
                <a:latin typeface="Arial"/>
                <a:cs typeface="Arial"/>
              </a:rPr>
              <a:t>célú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Font typeface="Wingdings" panose="05000000000000000000" pitchFamily="2" charset="2"/>
              <a:buChar char="Ø"/>
              <a:tabLst>
                <a:tab pos="316865" algn="l"/>
              </a:tabLst>
            </a:pP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Műfelhasználás/műérzékelés</a:t>
            </a:r>
            <a:r>
              <a:rPr sz="24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Arial"/>
                <a:cs typeface="Arial"/>
              </a:rPr>
              <a:t>összemosódik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Font typeface="Wingdings" panose="05000000000000000000" pitchFamily="2" charset="2"/>
              <a:buChar char="Ø"/>
              <a:tabLst>
                <a:tab pos="316865" algn="l"/>
              </a:tabLst>
            </a:pP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Jellemző</a:t>
            </a:r>
            <a:r>
              <a:rPr sz="24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4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kollektív</a:t>
            </a:r>
            <a:r>
              <a:rPr sz="24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Arial"/>
                <a:cs typeface="Arial"/>
              </a:rPr>
              <a:t>alkotás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16865" marR="5080" indent="-304800">
              <a:lnSpc>
                <a:spcPct val="114599"/>
              </a:lnSpc>
              <a:buFont typeface="Wingdings" panose="05000000000000000000" pitchFamily="2" charset="2"/>
              <a:buChar char="Ø"/>
              <a:tabLst>
                <a:tab pos="316865" algn="l"/>
              </a:tabLst>
            </a:pP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Speciális</a:t>
            </a:r>
            <a:r>
              <a:rPr sz="24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4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finanszírozás</a:t>
            </a:r>
            <a:r>
              <a:rPr sz="24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4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24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művekhez</a:t>
            </a:r>
            <a:r>
              <a:rPr sz="24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képest</a:t>
            </a:r>
            <a:r>
              <a:rPr sz="2400" spc="-10" dirty="0">
                <a:solidFill>
                  <a:schemeClr val="tx1"/>
                </a:solidFill>
                <a:latin typeface="Arial"/>
                <a:cs typeface="Arial"/>
              </a:rPr>
              <a:t> (általában megrendelésre)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204" dirty="0"/>
              <a:t> </a:t>
            </a:r>
            <a:r>
              <a:rPr spc="-10" dirty="0"/>
              <a:t>szoftver,</a:t>
            </a:r>
            <a:r>
              <a:rPr spc="-140" dirty="0"/>
              <a:t> </a:t>
            </a:r>
            <a:r>
              <a:rPr dirty="0"/>
              <a:t>mint</a:t>
            </a:r>
            <a:r>
              <a:rPr spc="-95" dirty="0"/>
              <a:t> </a:t>
            </a:r>
            <a:r>
              <a:rPr dirty="0"/>
              <a:t>szerzői</a:t>
            </a:r>
            <a:r>
              <a:rPr spc="-95" dirty="0"/>
              <a:t> </a:t>
            </a:r>
            <a:r>
              <a:rPr spc="-25" dirty="0"/>
              <a:t>mű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508455"/>
            <a:ext cx="8373109" cy="177741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algn="just">
              <a:lnSpc>
                <a:spcPts val="2150"/>
              </a:lnSpc>
              <a:spcBef>
                <a:spcPts val="380"/>
              </a:spcBef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1.</a:t>
            </a:r>
            <a:r>
              <a:rPr sz="2000" spc="1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§</a:t>
            </a:r>
            <a:r>
              <a:rPr sz="2000" spc="12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(1)</a:t>
            </a:r>
            <a:r>
              <a:rPr sz="2000" spc="1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Ez</a:t>
            </a:r>
            <a:r>
              <a:rPr sz="2000" spc="12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1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törvény</a:t>
            </a:r>
            <a:r>
              <a:rPr sz="2000" spc="12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védi</a:t>
            </a:r>
            <a:r>
              <a:rPr sz="2000" spc="1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irodalmi,</a:t>
            </a:r>
            <a:r>
              <a:rPr sz="2000" u="heavy" spc="12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tudományos</a:t>
            </a:r>
            <a:r>
              <a:rPr sz="2000" u="heavy" spc="125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és</a:t>
            </a:r>
            <a:r>
              <a:rPr sz="2000" u="heavy" spc="12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 </a:t>
            </a:r>
            <a:r>
              <a:rPr sz="2000" u="heavy" spc="-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művészeti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u="heavy" spc="-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alkotásokat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6985" algn="just">
              <a:lnSpc>
                <a:spcPct val="90100"/>
              </a:lnSpc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(2)</a:t>
            </a:r>
            <a:r>
              <a:rPr sz="2000" spc="3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2000" spc="3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2000" spc="3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védelem</a:t>
            </a:r>
            <a:r>
              <a:rPr sz="2000" spc="3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alá</a:t>
            </a:r>
            <a:r>
              <a:rPr sz="2000" spc="3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tartozik</a:t>
            </a:r>
            <a:r>
              <a:rPr sz="2000" spc="3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2000" spc="3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függetlenül</a:t>
            </a:r>
            <a:r>
              <a:rPr sz="2000" spc="3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attól,</a:t>
            </a:r>
            <a:r>
              <a:rPr sz="2000" spc="3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hogy</a:t>
            </a:r>
            <a:r>
              <a:rPr sz="2000" spc="3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2000" spc="3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törvény megnevezi-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irodalom,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tudomány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művészet</a:t>
            </a:r>
            <a:r>
              <a:rPr sz="2000" spc="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minden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alkotása. (...)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Az</a:t>
            </a:r>
            <a:r>
              <a:rPr spc="-90" dirty="0"/>
              <a:t> </a:t>
            </a:r>
            <a:r>
              <a:rPr dirty="0"/>
              <a:t>egyéni,</a:t>
            </a:r>
            <a:r>
              <a:rPr spc="-85" dirty="0"/>
              <a:t> </a:t>
            </a:r>
            <a:r>
              <a:rPr dirty="0"/>
              <a:t>eredeti</a:t>
            </a:r>
            <a:r>
              <a:rPr spc="-90" dirty="0"/>
              <a:t> </a:t>
            </a:r>
            <a:r>
              <a:rPr dirty="0"/>
              <a:t>jelleg</a:t>
            </a:r>
            <a:r>
              <a:rPr spc="-85" dirty="0"/>
              <a:t> </a:t>
            </a:r>
            <a:r>
              <a:rPr spc="-10" dirty="0"/>
              <a:t>kritériuma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67715"/>
            <a:ext cx="8369934" cy="28838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599"/>
              </a:lnSpc>
              <a:spcBef>
                <a:spcPts val="100"/>
              </a:spcBef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1.</a:t>
            </a:r>
            <a:r>
              <a:rPr sz="2000" spc="2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§</a:t>
            </a:r>
            <a:r>
              <a:rPr sz="2000" spc="2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(3)</a:t>
            </a:r>
            <a:r>
              <a:rPr sz="2000" spc="229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229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2000" spc="2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2000" spc="2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védelem</a:t>
            </a:r>
            <a:r>
              <a:rPr sz="2000" spc="29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2000" spc="29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alkotást</a:t>
            </a:r>
            <a:r>
              <a:rPr sz="2000" spc="2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2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szerző</a:t>
            </a:r>
            <a:r>
              <a:rPr sz="2000" spc="2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szellemi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tevékenységéből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fakadó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egyéni,</a:t>
            </a:r>
            <a:r>
              <a:rPr sz="2000" b="1" spc="-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eredeti</a:t>
            </a:r>
            <a:r>
              <a:rPr sz="2000" b="1" spc="-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jellege</a:t>
            </a:r>
            <a:r>
              <a:rPr sz="2000" b="1" spc="-1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alapján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illeti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meg.</a:t>
            </a:r>
            <a:r>
              <a:rPr sz="2000" spc="4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chemeClr val="tx1"/>
                </a:solidFill>
                <a:latin typeface="Arial"/>
                <a:cs typeface="Arial"/>
              </a:rPr>
              <a:t>A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védelem</a:t>
            </a:r>
            <a:r>
              <a:rPr sz="2000" spc="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függ</a:t>
            </a:r>
            <a:r>
              <a:rPr sz="2000" spc="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mennyiségi,</a:t>
            </a:r>
            <a:r>
              <a:rPr sz="2000" spc="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minőségi,</a:t>
            </a:r>
            <a:r>
              <a:rPr sz="2000" spc="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esztétikai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jellemzőktől</a:t>
            </a:r>
            <a:r>
              <a:rPr sz="2000" spc="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az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alkotás</a:t>
            </a:r>
            <a:r>
              <a:rPr sz="20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színvonalára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vonatkozó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értékítélettől.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115599"/>
              </a:lnSpc>
            </a:pP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Nem</a:t>
            </a:r>
            <a:r>
              <a:rPr sz="2000" spc="22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amiatt</a:t>
            </a:r>
            <a:r>
              <a:rPr sz="2000" spc="21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áll</a:t>
            </a:r>
            <a:r>
              <a:rPr sz="2000" spc="22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oltalom</a:t>
            </a:r>
            <a:r>
              <a:rPr sz="2000" spc="22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alatt,</a:t>
            </a:r>
            <a:r>
              <a:rPr sz="2000" spc="22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mert</a:t>
            </a:r>
            <a:r>
              <a:rPr sz="2000" spc="22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jól</a:t>
            </a:r>
            <a:r>
              <a:rPr sz="2000" spc="22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oldja</a:t>
            </a:r>
            <a:r>
              <a:rPr sz="2000" spc="22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meg</a:t>
            </a:r>
            <a:r>
              <a:rPr sz="2000" spc="22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a</a:t>
            </a:r>
            <a:r>
              <a:rPr sz="2000" spc="22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feladatot,</a:t>
            </a:r>
            <a:r>
              <a:rPr sz="2000" spc="22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hanem</a:t>
            </a:r>
            <a:r>
              <a:rPr sz="2000" spc="22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C000"/>
                </a:solidFill>
                <a:latin typeface="Arial"/>
                <a:cs typeface="Arial"/>
              </a:rPr>
              <a:t>mert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sajátosan</a:t>
            </a:r>
            <a:r>
              <a:rPr sz="2000" spc="190" dirty="0">
                <a:solidFill>
                  <a:srgbClr val="FFC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(akkor</a:t>
            </a:r>
            <a:r>
              <a:rPr sz="2000" spc="195" dirty="0">
                <a:solidFill>
                  <a:srgbClr val="FFC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is</a:t>
            </a:r>
            <a:r>
              <a:rPr sz="2000" spc="195" dirty="0">
                <a:solidFill>
                  <a:srgbClr val="FFC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állhat</a:t>
            </a:r>
            <a:r>
              <a:rPr sz="2000" spc="195" dirty="0">
                <a:solidFill>
                  <a:srgbClr val="FFC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védelem</a:t>
            </a:r>
            <a:r>
              <a:rPr sz="2000" spc="195" dirty="0">
                <a:solidFill>
                  <a:srgbClr val="FFC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alatt,</a:t>
            </a:r>
            <a:r>
              <a:rPr sz="2000" spc="195" dirty="0">
                <a:solidFill>
                  <a:srgbClr val="FFC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ha</a:t>
            </a:r>
            <a:r>
              <a:rPr sz="2000" spc="195" dirty="0">
                <a:solidFill>
                  <a:srgbClr val="FFC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rosszul</a:t>
            </a:r>
            <a:r>
              <a:rPr sz="2000" spc="195" dirty="0">
                <a:solidFill>
                  <a:srgbClr val="FFC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oldja</a:t>
            </a:r>
            <a:r>
              <a:rPr sz="2000" spc="190" dirty="0">
                <a:solidFill>
                  <a:srgbClr val="FFC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meg,</a:t>
            </a:r>
            <a:r>
              <a:rPr sz="2000" spc="195" dirty="0">
                <a:solidFill>
                  <a:srgbClr val="FFC000"/>
                </a:solidFill>
                <a:latin typeface="Arial"/>
                <a:cs typeface="Arial"/>
              </a:rPr>
              <a:t>  </a:t>
            </a:r>
            <a:r>
              <a:rPr sz="2000" spc="-50" dirty="0">
                <a:solidFill>
                  <a:srgbClr val="FFC000"/>
                </a:solidFill>
                <a:latin typeface="Arial"/>
                <a:cs typeface="Arial"/>
              </a:rPr>
              <a:t>- </a:t>
            </a:r>
            <a:r>
              <a:rPr sz="2000" spc="-10" dirty="0">
                <a:solidFill>
                  <a:srgbClr val="FFC000"/>
                </a:solidFill>
                <a:latin typeface="Arial"/>
                <a:cs typeface="Arial"/>
              </a:rPr>
              <a:t>jelentősége</a:t>
            </a:r>
            <a:r>
              <a:rPr sz="2000" spc="-6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van</a:t>
            </a:r>
            <a:r>
              <a:rPr sz="2000" spc="-6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a</a:t>
            </a:r>
            <a:r>
              <a:rPr sz="2000" spc="-6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hibás</a:t>
            </a:r>
            <a:r>
              <a:rPr sz="2000" spc="-6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teljesítésnél,</a:t>
            </a:r>
            <a:r>
              <a:rPr sz="2000" spc="-6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esetleg</a:t>
            </a:r>
            <a:r>
              <a:rPr sz="2000" spc="-6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mással</a:t>
            </a:r>
            <a:r>
              <a:rPr sz="2000" spc="-6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C000"/>
                </a:solidFill>
                <a:latin typeface="Arial"/>
                <a:cs typeface="Arial"/>
              </a:rPr>
              <a:t>való</a:t>
            </a:r>
            <a:r>
              <a:rPr sz="2000" spc="-6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C000"/>
                </a:solidFill>
                <a:latin typeface="Arial"/>
                <a:cs typeface="Arial"/>
              </a:rPr>
              <a:t>kijavíttatásnál)!</a:t>
            </a:r>
            <a:endParaRPr sz="2000" dirty="0">
              <a:solidFill>
                <a:srgbClr val="FFC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Egyéni,</a:t>
            </a:r>
            <a:r>
              <a:rPr spc="-105" dirty="0"/>
              <a:t> </a:t>
            </a:r>
            <a:r>
              <a:rPr dirty="0"/>
              <a:t>eredeti</a:t>
            </a:r>
            <a:r>
              <a:rPr spc="-105" dirty="0"/>
              <a:t> </a:t>
            </a:r>
            <a:r>
              <a:rPr dirty="0"/>
              <a:t>jelleg</a:t>
            </a:r>
            <a:r>
              <a:rPr spc="-105" dirty="0"/>
              <a:t> </a:t>
            </a:r>
            <a:r>
              <a:rPr dirty="0"/>
              <a:t>a</a:t>
            </a:r>
            <a:r>
              <a:rPr spc="-100" dirty="0"/>
              <a:t> </a:t>
            </a:r>
            <a:r>
              <a:rPr dirty="0"/>
              <a:t>funkcionális</a:t>
            </a:r>
            <a:r>
              <a:rPr spc="-105" dirty="0"/>
              <a:t> </a:t>
            </a:r>
            <a:r>
              <a:rPr spc="-10" dirty="0"/>
              <a:t>alkotásokban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374558"/>
            <a:ext cx="8372475" cy="3101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3999"/>
              </a:lnSpc>
              <a:spcBef>
                <a:spcPts val="100"/>
              </a:spcBef>
            </a:pP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“Az</a:t>
            </a:r>
            <a:r>
              <a:rPr sz="1700" spc="1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alkotás</a:t>
            </a:r>
            <a:r>
              <a:rPr sz="1700" spc="1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terének</a:t>
            </a:r>
            <a:r>
              <a:rPr sz="1700" spc="1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nagysága,</a:t>
            </a:r>
            <a:r>
              <a:rPr sz="1700" spc="1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ezáltal</a:t>
            </a:r>
            <a:r>
              <a:rPr sz="1700" spc="1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700" spc="1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egyéni,</a:t>
            </a:r>
            <a:r>
              <a:rPr sz="1700" spc="1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eredeti</a:t>
            </a:r>
            <a:r>
              <a:rPr sz="1700" spc="1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jelleg</a:t>
            </a:r>
            <a:r>
              <a:rPr sz="1700" spc="1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700" spc="-10" dirty="0">
                <a:solidFill>
                  <a:schemeClr val="tx1"/>
                </a:solidFill>
                <a:latin typeface="Arial"/>
                <a:cs typeface="Arial"/>
              </a:rPr>
              <a:t>megállapítása </a:t>
            </a:r>
            <a:r>
              <a:rPr sz="1700" u="heavy" spc="-10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műtípusonként</a:t>
            </a:r>
            <a:r>
              <a:rPr sz="1700" u="heavy" spc="-70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700" u="heavy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eltérő</a:t>
            </a:r>
            <a:r>
              <a:rPr sz="1700" u="heavy" spc="-70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700" u="heavy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kritériumrendszer</a:t>
            </a:r>
            <a:r>
              <a:rPr sz="17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mentén</a:t>
            </a:r>
            <a:r>
              <a:rPr sz="17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történik:</a:t>
            </a:r>
            <a:r>
              <a:rPr sz="17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7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kifejezés</a:t>
            </a:r>
            <a:r>
              <a:rPr sz="17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védelme</a:t>
            </a:r>
            <a:r>
              <a:rPr sz="17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igazodik</a:t>
            </a:r>
            <a:r>
              <a:rPr sz="17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spc="-50" dirty="0">
                <a:solidFill>
                  <a:schemeClr val="tx1"/>
                </a:solidFill>
                <a:latin typeface="Arial"/>
                <a:cs typeface="Arial"/>
              </a:rPr>
              <a:t>a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tartalom</a:t>
            </a:r>
            <a:r>
              <a:rPr sz="17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17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7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műfajta</a:t>
            </a:r>
            <a:r>
              <a:rPr sz="17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sajátosságaihoz.</a:t>
            </a:r>
            <a:r>
              <a:rPr sz="17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…</a:t>
            </a:r>
            <a:r>
              <a:rPr sz="1700" spc="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700" spc="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funkció</a:t>
            </a:r>
            <a:r>
              <a:rPr sz="17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17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7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kötöttségek</a:t>
            </a:r>
            <a:r>
              <a:rPr sz="17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chemeClr val="tx1"/>
                </a:solidFill>
                <a:latin typeface="Arial"/>
                <a:cs typeface="Arial"/>
              </a:rPr>
              <a:t>nagymértékben </a:t>
            </a:r>
            <a:r>
              <a:rPr sz="1700" u="heavy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szűkítik</a:t>
            </a:r>
            <a:r>
              <a:rPr sz="1700" u="heavy" spc="-45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700" u="heavy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az</a:t>
            </a:r>
            <a:r>
              <a:rPr sz="1700" u="heavy" spc="-45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700" u="heavy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egyéni</a:t>
            </a:r>
            <a:r>
              <a:rPr sz="1700" u="heavy" spc="-40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700" u="heavy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eredeti</a:t>
            </a:r>
            <a:r>
              <a:rPr sz="1700" u="heavy" spc="-45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700" u="heavy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jelleg</a:t>
            </a:r>
            <a:r>
              <a:rPr sz="1700" u="heavy" spc="-45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700" u="heavy" spc="-10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kifejezhetőségének</a:t>
            </a:r>
            <a:r>
              <a:rPr sz="1700" u="heavy" spc="-40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700" u="heavy" spc="-10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terét</a:t>
            </a:r>
            <a:r>
              <a:rPr sz="1700" spc="-10" dirty="0">
                <a:solidFill>
                  <a:schemeClr val="tx1"/>
                </a:solidFill>
                <a:latin typeface="Arial"/>
                <a:cs typeface="Arial"/>
              </a:rPr>
              <a:t>.”</a:t>
            </a:r>
            <a:endParaRPr sz="17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39370" algn="just">
              <a:lnSpc>
                <a:spcPct val="113999"/>
              </a:lnSpc>
              <a:spcBef>
                <a:spcPts val="1645"/>
              </a:spcBef>
            </a:pP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“Ha</a:t>
            </a:r>
            <a:r>
              <a:rPr sz="17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7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egyes</a:t>
            </a:r>
            <a:r>
              <a:rPr sz="17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tervezők</a:t>
            </a:r>
            <a:r>
              <a:rPr sz="17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7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funkcionális</a:t>
            </a:r>
            <a:r>
              <a:rPr sz="17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elvárások</a:t>
            </a:r>
            <a:r>
              <a:rPr sz="17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chemeClr val="tx1"/>
                </a:solidFill>
                <a:latin typeface="Arial"/>
                <a:cs typeface="Arial"/>
              </a:rPr>
              <a:t>figyelembevételével</a:t>
            </a:r>
            <a:r>
              <a:rPr sz="17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z="17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u="heavy" spc="-10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egymástól</a:t>
            </a:r>
            <a:r>
              <a:rPr sz="1700" u="heavy" spc="-45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700" u="heavy" spc="-10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eltérő</a:t>
            </a:r>
            <a:r>
              <a:rPr sz="17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u="heavy" spc="-10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eredményre</a:t>
            </a:r>
            <a:r>
              <a:rPr sz="1700" u="heavy" spc="-50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700" u="heavy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juthatnak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sz="17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7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terv</a:t>
            </a:r>
            <a:r>
              <a:rPr sz="17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spc="-20" dirty="0">
                <a:solidFill>
                  <a:schemeClr val="tx1"/>
                </a:solidFill>
                <a:latin typeface="Arial"/>
                <a:cs typeface="Arial"/>
              </a:rPr>
              <a:t>egyéni-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eredeti</a:t>
            </a:r>
            <a:r>
              <a:rPr sz="17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jellegűnek</a:t>
            </a:r>
            <a:r>
              <a:rPr sz="17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chemeClr val="tx1"/>
                </a:solidFill>
                <a:latin typeface="Arial"/>
                <a:cs typeface="Arial"/>
              </a:rPr>
              <a:t>minősül.”</a:t>
            </a:r>
            <a:endParaRPr sz="17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91440" algn="just">
              <a:lnSpc>
                <a:spcPct val="113999"/>
              </a:lnSpc>
              <a:spcBef>
                <a:spcPts val="1650"/>
              </a:spcBef>
            </a:pP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“Nem</a:t>
            </a:r>
            <a:r>
              <a:rPr sz="17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állhatnak</a:t>
            </a:r>
            <a:r>
              <a:rPr sz="17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17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17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védelem</a:t>
            </a:r>
            <a:r>
              <a:rPr sz="17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alatt</a:t>
            </a:r>
            <a:r>
              <a:rPr sz="17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senki</a:t>
            </a:r>
            <a:r>
              <a:rPr sz="17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javára</a:t>
            </a:r>
            <a:r>
              <a:rPr sz="17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azok</a:t>
            </a:r>
            <a:r>
              <a:rPr sz="17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7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chemeClr val="tx1"/>
                </a:solidFill>
                <a:latin typeface="Arial"/>
                <a:cs typeface="Arial"/>
              </a:rPr>
              <a:t>teljesítmények,</a:t>
            </a:r>
            <a:r>
              <a:rPr sz="17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chemeClr val="tx1"/>
                </a:solidFill>
                <a:latin typeface="Arial"/>
                <a:cs typeface="Arial"/>
              </a:rPr>
              <a:t>amelyek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mindenki</a:t>
            </a:r>
            <a:r>
              <a:rPr sz="17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számára</a:t>
            </a:r>
            <a:r>
              <a:rPr sz="17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szabadon</a:t>
            </a:r>
            <a:r>
              <a:rPr sz="17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chemeClr val="tx1"/>
                </a:solidFill>
                <a:latin typeface="Arial"/>
                <a:cs typeface="Arial"/>
              </a:rPr>
              <a:t>hozzáférhetők,</a:t>
            </a:r>
            <a:r>
              <a:rPr sz="17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700" spc="-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chemeClr val="tx1"/>
                </a:solidFill>
                <a:latin typeface="Arial"/>
                <a:cs typeface="Arial"/>
              </a:rPr>
              <a:t>különböző</a:t>
            </a:r>
            <a:r>
              <a:rPr sz="17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szakmai,</a:t>
            </a:r>
            <a:r>
              <a:rPr sz="17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technikai</a:t>
            </a:r>
            <a:r>
              <a:rPr sz="17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chemeClr val="tx1"/>
                </a:solidFill>
                <a:latin typeface="Arial"/>
                <a:cs typeface="Arial"/>
              </a:rPr>
              <a:t>előírások, elvárások,</a:t>
            </a:r>
            <a:r>
              <a:rPr sz="17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általános</a:t>
            </a:r>
            <a:r>
              <a:rPr sz="17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chemeClr val="tx1"/>
                </a:solidFill>
                <a:latin typeface="Arial"/>
                <a:cs typeface="Arial"/>
              </a:rPr>
              <a:t>kritériumoknak</a:t>
            </a:r>
            <a:r>
              <a:rPr sz="17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chemeClr val="tx1"/>
                </a:solidFill>
                <a:latin typeface="Arial"/>
                <a:cs typeface="Arial"/>
              </a:rPr>
              <a:t>megfelelő</a:t>
            </a:r>
            <a:r>
              <a:rPr sz="17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chemeClr val="tx1"/>
                </a:solidFill>
                <a:latin typeface="Arial"/>
                <a:cs typeface="Arial"/>
              </a:rPr>
              <a:t>alkotóelemek,</a:t>
            </a:r>
            <a:r>
              <a:rPr sz="17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chemeClr val="tx1"/>
                </a:solidFill>
                <a:latin typeface="Arial"/>
                <a:cs typeface="Arial"/>
              </a:rPr>
              <a:t>sablonok.”</a:t>
            </a:r>
            <a:endParaRPr sz="17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536" y="4629150"/>
            <a:ext cx="7855584" cy="346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sz="1000" spc="-20" dirty="0">
                <a:solidFill>
                  <a:schemeClr val="tx1"/>
                </a:solidFill>
                <a:latin typeface="Arial"/>
                <a:cs typeface="Arial"/>
              </a:rPr>
              <a:t>SZJSZT-</a:t>
            </a:r>
            <a:r>
              <a:rPr sz="1000" dirty="0">
                <a:solidFill>
                  <a:schemeClr val="tx1"/>
                </a:solidFill>
                <a:latin typeface="Arial"/>
                <a:cs typeface="Arial"/>
              </a:rPr>
              <a:t>34/2000</a:t>
            </a:r>
            <a:r>
              <a:rPr sz="10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0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tx1"/>
                </a:solidFill>
                <a:latin typeface="Arial"/>
                <a:cs typeface="Arial"/>
              </a:rPr>
              <a:t>Szabványok</a:t>
            </a:r>
            <a:r>
              <a:rPr sz="1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10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10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tx1"/>
                </a:solidFill>
                <a:latin typeface="Arial"/>
                <a:cs typeface="Arial"/>
              </a:rPr>
              <a:t>védelme,</a:t>
            </a:r>
            <a:r>
              <a:rPr sz="1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chemeClr val="tx1"/>
                </a:solidFill>
                <a:latin typeface="Arial"/>
                <a:cs typeface="Arial"/>
              </a:rPr>
              <a:t>SZJSZT-</a:t>
            </a:r>
            <a:r>
              <a:rPr sz="1000" dirty="0">
                <a:solidFill>
                  <a:schemeClr val="tx1"/>
                </a:solidFill>
                <a:latin typeface="Arial"/>
                <a:cs typeface="Arial"/>
              </a:rPr>
              <a:t>23/2010</a:t>
            </a:r>
            <a:r>
              <a:rPr sz="10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tx1"/>
                </a:solidFill>
                <a:latin typeface="Arial"/>
                <a:cs typeface="Arial"/>
              </a:rPr>
              <a:t>Konstrukciós</a:t>
            </a:r>
            <a:r>
              <a:rPr sz="10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tx1"/>
                </a:solidFill>
                <a:latin typeface="Arial"/>
                <a:cs typeface="Arial"/>
              </a:rPr>
              <a:t>tervek,</a:t>
            </a:r>
            <a:r>
              <a:rPr sz="10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tx1"/>
                </a:solidFill>
                <a:latin typeface="Arial"/>
                <a:cs typeface="Arial"/>
              </a:rPr>
              <a:t>gyártmánytervek</a:t>
            </a:r>
            <a:r>
              <a:rPr sz="1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10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tx1"/>
                </a:solidFill>
                <a:latin typeface="Arial"/>
                <a:cs typeface="Arial"/>
              </a:rPr>
              <a:t>látványtervek</a:t>
            </a:r>
            <a:r>
              <a:rPr sz="10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1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chemeClr val="tx1"/>
                </a:solidFill>
                <a:latin typeface="Arial"/>
                <a:cs typeface="Arial"/>
              </a:rPr>
              <a:t>jogi </a:t>
            </a:r>
            <a:r>
              <a:rPr sz="1000" spc="-10" dirty="0">
                <a:solidFill>
                  <a:schemeClr val="tx1"/>
                </a:solidFill>
                <a:latin typeface="Arial"/>
                <a:cs typeface="Arial"/>
              </a:rPr>
              <a:t>megítélése</a:t>
            </a:r>
            <a:endParaRPr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278881"/>
            <a:ext cx="8370570" cy="40877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EUB</a:t>
            </a:r>
            <a:r>
              <a:rPr sz="18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C-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406/10.</a:t>
            </a:r>
            <a:r>
              <a:rPr sz="18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SAS</a:t>
            </a:r>
            <a:r>
              <a:rPr sz="18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Institute</a:t>
            </a:r>
            <a:r>
              <a:rPr sz="18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Inc</a:t>
            </a:r>
            <a:r>
              <a:rPr sz="18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kontra</a:t>
            </a:r>
            <a:r>
              <a:rPr sz="18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World</a:t>
            </a:r>
            <a:r>
              <a:rPr sz="18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Programming</a:t>
            </a:r>
            <a:r>
              <a:rPr sz="18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Ltd.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6350" algn="just">
              <a:lnSpc>
                <a:spcPct val="114599"/>
              </a:lnSpc>
              <a:spcBef>
                <a:spcPts val="1575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“Sem</a:t>
            </a:r>
            <a:r>
              <a:rPr sz="1800" spc="13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13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számítógépi</a:t>
            </a:r>
            <a:r>
              <a:rPr sz="1800" spc="14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program</a:t>
            </a:r>
            <a:r>
              <a:rPr sz="1800" spc="13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funkcionalitása,</a:t>
            </a:r>
            <a:r>
              <a:rPr sz="1800" spc="14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sem</a:t>
            </a:r>
            <a:r>
              <a:rPr sz="1800" spc="13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14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számítógépi</a:t>
            </a:r>
            <a:r>
              <a:rPr sz="1800" spc="13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program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keretében</a:t>
            </a:r>
            <a:r>
              <a:rPr sz="1800" spc="4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5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program</a:t>
            </a:r>
            <a:r>
              <a:rPr sz="1800" spc="5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bizonyos</a:t>
            </a:r>
            <a:r>
              <a:rPr sz="1800" spc="5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funkcióinak</a:t>
            </a:r>
            <a:r>
              <a:rPr sz="1800" spc="5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5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használata</a:t>
            </a:r>
            <a:r>
              <a:rPr sz="1800" spc="5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céljából</a:t>
            </a:r>
            <a:r>
              <a:rPr sz="1800" spc="5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alkalmazott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programnyelv</a:t>
            </a:r>
            <a:r>
              <a:rPr sz="1800" spc="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1800" spc="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adatfájl</a:t>
            </a:r>
            <a:r>
              <a:rPr sz="1800" spc="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formátum</a:t>
            </a:r>
            <a:r>
              <a:rPr sz="1800" spc="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1800" spc="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minősül</a:t>
            </a:r>
            <a:r>
              <a:rPr sz="1800" spc="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1800" spc="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program</a:t>
            </a:r>
            <a:r>
              <a:rPr sz="1800" spc="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kifejezési</a:t>
            </a:r>
            <a:r>
              <a:rPr sz="1800" spc="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formájának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18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ekként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18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részesül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18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védelemben.”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890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EUB</a:t>
            </a:r>
            <a:r>
              <a:rPr sz="18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C-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406/10.,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BH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1993.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545.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8630" marR="29845" indent="-303530" algn="just">
              <a:lnSpc>
                <a:spcPct val="114599"/>
              </a:lnSpc>
              <a:spcBef>
                <a:spcPts val="1575"/>
              </a:spcBef>
              <a:buClr>
                <a:srgbClr val="595959"/>
              </a:buClr>
              <a:buChar char="-"/>
              <a:tabLst>
                <a:tab pos="469900" algn="l"/>
              </a:tabLst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Dokumentáció</a:t>
            </a:r>
            <a:r>
              <a:rPr sz="1800" spc="3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védett</a:t>
            </a:r>
            <a:r>
              <a:rPr sz="1800" spc="3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akkor</a:t>
            </a:r>
            <a:r>
              <a:rPr sz="1800" spc="3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is,</a:t>
            </a:r>
            <a:r>
              <a:rPr sz="1800" spc="3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ha</a:t>
            </a:r>
            <a:r>
              <a:rPr sz="1800" spc="3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3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szoftver</a:t>
            </a:r>
            <a:r>
              <a:rPr sz="1800" spc="3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1800" spc="3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áll</a:t>
            </a:r>
            <a:r>
              <a:rPr sz="1800" spc="3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rendelkezésre</a:t>
            </a:r>
            <a:r>
              <a:rPr sz="1800" spc="3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(nincs 	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készen,</a:t>
            </a:r>
            <a:r>
              <a:rPr sz="18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v.</a:t>
            </a:r>
            <a:r>
              <a:rPr sz="18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csak</a:t>
            </a:r>
            <a:r>
              <a:rPr sz="18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részleteiben)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8630" marR="5080" indent="-303530" algn="just">
              <a:lnSpc>
                <a:spcPct val="114599"/>
              </a:lnSpc>
              <a:buChar char="-"/>
              <a:tabLst>
                <a:tab pos="469900" algn="l"/>
              </a:tabLst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“...az</a:t>
            </a:r>
            <a:r>
              <a:rPr sz="1800" spc="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előbbinek</a:t>
            </a:r>
            <a:r>
              <a:rPr sz="1800" spc="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megalkotása</a:t>
            </a:r>
            <a:r>
              <a:rPr sz="1800" spc="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szükségképpen</a:t>
            </a:r>
            <a:r>
              <a:rPr sz="1800" spc="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800" spc="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utóbbinak</a:t>
            </a:r>
            <a:r>
              <a:rPr sz="1800" spc="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létrehozására 	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irányul, de</a:t>
            </a:r>
            <a:r>
              <a:rPr sz="18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tényleges</a:t>
            </a:r>
            <a:r>
              <a:rPr sz="18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létrejötte</a:t>
            </a:r>
            <a:r>
              <a:rPr sz="18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18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előfeltétele</a:t>
            </a:r>
            <a:r>
              <a:rPr sz="18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dokumentáció</a:t>
            </a:r>
            <a:r>
              <a:rPr sz="18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önálló</a:t>
            </a:r>
            <a:r>
              <a:rPr sz="18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szerzői 	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védelmének...”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584" y="339538"/>
            <a:ext cx="7668816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95" dirty="0"/>
              <a:t> </a:t>
            </a:r>
            <a:r>
              <a:rPr dirty="0"/>
              <a:t>szoftver</a:t>
            </a:r>
            <a:r>
              <a:rPr spc="-100" dirty="0"/>
              <a:t> </a:t>
            </a:r>
            <a:r>
              <a:rPr dirty="0"/>
              <a:t>átírása</a:t>
            </a:r>
            <a:r>
              <a:rPr spc="-75" dirty="0"/>
              <a:t> </a:t>
            </a:r>
            <a:r>
              <a:rPr dirty="0"/>
              <a:t>más</a:t>
            </a:r>
            <a:r>
              <a:rPr spc="-75" dirty="0"/>
              <a:t> </a:t>
            </a:r>
            <a:r>
              <a:rPr spc="-10" dirty="0"/>
              <a:t>programnyelvre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27484" y="1539689"/>
            <a:ext cx="7554516" cy="27604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130" algn="just">
              <a:lnSpc>
                <a:spcPct val="113300"/>
              </a:lnSpc>
              <a:spcBef>
                <a:spcPts val="100"/>
              </a:spcBef>
            </a:pPr>
            <a:r>
              <a:rPr sz="2000" dirty="0"/>
              <a:t>Szjt.</a:t>
            </a:r>
            <a:r>
              <a:rPr sz="2000" spc="120" dirty="0"/>
              <a:t> </a:t>
            </a:r>
            <a:r>
              <a:rPr sz="2000" dirty="0"/>
              <a:t>58.</a:t>
            </a:r>
            <a:r>
              <a:rPr sz="2000" spc="125" dirty="0"/>
              <a:t> </a:t>
            </a:r>
            <a:r>
              <a:rPr sz="2000" dirty="0"/>
              <a:t>§</a:t>
            </a:r>
            <a:r>
              <a:rPr sz="2000" spc="125" dirty="0"/>
              <a:t> </a:t>
            </a:r>
            <a:r>
              <a:rPr sz="2000" dirty="0"/>
              <a:t>(2)</a:t>
            </a:r>
            <a:r>
              <a:rPr sz="2000" spc="40" dirty="0"/>
              <a:t> </a:t>
            </a:r>
            <a:r>
              <a:rPr sz="2000" dirty="0"/>
              <a:t>A</a:t>
            </a:r>
            <a:r>
              <a:rPr sz="2000" spc="40" dirty="0"/>
              <a:t> </a:t>
            </a:r>
            <a:r>
              <a:rPr sz="2000" dirty="0"/>
              <a:t>4.</a:t>
            </a:r>
            <a:r>
              <a:rPr sz="2000" spc="125" dirty="0"/>
              <a:t> </a:t>
            </a:r>
            <a:r>
              <a:rPr sz="2000" dirty="0"/>
              <a:t>§</a:t>
            </a:r>
            <a:r>
              <a:rPr sz="2000" spc="120" dirty="0"/>
              <a:t> </a:t>
            </a:r>
            <a:r>
              <a:rPr sz="2000" dirty="0"/>
              <a:t>(2)</a:t>
            </a:r>
            <a:r>
              <a:rPr sz="2000" spc="125" dirty="0"/>
              <a:t> </a:t>
            </a:r>
            <a:r>
              <a:rPr sz="2000" dirty="0"/>
              <a:t>bekezdésében</a:t>
            </a:r>
            <a:r>
              <a:rPr sz="2000" spc="125" dirty="0"/>
              <a:t> </a:t>
            </a:r>
            <a:r>
              <a:rPr sz="2000" dirty="0"/>
              <a:t>foglaltakat</a:t>
            </a:r>
            <a:r>
              <a:rPr sz="2000" spc="125" dirty="0"/>
              <a:t> </a:t>
            </a:r>
            <a:r>
              <a:rPr sz="2000" dirty="0"/>
              <a:t>alkalmazni</a:t>
            </a:r>
            <a:r>
              <a:rPr sz="2000" spc="120" dirty="0"/>
              <a:t> </a:t>
            </a:r>
            <a:r>
              <a:rPr sz="2000" dirty="0"/>
              <a:t>kell</a:t>
            </a:r>
            <a:r>
              <a:rPr sz="2000" spc="125" dirty="0"/>
              <a:t> </a:t>
            </a:r>
            <a:r>
              <a:rPr sz="2000" dirty="0"/>
              <a:t>a</a:t>
            </a:r>
            <a:r>
              <a:rPr sz="2000" spc="125" dirty="0"/>
              <a:t> </a:t>
            </a:r>
            <a:r>
              <a:rPr sz="2000" dirty="0"/>
              <a:t>szoftvernek</a:t>
            </a:r>
            <a:r>
              <a:rPr sz="2000" spc="180" dirty="0"/>
              <a:t> </a:t>
            </a:r>
            <a:r>
              <a:rPr sz="2000" u="heavy" dirty="0">
                <a:uFill>
                  <a:solidFill>
                    <a:srgbClr val="474747"/>
                  </a:solidFill>
                </a:uFill>
              </a:rPr>
              <a:t>az</a:t>
            </a:r>
            <a:r>
              <a:rPr sz="2000" u="heavy" spc="125" dirty="0">
                <a:uFill>
                  <a:solidFill>
                    <a:srgbClr val="474747"/>
                  </a:solidFill>
                </a:uFill>
              </a:rPr>
              <a:t> </a:t>
            </a:r>
            <a:r>
              <a:rPr sz="2000" u="heavy" spc="-10" dirty="0">
                <a:uFill>
                  <a:solidFill>
                    <a:srgbClr val="474747"/>
                  </a:solidFill>
                </a:uFill>
              </a:rPr>
              <a:t>eredeti</a:t>
            </a:r>
            <a:r>
              <a:rPr sz="2000" spc="-10" dirty="0"/>
              <a:t> </a:t>
            </a:r>
            <a:r>
              <a:rPr sz="2000" u="heavy" dirty="0">
                <a:uFill>
                  <a:solidFill>
                    <a:srgbClr val="474747"/>
                  </a:solidFill>
                </a:uFill>
              </a:rPr>
              <a:t>programnyelvétől</a:t>
            </a:r>
            <a:r>
              <a:rPr sz="2000" u="heavy" spc="-75" dirty="0">
                <a:uFill>
                  <a:solidFill>
                    <a:srgbClr val="474747"/>
                  </a:solidFill>
                </a:uFill>
              </a:rPr>
              <a:t> </a:t>
            </a:r>
            <a:r>
              <a:rPr sz="2000" u="heavy" dirty="0">
                <a:uFill>
                  <a:solidFill>
                    <a:srgbClr val="474747"/>
                  </a:solidFill>
                </a:uFill>
              </a:rPr>
              <a:t>eltérő</a:t>
            </a:r>
            <a:r>
              <a:rPr sz="2000" u="heavy" spc="-70" dirty="0">
                <a:uFill>
                  <a:solidFill>
                    <a:srgbClr val="474747"/>
                  </a:solidFill>
                </a:uFill>
              </a:rPr>
              <a:t> </a:t>
            </a:r>
            <a:r>
              <a:rPr sz="2000" u="heavy" dirty="0">
                <a:uFill>
                  <a:solidFill>
                    <a:srgbClr val="474747"/>
                  </a:solidFill>
                </a:uFill>
              </a:rPr>
              <a:t>programnyelvre</a:t>
            </a:r>
            <a:r>
              <a:rPr sz="2000" u="heavy" spc="-70" dirty="0">
                <a:uFill>
                  <a:solidFill>
                    <a:srgbClr val="474747"/>
                  </a:solidFill>
                </a:uFill>
              </a:rPr>
              <a:t> </a:t>
            </a:r>
            <a:r>
              <a:rPr sz="2000" u="heavy" dirty="0">
                <a:uFill>
                  <a:solidFill>
                    <a:srgbClr val="474747"/>
                  </a:solidFill>
                </a:uFill>
              </a:rPr>
              <a:t>történő</a:t>
            </a:r>
            <a:r>
              <a:rPr sz="2000" u="heavy" spc="-70" dirty="0">
                <a:uFill>
                  <a:solidFill>
                    <a:srgbClr val="474747"/>
                  </a:solidFill>
                </a:uFill>
              </a:rPr>
              <a:t> </a:t>
            </a:r>
            <a:r>
              <a:rPr sz="2000" u="heavy" dirty="0">
                <a:uFill>
                  <a:solidFill>
                    <a:srgbClr val="474747"/>
                  </a:solidFill>
                </a:uFill>
              </a:rPr>
              <a:t>átírására</a:t>
            </a:r>
            <a:r>
              <a:rPr sz="2000" u="heavy" spc="-70" dirty="0">
                <a:uFill>
                  <a:solidFill>
                    <a:srgbClr val="474747"/>
                  </a:solidFill>
                </a:uFill>
              </a:rPr>
              <a:t> </a:t>
            </a:r>
            <a:r>
              <a:rPr sz="2000" u="heavy" spc="-25" dirty="0">
                <a:uFill>
                  <a:solidFill>
                    <a:srgbClr val="474747"/>
                  </a:solidFill>
                </a:uFill>
              </a:rPr>
              <a:t>is</a:t>
            </a:r>
            <a:r>
              <a:rPr sz="2000" spc="-25" dirty="0"/>
              <a:t>.</a:t>
            </a:r>
            <a:endParaRPr sz="2000" dirty="0"/>
          </a:p>
          <a:p>
            <a:pPr algn="just">
              <a:lnSpc>
                <a:spcPct val="100000"/>
              </a:lnSpc>
              <a:spcBef>
                <a:spcPts val="60"/>
              </a:spcBef>
            </a:pPr>
            <a:endParaRPr sz="2000" dirty="0"/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dirty="0"/>
              <a:t>4.</a:t>
            </a:r>
            <a:r>
              <a:rPr sz="2000" spc="-20" dirty="0"/>
              <a:t> </a:t>
            </a:r>
            <a:r>
              <a:rPr sz="2000" dirty="0"/>
              <a:t>§</a:t>
            </a:r>
            <a:r>
              <a:rPr sz="2000" spc="-20" dirty="0"/>
              <a:t> </a:t>
            </a:r>
            <a:r>
              <a:rPr sz="2000" dirty="0"/>
              <a:t>(2)</a:t>
            </a:r>
            <a:r>
              <a:rPr sz="2000" spc="-15" dirty="0"/>
              <a:t> </a:t>
            </a:r>
            <a:r>
              <a:rPr sz="2000" dirty="0"/>
              <a:t>Szerzői</a:t>
            </a:r>
            <a:r>
              <a:rPr sz="2000" spc="-20" dirty="0"/>
              <a:t> </a:t>
            </a:r>
            <a:r>
              <a:rPr sz="2000" dirty="0"/>
              <a:t>jogi</a:t>
            </a:r>
            <a:r>
              <a:rPr sz="2000" spc="-20" dirty="0"/>
              <a:t> </a:t>
            </a:r>
            <a:r>
              <a:rPr sz="2000" dirty="0"/>
              <a:t>védelem</a:t>
            </a:r>
            <a:r>
              <a:rPr sz="2000" spc="-15" dirty="0"/>
              <a:t> </a:t>
            </a:r>
            <a:r>
              <a:rPr sz="2000" dirty="0"/>
              <a:t>alatt</a:t>
            </a:r>
            <a:r>
              <a:rPr sz="2000" spc="-20" dirty="0"/>
              <a:t> </a:t>
            </a:r>
            <a:r>
              <a:rPr sz="2000" dirty="0"/>
              <a:t>áll</a:t>
            </a:r>
            <a:r>
              <a:rPr sz="2000" spc="-20" dirty="0"/>
              <a:t> </a:t>
            </a:r>
            <a:r>
              <a:rPr sz="2000" dirty="0"/>
              <a:t>-</a:t>
            </a:r>
            <a:r>
              <a:rPr sz="2000" spc="-15" dirty="0"/>
              <a:t> </a:t>
            </a:r>
            <a:r>
              <a:rPr sz="2000" dirty="0"/>
              <a:t>az</a:t>
            </a:r>
            <a:r>
              <a:rPr sz="2000" spc="-15" dirty="0"/>
              <a:t> </a:t>
            </a:r>
            <a:r>
              <a:rPr sz="2000" dirty="0"/>
              <a:t>eredeti</a:t>
            </a:r>
            <a:r>
              <a:rPr sz="2000" spc="-20" dirty="0"/>
              <a:t> </a:t>
            </a:r>
            <a:r>
              <a:rPr sz="2000" dirty="0"/>
              <a:t>mű</a:t>
            </a:r>
            <a:r>
              <a:rPr sz="2000" spc="-20" dirty="0"/>
              <a:t> </a:t>
            </a:r>
            <a:r>
              <a:rPr sz="2000" dirty="0"/>
              <a:t>szerzőjét</a:t>
            </a:r>
            <a:r>
              <a:rPr sz="2000" spc="-20" dirty="0"/>
              <a:t> </a:t>
            </a:r>
            <a:r>
              <a:rPr sz="2000" dirty="0"/>
              <a:t>megillető</a:t>
            </a:r>
            <a:r>
              <a:rPr sz="2000" spc="-20" dirty="0"/>
              <a:t> </a:t>
            </a:r>
            <a:r>
              <a:rPr sz="2000" dirty="0"/>
              <a:t>jogok</a:t>
            </a:r>
            <a:r>
              <a:rPr sz="2000" spc="-15" dirty="0"/>
              <a:t> </a:t>
            </a:r>
            <a:r>
              <a:rPr sz="2000" dirty="0"/>
              <a:t>sérelme</a:t>
            </a:r>
            <a:r>
              <a:rPr sz="2000" spc="-20" dirty="0"/>
              <a:t> </a:t>
            </a:r>
            <a:r>
              <a:rPr sz="2000" spc="-10" dirty="0"/>
              <a:t>nélkül</a:t>
            </a:r>
            <a:endParaRPr sz="2000" dirty="0"/>
          </a:p>
          <a:p>
            <a:pPr marL="12700" marR="5080" algn="just">
              <a:lnSpc>
                <a:spcPct val="113300"/>
              </a:lnSpc>
            </a:pPr>
            <a:r>
              <a:rPr sz="2000" dirty="0" err="1" smtClean="0"/>
              <a:t>más</a:t>
            </a:r>
            <a:r>
              <a:rPr sz="2000" spc="-15" dirty="0" smtClean="0"/>
              <a:t> </a:t>
            </a:r>
            <a:r>
              <a:rPr sz="2000" dirty="0"/>
              <a:t>szerző</a:t>
            </a:r>
            <a:r>
              <a:rPr sz="2000" spc="-20" dirty="0"/>
              <a:t> </a:t>
            </a:r>
            <a:r>
              <a:rPr sz="2000" dirty="0"/>
              <a:t>művének</a:t>
            </a:r>
            <a:r>
              <a:rPr sz="2000" spc="-15" dirty="0"/>
              <a:t> </a:t>
            </a:r>
            <a:r>
              <a:rPr sz="2000" dirty="0"/>
              <a:t>átdolgozása,</a:t>
            </a:r>
            <a:r>
              <a:rPr sz="2000" spc="-20" dirty="0"/>
              <a:t> </a:t>
            </a:r>
            <a:r>
              <a:rPr sz="2000" dirty="0"/>
              <a:t>feldolgozása</a:t>
            </a:r>
            <a:r>
              <a:rPr sz="2000" spc="-15" dirty="0"/>
              <a:t> </a:t>
            </a:r>
            <a:r>
              <a:rPr sz="2000" dirty="0"/>
              <a:t>vagy</a:t>
            </a:r>
            <a:r>
              <a:rPr sz="2000" spc="10" dirty="0"/>
              <a:t> </a:t>
            </a:r>
            <a:r>
              <a:rPr sz="2000" u="heavy" dirty="0">
                <a:uFill>
                  <a:solidFill>
                    <a:srgbClr val="474747"/>
                  </a:solidFill>
                </a:uFill>
              </a:rPr>
              <a:t>fordítása</a:t>
            </a:r>
            <a:r>
              <a:rPr sz="2000" u="heavy" spc="-15" dirty="0">
                <a:uFill>
                  <a:solidFill>
                    <a:srgbClr val="474747"/>
                  </a:solidFill>
                </a:uFill>
              </a:rPr>
              <a:t> </a:t>
            </a:r>
            <a:r>
              <a:rPr sz="2000" u="heavy" dirty="0">
                <a:uFill>
                  <a:solidFill>
                    <a:srgbClr val="474747"/>
                  </a:solidFill>
                </a:uFill>
              </a:rPr>
              <a:t>is,</a:t>
            </a:r>
            <a:r>
              <a:rPr sz="2000" u="heavy" spc="-20" dirty="0">
                <a:uFill>
                  <a:solidFill>
                    <a:srgbClr val="474747"/>
                  </a:solidFill>
                </a:uFill>
              </a:rPr>
              <a:t> </a:t>
            </a:r>
            <a:r>
              <a:rPr sz="2000" u="heavy" dirty="0">
                <a:uFill>
                  <a:solidFill>
                    <a:srgbClr val="474747"/>
                  </a:solidFill>
                </a:uFill>
              </a:rPr>
              <a:t>ha</a:t>
            </a:r>
            <a:r>
              <a:rPr sz="2000" u="heavy" spc="-15" dirty="0">
                <a:uFill>
                  <a:solidFill>
                    <a:srgbClr val="474747"/>
                  </a:solidFill>
                </a:uFill>
              </a:rPr>
              <a:t> </a:t>
            </a:r>
            <a:r>
              <a:rPr sz="2000" u="heavy" dirty="0">
                <a:uFill>
                  <a:solidFill>
                    <a:srgbClr val="474747"/>
                  </a:solidFill>
                </a:uFill>
              </a:rPr>
              <a:t>annak</a:t>
            </a:r>
            <a:r>
              <a:rPr sz="2000" u="heavy" spc="-15" dirty="0">
                <a:uFill>
                  <a:solidFill>
                    <a:srgbClr val="474747"/>
                  </a:solidFill>
                </a:uFill>
              </a:rPr>
              <a:t> </a:t>
            </a:r>
            <a:r>
              <a:rPr sz="2000" u="heavy" dirty="0">
                <a:uFill>
                  <a:solidFill>
                    <a:srgbClr val="474747"/>
                  </a:solidFill>
                </a:uFill>
              </a:rPr>
              <a:t>egyéni,</a:t>
            </a:r>
            <a:r>
              <a:rPr sz="2000" u="heavy" spc="-20" dirty="0">
                <a:uFill>
                  <a:solidFill>
                    <a:srgbClr val="474747"/>
                  </a:solidFill>
                </a:uFill>
              </a:rPr>
              <a:t> </a:t>
            </a:r>
            <a:r>
              <a:rPr sz="2000" u="heavy" spc="-10" dirty="0">
                <a:uFill>
                  <a:solidFill>
                    <a:srgbClr val="474747"/>
                  </a:solidFill>
                </a:uFill>
              </a:rPr>
              <a:t>eredeti</a:t>
            </a:r>
            <a:r>
              <a:rPr sz="2000" spc="-10" dirty="0"/>
              <a:t> </a:t>
            </a:r>
            <a:r>
              <a:rPr sz="2000" u="heavy" dirty="0">
                <a:uFill>
                  <a:solidFill>
                    <a:srgbClr val="474747"/>
                  </a:solidFill>
                </a:uFill>
              </a:rPr>
              <a:t>jellege</a:t>
            </a:r>
            <a:r>
              <a:rPr sz="2000" u="heavy" spc="-35" dirty="0">
                <a:uFill>
                  <a:solidFill>
                    <a:srgbClr val="474747"/>
                  </a:solidFill>
                </a:uFill>
              </a:rPr>
              <a:t> </a:t>
            </a:r>
            <a:r>
              <a:rPr sz="2000" u="heavy" spc="-20" dirty="0">
                <a:uFill>
                  <a:solidFill>
                    <a:srgbClr val="474747"/>
                  </a:solidFill>
                </a:uFill>
              </a:rPr>
              <a:t>van.</a:t>
            </a:r>
            <a:endParaRPr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Interface</a:t>
            </a:r>
            <a:r>
              <a:rPr spc="-105" dirty="0"/>
              <a:t> </a:t>
            </a:r>
            <a:r>
              <a:rPr dirty="0"/>
              <a:t>nem</a:t>
            </a:r>
            <a:r>
              <a:rPr spc="-100" dirty="0"/>
              <a:t> </a:t>
            </a:r>
            <a:r>
              <a:rPr dirty="0"/>
              <a:t>védett,</a:t>
            </a:r>
            <a:r>
              <a:rPr spc="-100" dirty="0"/>
              <a:t> </a:t>
            </a:r>
            <a:r>
              <a:rPr dirty="0"/>
              <a:t>mint</a:t>
            </a:r>
            <a:r>
              <a:rPr spc="-105" dirty="0"/>
              <a:t> </a:t>
            </a:r>
            <a:r>
              <a:rPr spc="-25" dirty="0"/>
              <a:t>mű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84987"/>
            <a:ext cx="8373745" cy="35375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13300"/>
              </a:lnSpc>
              <a:spcBef>
                <a:spcPts val="100"/>
              </a:spcBef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1.</a:t>
            </a:r>
            <a:r>
              <a:rPr sz="20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§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(6)</a:t>
            </a:r>
            <a:r>
              <a:rPr sz="20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Valamely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ötlet,</a:t>
            </a:r>
            <a:r>
              <a:rPr sz="2000" u="heavy" spc="-4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1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elv,</a:t>
            </a:r>
            <a:r>
              <a:rPr sz="2000" u="heavy" spc="-4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elgondolás,</a:t>
            </a:r>
            <a:r>
              <a:rPr sz="2000" u="heavy" spc="-4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eljárás,</a:t>
            </a:r>
            <a:r>
              <a:rPr sz="2000" u="heavy" spc="-4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működési</a:t>
            </a:r>
            <a:r>
              <a:rPr sz="2000" u="heavy" spc="-4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módszer</a:t>
            </a:r>
            <a:r>
              <a:rPr sz="2000" u="heavy" spc="-4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vagy</a:t>
            </a:r>
            <a:r>
              <a:rPr sz="2000" u="heavy" spc="-4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matematikai</a:t>
            </a:r>
            <a:r>
              <a:rPr sz="20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u="heavy" spc="-1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művelet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lehet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tárgya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védelemnek.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13335" algn="just">
              <a:lnSpc>
                <a:spcPct val="113300"/>
              </a:lnSpc>
              <a:spcBef>
                <a:spcPts val="1650"/>
              </a:spcBef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58.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§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(1)</a:t>
            </a:r>
            <a:r>
              <a:rPr sz="20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20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1.</a:t>
            </a:r>
            <a:r>
              <a:rPr sz="20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§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(6)</a:t>
            </a:r>
            <a:r>
              <a:rPr sz="20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bekezdésében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foglalt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rendelkezést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alkalmazni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kell</a:t>
            </a:r>
            <a:r>
              <a:rPr sz="2000" spc="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a</a:t>
            </a:r>
            <a:r>
              <a:rPr sz="2000" u="heavy" spc="1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szoftver</a:t>
            </a:r>
            <a:r>
              <a:rPr sz="2000" u="heavy" spc="2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1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csatlakozó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felületének</a:t>
            </a:r>
            <a:r>
              <a:rPr sz="2000" u="heavy" spc="9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alapját</a:t>
            </a:r>
            <a:r>
              <a:rPr sz="2000" u="heavy" spc="9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képező</a:t>
            </a:r>
            <a:r>
              <a:rPr sz="2000" u="heavy" spc="9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ötletre,</a:t>
            </a:r>
            <a:r>
              <a:rPr sz="2000" u="heavy" spc="9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elvre,</a:t>
            </a:r>
            <a:r>
              <a:rPr sz="2000" u="heavy" spc="9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elgondolásra,</a:t>
            </a:r>
            <a:r>
              <a:rPr sz="2000" u="heavy" spc="9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eljárásra,</a:t>
            </a:r>
            <a:r>
              <a:rPr sz="2000" u="heavy" spc="9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működési</a:t>
            </a:r>
            <a:r>
              <a:rPr sz="2000" u="heavy" spc="9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módszerre</a:t>
            </a:r>
            <a:r>
              <a:rPr sz="2000" u="heavy" spc="9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2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vagy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u="heavy" spc="-1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matematikai</a:t>
            </a:r>
            <a:r>
              <a:rPr sz="2000" u="heavy" spc="-70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műveletre</a:t>
            </a:r>
            <a:r>
              <a:rPr sz="2000" u="heavy" spc="-6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25" dirty="0">
                <a:solidFill>
                  <a:schemeClr val="tx1"/>
                </a:solidFill>
                <a:uFill>
                  <a:solidFill>
                    <a:srgbClr val="474747"/>
                  </a:solidFill>
                </a:uFill>
                <a:latin typeface="Arial"/>
                <a:cs typeface="Arial"/>
              </a:rPr>
              <a:t>is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113300"/>
              </a:lnSpc>
              <a:spcBef>
                <a:spcPts val="1645"/>
              </a:spcBef>
            </a:pPr>
            <a:r>
              <a:rPr sz="2000" spc="-55" dirty="0">
                <a:solidFill>
                  <a:schemeClr val="tx1"/>
                </a:solidFill>
                <a:latin typeface="Arial"/>
                <a:cs typeface="Arial"/>
              </a:rPr>
              <a:t>T-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201/04.</a:t>
            </a:r>
            <a:r>
              <a:rPr sz="20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Microsoft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v.</a:t>
            </a:r>
            <a:r>
              <a:rPr sz="20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Sun</a:t>
            </a:r>
            <a:r>
              <a:rPr sz="2000" spc="-11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20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interoperabilitásra</a:t>
            </a:r>
            <a:r>
              <a:rPr sz="20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vonatkozó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rial"/>
                <a:cs typeface="Arial"/>
              </a:rPr>
              <a:t>információk</a:t>
            </a:r>
            <a:r>
              <a:rPr sz="20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 err="1" smtClean="0">
                <a:solidFill>
                  <a:schemeClr val="tx1"/>
                </a:solidFill>
                <a:latin typeface="Arial"/>
                <a:cs typeface="Arial"/>
              </a:rPr>
              <a:t>közlésének</a:t>
            </a:r>
            <a:r>
              <a:rPr sz="2000" spc="-4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20" dirty="0" err="1">
                <a:solidFill>
                  <a:schemeClr val="tx1"/>
                </a:solidFill>
                <a:latin typeface="Arial"/>
                <a:cs typeface="Arial"/>
              </a:rPr>
              <a:t>ezen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 err="1" smtClean="0">
                <a:solidFill>
                  <a:schemeClr val="tx1"/>
                </a:solidFill>
                <a:latin typeface="Arial"/>
                <a:cs typeface="Arial"/>
              </a:rPr>
              <a:t>információk</a:t>
            </a:r>
            <a:r>
              <a:rPr sz="2000" spc="22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 err="1" smtClean="0">
                <a:solidFill>
                  <a:schemeClr val="tx1"/>
                </a:solidFill>
                <a:latin typeface="Arial"/>
                <a:cs typeface="Arial"/>
              </a:rPr>
              <a:t>felhasználása</a:t>
            </a:r>
            <a:r>
              <a:rPr sz="2000" spc="22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rial"/>
                <a:cs typeface="Arial"/>
              </a:rPr>
              <a:t>engedélyezésének</a:t>
            </a:r>
            <a:r>
              <a:rPr sz="2000" spc="2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 err="1" smtClean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2000" spc="225" dirty="0" smtClean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 err="1">
                <a:solidFill>
                  <a:schemeClr val="tx1"/>
                </a:solidFill>
                <a:latin typeface="Arial"/>
                <a:cs typeface="Arial"/>
              </a:rPr>
              <a:t>erőfölényben</a:t>
            </a:r>
            <a:r>
              <a:rPr sz="2000" spc="2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 err="1" smtClean="0">
                <a:solidFill>
                  <a:schemeClr val="tx1"/>
                </a:solidFill>
                <a:latin typeface="Arial"/>
                <a:cs typeface="Arial"/>
              </a:rPr>
              <a:t>lévő</a:t>
            </a:r>
            <a:r>
              <a:rPr sz="2000" spc="22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rial"/>
                <a:cs typeface="Arial"/>
              </a:rPr>
              <a:t>vállalkozás</a:t>
            </a:r>
            <a:r>
              <a:rPr sz="2000" spc="2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 err="1" smtClean="0">
                <a:solidFill>
                  <a:schemeClr val="tx1"/>
                </a:solidFill>
                <a:latin typeface="Arial"/>
                <a:cs typeface="Arial"/>
              </a:rPr>
              <a:t>általi</a:t>
            </a:r>
            <a:r>
              <a:rPr sz="2000" spc="-1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megtagadása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sérti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versenyjogi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szabályokat.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584" y="339538"/>
            <a:ext cx="835461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Nem</a:t>
            </a:r>
            <a:r>
              <a:rPr sz="2800" spc="-120" dirty="0"/>
              <a:t> </a:t>
            </a:r>
            <a:r>
              <a:rPr sz="2800" spc="-10" dirty="0"/>
              <a:t>szoftverként</a:t>
            </a:r>
            <a:r>
              <a:rPr sz="2800" spc="-114" dirty="0"/>
              <a:t> </a:t>
            </a:r>
            <a:r>
              <a:rPr sz="2800" dirty="0"/>
              <a:t>védett,</a:t>
            </a:r>
            <a:r>
              <a:rPr sz="2800" spc="-114" dirty="0"/>
              <a:t> </a:t>
            </a:r>
            <a:r>
              <a:rPr sz="2800" dirty="0"/>
              <a:t>kapcsolódó</a:t>
            </a:r>
            <a:r>
              <a:rPr sz="2800" spc="-120" dirty="0"/>
              <a:t> </a:t>
            </a:r>
            <a:r>
              <a:rPr sz="2800" spc="-10" dirty="0"/>
              <a:t>művek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381000" y="1123950"/>
            <a:ext cx="8458200" cy="34727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305" algn="just">
              <a:lnSpc>
                <a:spcPct val="113300"/>
              </a:lnSpc>
              <a:spcBef>
                <a:spcPts val="100"/>
              </a:spcBef>
            </a:pPr>
            <a:r>
              <a:rPr sz="1600" u="heavy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</a:rPr>
              <a:t>Grafikus</a:t>
            </a:r>
            <a:r>
              <a:rPr sz="1600" u="heavy" spc="290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</a:rPr>
              <a:t> </a:t>
            </a:r>
            <a:r>
              <a:rPr sz="1600" u="heavy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</a:rPr>
              <a:t>felület</a:t>
            </a:r>
            <a:r>
              <a:rPr sz="1600" spc="300" dirty="0">
                <a:solidFill>
                  <a:schemeClr val="tx1"/>
                </a:solidFill>
              </a:rPr>
              <a:t> </a:t>
            </a:r>
            <a:r>
              <a:rPr sz="1600" spc="-10" dirty="0">
                <a:solidFill>
                  <a:schemeClr val="tx1"/>
                </a:solidFill>
              </a:rPr>
              <a:t>C-</a:t>
            </a:r>
            <a:r>
              <a:rPr sz="1600" dirty="0">
                <a:solidFill>
                  <a:schemeClr val="tx1"/>
                </a:solidFill>
              </a:rPr>
              <a:t>393/09.</a:t>
            </a:r>
            <a:r>
              <a:rPr sz="1600" spc="30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Bezpečnostní</a:t>
            </a:r>
            <a:r>
              <a:rPr sz="1600" spc="29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softwarová</a:t>
            </a:r>
            <a:r>
              <a:rPr sz="1600" spc="29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asociace</a:t>
            </a:r>
            <a:r>
              <a:rPr sz="1600" spc="29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-</a:t>
            </a:r>
            <a:r>
              <a:rPr sz="1600" spc="29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Svaz</a:t>
            </a:r>
            <a:r>
              <a:rPr sz="1600" spc="29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softwarové</a:t>
            </a:r>
            <a:r>
              <a:rPr sz="1600" spc="290" dirty="0">
                <a:solidFill>
                  <a:schemeClr val="tx1"/>
                </a:solidFill>
              </a:rPr>
              <a:t> </a:t>
            </a:r>
            <a:r>
              <a:rPr sz="1600" spc="-10" dirty="0">
                <a:solidFill>
                  <a:schemeClr val="tx1"/>
                </a:solidFill>
              </a:rPr>
              <a:t>ochrany </a:t>
            </a:r>
            <a:r>
              <a:rPr sz="1600" dirty="0">
                <a:solidFill>
                  <a:schemeClr val="tx1"/>
                </a:solidFill>
              </a:rPr>
              <a:t>kontra</a:t>
            </a:r>
            <a:r>
              <a:rPr sz="1600" spc="-50" dirty="0">
                <a:solidFill>
                  <a:schemeClr val="tx1"/>
                </a:solidFill>
              </a:rPr>
              <a:t> </a:t>
            </a:r>
            <a:r>
              <a:rPr sz="1600" spc="-10" dirty="0">
                <a:solidFill>
                  <a:schemeClr val="tx1"/>
                </a:solidFill>
              </a:rPr>
              <a:t>Ministerstvo</a:t>
            </a:r>
            <a:r>
              <a:rPr sz="1600" spc="-50" dirty="0">
                <a:solidFill>
                  <a:schemeClr val="tx1"/>
                </a:solidFill>
              </a:rPr>
              <a:t> </a:t>
            </a:r>
            <a:r>
              <a:rPr sz="1600" spc="-10" dirty="0">
                <a:solidFill>
                  <a:schemeClr val="tx1"/>
                </a:solidFill>
              </a:rPr>
              <a:t>kultury.</a:t>
            </a:r>
            <a:endParaRPr sz="1600" dirty="0">
              <a:solidFill>
                <a:schemeClr val="tx1"/>
              </a:solidFill>
            </a:endParaRPr>
          </a:p>
          <a:p>
            <a:pPr marL="12700" marR="5080" algn="just">
              <a:lnSpc>
                <a:spcPct val="113300"/>
              </a:lnSpc>
              <a:spcBef>
                <a:spcPts val="1650"/>
              </a:spcBef>
            </a:pPr>
            <a:r>
              <a:rPr sz="1600" dirty="0">
                <a:solidFill>
                  <a:schemeClr val="tx1"/>
                </a:solidFill>
              </a:rPr>
              <a:t>“Valamely</a:t>
            </a:r>
            <a:r>
              <a:rPr sz="1600" spc="55" dirty="0">
                <a:solidFill>
                  <a:schemeClr val="tx1"/>
                </a:solidFill>
              </a:rPr>
              <a:t>  </a:t>
            </a:r>
            <a:r>
              <a:rPr sz="1600" dirty="0">
                <a:solidFill>
                  <a:schemeClr val="tx1"/>
                </a:solidFill>
              </a:rPr>
              <a:t>számítógépi</a:t>
            </a:r>
            <a:r>
              <a:rPr sz="1600" spc="55" dirty="0">
                <a:solidFill>
                  <a:schemeClr val="tx1"/>
                </a:solidFill>
              </a:rPr>
              <a:t>  </a:t>
            </a:r>
            <a:r>
              <a:rPr sz="1600" dirty="0">
                <a:solidFill>
                  <a:schemeClr val="tx1"/>
                </a:solidFill>
              </a:rPr>
              <a:t>program</a:t>
            </a:r>
            <a:r>
              <a:rPr sz="1600" spc="55" dirty="0">
                <a:solidFill>
                  <a:schemeClr val="tx1"/>
                </a:solidFill>
              </a:rPr>
              <a:t>  </a:t>
            </a:r>
            <a:r>
              <a:rPr sz="1600" dirty="0">
                <a:solidFill>
                  <a:schemeClr val="tx1"/>
                </a:solidFill>
              </a:rPr>
              <a:t>grafikus</a:t>
            </a:r>
            <a:r>
              <a:rPr sz="1600" spc="55" dirty="0">
                <a:solidFill>
                  <a:schemeClr val="tx1"/>
                </a:solidFill>
              </a:rPr>
              <a:t>  </a:t>
            </a:r>
            <a:r>
              <a:rPr sz="1600" dirty="0">
                <a:solidFill>
                  <a:schemeClr val="tx1"/>
                </a:solidFill>
              </a:rPr>
              <a:t>felhasználói</a:t>
            </a:r>
            <a:r>
              <a:rPr sz="1600" spc="55" dirty="0">
                <a:solidFill>
                  <a:schemeClr val="tx1"/>
                </a:solidFill>
              </a:rPr>
              <a:t>  </a:t>
            </a:r>
            <a:r>
              <a:rPr sz="1600" dirty="0">
                <a:solidFill>
                  <a:schemeClr val="tx1"/>
                </a:solidFill>
              </a:rPr>
              <a:t>felülete</a:t>
            </a:r>
            <a:r>
              <a:rPr sz="1600" spc="55" dirty="0">
                <a:solidFill>
                  <a:schemeClr val="tx1"/>
                </a:solidFill>
              </a:rPr>
              <a:t>  </a:t>
            </a:r>
            <a:r>
              <a:rPr sz="1600" dirty="0">
                <a:solidFill>
                  <a:schemeClr val="tx1"/>
                </a:solidFill>
              </a:rPr>
              <a:t>nem</a:t>
            </a:r>
            <a:r>
              <a:rPr sz="1600" spc="55" dirty="0">
                <a:solidFill>
                  <a:schemeClr val="tx1"/>
                </a:solidFill>
              </a:rPr>
              <a:t>  </a:t>
            </a:r>
            <a:r>
              <a:rPr sz="1600" dirty="0">
                <a:solidFill>
                  <a:schemeClr val="tx1"/>
                </a:solidFill>
              </a:rPr>
              <a:t>minősül</a:t>
            </a:r>
            <a:r>
              <a:rPr sz="1600" spc="55" dirty="0">
                <a:solidFill>
                  <a:schemeClr val="tx1"/>
                </a:solidFill>
              </a:rPr>
              <a:t>  </a:t>
            </a:r>
            <a:r>
              <a:rPr sz="1600" dirty="0">
                <a:solidFill>
                  <a:schemeClr val="tx1"/>
                </a:solidFill>
              </a:rPr>
              <a:t>a</a:t>
            </a:r>
            <a:r>
              <a:rPr sz="1600" spc="55" dirty="0">
                <a:solidFill>
                  <a:schemeClr val="tx1"/>
                </a:solidFill>
              </a:rPr>
              <a:t>  </a:t>
            </a:r>
            <a:r>
              <a:rPr sz="1600" spc="-10" dirty="0">
                <a:solidFill>
                  <a:schemeClr val="tx1"/>
                </a:solidFill>
              </a:rPr>
              <a:t>program </a:t>
            </a:r>
            <a:r>
              <a:rPr sz="1600" dirty="0">
                <a:solidFill>
                  <a:schemeClr val="tx1"/>
                </a:solidFill>
              </a:rPr>
              <a:t>bármely</a:t>
            </a:r>
            <a:r>
              <a:rPr sz="1600" spc="46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formában</a:t>
            </a:r>
            <a:r>
              <a:rPr sz="1600" spc="47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történő</a:t>
            </a:r>
            <a:r>
              <a:rPr sz="1600" spc="47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kifejezésének</a:t>
            </a:r>
            <a:r>
              <a:rPr sz="1600" spc="46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és</a:t>
            </a:r>
            <a:r>
              <a:rPr sz="1600" spc="47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nem</a:t>
            </a:r>
            <a:r>
              <a:rPr sz="1600" spc="47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részesülhet</a:t>
            </a:r>
            <a:r>
              <a:rPr sz="1600" spc="47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a</a:t>
            </a:r>
            <a:r>
              <a:rPr sz="1600" spc="46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számítógépi</a:t>
            </a:r>
            <a:r>
              <a:rPr sz="1600" spc="470" dirty="0">
                <a:solidFill>
                  <a:schemeClr val="tx1"/>
                </a:solidFill>
              </a:rPr>
              <a:t> </a:t>
            </a:r>
            <a:r>
              <a:rPr sz="1600" spc="-10" dirty="0">
                <a:solidFill>
                  <a:schemeClr val="tx1"/>
                </a:solidFill>
              </a:rPr>
              <a:t>programok </a:t>
            </a:r>
            <a:r>
              <a:rPr sz="1600" dirty="0">
                <a:solidFill>
                  <a:schemeClr val="tx1"/>
                </a:solidFill>
              </a:rPr>
              <a:t>szerzői</a:t>
            </a:r>
            <a:r>
              <a:rPr sz="1600" spc="22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jogi</a:t>
            </a:r>
            <a:r>
              <a:rPr sz="1600" spc="22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védelmében.</a:t>
            </a:r>
            <a:r>
              <a:rPr sz="1600" spc="13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Azonban</a:t>
            </a:r>
            <a:r>
              <a:rPr sz="1600" spc="22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e</a:t>
            </a:r>
            <a:r>
              <a:rPr sz="1600" spc="22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felület</a:t>
            </a:r>
            <a:r>
              <a:rPr sz="1600" spc="22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szerzői</a:t>
            </a:r>
            <a:r>
              <a:rPr sz="1600" spc="22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jogi</a:t>
            </a:r>
            <a:r>
              <a:rPr sz="1600" spc="22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védelemben</a:t>
            </a:r>
            <a:r>
              <a:rPr sz="1600" spc="22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részesülhet,</a:t>
            </a:r>
            <a:r>
              <a:rPr sz="1600" spc="22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ha</a:t>
            </a:r>
            <a:r>
              <a:rPr sz="1600" spc="22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ez</a:t>
            </a:r>
            <a:r>
              <a:rPr sz="1600" spc="225" dirty="0">
                <a:solidFill>
                  <a:schemeClr val="tx1"/>
                </a:solidFill>
              </a:rPr>
              <a:t> </a:t>
            </a:r>
            <a:r>
              <a:rPr sz="1600" spc="-50" dirty="0">
                <a:solidFill>
                  <a:schemeClr val="tx1"/>
                </a:solidFill>
              </a:rPr>
              <a:t>a </a:t>
            </a:r>
            <a:r>
              <a:rPr sz="1600" dirty="0">
                <a:solidFill>
                  <a:schemeClr val="tx1"/>
                </a:solidFill>
              </a:rPr>
              <a:t>felület</a:t>
            </a:r>
            <a:r>
              <a:rPr sz="1600" spc="-3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a</a:t>
            </a:r>
            <a:r>
              <a:rPr sz="1600" spc="-2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szerző</a:t>
            </a:r>
            <a:r>
              <a:rPr sz="1600" spc="-2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saját</a:t>
            </a:r>
            <a:r>
              <a:rPr sz="1600" spc="-2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szellemi</a:t>
            </a:r>
            <a:r>
              <a:rPr sz="1600" spc="-2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alkotásának</a:t>
            </a:r>
            <a:r>
              <a:rPr sz="1600" spc="-20" dirty="0">
                <a:solidFill>
                  <a:schemeClr val="tx1"/>
                </a:solidFill>
              </a:rPr>
              <a:t> </a:t>
            </a:r>
            <a:r>
              <a:rPr sz="1600" spc="-10" dirty="0">
                <a:solidFill>
                  <a:schemeClr val="tx1"/>
                </a:solidFill>
              </a:rPr>
              <a:t>minősül.”</a:t>
            </a:r>
            <a:endParaRPr sz="1600" dirty="0">
              <a:solidFill>
                <a:schemeClr val="tx1"/>
              </a:solidFill>
            </a:endParaRPr>
          </a:p>
          <a:p>
            <a:pPr marL="12700" marR="2776855">
              <a:lnSpc>
                <a:spcPct val="199200"/>
              </a:lnSpc>
            </a:pPr>
            <a:r>
              <a:rPr sz="1600" u="heavy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</a:rPr>
              <a:t>Honlap</a:t>
            </a:r>
            <a:r>
              <a:rPr sz="1600" u="heavy" spc="-15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</a:rPr>
              <a:t> </a:t>
            </a:r>
            <a:r>
              <a:rPr sz="1600" spc="-25" dirty="0">
                <a:solidFill>
                  <a:schemeClr val="tx1"/>
                </a:solidFill>
              </a:rPr>
              <a:t>SZJSZT-</a:t>
            </a:r>
            <a:r>
              <a:rPr sz="1600" dirty="0">
                <a:solidFill>
                  <a:schemeClr val="tx1"/>
                </a:solidFill>
              </a:rPr>
              <a:t>08/2012</a:t>
            </a:r>
            <a:r>
              <a:rPr sz="1600" spc="-1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-</a:t>
            </a:r>
            <a:r>
              <a:rPr sz="1600" spc="-40" dirty="0">
                <a:solidFill>
                  <a:schemeClr val="tx1"/>
                </a:solidFill>
              </a:rPr>
              <a:t> </a:t>
            </a:r>
            <a:r>
              <a:rPr sz="1600" spc="-10" dirty="0">
                <a:solidFill>
                  <a:schemeClr val="tx1"/>
                </a:solidFill>
              </a:rPr>
              <a:t>Turisztikai </a:t>
            </a:r>
            <a:r>
              <a:rPr sz="1600" dirty="0">
                <a:solidFill>
                  <a:schemeClr val="tx1"/>
                </a:solidFill>
              </a:rPr>
              <a:t>honlap</a:t>
            </a:r>
            <a:r>
              <a:rPr sz="1600" spc="-15" dirty="0">
                <a:solidFill>
                  <a:schemeClr val="tx1"/>
                </a:solidFill>
              </a:rPr>
              <a:t> </a:t>
            </a:r>
            <a:r>
              <a:rPr sz="1600" spc="-10" dirty="0">
                <a:solidFill>
                  <a:schemeClr val="tx1"/>
                </a:solidFill>
              </a:rPr>
              <a:t>védelme </a:t>
            </a:r>
            <a:r>
              <a:rPr sz="1600" u="heavy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</a:rPr>
              <a:t>Adatbázis</a:t>
            </a:r>
            <a:r>
              <a:rPr sz="1600" spc="-20" dirty="0">
                <a:solidFill>
                  <a:schemeClr val="tx1"/>
                </a:solidFill>
              </a:rPr>
              <a:t> </a:t>
            </a:r>
            <a:r>
              <a:rPr sz="1600" spc="-25" dirty="0">
                <a:solidFill>
                  <a:schemeClr val="tx1"/>
                </a:solidFill>
              </a:rPr>
              <a:t>SZJSZT-</a:t>
            </a:r>
            <a:r>
              <a:rPr sz="1600" dirty="0">
                <a:solidFill>
                  <a:schemeClr val="tx1"/>
                </a:solidFill>
              </a:rPr>
              <a:t>12/2010</a:t>
            </a:r>
            <a:r>
              <a:rPr sz="1600" spc="-1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(szótár),</a:t>
            </a:r>
            <a:r>
              <a:rPr sz="1600" spc="-20" dirty="0">
                <a:solidFill>
                  <a:schemeClr val="tx1"/>
                </a:solidFill>
              </a:rPr>
              <a:t> </a:t>
            </a:r>
            <a:r>
              <a:rPr sz="1600" spc="-25" dirty="0">
                <a:solidFill>
                  <a:schemeClr val="tx1"/>
                </a:solidFill>
              </a:rPr>
              <a:t>SZJSZT-</a:t>
            </a:r>
            <a:r>
              <a:rPr sz="1600" dirty="0">
                <a:solidFill>
                  <a:schemeClr val="tx1"/>
                </a:solidFill>
              </a:rPr>
              <a:t>19/2009</a:t>
            </a:r>
            <a:r>
              <a:rPr sz="1600" spc="-15" dirty="0">
                <a:solidFill>
                  <a:schemeClr val="tx1"/>
                </a:solidFill>
              </a:rPr>
              <a:t> </a:t>
            </a:r>
            <a:r>
              <a:rPr sz="1600" spc="-10" dirty="0">
                <a:solidFill>
                  <a:schemeClr val="tx1"/>
                </a:solidFill>
              </a:rPr>
              <a:t>(jogtár) </a:t>
            </a:r>
            <a:r>
              <a:rPr sz="1600" u="heavy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</a:rPr>
              <a:t>Betűfontok</a:t>
            </a:r>
            <a:r>
              <a:rPr sz="1600" spc="-4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SZJSZT</a:t>
            </a:r>
            <a:r>
              <a:rPr sz="1600" spc="-7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20/2004.,</a:t>
            </a:r>
            <a:r>
              <a:rPr sz="1600" spc="-35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38/2004.</a:t>
            </a:r>
            <a:r>
              <a:rPr sz="1600" spc="-40" dirty="0">
                <a:solidFill>
                  <a:schemeClr val="tx1"/>
                </a:solidFill>
              </a:rPr>
              <a:t> </a:t>
            </a:r>
            <a:r>
              <a:rPr sz="1600" dirty="0">
                <a:solidFill>
                  <a:schemeClr val="tx1"/>
                </a:solidFill>
              </a:rPr>
              <a:t>Fontok</a:t>
            </a:r>
            <a:r>
              <a:rPr sz="1600" spc="-40" dirty="0">
                <a:solidFill>
                  <a:schemeClr val="tx1"/>
                </a:solidFill>
              </a:rPr>
              <a:t> </a:t>
            </a:r>
            <a:r>
              <a:rPr sz="1600" spc="-10" dirty="0">
                <a:solidFill>
                  <a:schemeClr val="tx1"/>
                </a:solidFill>
              </a:rPr>
              <a:t>védelme</a:t>
            </a:r>
            <a:endParaRPr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339538"/>
            <a:ext cx="7080926" cy="174812"/>
          </a:xfrm>
        </p:spPr>
        <p:txBody>
          <a:bodyPr/>
          <a:lstStyle/>
          <a:p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304800" y="506317"/>
            <a:ext cx="3736323" cy="3796904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hu-HU" sz="2800" b="1" dirty="0">
                <a:ea typeface="Tahoma" pitchFamily="34" charset="0"/>
                <a:cs typeface="Tahoma" pitchFamily="34" charset="0"/>
              </a:rPr>
              <a:t>Védett elemek: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hu-HU" sz="2800" dirty="0">
                <a:ea typeface="Tahoma" pitchFamily="34" charset="0"/>
                <a:cs typeface="Tahoma" pitchFamily="34" charset="0"/>
              </a:rPr>
              <a:t/>
            </a:r>
            <a:br>
              <a:rPr lang="hu-HU" sz="2800" dirty="0">
                <a:ea typeface="Tahoma" pitchFamily="34" charset="0"/>
                <a:cs typeface="Tahoma" pitchFamily="34" charset="0"/>
              </a:rPr>
            </a:br>
            <a:r>
              <a:rPr lang="hu-HU" sz="2800" dirty="0">
                <a:ea typeface="Tahoma" pitchFamily="34" charset="0"/>
                <a:cs typeface="Tahoma" pitchFamily="34" charset="0"/>
              </a:rPr>
              <a:t>- forráskód</a:t>
            </a:r>
            <a:br>
              <a:rPr lang="hu-HU" sz="2800" dirty="0">
                <a:ea typeface="Tahoma" pitchFamily="34" charset="0"/>
                <a:cs typeface="Tahoma" pitchFamily="34" charset="0"/>
              </a:rPr>
            </a:br>
            <a:r>
              <a:rPr lang="hu-HU" sz="2800" dirty="0">
                <a:ea typeface="Tahoma" pitchFamily="34" charset="0"/>
                <a:cs typeface="Tahoma" pitchFamily="34" charset="0"/>
              </a:rPr>
              <a:t>- tárgykód</a:t>
            </a:r>
            <a:br>
              <a:rPr lang="hu-HU" sz="2800" dirty="0">
                <a:ea typeface="Tahoma" pitchFamily="34" charset="0"/>
                <a:cs typeface="Tahoma" pitchFamily="34" charset="0"/>
              </a:rPr>
            </a:br>
            <a:r>
              <a:rPr lang="hu-HU" sz="2800" dirty="0">
                <a:ea typeface="Tahoma" pitchFamily="34" charset="0"/>
                <a:cs typeface="Tahoma" pitchFamily="34" charset="0"/>
              </a:rPr>
              <a:t>- dokumentáció (specifikáció, felhasználási útmutató)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hu-HU" sz="2800" dirty="0">
                <a:ea typeface="Tahoma" pitchFamily="34" charset="0"/>
                <a:cs typeface="Tahoma" pitchFamily="34" charset="0"/>
              </a:rPr>
              <a:t>- kapcsolódó adatbázisok</a:t>
            </a:r>
            <a:r>
              <a:rPr lang="hu-HU" dirty="0">
                <a:ea typeface="Tahoma" pitchFamily="34" charset="0"/>
                <a:cs typeface="Tahoma" pitchFamily="34" charset="0"/>
              </a:rPr>
              <a:t/>
            </a:r>
            <a:br>
              <a:rPr lang="hu-HU" dirty="0">
                <a:ea typeface="Tahoma" pitchFamily="34" charset="0"/>
                <a:cs typeface="Tahoma" pitchFamily="34" charset="0"/>
              </a:rPr>
            </a:br>
            <a:endParaRPr lang="hu-HU" dirty="0"/>
          </a:p>
          <a:p>
            <a:pPr>
              <a:lnSpc>
                <a:spcPct val="120000"/>
              </a:lnSpc>
            </a:pPr>
            <a:endParaRPr lang="hu-HU" dirty="0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267200" y="439108"/>
            <a:ext cx="4064930" cy="349210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hu-HU" sz="2400" b="1" dirty="0">
                <a:ea typeface="Tahoma" pitchFamily="34" charset="0"/>
                <a:cs typeface="Tahoma" pitchFamily="34" charset="0"/>
              </a:rPr>
              <a:t>NEM védett elemek:</a:t>
            </a:r>
          </a:p>
          <a:p>
            <a:pPr marL="0" indent="0" algn="ctr">
              <a:buNone/>
            </a:pPr>
            <a:r>
              <a:rPr lang="hu-HU" sz="2400" dirty="0">
                <a:ea typeface="Tahoma" pitchFamily="34" charset="0"/>
                <a:cs typeface="Tahoma" pitchFamily="34" charset="0"/>
              </a:rPr>
              <a:t/>
            </a:r>
            <a:br>
              <a:rPr lang="hu-HU" sz="2400" dirty="0">
                <a:ea typeface="Tahoma" pitchFamily="34" charset="0"/>
                <a:cs typeface="Tahoma" pitchFamily="34" charset="0"/>
              </a:rPr>
            </a:br>
            <a:r>
              <a:rPr lang="hu-HU" sz="2400" dirty="0">
                <a:ea typeface="Tahoma" pitchFamily="34" charset="0"/>
                <a:cs typeface="Tahoma" pitchFamily="34" charset="0"/>
              </a:rPr>
              <a:t>- programozási nyelv</a:t>
            </a:r>
          </a:p>
          <a:p>
            <a:pPr marL="285750" indent="-285750" algn="ctr">
              <a:buFontTx/>
              <a:buChar char="-"/>
            </a:pPr>
            <a:r>
              <a:rPr lang="hu-HU" sz="2400" dirty="0">
                <a:ea typeface="Tahoma" pitchFamily="34" charset="0"/>
                <a:cs typeface="Tahoma" pitchFamily="34" charset="0"/>
              </a:rPr>
              <a:t>adatformátum</a:t>
            </a:r>
          </a:p>
          <a:p>
            <a:pPr marL="285750" indent="-285750" algn="ctr">
              <a:buFontTx/>
              <a:buChar char="-"/>
            </a:pPr>
            <a:r>
              <a:rPr lang="hu-HU" sz="2400" dirty="0">
                <a:ea typeface="Tahoma" pitchFamily="34" charset="0"/>
                <a:cs typeface="Tahoma" pitchFamily="34" charset="0"/>
              </a:rPr>
              <a:t>koncepció</a:t>
            </a:r>
          </a:p>
          <a:p>
            <a:pPr marL="285750" indent="-285750" algn="ctr">
              <a:buFontTx/>
              <a:buChar char="-"/>
            </a:pPr>
            <a:r>
              <a:rPr lang="hu-HU" sz="2400" dirty="0">
                <a:ea typeface="Tahoma" pitchFamily="34" charset="0"/>
                <a:cs typeface="Tahoma" pitchFamily="34" charset="0"/>
              </a:rPr>
              <a:t>funkcionalitás</a:t>
            </a:r>
          </a:p>
          <a:p>
            <a:pPr marL="285750" indent="-285750" algn="ctr">
              <a:buFontTx/>
              <a:buChar char="-"/>
            </a:pPr>
            <a:r>
              <a:rPr lang="hu-HU" sz="2400" dirty="0">
                <a:ea typeface="Tahoma" pitchFamily="34" charset="0"/>
                <a:cs typeface="Tahoma" pitchFamily="34" charset="0"/>
              </a:rPr>
              <a:t>grafikus felhasználói felület (DE: grafikai mű szerzői jogi oltalma vagy design oltalom)</a:t>
            </a:r>
            <a:br>
              <a:rPr lang="hu-HU" sz="2400" dirty="0">
                <a:ea typeface="Tahoma" pitchFamily="34" charset="0"/>
                <a:cs typeface="Tahoma" pitchFamily="34" charset="0"/>
              </a:rPr>
            </a:br>
            <a:endParaRPr lang="hu-HU" sz="2400" dirty="0"/>
          </a:p>
          <a:p>
            <a:endParaRPr lang="hu-HU" sz="2400" dirty="0"/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916275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95" dirty="0"/>
              <a:t> </a:t>
            </a:r>
            <a:r>
              <a:rPr spc="-10" dirty="0"/>
              <a:t>szoftverfejlesztő,</a:t>
            </a:r>
            <a:r>
              <a:rPr spc="-90" dirty="0"/>
              <a:t> </a:t>
            </a:r>
            <a:r>
              <a:rPr dirty="0"/>
              <a:t>mint</a:t>
            </a:r>
            <a:r>
              <a:rPr spc="-70" dirty="0"/>
              <a:t> </a:t>
            </a:r>
            <a:r>
              <a:rPr spc="-10" dirty="0"/>
              <a:t>szerző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84987"/>
            <a:ext cx="8759275" cy="4070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8145">
              <a:lnSpc>
                <a:spcPct val="113300"/>
              </a:lnSpc>
              <a:spcBef>
                <a:spcPts val="100"/>
              </a:spcBef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Szoftver</a:t>
            </a:r>
            <a:r>
              <a:rPr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Irányelv</a:t>
            </a:r>
            <a:r>
              <a:rPr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2.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cikk:</a:t>
            </a:r>
            <a:r>
              <a:rPr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természetes</a:t>
            </a:r>
            <a:r>
              <a:rPr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személy,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azok</a:t>
            </a:r>
            <a:r>
              <a:rPr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csoportja,</a:t>
            </a:r>
            <a:r>
              <a:rPr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jogosultnak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minősülő</a:t>
            </a:r>
            <a:r>
              <a:rPr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chemeClr val="tx1"/>
                </a:solidFill>
                <a:latin typeface="Arial"/>
                <a:cs typeface="Arial"/>
              </a:rPr>
              <a:t>jogi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személy</a:t>
            </a:r>
            <a:r>
              <a:rPr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(ha</a:t>
            </a:r>
            <a:r>
              <a:rPr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tagállam</a:t>
            </a:r>
            <a:r>
              <a:rPr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azt</a:t>
            </a:r>
            <a:r>
              <a:rPr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megengedi)</a:t>
            </a:r>
            <a:endParaRPr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Szjt.:</a:t>
            </a:r>
            <a:r>
              <a:rPr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csak</a:t>
            </a:r>
            <a:r>
              <a:rPr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természetes</a:t>
            </a:r>
            <a:r>
              <a:rPr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személy</a:t>
            </a:r>
            <a:endParaRPr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általános</a:t>
            </a:r>
            <a:r>
              <a:rPr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rendelkezésektől</a:t>
            </a:r>
            <a:r>
              <a:rPr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eltér:</a:t>
            </a:r>
            <a:endParaRPr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3025140" defTabSz="179388">
              <a:lnSpc>
                <a:spcPct val="144500"/>
              </a:lnSpc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58.</a:t>
            </a:r>
            <a:r>
              <a:rPr spc="4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(3)</a:t>
            </a:r>
            <a:r>
              <a:rPr spc="-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pc="-1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szoftverre</a:t>
            </a:r>
            <a:r>
              <a:rPr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vonatkozó</a:t>
            </a:r>
            <a:r>
              <a:rPr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 err="1">
                <a:solidFill>
                  <a:schemeClr val="tx1"/>
                </a:solidFill>
                <a:latin typeface="Arial"/>
                <a:cs typeface="Arial"/>
              </a:rPr>
              <a:t>vagyoni</a:t>
            </a:r>
            <a:r>
              <a:rPr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 err="1" smtClean="0">
                <a:solidFill>
                  <a:schemeClr val="tx1"/>
                </a:solidFill>
                <a:latin typeface="Arial"/>
                <a:cs typeface="Arial"/>
              </a:rPr>
              <a:t>jogok</a:t>
            </a:r>
            <a:r>
              <a:rPr lang="hu-HU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10" dirty="0" err="1" smtClean="0">
                <a:solidFill>
                  <a:schemeClr val="tx1"/>
                </a:solidFill>
                <a:latin typeface="Arial"/>
                <a:cs typeface="Arial"/>
              </a:rPr>
              <a:t>átruházhatók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.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–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piaci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igények,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pl.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egyedileg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megrendelt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szoftver</a:t>
            </a:r>
            <a:endParaRPr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ct val="78900"/>
              </a:lnSpc>
              <a:spcBef>
                <a:spcPts val="5"/>
              </a:spcBef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30.</a:t>
            </a:r>
            <a:r>
              <a:rPr spc="1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§</a:t>
            </a:r>
            <a:r>
              <a:rPr spc="1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(1)</a:t>
            </a:r>
            <a:r>
              <a:rPr spc="1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Eltérő</a:t>
            </a:r>
            <a:r>
              <a:rPr spc="1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megállapodás</a:t>
            </a:r>
            <a:r>
              <a:rPr spc="1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hiányában</a:t>
            </a:r>
            <a:r>
              <a:rPr spc="1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pc="1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mű</a:t>
            </a:r>
            <a:r>
              <a:rPr spc="1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átadásával</a:t>
            </a:r>
            <a:r>
              <a:rPr spc="1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pc="1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vagyoni</a:t>
            </a:r>
            <a:r>
              <a:rPr spc="1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jogokat</a:t>
            </a:r>
            <a:r>
              <a:rPr spc="1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pc="1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szerző</a:t>
            </a:r>
            <a:r>
              <a:rPr spc="1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jogutódjaként</a:t>
            </a:r>
            <a:r>
              <a:rPr spc="1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50" dirty="0">
                <a:solidFill>
                  <a:schemeClr val="tx1"/>
                </a:solidFill>
                <a:latin typeface="Arial"/>
                <a:cs typeface="Arial"/>
              </a:rPr>
              <a:t>a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munkáltató</a:t>
            </a:r>
            <a:r>
              <a:rPr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szerzi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meg,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ha</a:t>
            </a:r>
            <a:r>
              <a:rPr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mű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elkészítése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szerző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munkaviszonyból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folyó</a:t>
            </a:r>
            <a:r>
              <a:rPr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kötelessége.</a:t>
            </a:r>
            <a:endParaRPr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351520" cy="8726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  <a:tabLst>
                <a:tab pos="537845" algn="l"/>
                <a:tab pos="2485390" algn="l"/>
                <a:tab pos="4295140" algn="l"/>
                <a:tab pos="6875780" algn="l"/>
              </a:tabLst>
            </a:pPr>
            <a:r>
              <a:rPr sz="2800" spc="-50" dirty="0"/>
              <a:t>A</a:t>
            </a:r>
            <a:r>
              <a:rPr sz="2800" dirty="0"/>
              <a:t>	</a:t>
            </a:r>
            <a:r>
              <a:rPr sz="2800" spc="-10" dirty="0" err="1" smtClean="0"/>
              <a:t>szoftveren</a:t>
            </a:r>
            <a:r>
              <a:rPr lang="hu-HU" sz="2800" spc="-10" dirty="0" smtClean="0"/>
              <a:t> </a:t>
            </a:r>
            <a:r>
              <a:rPr sz="2800" spc="-10" dirty="0" err="1" smtClean="0"/>
              <a:t>keletkez</a:t>
            </a:r>
            <a:r>
              <a:rPr lang="hu-HU" sz="2800" spc="-10" dirty="0" smtClean="0"/>
              <a:t>ő </a:t>
            </a:r>
            <a:r>
              <a:rPr sz="2800" spc="-10" dirty="0" err="1" smtClean="0"/>
              <a:t>engedélyezési</a:t>
            </a:r>
            <a:r>
              <a:rPr lang="hu-HU" sz="2800" dirty="0"/>
              <a:t> </a:t>
            </a:r>
            <a:r>
              <a:rPr sz="2800" spc="-10" dirty="0" smtClean="0"/>
              <a:t>(</a:t>
            </a:r>
            <a:r>
              <a:rPr sz="2800" spc="-10" dirty="0" err="1" smtClean="0"/>
              <a:t>vagyoni</a:t>
            </a:r>
            <a:r>
              <a:rPr sz="2800" spc="-10" dirty="0"/>
              <a:t>) jogok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285" y="1809750"/>
            <a:ext cx="8026400" cy="2524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9705">
              <a:lnSpc>
                <a:spcPct val="115599"/>
              </a:lnSpc>
              <a:spcBef>
                <a:spcPts val="100"/>
              </a:spcBef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Általános</a:t>
            </a:r>
            <a:r>
              <a:rPr sz="20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szabályok: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többszörözés,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terjesztés,</a:t>
            </a:r>
            <a:r>
              <a:rPr sz="20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bérbeadás,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 err="1" smtClean="0">
                <a:solidFill>
                  <a:schemeClr val="tx1"/>
                </a:solidFill>
                <a:latin typeface="Arial"/>
                <a:cs typeface="Arial"/>
              </a:rPr>
              <a:t>átdolgozás</a:t>
            </a:r>
            <a:endParaRPr lang="hu-HU" sz="2000" spc="-10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179705">
              <a:lnSpc>
                <a:spcPct val="115599"/>
              </a:lnSpc>
              <a:spcBef>
                <a:spcPts val="100"/>
              </a:spcBef>
            </a:pP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ct val="115599"/>
              </a:lnSpc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De!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speciális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kivételek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–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szoftver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felhasználójának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érdekeit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szolgálják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Kivételek</a:t>
            </a:r>
            <a:r>
              <a:rPr sz="20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2</a:t>
            </a:r>
            <a:r>
              <a:rPr sz="20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csoportja: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55600" marR="3630929" indent="-342900">
              <a:lnSpc>
                <a:spcPct val="115599"/>
              </a:lnSpc>
              <a:buFont typeface="Wingdings" panose="05000000000000000000" pitchFamily="2" charset="2"/>
              <a:buChar char="Ø"/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szerződésben</a:t>
            </a:r>
            <a:r>
              <a:rPr sz="20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rial"/>
                <a:cs typeface="Arial"/>
              </a:rPr>
              <a:t>kizárható</a:t>
            </a:r>
            <a:r>
              <a:rPr sz="20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 err="1" smtClean="0">
                <a:solidFill>
                  <a:schemeClr val="tx1"/>
                </a:solidFill>
                <a:latin typeface="Arial"/>
                <a:cs typeface="Arial"/>
              </a:rPr>
              <a:t>kivételek</a:t>
            </a:r>
            <a:endParaRPr lang="hu-HU" sz="2000" spc="-10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pPr marL="355600" marR="3630929" indent="-342900">
              <a:lnSpc>
                <a:spcPct val="115599"/>
              </a:lnSpc>
              <a:buFont typeface="Wingdings" panose="05000000000000000000" pitchFamily="2" charset="2"/>
              <a:buChar char="Ø"/>
            </a:pPr>
            <a:r>
              <a:rPr sz="2000" dirty="0" err="1" smtClean="0">
                <a:solidFill>
                  <a:schemeClr val="tx1"/>
                </a:solidFill>
                <a:latin typeface="Arial"/>
                <a:cs typeface="Arial"/>
              </a:rPr>
              <a:t>szerződésben</a:t>
            </a:r>
            <a:r>
              <a:rPr sz="2000" spc="-3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ki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 err="1" smtClean="0">
                <a:solidFill>
                  <a:schemeClr val="tx1"/>
                </a:solidFill>
                <a:latin typeface="Arial"/>
                <a:cs typeface="Arial"/>
              </a:rPr>
              <a:t>zárható</a:t>
            </a:r>
            <a:r>
              <a:rPr lang="hu-HU"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 err="1" smtClean="0">
                <a:solidFill>
                  <a:schemeClr val="tx1"/>
                </a:solidFill>
                <a:latin typeface="Arial"/>
                <a:cs typeface="Arial"/>
              </a:rPr>
              <a:t>kivételek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584" y="339538"/>
            <a:ext cx="8273250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95" dirty="0"/>
              <a:t> </a:t>
            </a:r>
            <a:r>
              <a:rPr dirty="0"/>
              <a:t>szoftver</a:t>
            </a:r>
            <a:r>
              <a:rPr spc="-125" dirty="0"/>
              <a:t> </a:t>
            </a:r>
            <a:r>
              <a:rPr spc="-10" dirty="0"/>
              <a:t>többszörözése,</a:t>
            </a:r>
            <a:r>
              <a:rPr spc="-90" dirty="0"/>
              <a:t> </a:t>
            </a:r>
            <a:r>
              <a:rPr dirty="0"/>
              <a:t>mint</a:t>
            </a:r>
            <a:r>
              <a:rPr spc="-90" dirty="0"/>
              <a:t> </a:t>
            </a:r>
            <a:r>
              <a:rPr dirty="0"/>
              <a:t>vagyoni</a:t>
            </a:r>
            <a:r>
              <a:rPr spc="-90" dirty="0"/>
              <a:t> </a:t>
            </a:r>
            <a:r>
              <a:rPr spc="-25" dirty="0"/>
              <a:t>jog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373109" cy="3661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 algn="just">
              <a:lnSpc>
                <a:spcPct val="114599"/>
              </a:lnSpc>
              <a:spcBef>
                <a:spcPts val="100"/>
              </a:spcBef>
            </a:pP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600" spc="1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számítógépi</a:t>
            </a:r>
            <a:r>
              <a:rPr sz="1600" spc="2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program</a:t>
            </a:r>
            <a:r>
              <a:rPr sz="1600" spc="2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bármely</a:t>
            </a:r>
            <a:r>
              <a:rPr sz="1600" spc="2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eszközzel</a:t>
            </a:r>
            <a:r>
              <a:rPr sz="1600" spc="2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1600" spc="2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bármely</a:t>
            </a:r>
            <a:r>
              <a:rPr sz="1600" spc="2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formában,</a:t>
            </a:r>
            <a:r>
              <a:rPr sz="1600" spc="2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részben</a:t>
            </a:r>
            <a:r>
              <a:rPr sz="1600" spc="2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chemeClr val="tx1"/>
                </a:solidFill>
                <a:latin typeface="Arial"/>
                <a:cs typeface="Arial"/>
              </a:rPr>
              <a:t>vagy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egészben</a:t>
            </a:r>
            <a:r>
              <a:rPr sz="1600" spc="3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történő</a:t>
            </a:r>
            <a:r>
              <a:rPr sz="1600" spc="3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tartós</a:t>
            </a:r>
            <a:r>
              <a:rPr sz="1600" spc="3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1600" spc="3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időleges</a:t>
            </a:r>
            <a:r>
              <a:rPr sz="1600" spc="39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b="1" dirty="0">
                <a:solidFill>
                  <a:schemeClr val="tx1"/>
                </a:solidFill>
                <a:latin typeface="Arial"/>
                <a:cs typeface="Arial"/>
              </a:rPr>
              <a:t>többszörözése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.</a:t>
            </a:r>
            <a:r>
              <a:rPr sz="1600" spc="33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Amennyiben</a:t>
            </a:r>
            <a:r>
              <a:rPr sz="1600" spc="3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spc="-50" dirty="0">
                <a:solidFill>
                  <a:schemeClr val="tx1"/>
                </a:solidFill>
                <a:latin typeface="Arial"/>
                <a:cs typeface="Arial"/>
              </a:rPr>
              <a:t>a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számítógépi</a:t>
            </a:r>
            <a:r>
              <a:rPr sz="1600" spc="9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program</a:t>
            </a:r>
            <a:r>
              <a:rPr sz="1600" spc="9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betáplálása,</a:t>
            </a:r>
            <a:r>
              <a:rPr sz="1600" spc="9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megjelenítése,</a:t>
            </a:r>
            <a:r>
              <a:rPr sz="1600" spc="9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futtatása,</a:t>
            </a:r>
            <a:r>
              <a:rPr sz="1600" spc="9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továbbítása</a:t>
            </a:r>
            <a:r>
              <a:rPr sz="1600" spc="9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spc="-20" dirty="0">
                <a:solidFill>
                  <a:schemeClr val="tx1"/>
                </a:solidFill>
                <a:latin typeface="Arial"/>
                <a:cs typeface="Arial"/>
              </a:rPr>
              <a:t>vagy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tárolása</a:t>
            </a:r>
            <a:r>
              <a:rPr sz="1600" spc="10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szükségessé</a:t>
            </a:r>
            <a:r>
              <a:rPr sz="1600" spc="10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teszi</a:t>
            </a:r>
            <a:r>
              <a:rPr sz="1600" spc="10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600" spc="10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ilyen</a:t>
            </a:r>
            <a:r>
              <a:rPr sz="1600" spc="10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többszörözést,</a:t>
            </a:r>
            <a:r>
              <a:rPr sz="1600" spc="10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600" spc="10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ilyen</a:t>
            </a:r>
            <a:r>
              <a:rPr sz="1600" spc="10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600" spc="-10" dirty="0">
                <a:solidFill>
                  <a:schemeClr val="tx1"/>
                </a:solidFill>
                <a:latin typeface="Arial"/>
                <a:cs typeface="Arial"/>
              </a:rPr>
              <a:t>cselekményhez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szükséges</a:t>
            </a:r>
            <a:r>
              <a:rPr sz="16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6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jogosult</a:t>
            </a:r>
            <a:r>
              <a:rPr sz="16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"/>
                <a:cs typeface="Arial"/>
              </a:rPr>
              <a:t>engedélye;</a:t>
            </a:r>
            <a:endParaRPr sz="1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29209" algn="just">
              <a:lnSpc>
                <a:spcPct val="116100"/>
              </a:lnSpc>
              <a:spcBef>
                <a:spcPts val="2010"/>
              </a:spcBef>
            </a:pP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BH</a:t>
            </a:r>
            <a:r>
              <a:rPr sz="1600" spc="20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2002.616</a:t>
            </a:r>
            <a:r>
              <a:rPr sz="160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600" spc="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számítógépi</a:t>
            </a:r>
            <a:r>
              <a:rPr sz="160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programnak</a:t>
            </a:r>
            <a:r>
              <a:rPr sz="160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60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szabad</a:t>
            </a:r>
            <a:r>
              <a:rPr sz="160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felhasználás</a:t>
            </a:r>
            <a:r>
              <a:rPr sz="1600" spc="20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joga</a:t>
            </a:r>
            <a:r>
              <a:rPr sz="160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nélkül</a:t>
            </a:r>
            <a:r>
              <a:rPr sz="160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való</a:t>
            </a:r>
            <a:r>
              <a:rPr sz="160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megszerzése</a:t>
            </a:r>
            <a:r>
              <a:rPr sz="160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"/>
                <a:cs typeface="Arial"/>
              </a:rPr>
              <a:t>mástól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másolás</a:t>
            </a:r>
            <a:r>
              <a:rPr sz="16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céljára,</a:t>
            </a:r>
            <a:r>
              <a:rPr sz="16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6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16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16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16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joghoz</a:t>
            </a:r>
            <a:r>
              <a:rPr sz="16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kapcsolódó</a:t>
            </a:r>
            <a:r>
              <a:rPr sz="16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jogok</a:t>
            </a:r>
            <a:r>
              <a:rPr sz="16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megsértését</a:t>
            </a:r>
            <a:r>
              <a:rPr sz="16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valósítja</a:t>
            </a:r>
            <a:r>
              <a:rPr sz="16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chemeClr val="tx1"/>
                </a:solidFill>
                <a:latin typeface="Arial"/>
                <a:cs typeface="Arial"/>
              </a:rPr>
              <a:t>meg.</a:t>
            </a:r>
            <a:endParaRPr sz="1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116100"/>
              </a:lnSpc>
            </a:pP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BH</a:t>
            </a:r>
            <a:r>
              <a:rPr sz="1600" spc="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2009.232</a:t>
            </a:r>
            <a:r>
              <a:rPr sz="1600" spc="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600" spc="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1600" spc="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ingyenes</a:t>
            </a:r>
            <a:r>
              <a:rPr sz="1600" spc="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600" spc="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600" spc="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1600" spc="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szabad</a:t>
            </a:r>
            <a:r>
              <a:rPr sz="1600" spc="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felhasználás</a:t>
            </a:r>
            <a:r>
              <a:rPr sz="1600" spc="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körébe</a:t>
            </a:r>
            <a:r>
              <a:rPr sz="1600" spc="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tartozó</a:t>
            </a:r>
            <a:r>
              <a:rPr sz="1600" spc="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600" spc="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programnak</a:t>
            </a:r>
            <a:r>
              <a:rPr sz="1600" spc="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600" spc="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"/>
                <a:cs typeface="Arial"/>
              </a:rPr>
              <a:t>interneten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elérhető</a:t>
            </a:r>
            <a:r>
              <a:rPr sz="16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ún.</a:t>
            </a:r>
            <a:r>
              <a:rPr sz="16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"/>
                <a:cs typeface="Arial"/>
              </a:rPr>
              <a:t>“Kalózszerverek”-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ről</a:t>
            </a:r>
            <a:r>
              <a:rPr sz="16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6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emelt</a:t>
            </a:r>
            <a:r>
              <a:rPr sz="16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díjas</a:t>
            </a:r>
            <a:r>
              <a:rPr sz="16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SMS-ek</a:t>
            </a:r>
            <a:r>
              <a:rPr sz="16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fejében</a:t>
            </a:r>
            <a:r>
              <a:rPr sz="16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6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történő</a:t>
            </a:r>
            <a:r>
              <a:rPr sz="16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letöltése</a:t>
            </a:r>
            <a:r>
              <a:rPr sz="16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16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tekinthető</a:t>
            </a:r>
            <a:r>
              <a:rPr sz="16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"/>
                <a:cs typeface="Arial"/>
              </a:rPr>
              <a:t>jogszerű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felhasználásnak,</a:t>
            </a:r>
            <a:r>
              <a:rPr sz="1600" spc="2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hanem</a:t>
            </a:r>
            <a:r>
              <a:rPr sz="1600" spc="2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olyan</a:t>
            </a:r>
            <a:r>
              <a:rPr sz="1600" spc="25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többszörözés,</a:t>
            </a:r>
            <a:r>
              <a:rPr sz="1600" spc="2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ami</a:t>
            </a:r>
            <a:r>
              <a:rPr sz="1600" spc="2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600" spc="25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jogtulajdonosnak</a:t>
            </a:r>
            <a:r>
              <a:rPr sz="1600" spc="2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hátrányt</a:t>
            </a:r>
            <a:r>
              <a:rPr sz="1600" spc="2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okozva</a:t>
            </a:r>
            <a:r>
              <a:rPr sz="1600" spc="25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600" spc="2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1600" spc="25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"/>
                <a:cs typeface="Arial"/>
              </a:rPr>
              <a:t>jogok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megsértése</a:t>
            </a:r>
            <a:r>
              <a:rPr sz="16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bűncselekményét</a:t>
            </a:r>
            <a:r>
              <a:rPr sz="16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valósítja</a:t>
            </a:r>
            <a:r>
              <a:rPr sz="16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chemeClr val="tx1"/>
                </a:solidFill>
                <a:latin typeface="Arial"/>
                <a:cs typeface="Arial"/>
              </a:rPr>
              <a:t>meg.</a:t>
            </a:r>
            <a:endParaRPr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95" dirty="0"/>
              <a:t> </a:t>
            </a:r>
            <a:r>
              <a:rPr dirty="0"/>
              <a:t>szoftver</a:t>
            </a:r>
            <a:r>
              <a:rPr spc="-114" dirty="0"/>
              <a:t> </a:t>
            </a:r>
            <a:r>
              <a:rPr spc="-10" dirty="0"/>
              <a:t>átdolgozása,</a:t>
            </a:r>
            <a:r>
              <a:rPr spc="-85" dirty="0"/>
              <a:t> </a:t>
            </a:r>
            <a:r>
              <a:rPr spc="-10" dirty="0"/>
              <a:t>terjesztése,</a:t>
            </a:r>
            <a:r>
              <a:rPr spc="-85" dirty="0"/>
              <a:t> </a:t>
            </a:r>
            <a:r>
              <a:rPr dirty="0"/>
              <a:t>mint</a:t>
            </a:r>
            <a:r>
              <a:rPr spc="-90" dirty="0"/>
              <a:t> </a:t>
            </a:r>
            <a:r>
              <a:rPr dirty="0"/>
              <a:t>vagyoni</a:t>
            </a:r>
            <a:r>
              <a:rPr spc="-85" dirty="0"/>
              <a:t> </a:t>
            </a:r>
            <a:r>
              <a:rPr spc="-25" dirty="0"/>
              <a:t>jog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384725" y="1184987"/>
            <a:ext cx="8371840" cy="3581172"/>
          </a:xfrm>
          <a:prstGeom prst="rect">
            <a:avLst/>
          </a:prstGeom>
        </p:spPr>
        <p:txBody>
          <a:bodyPr vert="horz" wrap="square" lIns="0" tIns="318388" rIns="0" bIns="0" rtlCol="0">
            <a:spAutoFit/>
          </a:bodyPr>
          <a:lstStyle/>
          <a:p>
            <a:pPr marL="298450" marR="22860" indent="-285750" algn="just">
              <a:lnSpc>
                <a:spcPct val="114599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sz="1800" dirty="0"/>
              <a:t>A</a:t>
            </a:r>
            <a:r>
              <a:rPr sz="1800" spc="-10" dirty="0"/>
              <a:t> </a:t>
            </a:r>
            <a:r>
              <a:rPr sz="1800" dirty="0"/>
              <a:t>számítógépi</a:t>
            </a:r>
            <a:r>
              <a:rPr sz="1800" spc="90" dirty="0"/>
              <a:t> </a:t>
            </a:r>
            <a:r>
              <a:rPr sz="1800" dirty="0"/>
              <a:t>program</a:t>
            </a:r>
            <a:r>
              <a:rPr sz="1800" spc="100" dirty="0"/>
              <a:t> </a:t>
            </a:r>
            <a:r>
              <a:rPr sz="1800" b="1" dirty="0">
                <a:latin typeface="Arial"/>
                <a:cs typeface="Arial"/>
              </a:rPr>
              <a:t>lefordítása,</a:t>
            </a:r>
            <a:r>
              <a:rPr sz="1800" b="1" spc="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átdolgozása,</a:t>
            </a:r>
            <a:r>
              <a:rPr sz="1800" b="1" spc="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feldolgozása</a:t>
            </a:r>
            <a:r>
              <a:rPr sz="1800" b="1" spc="140" dirty="0">
                <a:latin typeface="Arial"/>
                <a:cs typeface="Arial"/>
              </a:rPr>
              <a:t> </a:t>
            </a:r>
            <a:r>
              <a:rPr sz="1800" dirty="0"/>
              <a:t>és</a:t>
            </a:r>
            <a:r>
              <a:rPr sz="1800" spc="90" dirty="0"/>
              <a:t> </a:t>
            </a:r>
            <a:r>
              <a:rPr sz="1800" dirty="0"/>
              <a:t>bármely</a:t>
            </a:r>
            <a:r>
              <a:rPr sz="1800" spc="90" dirty="0"/>
              <a:t> </a:t>
            </a:r>
            <a:r>
              <a:rPr sz="1800" spc="-25" dirty="0"/>
              <a:t>más </a:t>
            </a:r>
            <a:r>
              <a:rPr sz="1800" dirty="0"/>
              <a:t>módon</a:t>
            </a:r>
            <a:r>
              <a:rPr sz="1800" spc="315" dirty="0"/>
              <a:t>  </a:t>
            </a:r>
            <a:r>
              <a:rPr sz="1800" dirty="0"/>
              <a:t>történő</a:t>
            </a:r>
            <a:r>
              <a:rPr sz="1800" spc="320" dirty="0"/>
              <a:t>  </a:t>
            </a:r>
            <a:r>
              <a:rPr sz="1800" b="1" dirty="0">
                <a:latin typeface="Arial"/>
                <a:cs typeface="Arial"/>
              </a:rPr>
              <a:t>módosítása</a:t>
            </a:r>
            <a:r>
              <a:rPr sz="1800" b="1" spc="315" dirty="0">
                <a:latin typeface="Arial"/>
                <a:cs typeface="Arial"/>
              </a:rPr>
              <a:t>  </a:t>
            </a:r>
            <a:r>
              <a:rPr sz="1800" dirty="0"/>
              <a:t>-</a:t>
            </a:r>
            <a:r>
              <a:rPr sz="1800" spc="315" dirty="0"/>
              <a:t>  </a:t>
            </a:r>
            <a:r>
              <a:rPr sz="1800" dirty="0"/>
              <a:t>ideértve</a:t>
            </a:r>
            <a:r>
              <a:rPr sz="1800" spc="315" dirty="0"/>
              <a:t>  </a:t>
            </a:r>
            <a:r>
              <a:rPr sz="1800" dirty="0"/>
              <a:t>az</a:t>
            </a:r>
            <a:r>
              <a:rPr sz="1800" spc="315" dirty="0"/>
              <a:t>  </a:t>
            </a:r>
            <a:r>
              <a:rPr sz="1800" dirty="0"/>
              <a:t>eredeti</a:t>
            </a:r>
            <a:r>
              <a:rPr sz="1800" spc="315" dirty="0"/>
              <a:t>  </a:t>
            </a:r>
            <a:r>
              <a:rPr sz="1800" dirty="0"/>
              <a:t>programnyelvről</a:t>
            </a:r>
            <a:r>
              <a:rPr sz="1800" spc="315" dirty="0"/>
              <a:t>  </a:t>
            </a:r>
            <a:r>
              <a:rPr sz="1800" spc="-25" dirty="0"/>
              <a:t>más </a:t>
            </a:r>
            <a:r>
              <a:rPr sz="1800" dirty="0"/>
              <a:t>programnyelvre</a:t>
            </a:r>
            <a:r>
              <a:rPr sz="1800" spc="-55" dirty="0"/>
              <a:t> </a:t>
            </a:r>
            <a:r>
              <a:rPr sz="1800" dirty="0"/>
              <a:t>történő</a:t>
            </a:r>
            <a:r>
              <a:rPr sz="1800" spc="-50" dirty="0"/>
              <a:t> </a:t>
            </a:r>
            <a:r>
              <a:rPr sz="1800" spc="-10" dirty="0"/>
              <a:t>átírást;</a:t>
            </a:r>
          </a:p>
          <a:p>
            <a:pPr marL="298450" marR="5080" indent="-285750" algn="just">
              <a:lnSpc>
                <a:spcPct val="114599"/>
              </a:lnSpc>
              <a:buFont typeface="Wingdings" panose="05000000000000000000" pitchFamily="2" charset="2"/>
              <a:buChar char="Ø"/>
            </a:pPr>
            <a:r>
              <a:rPr sz="1800" dirty="0"/>
              <a:t>A</a:t>
            </a:r>
            <a:r>
              <a:rPr sz="1800" spc="260" dirty="0"/>
              <a:t> </a:t>
            </a:r>
            <a:r>
              <a:rPr sz="1800" dirty="0"/>
              <a:t>számítógépi</a:t>
            </a:r>
            <a:r>
              <a:rPr sz="1800" spc="360" dirty="0"/>
              <a:t> </a:t>
            </a:r>
            <a:r>
              <a:rPr sz="1800" dirty="0"/>
              <a:t>program</a:t>
            </a:r>
            <a:r>
              <a:rPr sz="1800" spc="365" dirty="0"/>
              <a:t> </a:t>
            </a:r>
            <a:r>
              <a:rPr sz="1800" dirty="0"/>
              <a:t>vagy</a:t>
            </a:r>
            <a:r>
              <a:rPr sz="1800" spc="360" dirty="0"/>
              <a:t> </a:t>
            </a:r>
            <a:r>
              <a:rPr sz="1800" dirty="0"/>
              <a:t>másolatai</a:t>
            </a:r>
            <a:r>
              <a:rPr sz="1800" spc="360" dirty="0"/>
              <a:t> </a:t>
            </a:r>
            <a:r>
              <a:rPr sz="1800" dirty="0"/>
              <a:t>bármilyen</a:t>
            </a:r>
            <a:r>
              <a:rPr sz="1800" spc="360" dirty="0"/>
              <a:t> </a:t>
            </a:r>
            <a:r>
              <a:rPr sz="1800" dirty="0"/>
              <a:t>formában</a:t>
            </a:r>
            <a:r>
              <a:rPr sz="1800" spc="360" dirty="0"/>
              <a:t> </a:t>
            </a:r>
            <a:r>
              <a:rPr sz="1800" dirty="0"/>
              <a:t>történő</a:t>
            </a:r>
            <a:r>
              <a:rPr sz="1800" spc="395" dirty="0"/>
              <a:t> </a:t>
            </a:r>
            <a:r>
              <a:rPr sz="1800" b="1" spc="-10" dirty="0">
                <a:latin typeface="Arial"/>
                <a:cs typeface="Arial"/>
              </a:rPr>
              <a:t>nyilvános </a:t>
            </a:r>
            <a:r>
              <a:rPr sz="1800" b="1" dirty="0">
                <a:latin typeface="Arial"/>
                <a:cs typeface="Arial"/>
              </a:rPr>
              <a:t>terjesztése</a:t>
            </a:r>
            <a:r>
              <a:rPr sz="1800" dirty="0"/>
              <a:t>,</a:t>
            </a:r>
            <a:r>
              <a:rPr sz="1800" spc="25" dirty="0"/>
              <a:t>  </a:t>
            </a:r>
            <a:r>
              <a:rPr sz="1800" dirty="0"/>
              <a:t>beleértve</a:t>
            </a:r>
            <a:r>
              <a:rPr sz="1800" spc="25" dirty="0"/>
              <a:t>  </a:t>
            </a:r>
            <a:r>
              <a:rPr sz="1800" dirty="0"/>
              <a:t>a</a:t>
            </a:r>
            <a:r>
              <a:rPr sz="1800" spc="35" dirty="0"/>
              <a:t>  </a:t>
            </a:r>
            <a:r>
              <a:rPr sz="1800" b="1" dirty="0">
                <a:latin typeface="Arial"/>
                <a:cs typeface="Arial"/>
              </a:rPr>
              <a:t>bérbeadást</a:t>
            </a:r>
            <a:r>
              <a:rPr sz="1800" b="1" spc="25" dirty="0">
                <a:latin typeface="Arial"/>
                <a:cs typeface="Arial"/>
              </a:rPr>
              <a:t>  </a:t>
            </a:r>
            <a:r>
              <a:rPr sz="1800" dirty="0"/>
              <a:t>is.</a:t>
            </a:r>
            <a:r>
              <a:rPr sz="1800" spc="455" dirty="0"/>
              <a:t> </a:t>
            </a:r>
            <a:r>
              <a:rPr sz="1800" dirty="0"/>
              <a:t>A</a:t>
            </a:r>
            <a:r>
              <a:rPr sz="1800" spc="455" dirty="0"/>
              <a:t> </a:t>
            </a:r>
            <a:r>
              <a:rPr sz="1800" dirty="0"/>
              <a:t>program</a:t>
            </a:r>
            <a:r>
              <a:rPr sz="1800" spc="25" dirty="0"/>
              <a:t>  </a:t>
            </a:r>
            <a:r>
              <a:rPr sz="1800" dirty="0"/>
              <a:t>valamely</a:t>
            </a:r>
            <a:r>
              <a:rPr sz="1800" spc="30" dirty="0"/>
              <a:t>  </a:t>
            </a:r>
            <a:r>
              <a:rPr sz="1800" dirty="0"/>
              <a:t>példányának</a:t>
            </a:r>
            <a:r>
              <a:rPr sz="1800" spc="25" dirty="0"/>
              <a:t>  </a:t>
            </a:r>
            <a:r>
              <a:rPr sz="1800" spc="-50" dirty="0"/>
              <a:t>a </a:t>
            </a:r>
            <a:r>
              <a:rPr sz="1800" dirty="0"/>
              <a:t>jogosult</a:t>
            </a:r>
            <a:r>
              <a:rPr sz="1800" spc="35" dirty="0"/>
              <a:t> </a:t>
            </a:r>
            <a:r>
              <a:rPr sz="1800" dirty="0"/>
              <a:t>által</a:t>
            </a:r>
            <a:r>
              <a:rPr sz="1800" spc="40" dirty="0"/>
              <a:t> </a:t>
            </a:r>
            <a:r>
              <a:rPr sz="1800" dirty="0"/>
              <a:t>vagy</a:t>
            </a:r>
            <a:r>
              <a:rPr sz="1800" spc="35" dirty="0"/>
              <a:t> </a:t>
            </a:r>
            <a:r>
              <a:rPr sz="1800" dirty="0"/>
              <a:t>az</a:t>
            </a:r>
            <a:r>
              <a:rPr sz="1800" spc="40" dirty="0"/>
              <a:t> </a:t>
            </a:r>
            <a:r>
              <a:rPr sz="1800" dirty="0"/>
              <a:t>ő</a:t>
            </a:r>
            <a:r>
              <a:rPr sz="1800" spc="40" dirty="0"/>
              <a:t> </a:t>
            </a:r>
            <a:r>
              <a:rPr sz="1800" dirty="0"/>
              <a:t>hozzájárulásával</a:t>
            </a:r>
            <a:r>
              <a:rPr sz="1800" spc="35" dirty="0"/>
              <a:t> </a:t>
            </a:r>
            <a:r>
              <a:rPr sz="1800" dirty="0"/>
              <a:t>a</a:t>
            </a:r>
            <a:r>
              <a:rPr sz="1800" spc="40" dirty="0"/>
              <a:t> </a:t>
            </a:r>
            <a:r>
              <a:rPr sz="1800" dirty="0"/>
              <a:t>Közösségen</a:t>
            </a:r>
            <a:r>
              <a:rPr sz="1800" spc="40" dirty="0"/>
              <a:t> </a:t>
            </a:r>
            <a:r>
              <a:rPr sz="1800" dirty="0"/>
              <a:t>belül</a:t>
            </a:r>
            <a:r>
              <a:rPr sz="1800" spc="35" dirty="0"/>
              <a:t> </a:t>
            </a:r>
            <a:r>
              <a:rPr sz="1800" dirty="0"/>
              <a:t>történő</a:t>
            </a:r>
            <a:r>
              <a:rPr sz="1800" spc="40" dirty="0"/>
              <a:t> </a:t>
            </a:r>
            <a:r>
              <a:rPr sz="1800" dirty="0"/>
              <a:t>első</a:t>
            </a:r>
            <a:r>
              <a:rPr sz="1800" spc="40" dirty="0"/>
              <a:t> </a:t>
            </a:r>
            <a:r>
              <a:rPr sz="1800" spc="-10" dirty="0"/>
              <a:t>eladása </a:t>
            </a:r>
            <a:r>
              <a:rPr sz="1800" dirty="0"/>
              <a:t>kimeríti</a:t>
            </a:r>
            <a:r>
              <a:rPr sz="1800" spc="15" dirty="0"/>
              <a:t>  </a:t>
            </a:r>
            <a:r>
              <a:rPr sz="1800" dirty="0"/>
              <a:t>az</a:t>
            </a:r>
            <a:r>
              <a:rPr sz="1800" spc="20" dirty="0"/>
              <a:t>  </a:t>
            </a:r>
            <a:r>
              <a:rPr sz="1800" dirty="0"/>
              <a:t>adott</a:t>
            </a:r>
            <a:r>
              <a:rPr sz="1800" spc="15" dirty="0"/>
              <a:t>  </a:t>
            </a:r>
            <a:r>
              <a:rPr sz="1800" dirty="0"/>
              <a:t>példány</a:t>
            </a:r>
            <a:r>
              <a:rPr sz="1800" spc="20" dirty="0"/>
              <a:t>  </a:t>
            </a:r>
            <a:r>
              <a:rPr sz="1800" dirty="0"/>
              <a:t>Közösségen</a:t>
            </a:r>
            <a:r>
              <a:rPr sz="1800" spc="20" dirty="0"/>
              <a:t>  </a:t>
            </a:r>
            <a:r>
              <a:rPr sz="1800" dirty="0"/>
              <a:t>belüli</a:t>
            </a:r>
            <a:r>
              <a:rPr sz="1800" spc="20" dirty="0"/>
              <a:t>  </a:t>
            </a:r>
            <a:r>
              <a:rPr sz="1800" dirty="0"/>
              <a:t>terjesztésére</a:t>
            </a:r>
            <a:r>
              <a:rPr sz="1800" spc="25" dirty="0"/>
              <a:t>  </a:t>
            </a:r>
            <a:r>
              <a:rPr sz="1800" dirty="0"/>
              <a:t>vonatkozó</a:t>
            </a:r>
            <a:r>
              <a:rPr sz="1800" spc="20" dirty="0"/>
              <a:t>  </a:t>
            </a:r>
            <a:r>
              <a:rPr sz="1800" dirty="0"/>
              <a:t>jogot,</a:t>
            </a:r>
            <a:r>
              <a:rPr sz="1800" spc="15" dirty="0"/>
              <a:t>  </a:t>
            </a:r>
            <a:r>
              <a:rPr sz="1800" spc="-50" dirty="0"/>
              <a:t>a </a:t>
            </a:r>
            <a:r>
              <a:rPr sz="1800" dirty="0"/>
              <a:t>számítógépi</a:t>
            </a:r>
            <a:r>
              <a:rPr sz="1800" spc="204" dirty="0"/>
              <a:t>   </a:t>
            </a:r>
            <a:r>
              <a:rPr sz="1800" dirty="0"/>
              <a:t>program</a:t>
            </a:r>
            <a:r>
              <a:rPr sz="1800" spc="210" dirty="0"/>
              <a:t>   </a:t>
            </a:r>
            <a:r>
              <a:rPr sz="1800" dirty="0"/>
              <a:t>vagy</a:t>
            </a:r>
            <a:r>
              <a:rPr sz="1800" spc="210" dirty="0"/>
              <a:t>   </a:t>
            </a:r>
            <a:r>
              <a:rPr sz="1800" dirty="0"/>
              <a:t>valamely</a:t>
            </a:r>
            <a:r>
              <a:rPr sz="1800" spc="204" dirty="0"/>
              <a:t>   </a:t>
            </a:r>
            <a:r>
              <a:rPr sz="1800" dirty="0"/>
              <a:t>másolata</a:t>
            </a:r>
            <a:r>
              <a:rPr sz="1800" spc="210" dirty="0"/>
              <a:t>   </a:t>
            </a:r>
            <a:r>
              <a:rPr sz="1800" dirty="0"/>
              <a:t>további</a:t>
            </a:r>
            <a:r>
              <a:rPr sz="1800" spc="210" dirty="0"/>
              <a:t>   </a:t>
            </a:r>
            <a:r>
              <a:rPr sz="1800" spc="-10" dirty="0"/>
              <a:t>bérbeadásának </a:t>
            </a:r>
            <a:r>
              <a:rPr sz="1800" dirty="0"/>
              <a:t>ellenőrzéséhez</a:t>
            </a:r>
            <a:r>
              <a:rPr sz="1800" spc="-15" dirty="0"/>
              <a:t> </a:t>
            </a:r>
            <a:r>
              <a:rPr sz="1800" dirty="0"/>
              <a:t>való</a:t>
            </a:r>
            <a:r>
              <a:rPr sz="1800" spc="-15" dirty="0"/>
              <a:t> </a:t>
            </a:r>
            <a:r>
              <a:rPr sz="1800" dirty="0"/>
              <a:t>jog</a:t>
            </a:r>
            <a:r>
              <a:rPr sz="1800" spc="-10" dirty="0"/>
              <a:t> kivételével.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5817"/>
            <a:ext cx="832421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Kizárható</a:t>
            </a:r>
            <a:r>
              <a:rPr sz="2800" spc="-125" dirty="0"/>
              <a:t> </a:t>
            </a:r>
            <a:r>
              <a:rPr sz="2800" dirty="0"/>
              <a:t>(szerződhető)</a:t>
            </a:r>
            <a:r>
              <a:rPr sz="2800" spc="-120" dirty="0"/>
              <a:t> </a:t>
            </a:r>
            <a:r>
              <a:rPr sz="2800" dirty="0"/>
              <a:t>kivétel</a:t>
            </a:r>
            <a:r>
              <a:rPr sz="2800" spc="-120" dirty="0"/>
              <a:t> </a:t>
            </a:r>
            <a:r>
              <a:rPr sz="2800" dirty="0"/>
              <a:t>az</a:t>
            </a:r>
            <a:r>
              <a:rPr sz="2800" spc="-120" dirty="0"/>
              <a:t> </a:t>
            </a:r>
            <a:r>
              <a:rPr sz="2800" spc="-10" dirty="0" err="1"/>
              <a:t>engedélyezési</a:t>
            </a:r>
            <a:r>
              <a:rPr sz="2800" spc="-120" dirty="0"/>
              <a:t> </a:t>
            </a:r>
            <a:r>
              <a:rPr sz="2800" spc="-25" dirty="0" smtClean="0"/>
              <a:t>jog</a:t>
            </a:r>
            <a:r>
              <a:rPr lang="hu-HU" sz="2800" spc="-25" dirty="0" smtClean="0"/>
              <a:t> alól</a:t>
            </a:r>
            <a:endParaRPr sz="2800"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384725" y="1167715"/>
            <a:ext cx="8369934" cy="6960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  <a:tabLst>
                <a:tab pos="665480" algn="l"/>
                <a:tab pos="1459865" algn="l"/>
                <a:tab pos="1802130" algn="l"/>
                <a:tab pos="2101850" algn="l"/>
                <a:tab pos="4065270" algn="l"/>
                <a:tab pos="4492625" algn="l"/>
                <a:tab pos="6173470" algn="l"/>
                <a:tab pos="6473825" algn="l"/>
                <a:tab pos="8211184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Szjt.</a:t>
            </a:r>
            <a:r>
              <a:rPr sz="2000" spc="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59.</a:t>
            </a:r>
            <a:r>
              <a:rPr sz="2000" spc="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§</a:t>
            </a:r>
            <a:r>
              <a:rPr sz="2000" spc="1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(1):</a:t>
            </a:r>
            <a:r>
              <a:rPr sz="2000" spc="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Eltérő</a:t>
            </a:r>
            <a:r>
              <a:rPr sz="2000" spc="1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megállapodás</a:t>
            </a:r>
            <a:r>
              <a:rPr sz="2000" spc="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hiányában</a:t>
            </a:r>
            <a:r>
              <a:rPr sz="2000" spc="1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szerző</a:t>
            </a:r>
            <a:r>
              <a:rPr sz="2000" spc="1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kizárólagos</a:t>
            </a:r>
            <a:r>
              <a:rPr sz="2000" spc="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joga 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terjed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ki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többszörözésre,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átdolgozásra,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feldolgozásra,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872565"/>
            <a:ext cx="8369934" cy="31628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599"/>
              </a:lnSpc>
              <a:spcBef>
                <a:spcPts val="100"/>
              </a:spcBef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fordításra,</a:t>
            </a:r>
            <a:r>
              <a:rPr sz="2000" spc="12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12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szoftver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bármely</a:t>
            </a:r>
            <a:r>
              <a:rPr sz="2000" spc="12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más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módosítására</a:t>
            </a:r>
            <a:r>
              <a:rPr sz="2000" spc="12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2000" spc="13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ideértve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12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hiba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kijavítását</a:t>
            </a:r>
            <a:r>
              <a:rPr sz="2000" spc="2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z="2000" spc="2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sz="2000" spc="2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valamint</a:t>
            </a:r>
            <a:r>
              <a:rPr sz="2000" spc="2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ezek</a:t>
            </a:r>
            <a:r>
              <a:rPr sz="2000" spc="2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eredményének</a:t>
            </a:r>
            <a:r>
              <a:rPr sz="2000" spc="2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többszörözésére</a:t>
            </a:r>
            <a:r>
              <a:rPr sz="2000" spc="2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annyiban,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amennyiben</a:t>
            </a:r>
            <a:r>
              <a:rPr sz="2000" spc="1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2000" spc="1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felhasználási</a:t>
            </a:r>
            <a:r>
              <a:rPr sz="2000" spc="1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cselekményeket</a:t>
            </a:r>
            <a:r>
              <a:rPr sz="2000" spc="1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1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szoftvert</a:t>
            </a:r>
            <a:r>
              <a:rPr sz="2000" spc="1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jogszerűen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megszerző</a:t>
            </a:r>
            <a:r>
              <a:rPr sz="20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személy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szoftver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rendeltetésével</a:t>
            </a:r>
            <a:r>
              <a:rPr sz="20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összhangban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végzi.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Ok:</a:t>
            </a:r>
            <a:r>
              <a:rPr sz="20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használat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közben</a:t>
            </a:r>
            <a:r>
              <a:rPr sz="20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felmerülő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hibák,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 err="1">
                <a:solidFill>
                  <a:schemeClr val="tx1"/>
                </a:solidFill>
                <a:latin typeface="Arial"/>
                <a:cs typeface="Arial"/>
              </a:rPr>
              <a:t>rendellenességek</a:t>
            </a:r>
            <a:r>
              <a:rPr sz="20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 err="1" smtClean="0">
                <a:solidFill>
                  <a:schemeClr val="tx1"/>
                </a:solidFill>
                <a:latin typeface="Arial"/>
                <a:cs typeface="Arial"/>
              </a:rPr>
              <a:t>kijavítása</a:t>
            </a:r>
            <a:endParaRPr lang="hu-HU" sz="2000" spc="-10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115599"/>
              </a:lnSpc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De:</a:t>
            </a:r>
            <a:r>
              <a:rPr sz="2000" spc="48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feltételhez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kötött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szerződésben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ki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lehet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zárni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(ld.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üzemeltetési </a:t>
            </a:r>
            <a:r>
              <a:rPr sz="2000" dirty="0" err="1">
                <a:solidFill>
                  <a:schemeClr val="tx1"/>
                </a:solidFill>
                <a:latin typeface="Arial"/>
                <a:cs typeface="Arial"/>
              </a:rPr>
              <a:t>szerződések</a:t>
            </a:r>
            <a:r>
              <a:rPr sz="2000" dirty="0" smtClean="0">
                <a:solidFill>
                  <a:schemeClr val="tx1"/>
                </a:solidFill>
                <a:latin typeface="Arial"/>
                <a:cs typeface="Arial"/>
              </a:rPr>
              <a:t>)</a:t>
            </a:r>
            <a:r>
              <a:rPr sz="2000" spc="-50" dirty="0" smtClean="0">
                <a:solidFill>
                  <a:schemeClr val="tx1"/>
                </a:solidFill>
                <a:latin typeface="Arial"/>
                <a:cs typeface="Arial"/>
              </a:rPr>
              <a:t>!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086090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dirty="0"/>
              <a:t>Nem</a:t>
            </a:r>
            <a:r>
              <a:rPr spc="-90" dirty="0"/>
              <a:t> </a:t>
            </a:r>
            <a:r>
              <a:rPr dirty="0"/>
              <a:t>kizárható</a:t>
            </a:r>
            <a:r>
              <a:rPr spc="-85" dirty="0"/>
              <a:t> </a:t>
            </a:r>
            <a:r>
              <a:rPr dirty="0"/>
              <a:t>kivételek</a:t>
            </a:r>
            <a:r>
              <a:rPr spc="-85" dirty="0"/>
              <a:t> </a:t>
            </a:r>
            <a:r>
              <a:rPr dirty="0"/>
              <a:t>az</a:t>
            </a:r>
            <a:r>
              <a:rPr spc="-85" dirty="0"/>
              <a:t> </a:t>
            </a:r>
            <a:r>
              <a:rPr spc="-10" dirty="0"/>
              <a:t>engedélyezési</a:t>
            </a:r>
            <a:r>
              <a:rPr spc="-90" dirty="0"/>
              <a:t> </a:t>
            </a:r>
            <a:r>
              <a:rPr dirty="0"/>
              <a:t>jog</a:t>
            </a:r>
            <a:r>
              <a:rPr spc="-85" dirty="0"/>
              <a:t> </a:t>
            </a:r>
            <a:r>
              <a:rPr dirty="0"/>
              <a:t>alól</a:t>
            </a:r>
            <a:r>
              <a:rPr spc="-85" dirty="0"/>
              <a:t> </a:t>
            </a:r>
            <a:r>
              <a:rPr spc="-50" dirty="0"/>
              <a:t>- </a:t>
            </a:r>
            <a:r>
              <a:rPr dirty="0"/>
              <a:t>biztonsági</a:t>
            </a:r>
            <a:r>
              <a:rPr spc="-180" dirty="0"/>
              <a:t> </a:t>
            </a:r>
            <a:r>
              <a:rPr spc="-10" dirty="0"/>
              <a:t>másolat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733550"/>
            <a:ext cx="8371840" cy="3280706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43180" algn="just">
              <a:lnSpc>
                <a:spcPct val="79300"/>
              </a:lnSpc>
              <a:spcBef>
                <a:spcPts val="545"/>
              </a:spcBef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59.</a:t>
            </a:r>
            <a:r>
              <a:rPr sz="200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§</a:t>
            </a:r>
            <a:r>
              <a:rPr sz="2000" spc="2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(2)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felhasználási</a:t>
            </a:r>
            <a:r>
              <a:rPr sz="2000" spc="2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szerződésben</a:t>
            </a:r>
            <a:r>
              <a:rPr sz="2000" spc="229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sem</a:t>
            </a:r>
            <a:r>
              <a:rPr sz="2000" spc="2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zárható</a:t>
            </a:r>
            <a:r>
              <a:rPr sz="2000" spc="2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ki,</a:t>
            </a:r>
            <a:r>
              <a:rPr sz="2000" spc="229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hogy</a:t>
            </a:r>
            <a:r>
              <a:rPr sz="2000" spc="2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2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felhasználó</a:t>
            </a:r>
            <a:r>
              <a:rPr sz="2000" spc="2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egy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biztonsági</a:t>
            </a:r>
            <a:r>
              <a:rPr sz="2000" spc="1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másolatot</a:t>
            </a:r>
            <a:r>
              <a:rPr sz="2000" spc="19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készíthessen</a:t>
            </a:r>
            <a:r>
              <a:rPr sz="2000" spc="19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1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szoftverről,</a:t>
            </a:r>
            <a:r>
              <a:rPr sz="2000" spc="19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ha</a:t>
            </a:r>
            <a:r>
              <a:rPr sz="2000" spc="19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2000" spc="18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19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felhasználáshoz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szükséges.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(Ld.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BH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fent,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C-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166/15.)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113300"/>
              </a:lnSpc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“...bár</a:t>
            </a:r>
            <a:r>
              <a:rPr sz="2000" spc="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1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számítógépi</a:t>
            </a:r>
            <a:r>
              <a:rPr sz="2000" spc="1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program</a:t>
            </a:r>
            <a:r>
              <a:rPr sz="2000" spc="1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korlátlan</a:t>
            </a:r>
            <a:r>
              <a:rPr sz="2000" spc="1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használati</a:t>
            </a:r>
            <a:r>
              <a:rPr sz="2000" spc="1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engedéllyel</a:t>
            </a:r>
            <a:r>
              <a:rPr sz="2000" spc="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ellátott</a:t>
            </a:r>
            <a:r>
              <a:rPr sz="2000" spc="1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példányának</a:t>
            </a:r>
            <a:r>
              <a:rPr sz="2000" spc="1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eredeti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megszerzője</a:t>
            </a:r>
            <a:r>
              <a:rPr sz="2000" spc="1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jogosult</a:t>
            </a:r>
            <a:r>
              <a:rPr sz="2000" spc="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2000" spc="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példányt</a:t>
            </a:r>
            <a:r>
              <a:rPr sz="2000" spc="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2000" spc="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engedélyét</a:t>
            </a:r>
            <a:r>
              <a:rPr sz="2000" spc="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egy</a:t>
            </a:r>
            <a:r>
              <a:rPr sz="2000" spc="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későbbi</a:t>
            </a:r>
            <a:r>
              <a:rPr sz="2000" spc="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vásárlónak</a:t>
            </a:r>
            <a:r>
              <a:rPr sz="2000" spc="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eladni,</a:t>
            </a:r>
            <a:r>
              <a:rPr sz="2000" spc="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2000" spc="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említett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program</a:t>
            </a:r>
            <a:r>
              <a:rPr sz="20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biztonsági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másolatát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jogosult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engedélye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nélkül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20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későbbi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vásárlónak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adhatja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át,</a:t>
            </a:r>
            <a:r>
              <a:rPr sz="2000" spc="4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ha</a:t>
            </a:r>
            <a:r>
              <a:rPr sz="2000" spc="4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4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példánynak</a:t>
            </a:r>
            <a:r>
              <a:rPr sz="2000" spc="4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000" spc="4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részére</a:t>
            </a:r>
            <a:r>
              <a:rPr sz="2000" spc="4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először</a:t>
            </a:r>
            <a:r>
              <a:rPr sz="2000" spc="4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átadott</a:t>
            </a:r>
            <a:r>
              <a:rPr sz="2000" spc="4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eredeti</a:t>
            </a:r>
            <a:r>
              <a:rPr sz="2000" spc="4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fizikai</a:t>
            </a:r>
            <a:r>
              <a:rPr sz="2000" spc="4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adathordozója</a:t>
            </a:r>
            <a:r>
              <a:rPr sz="2000" spc="4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megsérült,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megsemmisült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elveszett.”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435215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dirty="0"/>
              <a:t>Nem</a:t>
            </a:r>
            <a:r>
              <a:rPr spc="-105" dirty="0"/>
              <a:t> </a:t>
            </a:r>
            <a:r>
              <a:rPr dirty="0"/>
              <a:t>kizárható</a:t>
            </a:r>
            <a:r>
              <a:rPr spc="-100" dirty="0"/>
              <a:t> </a:t>
            </a:r>
            <a:r>
              <a:rPr dirty="0"/>
              <a:t>kivételek</a:t>
            </a:r>
            <a:r>
              <a:rPr spc="-105" dirty="0"/>
              <a:t> </a:t>
            </a:r>
            <a:r>
              <a:rPr dirty="0"/>
              <a:t>az</a:t>
            </a:r>
            <a:r>
              <a:rPr spc="-100" dirty="0"/>
              <a:t> </a:t>
            </a:r>
            <a:r>
              <a:rPr dirty="0"/>
              <a:t>engedélyezés</a:t>
            </a:r>
            <a:r>
              <a:rPr spc="-105" dirty="0"/>
              <a:t> </a:t>
            </a:r>
            <a:r>
              <a:rPr dirty="0"/>
              <a:t>alól</a:t>
            </a:r>
            <a:r>
              <a:rPr spc="-100" dirty="0"/>
              <a:t> </a:t>
            </a:r>
            <a:r>
              <a:rPr spc="-50" dirty="0"/>
              <a:t>- </a:t>
            </a:r>
            <a:r>
              <a:rPr spc="-10" dirty="0"/>
              <a:t>tanulmányozás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813814"/>
            <a:ext cx="8368030" cy="2432974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algn="just">
              <a:lnSpc>
                <a:spcPct val="79600"/>
              </a:lnSpc>
              <a:spcBef>
                <a:spcPts val="540"/>
              </a:spcBef>
              <a:tabLst>
                <a:tab pos="1083945" algn="l"/>
                <a:tab pos="1628775" algn="l"/>
                <a:tab pos="2208530" algn="l"/>
                <a:tab pos="2638425" algn="l"/>
                <a:tab pos="2699385" algn="l"/>
                <a:tab pos="3023870" algn="l"/>
                <a:tab pos="4013835" algn="l"/>
                <a:tab pos="4144010" algn="l"/>
                <a:tab pos="4629150" algn="l"/>
                <a:tab pos="5024755" algn="l"/>
                <a:tab pos="5574030" algn="l"/>
                <a:tab pos="5967730" algn="l"/>
                <a:tab pos="6086475" algn="l"/>
                <a:tab pos="6513195" algn="l"/>
                <a:tab pos="7781925" algn="l"/>
                <a:tab pos="7839075" algn="l"/>
              </a:tabLst>
            </a:pP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59.</a:t>
            </a:r>
            <a:r>
              <a:rPr sz="2400" spc="1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§</a:t>
            </a:r>
            <a:r>
              <a:rPr sz="2400" spc="1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(3)</a:t>
            </a:r>
            <a:r>
              <a:rPr sz="2400" spc="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Aki</a:t>
            </a:r>
            <a:r>
              <a:rPr sz="2400" spc="1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400" spc="1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szoftver</a:t>
            </a:r>
            <a:r>
              <a:rPr sz="2400" spc="1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Arial"/>
                <a:cs typeface="Arial"/>
              </a:rPr>
              <a:t>valamely</a:t>
            </a:r>
            <a:r>
              <a:rPr sz="2400" spc="1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 err="1" smtClean="0">
                <a:solidFill>
                  <a:schemeClr val="tx1"/>
                </a:solidFill>
                <a:latin typeface="Arial"/>
                <a:cs typeface="Arial"/>
              </a:rPr>
              <a:t>példányának</a:t>
            </a:r>
            <a:r>
              <a:rPr lang="hu-HU" sz="2400" spc="1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 err="1" smtClean="0">
                <a:solidFill>
                  <a:schemeClr val="tx1"/>
                </a:solidFill>
                <a:latin typeface="Arial"/>
                <a:cs typeface="Arial"/>
              </a:rPr>
              <a:t>felhasználására</a:t>
            </a:r>
            <a:r>
              <a:rPr sz="2400" spc="14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jogosult,</a:t>
            </a:r>
            <a:r>
              <a:rPr sz="2400" spc="1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2400" spc="1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Arial"/>
                <a:cs typeface="Arial"/>
              </a:rPr>
              <a:t>szerző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engedélye</a:t>
            </a:r>
            <a:r>
              <a:rPr sz="2400" spc="4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Arial"/>
                <a:cs typeface="Arial"/>
              </a:rPr>
              <a:t>nélkül</a:t>
            </a:r>
            <a:r>
              <a:rPr sz="2400" spc="459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25" dirty="0" smtClean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lang="hu-HU" sz="24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u="heavy" dirty="0" err="1" smtClean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megfigyelheti</a:t>
            </a:r>
            <a:r>
              <a:rPr sz="2400" u="heavy" spc="455" dirty="0" smtClean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és</a:t>
            </a:r>
            <a:r>
              <a:rPr sz="2400" u="heavy" spc="459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-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tanulmányozhatja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2400" dirty="0" smtClean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hu-HU" sz="2400" spc="4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dirty="0" err="1" smtClean="0">
                <a:solidFill>
                  <a:schemeClr val="tx1"/>
                </a:solidFill>
                <a:latin typeface="Arial"/>
                <a:cs typeface="Arial"/>
              </a:rPr>
              <a:t>szoftver</a:t>
            </a:r>
            <a:r>
              <a:rPr sz="2400" spc="49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Arial"/>
                <a:cs typeface="Arial"/>
              </a:rPr>
              <a:t>működését, </a:t>
            </a:r>
            <a:r>
              <a:rPr sz="2400" spc="-10" dirty="0" err="1" smtClean="0">
                <a:solidFill>
                  <a:schemeClr val="tx1"/>
                </a:solidFill>
                <a:latin typeface="Arial"/>
                <a:cs typeface="Arial"/>
              </a:rPr>
              <a:t>továbbá</a:t>
            </a:r>
            <a:r>
              <a:rPr lang="hu-HU" sz="24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u="heavy" spc="-10" dirty="0" err="1" smtClean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kipróbálhatja</a:t>
            </a:r>
            <a:r>
              <a:rPr lang="hu-HU" sz="24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50" dirty="0" smtClean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hu-HU" sz="24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0" dirty="0" err="1" smtClean="0">
                <a:solidFill>
                  <a:schemeClr val="tx1"/>
                </a:solidFill>
                <a:latin typeface="Arial"/>
                <a:cs typeface="Arial"/>
              </a:rPr>
              <a:t>szoftvert</a:t>
            </a:r>
            <a:r>
              <a:rPr lang="hu-HU" sz="24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0" dirty="0" err="1" smtClean="0">
                <a:solidFill>
                  <a:schemeClr val="tx1"/>
                </a:solidFill>
                <a:latin typeface="Arial"/>
                <a:cs typeface="Arial"/>
              </a:rPr>
              <a:t>annak</a:t>
            </a:r>
            <a:r>
              <a:rPr lang="hu-HU" sz="24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0" dirty="0" err="1" smtClean="0">
                <a:solidFill>
                  <a:schemeClr val="tx1"/>
                </a:solidFill>
                <a:latin typeface="Arial"/>
                <a:cs typeface="Arial"/>
              </a:rPr>
              <a:t>betáplálása</a:t>
            </a:r>
            <a:r>
              <a:rPr sz="2400" spc="-10" dirty="0" smtClean="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lang="hu-HU" sz="24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0" dirty="0" err="1" smtClean="0">
                <a:solidFill>
                  <a:schemeClr val="tx1"/>
                </a:solidFill>
                <a:latin typeface="Arial"/>
                <a:cs typeface="Arial"/>
              </a:rPr>
              <a:t>képernyőn</a:t>
            </a:r>
            <a:r>
              <a:rPr lang="hu-HU" sz="24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20" dirty="0" err="1" smtClean="0">
                <a:solidFill>
                  <a:schemeClr val="tx1"/>
                </a:solidFill>
                <a:latin typeface="Arial"/>
                <a:cs typeface="Arial"/>
              </a:rPr>
              <a:t>való</a:t>
            </a:r>
            <a:r>
              <a:rPr lang="hu-HU" sz="2400" spc="-2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0" dirty="0" err="1" smtClean="0">
                <a:solidFill>
                  <a:schemeClr val="tx1"/>
                </a:solidFill>
                <a:latin typeface="Arial"/>
                <a:cs typeface="Arial"/>
              </a:rPr>
              <a:t>megjelenítése</a:t>
            </a:r>
            <a:r>
              <a:rPr sz="2400" spc="-10" dirty="0" smtClean="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lang="hu-HU" sz="24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0" dirty="0" err="1" smtClean="0">
                <a:solidFill>
                  <a:schemeClr val="tx1"/>
                </a:solidFill>
                <a:latin typeface="Arial"/>
                <a:cs typeface="Arial"/>
              </a:rPr>
              <a:t>futtatása</a:t>
            </a:r>
            <a:r>
              <a:rPr sz="2400" spc="-10" dirty="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lang="hu-HU" sz="24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0" dirty="0" err="1" smtClean="0">
                <a:solidFill>
                  <a:schemeClr val="tx1"/>
                </a:solidFill>
                <a:latin typeface="Arial"/>
                <a:cs typeface="Arial"/>
              </a:rPr>
              <a:t>továbbítása</a:t>
            </a:r>
            <a:r>
              <a:rPr lang="hu-HU" sz="24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20" dirty="0" err="1" smtClean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lang="hu-HU" sz="24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0" dirty="0" err="1" smtClean="0">
                <a:solidFill>
                  <a:schemeClr val="tx1"/>
                </a:solidFill>
                <a:latin typeface="Arial"/>
                <a:cs typeface="Arial"/>
              </a:rPr>
              <a:t>tárolása</a:t>
            </a:r>
            <a:r>
              <a:rPr lang="hu-HU" sz="24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0" dirty="0" smtClean="0">
                <a:solidFill>
                  <a:schemeClr val="tx1"/>
                </a:solidFill>
                <a:latin typeface="Arial"/>
                <a:cs typeface="Arial"/>
              </a:rPr>
              <a:t>(i.e.</a:t>
            </a:r>
            <a:r>
              <a:rPr lang="hu-HU" sz="24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0" dirty="0" err="1" smtClean="0">
                <a:solidFill>
                  <a:schemeClr val="tx1"/>
                </a:solidFill>
                <a:latin typeface="Arial"/>
                <a:cs typeface="Arial"/>
              </a:rPr>
              <a:t>többszörözése</a:t>
            </a:r>
            <a:r>
              <a:rPr sz="2400" spc="-10" dirty="0">
                <a:solidFill>
                  <a:schemeClr val="tx1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chemeClr val="tx1"/>
                </a:solidFill>
                <a:latin typeface="Arial"/>
                <a:cs typeface="Arial"/>
              </a:rPr>
              <a:t>során </a:t>
            </a:r>
            <a:r>
              <a:rPr sz="24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abból</a:t>
            </a:r>
            <a:r>
              <a:rPr sz="2400" u="heavy" spc="18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a</a:t>
            </a:r>
            <a:r>
              <a:rPr sz="2400" u="heavy" spc="18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célból,</a:t>
            </a:r>
            <a:r>
              <a:rPr sz="2400" u="heavy" spc="18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hogy</a:t>
            </a:r>
            <a:r>
              <a:rPr sz="2400" u="heavy" spc="185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a</a:t>
            </a:r>
            <a:r>
              <a:rPr sz="2400" u="heavy" spc="18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szoftver</a:t>
            </a:r>
            <a:r>
              <a:rPr sz="2400" u="heavy" spc="18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valamely</a:t>
            </a:r>
            <a:r>
              <a:rPr sz="2400" u="heavy" spc="185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elemének</a:t>
            </a:r>
            <a:r>
              <a:rPr sz="2400" u="heavy" spc="18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alapjául</a:t>
            </a:r>
            <a:r>
              <a:rPr sz="2400" u="heavy" spc="18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szolgáló</a:t>
            </a:r>
            <a:r>
              <a:rPr sz="2400" u="heavy" spc="185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-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elgondolást</a:t>
            </a:r>
            <a:r>
              <a:rPr sz="24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vagy</a:t>
            </a:r>
            <a:r>
              <a:rPr sz="2400" u="heavy" spc="-15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elvet</a:t>
            </a:r>
            <a:r>
              <a:rPr sz="2400" u="heavy" spc="-15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-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megismerje.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920" y="204413"/>
            <a:ext cx="8086090" cy="81111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z="2600" dirty="0"/>
              <a:t>Nem</a:t>
            </a:r>
            <a:r>
              <a:rPr sz="2600" spc="-90" dirty="0"/>
              <a:t> </a:t>
            </a:r>
            <a:r>
              <a:rPr sz="2600" dirty="0"/>
              <a:t>kizárható</a:t>
            </a:r>
            <a:r>
              <a:rPr sz="2600" spc="-85" dirty="0"/>
              <a:t> </a:t>
            </a:r>
            <a:r>
              <a:rPr sz="2600" dirty="0"/>
              <a:t>kivételek</a:t>
            </a:r>
            <a:r>
              <a:rPr sz="2600" spc="-85" dirty="0"/>
              <a:t> </a:t>
            </a:r>
            <a:r>
              <a:rPr sz="2600" dirty="0"/>
              <a:t>az</a:t>
            </a:r>
            <a:r>
              <a:rPr sz="2600" spc="-85" dirty="0"/>
              <a:t> </a:t>
            </a:r>
            <a:r>
              <a:rPr sz="2600" spc="-10" dirty="0"/>
              <a:t>engedélyezési</a:t>
            </a:r>
            <a:r>
              <a:rPr sz="2600" spc="-90" dirty="0"/>
              <a:t> </a:t>
            </a:r>
            <a:r>
              <a:rPr sz="2600" dirty="0"/>
              <a:t>jog</a:t>
            </a:r>
            <a:r>
              <a:rPr sz="2600" spc="-85" dirty="0"/>
              <a:t> </a:t>
            </a:r>
            <a:r>
              <a:rPr sz="2600" dirty="0"/>
              <a:t>alól</a:t>
            </a:r>
            <a:r>
              <a:rPr sz="2600" spc="-85" dirty="0"/>
              <a:t> </a:t>
            </a:r>
            <a:r>
              <a:rPr sz="2600" spc="-50" dirty="0"/>
              <a:t>- </a:t>
            </a:r>
            <a:r>
              <a:rPr sz="2600" spc="-10" dirty="0"/>
              <a:t>dekompiláció</a:t>
            </a:r>
            <a:r>
              <a:rPr sz="2600" spc="-105" dirty="0"/>
              <a:t> </a:t>
            </a:r>
            <a:r>
              <a:rPr sz="2600" dirty="0"/>
              <a:t>az</a:t>
            </a:r>
            <a:r>
              <a:rPr sz="2600" spc="-105" dirty="0"/>
              <a:t> </a:t>
            </a:r>
            <a:r>
              <a:rPr sz="2600" spc="-10" dirty="0"/>
              <a:t>összekapcsolhatóság</a:t>
            </a:r>
            <a:r>
              <a:rPr sz="2600" spc="-105" dirty="0"/>
              <a:t> </a:t>
            </a:r>
            <a:r>
              <a:rPr sz="2600" spc="-10" dirty="0"/>
              <a:t>érdekében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104" y="1415674"/>
            <a:ext cx="8371205" cy="953769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algn="just">
              <a:lnSpc>
                <a:spcPct val="79500"/>
              </a:lnSpc>
              <a:spcBef>
                <a:spcPts val="540"/>
              </a:spcBef>
            </a:pP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60.</a:t>
            </a:r>
            <a:r>
              <a:rPr sz="1800"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§</a:t>
            </a:r>
            <a:r>
              <a:rPr sz="18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(1)</a:t>
            </a:r>
            <a:r>
              <a:rPr sz="18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szerző</a:t>
            </a:r>
            <a:r>
              <a:rPr sz="18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engedélye</a:t>
            </a:r>
            <a:r>
              <a:rPr sz="18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1800" spc="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szükséges</a:t>
            </a:r>
            <a:r>
              <a:rPr sz="18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kód</a:t>
            </a:r>
            <a:r>
              <a:rPr sz="18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olyan</a:t>
            </a:r>
            <a:r>
              <a:rPr sz="18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többszörözéséhez</a:t>
            </a:r>
            <a:r>
              <a:rPr sz="1800" spc="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vagy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fordításához,</a:t>
            </a:r>
            <a:r>
              <a:rPr sz="1800" spc="4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amely 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elengedhetetlen</a:t>
            </a:r>
            <a:r>
              <a:rPr sz="1800" u="heavy" spc="484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az</a:t>
            </a:r>
            <a:r>
              <a:rPr sz="1800" u="heavy" spc="48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önállóan</a:t>
            </a:r>
            <a:r>
              <a:rPr sz="1800" u="heavy" spc="48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megalkotott</a:t>
            </a:r>
            <a:r>
              <a:rPr sz="1800" u="heavy" spc="48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szoftvernek</a:t>
            </a:r>
            <a:r>
              <a:rPr sz="1800" u="heavy" spc="48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25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más</a:t>
            </a:r>
            <a:r>
              <a:rPr sz="18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szoftverekkel</a:t>
            </a:r>
            <a:r>
              <a:rPr sz="1800" u="heavy" spc="204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való</a:t>
            </a:r>
            <a:r>
              <a:rPr sz="1800" u="heavy" spc="2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együttes</a:t>
            </a:r>
            <a:r>
              <a:rPr sz="1800" u="heavy" spc="2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működtetéséhez</a:t>
            </a:r>
            <a:r>
              <a:rPr sz="1800" u="heavy" spc="2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szükséges</a:t>
            </a:r>
            <a:r>
              <a:rPr sz="1800" u="heavy" spc="2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információ</a:t>
            </a:r>
            <a:r>
              <a:rPr sz="1800" u="heavy" spc="2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megszerzése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érdekében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sz="18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feltéve,</a:t>
            </a:r>
            <a:r>
              <a:rPr sz="18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hogy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466014"/>
            <a:ext cx="83731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2270" algn="l"/>
                <a:tab pos="675640" algn="l"/>
                <a:tab pos="2163445" algn="l"/>
                <a:tab pos="3970020" algn="l"/>
                <a:tab pos="4263390" algn="l"/>
                <a:tab pos="5293995" algn="l"/>
                <a:tab pos="6616065" algn="l"/>
                <a:tab pos="7265670" algn="l"/>
                <a:tab pos="7559040" algn="l"/>
              </a:tabLst>
            </a:pPr>
            <a:r>
              <a:rPr sz="1800" i="1" spc="-25" dirty="0">
                <a:solidFill>
                  <a:schemeClr val="tx1"/>
                </a:solidFill>
                <a:latin typeface="Arial"/>
                <a:cs typeface="Arial"/>
              </a:rPr>
              <a:t>a)</a:t>
            </a:r>
            <a:r>
              <a:rPr sz="1800" i="1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spc="-50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felhasználási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cselekményeket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u="heavy" spc="-5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a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	</a:t>
            </a:r>
            <a:r>
              <a:rPr sz="1800" u="heavy" spc="-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jogszerű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	</a:t>
            </a:r>
            <a:r>
              <a:rPr sz="1800" u="heavy" spc="-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felhasználó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	</a:t>
            </a:r>
            <a:r>
              <a:rPr sz="1800" u="heavy" spc="-2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vagy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	</a:t>
            </a:r>
            <a:r>
              <a:rPr sz="1800" u="heavy" spc="-5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a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	</a:t>
            </a:r>
            <a:r>
              <a:rPr sz="1800" u="heavy" spc="-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szoftver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2533959"/>
            <a:ext cx="8343265" cy="10858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példányának</a:t>
            </a:r>
            <a:r>
              <a:rPr sz="1800" u="heavy" spc="-35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felhasználására</a:t>
            </a:r>
            <a:r>
              <a:rPr sz="1800" u="heavy" spc="-25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jogosult</a:t>
            </a:r>
            <a:r>
              <a:rPr sz="1800" u="heavy" spc="-2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más</a:t>
            </a:r>
            <a:r>
              <a:rPr sz="1800" u="heavy" spc="-25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személy,</a:t>
            </a:r>
            <a:r>
              <a:rPr sz="1800" u="heavy" spc="-2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vagy</a:t>
            </a:r>
            <a:r>
              <a:rPr sz="1800" u="heavy" spc="-25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az</a:t>
            </a:r>
            <a:r>
              <a:rPr sz="1800" u="heavy" spc="-2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ő</a:t>
            </a:r>
            <a:r>
              <a:rPr sz="1800" u="heavy" spc="-25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megbízottjuk</a:t>
            </a:r>
            <a:r>
              <a:rPr sz="1800" u="heavy" spc="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végzi;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15240">
              <a:lnSpc>
                <a:spcPct val="78700"/>
              </a:lnSpc>
              <a:spcBef>
                <a:spcPts val="1625"/>
              </a:spcBef>
              <a:tabLst>
                <a:tab pos="359410" algn="l"/>
                <a:tab pos="744220" algn="l"/>
                <a:tab pos="1751964" algn="l"/>
                <a:tab pos="3446145" algn="l"/>
                <a:tab pos="4669790" algn="l"/>
                <a:tab pos="5867400" algn="l"/>
                <a:tab pos="6254750" algn="l"/>
                <a:tab pos="6601459" algn="l"/>
                <a:tab pos="7571105" algn="l"/>
              </a:tabLst>
            </a:pPr>
            <a:r>
              <a:rPr sz="1800" i="1" spc="-25" dirty="0">
                <a:solidFill>
                  <a:schemeClr val="tx1"/>
                </a:solidFill>
                <a:latin typeface="Arial"/>
                <a:cs typeface="Arial"/>
              </a:rPr>
              <a:t>b)</a:t>
            </a:r>
            <a:r>
              <a:rPr sz="1800" i="1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spc="-25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együttes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működtetéshez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szükséges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információ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spc="-25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i="1" spc="-25" dirty="0">
                <a:solidFill>
                  <a:schemeClr val="tx1"/>
                </a:solidFill>
                <a:latin typeface="Arial"/>
                <a:cs typeface="Arial"/>
              </a:rPr>
              <a:t>a)</a:t>
            </a:r>
            <a:r>
              <a:rPr sz="1800" i="1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pontban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említett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személyek</a:t>
            </a:r>
            <a:r>
              <a:rPr sz="18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számára</a:t>
            </a:r>
            <a:r>
              <a:rPr sz="18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nem</a:t>
            </a:r>
            <a:r>
              <a:rPr sz="1800" u="heavy" spc="-2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vált</a:t>
            </a:r>
            <a:r>
              <a:rPr sz="1800" u="heavy" spc="-25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könnyen</a:t>
            </a:r>
            <a:r>
              <a:rPr sz="1800" u="heavy" spc="-2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hozzáférhetővé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;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3742364"/>
            <a:ext cx="8355965" cy="1101071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ct val="78700"/>
              </a:lnSpc>
              <a:spcBef>
                <a:spcPts val="560"/>
              </a:spcBef>
            </a:pPr>
            <a:r>
              <a:rPr sz="1800" i="1" dirty="0">
                <a:solidFill>
                  <a:schemeClr val="tx1"/>
                </a:solidFill>
                <a:latin typeface="Arial"/>
                <a:cs typeface="Arial"/>
              </a:rPr>
              <a:t>c)</a:t>
            </a:r>
            <a:r>
              <a:rPr sz="1800" i="1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180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felhasználási</a:t>
            </a:r>
            <a:r>
              <a:rPr sz="180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cselekmények</a:t>
            </a:r>
            <a:r>
              <a:rPr sz="180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szoftvernek</a:t>
            </a:r>
            <a:r>
              <a:rPr sz="1800" spc="2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azokra</a:t>
            </a:r>
            <a:r>
              <a:rPr sz="1800" u="heavy" spc="215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a</a:t>
            </a:r>
            <a:r>
              <a:rPr sz="1800" u="heavy" spc="22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részeire</a:t>
            </a:r>
            <a:r>
              <a:rPr sz="1800" u="heavy" spc="215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10" dirty="0">
                <a:solidFill>
                  <a:schemeClr val="tx1"/>
                </a:solidFill>
                <a:uFill>
                  <a:solidFill>
                    <a:srgbClr val="003300"/>
                  </a:solidFill>
                </a:uFill>
                <a:latin typeface="Arial"/>
                <a:cs typeface="Arial"/>
              </a:rPr>
              <a:t>korlátozódnak,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amelyek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együttes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működtetés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biztosításához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spc="-10" dirty="0" err="1">
                <a:solidFill>
                  <a:schemeClr val="tx1"/>
                </a:solidFill>
                <a:latin typeface="Arial"/>
                <a:cs typeface="Arial"/>
              </a:rPr>
              <a:t>szükségesek</a:t>
            </a:r>
            <a:r>
              <a:rPr sz="1800" spc="-10" dirty="0" smtClean="0">
                <a:solidFill>
                  <a:schemeClr val="tx1"/>
                </a:solidFill>
                <a:latin typeface="Arial"/>
                <a:cs typeface="Arial"/>
              </a:rPr>
              <a:t>.</a:t>
            </a:r>
            <a:endParaRPr lang="hu-HU" sz="1800" spc="-10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ct val="78700"/>
              </a:lnSpc>
              <a:spcBef>
                <a:spcPts val="560"/>
              </a:spcBef>
            </a:pPr>
            <a:endParaRPr lang="hu-HU" spc="-1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ct val="78700"/>
              </a:lnSpc>
              <a:spcBef>
                <a:spcPts val="560"/>
              </a:spcBef>
            </a:pPr>
            <a:r>
              <a:rPr lang="hu-HU" sz="1800" spc="-10" dirty="0" smtClean="0">
                <a:solidFill>
                  <a:schemeClr val="tx1"/>
                </a:solidFill>
                <a:latin typeface="Arial"/>
                <a:cs typeface="Arial"/>
              </a:rPr>
              <a:t>Minden más esetben a visszafejtés engedélyhez kötött!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...</a:t>
            </a:r>
            <a:r>
              <a:rPr spc="-70" dirty="0"/>
              <a:t> </a:t>
            </a:r>
            <a:r>
              <a:rPr dirty="0"/>
              <a:t>és</a:t>
            </a:r>
            <a:r>
              <a:rPr spc="-6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személyhez</a:t>
            </a:r>
            <a:r>
              <a:rPr spc="-70" dirty="0"/>
              <a:t> </a:t>
            </a:r>
            <a:r>
              <a:rPr dirty="0"/>
              <a:t>fűződő</a:t>
            </a:r>
            <a:r>
              <a:rPr spc="-65" dirty="0"/>
              <a:t> </a:t>
            </a:r>
            <a:r>
              <a:rPr spc="-10" dirty="0"/>
              <a:t>jogok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657350"/>
            <a:ext cx="5101601" cy="1892184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414"/>
              </a:spcBef>
              <a:buFont typeface="Wingdings" panose="05000000000000000000" pitchFamily="2" charset="2"/>
              <a:buChar char="Ø"/>
              <a:tabLst>
                <a:tab pos="316865" algn="l"/>
              </a:tabLst>
            </a:pPr>
            <a:r>
              <a:rPr sz="2800" dirty="0">
                <a:solidFill>
                  <a:schemeClr val="tx1"/>
                </a:solidFill>
                <a:latin typeface="Arial"/>
                <a:cs typeface="Arial"/>
              </a:rPr>
              <a:t>Névfeltüntetés</a:t>
            </a:r>
            <a:r>
              <a:rPr sz="28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chemeClr val="tx1"/>
                </a:solidFill>
                <a:latin typeface="Arial"/>
                <a:cs typeface="Arial"/>
              </a:rPr>
              <a:t>joga</a:t>
            </a:r>
            <a:endParaRPr sz="2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Font typeface="Wingdings" panose="05000000000000000000" pitchFamily="2" charset="2"/>
              <a:buChar char="Ø"/>
              <a:tabLst>
                <a:tab pos="316865" algn="l"/>
              </a:tabLst>
            </a:pPr>
            <a:r>
              <a:rPr sz="2800" dirty="0">
                <a:solidFill>
                  <a:schemeClr val="tx1"/>
                </a:solidFill>
                <a:latin typeface="Arial"/>
                <a:cs typeface="Arial"/>
              </a:rPr>
              <a:t>Nyilvánosságra</a:t>
            </a:r>
            <a:r>
              <a:rPr sz="28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Arial"/>
                <a:cs typeface="Arial"/>
              </a:rPr>
              <a:t>hozatal</a:t>
            </a:r>
            <a:endParaRPr sz="2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Font typeface="Wingdings" panose="05000000000000000000" pitchFamily="2" charset="2"/>
              <a:buChar char="Ø"/>
              <a:tabLst>
                <a:tab pos="316865" algn="l"/>
              </a:tabLst>
            </a:pPr>
            <a:r>
              <a:rPr sz="2800" dirty="0">
                <a:solidFill>
                  <a:schemeClr val="tx1"/>
                </a:solidFill>
                <a:latin typeface="Arial"/>
                <a:cs typeface="Arial"/>
              </a:rPr>
              <a:t>Visszavonás</a:t>
            </a:r>
            <a:r>
              <a:rPr sz="28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chemeClr val="tx1"/>
                </a:solidFill>
                <a:latin typeface="Arial"/>
                <a:cs typeface="Arial"/>
              </a:rPr>
              <a:t>joga</a:t>
            </a:r>
            <a:endParaRPr sz="2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315"/>
              </a:spcBef>
              <a:buFont typeface="Wingdings" panose="05000000000000000000" pitchFamily="2" charset="2"/>
              <a:buChar char="Ø"/>
              <a:tabLst>
                <a:tab pos="316865" algn="l"/>
              </a:tabLst>
            </a:pPr>
            <a:r>
              <a:rPr sz="2800" spc="-10" dirty="0">
                <a:solidFill>
                  <a:schemeClr val="tx1"/>
                </a:solidFill>
                <a:latin typeface="Arial"/>
                <a:cs typeface="Arial"/>
              </a:rPr>
              <a:t>Integritásvédelem</a:t>
            </a:r>
            <a:endParaRPr sz="28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smtClean="0"/>
              <a:t>M</a:t>
            </a:r>
            <a:r>
              <a:rPr lang="hu-HU" spc="-10" dirty="0" smtClean="0"/>
              <a:t>u</a:t>
            </a:r>
            <a:r>
              <a:rPr spc="-10" dirty="0" err="1" smtClean="0"/>
              <a:t>nkaviszonyban</a:t>
            </a:r>
            <a:r>
              <a:rPr spc="-145" dirty="0" smtClean="0"/>
              <a:t> </a:t>
            </a:r>
            <a:r>
              <a:rPr dirty="0"/>
              <a:t>alkotott</a:t>
            </a:r>
            <a:r>
              <a:rPr spc="-140" dirty="0"/>
              <a:t> </a:t>
            </a:r>
            <a:r>
              <a:rPr spc="-10" dirty="0"/>
              <a:t>szoftverek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384725" y="1184987"/>
            <a:ext cx="8371840" cy="3608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60705" algn="just">
              <a:lnSpc>
                <a:spcPct val="114599"/>
              </a:lnSpc>
              <a:spcBef>
                <a:spcPts val="100"/>
              </a:spcBef>
            </a:pPr>
            <a:r>
              <a:rPr sz="2000" dirty="0"/>
              <a:t>Eltérő</a:t>
            </a:r>
            <a:r>
              <a:rPr sz="2000" spc="-25" dirty="0"/>
              <a:t> </a:t>
            </a:r>
            <a:r>
              <a:rPr sz="2000" dirty="0"/>
              <a:t>megállapodás</a:t>
            </a:r>
            <a:r>
              <a:rPr sz="2000" spc="-20" dirty="0"/>
              <a:t> </a:t>
            </a:r>
            <a:r>
              <a:rPr sz="2000" dirty="0"/>
              <a:t>hiányában</a:t>
            </a:r>
            <a:r>
              <a:rPr sz="2000" spc="-25" dirty="0"/>
              <a:t> </a:t>
            </a:r>
            <a:r>
              <a:rPr sz="2000" u="sng" dirty="0"/>
              <a:t>a</a:t>
            </a:r>
            <a:r>
              <a:rPr sz="2000" u="sng" spc="-20" dirty="0"/>
              <a:t> </a:t>
            </a:r>
            <a:r>
              <a:rPr sz="2000" u="sng" dirty="0"/>
              <a:t>mű</a:t>
            </a:r>
            <a:r>
              <a:rPr sz="2000" u="sng" spc="-25" dirty="0"/>
              <a:t> </a:t>
            </a:r>
            <a:r>
              <a:rPr sz="2000" u="sng" dirty="0"/>
              <a:t>átadásával</a:t>
            </a:r>
            <a:r>
              <a:rPr sz="2000" u="sng" spc="-20" dirty="0"/>
              <a:t> </a:t>
            </a:r>
            <a:r>
              <a:rPr sz="2000" u="sng" dirty="0"/>
              <a:t>a</a:t>
            </a:r>
            <a:r>
              <a:rPr sz="2000" u="sng" spc="-25" dirty="0"/>
              <a:t> </a:t>
            </a:r>
            <a:r>
              <a:rPr sz="2000" u="sng" dirty="0" err="1" smtClean="0"/>
              <a:t>vagyoni</a:t>
            </a:r>
            <a:r>
              <a:rPr lang="hu-HU" sz="2000" u="sng" spc="-20" dirty="0"/>
              <a:t> </a:t>
            </a:r>
            <a:r>
              <a:rPr sz="2000" u="sng" dirty="0" err="1" smtClean="0"/>
              <a:t>jogokat</a:t>
            </a:r>
            <a:r>
              <a:rPr sz="2000" u="sng" spc="-25" dirty="0" smtClean="0"/>
              <a:t> </a:t>
            </a:r>
            <a:r>
              <a:rPr sz="2000" dirty="0"/>
              <a:t>a</a:t>
            </a:r>
            <a:r>
              <a:rPr sz="2000" spc="-20" dirty="0"/>
              <a:t> </a:t>
            </a:r>
            <a:r>
              <a:rPr sz="2000" spc="-10" dirty="0"/>
              <a:t>szerző </a:t>
            </a:r>
            <a:r>
              <a:rPr sz="2000" dirty="0"/>
              <a:t>jogutódjaként</a:t>
            </a:r>
            <a:r>
              <a:rPr sz="2000" spc="-40" dirty="0"/>
              <a:t> </a:t>
            </a:r>
            <a:r>
              <a:rPr sz="2000" u="sng" dirty="0"/>
              <a:t>a</a:t>
            </a:r>
            <a:r>
              <a:rPr sz="2000" u="sng" spc="-25" dirty="0"/>
              <a:t> </a:t>
            </a:r>
            <a:r>
              <a:rPr sz="2000" u="sng" dirty="0"/>
              <a:t>munkáltató</a:t>
            </a:r>
            <a:r>
              <a:rPr sz="2000" u="sng" spc="-25" dirty="0"/>
              <a:t> </a:t>
            </a:r>
            <a:r>
              <a:rPr sz="2000" u="sng" dirty="0"/>
              <a:t>szerzi</a:t>
            </a:r>
            <a:r>
              <a:rPr sz="2000" u="sng" spc="-25" dirty="0"/>
              <a:t> </a:t>
            </a:r>
            <a:r>
              <a:rPr sz="2000" u="sng" dirty="0"/>
              <a:t>meg</a:t>
            </a:r>
            <a:r>
              <a:rPr sz="2000" dirty="0"/>
              <a:t>,</a:t>
            </a:r>
            <a:r>
              <a:rPr sz="2000" spc="-25" dirty="0"/>
              <a:t> </a:t>
            </a:r>
            <a:r>
              <a:rPr sz="2000" dirty="0"/>
              <a:t>ha</a:t>
            </a:r>
            <a:r>
              <a:rPr sz="2000" spc="-25" dirty="0"/>
              <a:t> </a:t>
            </a:r>
            <a:r>
              <a:rPr sz="2000" dirty="0"/>
              <a:t>a</a:t>
            </a:r>
            <a:r>
              <a:rPr sz="2000" spc="-25" dirty="0"/>
              <a:t> </a:t>
            </a:r>
            <a:r>
              <a:rPr sz="2000" dirty="0"/>
              <a:t>mű</a:t>
            </a:r>
            <a:r>
              <a:rPr sz="2000" spc="-25" dirty="0"/>
              <a:t> </a:t>
            </a:r>
            <a:r>
              <a:rPr sz="2000" dirty="0"/>
              <a:t>elkészítése</a:t>
            </a:r>
            <a:r>
              <a:rPr sz="2000" spc="-25" dirty="0"/>
              <a:t> </a:t>
            </a:r>
            <a:r>
              <a:rPr sz="2000" dirty="0"/>
              <a:t>a</a:t>
            </a:r>
            <a:r>
              <a:rPr sz="2000" spc="-25" dirty="0"/>
              <a:t> </a:t>
            </a:r>
            <a:r>
              <a:rPr sz="2000" spc="-10" dirty="0"/>
              <a:t>szerző </a:t>
            </a:r>
            <a:r>
              <a:rPr sz="2000" dirty="0"/>
              <a:t>munkaviszonyból</a:t>
            </a:r>
            <a:r>
              <a:rPr sz="2000" spc="-50" dirty="0"/>
              <a:t> </a:t>
            </a:r>
            <a:r>
              <a:rPr sz="2000" dirty="0"/>
              <a:t>folyó</a:t>
            </a:r>
            <a:r>
              <a:rPr sz="2000" spc="-50" dirty="0"/>
              <a:t> </a:t>
            </a:r>
            <a:r>
              <a:rPr sz="2000" spc="-10" dirty="0"/>
              <a:t>kötelessége.</a:t>
            </a:r>
          </a:p>
          <a:p>
            <a:pPr marL="12700" marR="5080" algn="just">
              <a:lnSpc>
                <a:spcPct val="114599"/>
              </a:lnSpc>
              <a:spcBef>
                <a:spcPts val="1575"/>
              </a:spcBef>
            </a:pPr>
            <a:r>
              <a:rPr sz="2000" dirty="0"/>
              <a:t>A</a:t>
            </a:r>
            <a:r>
              <a:rPr sz="2000" spc="-125" dirty="0"/>
              <a:t> </a:t>
            </a:r>
            <a:r>
              <a:rPr sz="2000" dirty="0"/>
              <a:t>megszerzett</a:t>
            </a:r>
            <a:r>
              <a:rPr sz="2000" spc="-40" dirty="0"/>
              <a:t> </a:t>
            </a:r>
            <a:r>
              <a:rPr sz="2000" dirty="0"/>
              <a:t>vagyoni</a:t>
            </a:r>
            <a:r>
              <a:rPr sz="2000" spc="-35" dirty="0"/>
              <a:t> </a:t>
            </a:r>
            <a:r>
              <a:rPr sz="2000" dirty="0"/>
              <a:t>jogok</a:t>
            </a:r>
            <a:r>
              <a:rPr sz="2000" spc="-35" dirty="0"/>
              <a:t> </a:t>
            </a:r>
            <a:r>
              <a:rPr sz="2000" dirty="0"/>
              <a:t>a</a:t>
            </a:r>
            <a:r>
              <a:rPr sz="2000" spc="-35" dirty="0"/>
              <a:t> </a:t>
            </a:r>
            <a:r>
              <a:rPr sz="2000" dirty="0"/>
              <a:t>munkáltató</a:t>
            </a:r>
            <a:r>
              <a:rPr sz="2000" spc="-35" dirty="0"/>
              <a:t> </a:t>
            </a:r>
            <a:r>
              <a:rPr sz="2000" dirty="0"/>
              <a:t>személyében</a:t>
            </a:r>
            <a:r>
              <a:rPr sz="2000" spc="-35" dirty="0"/>
              <a:t> </a:t>
            </a:r>
            <a:r>
              <a:rPr sz="2000" dirty="0"/>
              <a:t>bekövetkezett</a:t>
            </a:r>
            <a:r>
              <a:rPr sz="2000" spc="-35" dirty="0"/>
              <a:t> </a:t>
            </a:r>
            <a:r>
              <a:rPr sz="2000" spc="-10" dirty="0"/>
              <a:t>jogutódlás </a:t>
            </a:r>
            <a:r>
              <a:rPr sz="2000" dirty="0"/>
              <a:t>esetén</a:t>
            </a:r>
            <a:r>
              <a:rPr sz="2000" spc="-35" dirty="0"/>
              <a:t> </a:t>
            </a:r>
            <a:r>
              <a:rPr sz="2000" dirty="0"/>
              <a:t>átszállnak</a:t>
            </a:r>
            <a:r>
              <a:rPr sz="2000" spc="-20" dirty="0"/>
              <a:t> </a:t>
            </a:r>
            <a:r>
              <a:rPr sz="2000" dirty="0"/>
              <a:t>a</a:t>
            </a:r>
            <a:r>
              <a:rPr sz="2000" spc="-25" dirty="0"/>
              <a:t> </a:t>
            </a:r>
            <a:r>
              <a:rPr sz="2000" dirty="0"/>
              <a:t>munkáltató</a:t>
            </a:r>
            <a:r>
              <a:rPr sz="2000" spc="-20" dirty="0"/>
              <a:t> </a:t>
            </a:r>
            <a:r>
              <a:rPr sz="2000" spc="-10" dirty="0"/>
              <a:t>jogutódjára.</a:t>
            </a:r>
          </a:p>
          <a:p>
            <a:pPr marL="12700" marR="181610" algn="just">
              <a:lnSpc>
                <a:spcPct val="114599"/>
              </a:lnSpc>
              <a:spcBef>
                <a:spcPts val="1570"/>
              </a:spcBef>
            </a:pPr>
            <a:r>
              <a:rPr sz="2000" dirty="0"/>
              <a:t>A</a:t>
            </a:r>
            <a:r>
              <a:rPr sz="2000" spc="-125" dirty="0"/>
              <a:t> </a:t>
            </a:r>
            <a:r>
              <a:rPr sz="2000" dirty="0"/>
              <a:t>szerzőt</a:t>
            </a:r>
            <a:r>
              <a:rPr sz="2000" spc="-25" dirty="0"/>
              <a:t> </a:t>
            </a:r>
            <a:r>
              <a:rPr sz="2000" dirty="0"/>
              <a:t>megfelelő</a:t>
            </a:r>
            <a:r>
              <a:rPr sz="2000" spc="-25" dirty="0"/>
              <a:t> </a:t>
            </a:r>
            <a:r>
              <a:rPr sz="2000" dirty="0"/>
              <a:t>díjazás</a:t>
            </a:r>
            <a:r>
              <a:rPr sz="2000" spc="-25" dirty="0"/>
              <a:t> </a:t>
            </a:r>
            <a:r>
              <a:rPr sz="2000" dirty="0"/>
              <a:t>illeti</a:t>
            </a:r>
            <a:r>
              <a:rPr sz="2000" spc="-25" dirty="0"/>
              <a:t> </a:t>
            </a:r>
            <a:r>
              <a:rPr sz="2000" dirty="0"/>
              <a:t>meg,</a:t>
            </a:r>
            <a:r>
              <a:rPr sz="2000" spc="-30" dirty="0"/>
              <a:t> </a:t>
            </a:r>
            <a:r>
              <a:rPr sz="2000" dirty="0"/>
              <a:t>ha</a:t>
            </a:r>
            <a:r>
              <a:rPr sz="2000" spc="-25" dirty="0"/>
              <a:t> </a:t>
            </a:r>
            <a:r>
              <a:rPr sz="2000" dirty="0"/>
              <a:t>a</a:t>
            </a:r>
            <a:r>
              <a:rPr sz="2000" spc="-25" dirty="0"/>
              <a:t> </a:t>
            </a:r>
            <a:r>
              <a:rPr sz="2000" dirty="0"/>
              <a:t>munkáltató</a:t>
            </a:r>
            <a:r>
              <a:rPr sz="2000" spc="-25" dirty="0"/>
              <a:t> </a:t>
            </a:r>
            <a:r>
              <a:rPr sz="2000" dirty="0"/>
              <a:t>a</a:t>
            </a:r>
            <a:r>
              <a:rPr sz="2000" spc="-25" dirty="0"/>
              <a:t> </a:t>
            </a:r>
            <a:r>
              <a:rPr sz="2000" dirty="0"/>
              <a:t>felhasználásra</a:t>
            </a:r>
            <a:r>
              <a:rPr sz="2000" spc="-25" dirty="0"/>
              <a:t> </a:t>
            </a:r>
            <a:r>
              <a:rPr sz="2000" spc="-10" dirty="0"/>
              <a:t>másnak </a:t>
            </a:r>
            <a:r>
              <a:rPr sz="2000" dirty="0"/>
              <a:t>engedélyt</a:t>
            </a:r>
            <a:r>
              <a:rPr sz="2000" spc="-35" dirty="0"/>
              <a:t> </a:t>
            </a:r>
            <a:r>
              <a:rPr sz="2000" dirty="0"/>
              <a:t>ad</a:t>
            </a:r>
            <a:r>
              <a:rPr sz="2000" spc="-20" dirty="0"/>
              <a:t> </a:t>
            </a:r>
            <a:r>
              <a:rPr sz="2000" dirty="0"/>
              <a:t>vagy</a:t>
            </a:r>
            <a:r>
              <a:rPr sz="2000" spc="-20" dirty="0"/>
              <a:t> </a:t>
            </a:r>
            <a:r>
              <a:rPr sz="2000" dirty="0"/>
              <a:t>a</a:t>
            </a:r>
            <a:r>
              <a:rPr sz="2000" spc="-20" dirty="0"/>
              <a:t> </a:t>
            </a:r>
            <a:r>
              <a:rPr sz="2000" dirty="0"/>
              <a:t>művel</a:t>
            </a:r>
            <a:r>
              <a:rPr sz="2000" spc="-25" dirty="0"/>
              <a:t> </a:t>
            </a:r>
            <a:r>
              <a:rPr sz="2000" dirty="0"/>
              <a:t>kapcsolatos</a:t>
            </a:r>
            <a:r>
              <a:rPr sz="2000" spc="-20" dirty="0"/>
              <a:t> </a:t>
            </a:r>
            <a:r>
              <a:rPr sz="2000" dirty="0"/>
              <a:t>vagyoni</a:t>
            </a:r>
            <a:r>
              <a:rPr sz="2000" spc="-20" dirty="0"/>
              <a:t> </a:t>
            </a:r>
            <a:r>
              <a:rPr sz="2000" dirty="0"/>
              <a:t>jogokat</a:t>
            </a:r>
            <a:r>
              <a:rPr sz="2000" spc="-20" dirty="0"/>
              <a:t> </a:t>
            </a:r>
            <a:r>
              <a:rPr sz="2000" dirty="0"/>
              <a:t>másra</a:t>
            </a:r>
            <a:r>
              <a:rPr sz="2000" spc="-20" dirty="0"/>
              <a:t> </a:t>
            </a:r>
            <a:r>
              <a:rPr sz="2000" spc="-10" dirty="0"/>
              <a:t>átruházza.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2142" y="1091184"/>
            <a:ext cx="7656195" cy="160845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976120" marR="5080" indent="-1964055">
              <a:lnSpc>
                <a:spcPts val="6220"/>
              </a:lnSpc>
              <a:spcBef>
                <a:spcPts val="225"/>
              </a:spcBef>
            </a:pPr>
            <a:r>
              <a:rPr sz="5200" spc="-10" dirty="0"/>
              <a:t>III.</a:t>
            </a:r>
            <a:r>
              <a:rPr sz="5200" spc="-305" dirty="0"/>
              <a:t> </a:t>
            </a:r>
            <a:r>
              <a:rPr sz="5200" dirty="0"/>
              <a:t>Az</a:t>
            </a:r>
            <a:r>
              <a:rPr sz="5200" spc="-20" dirty="0"/>
              <a:t> </a:t>
            </a:r>
            <a:r>
              <a:rPr sz="5200" dirty="0"/>
              <a:t>adatbázisok</a:t>
            </a:r>
            <a:r>
              <a:rPr sz="5200" spc="-15" dirty="0"/>
              <a:t> </a:t>
            </a:r>
            <a:r>
              <a:rPr sz="5200" spc="-10" dirty="0"/>
              <a:t>szerzői </a:t>
            </a:r>
            <a:r>
              <a:rPr sz="5200" dirty="0"/>
              <a:t>jogi</a:t>
            </a:r>
            <a:r>
              <a:rPr sz="5200" spc="-25" dirty="0"/>
              <a:t> </a:t>
            </a:r>
            <a:r>
              <a:rPr sz="5200" spc="-10" dirty="0"/>
              <a:t>védelme</a:t>
            </a:r>
            <a:endParaRPr sz="5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8465" y="1657119"/>
            <a:ext cx="6595745" cy="790575"/>
            <a:chOff x="1278465" y="1657119"/>
            <a:chExt cx="6595745" cy="790575"/>
          </a:xfrm>
        </p:grpSpPr>
        <p:sp>
          <p:nvSpPr>
            <p:cNvPr id="3" name="object 3"/>
            <p:cNvSpPr/>
            <p:nvPr/>
          </p:nvSpPr>
          <p:spPr>
            <a:xfrm>
              <a:off x="1278465" y="1766002"/>
              <a:ext cx="6595745" cy="0"/>
            </a:xfrm>
            <a:custGeom>
              <a:avLst/>
              <a:gdLst/>
              <a:ahLst/>
              <a:cxnLst/>
              <a:rect l="l" t="t" r="r" b="b"/>
              <a:pathLst>
                <a:path w="6595745">
                  <a:moveTo>
                    <a:pt x="0" y="0"/>
                  </a:moveTo>
                  <a:lnTo>
                    <a:pt x="6595499" y="0"/>
                  </a:lnTo>
                </a:path>
              </a:pathLst>
            </a:custGeom>
            <a:ln w="15874">
              <a:solidFill>
                <a:srgbClr val="E7D0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64363" y="1665057"/>
              <a:ext cx="5076190" cy="774700"/>
            </a:xfrm>
            <a:custGeom>
              <a:avLst/>
              <a:gdLst/>
              <a:ahLst/>
              <a:cxnLst/>
              <a:rect l="l" t="t" r="r" b="b"/>
              <a:pathLst>
                <a:path w="5076190" h="774700">
                  <a:moveTo>
                    <a:pt x="5075699" y="774449"/>
                  </a:moveTo>
                  <a:lnTo>
                    <a:pt x="387224" y="774449"/>
                  </a:lnTo>
                  <a:lnTo>
                    <a:pt x="0" y="387224"/>
                  </a:lnTo>
                  <a:lnTo>
                    <a:pt x="387224" y="0"/>
                  </a:lnTo>
                  <a:lnTo>
                    <a:pt x="5075699" y="0"/>
                  </a:lnTo>
                  <a:lnTo>
                    <a:pt x="5075699" y="77444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64363" y="1665057"/>
              <a:ext cx="5076190" cy="774700"/>
            </a:xfrm>
            <a:custGeom>
              <a:avLst/>
              <a:gdLst/>
              <a:ahLst/>
              <a:cxnLst/>
              <a:rect l="l" t="t" r="r" b="b"/>
              <a:pathLst>
                <a:path w="5076190" h="774700">
                  <a:moveTo>
                    <a:pt x="5075699" y="774449"/>
                  </a:moveTo>
                  <a:lnTo>
                    <a:pt x="387224" y="774449"/>
                  </a:lnTo>
                  <a:lnTo>
                    <a:pt x="0" y="387224"/>
                  </a:lnTo>
                  <a:lnTo>
                    <a:pt x="387224" y="0"/>
                  </a:lnTo>
                  <a:lnTo>
                    <a:pt x="5075699" y="0"/>
                  </a:lnTo>
                  <a:lnTo>
                    <a:pt x="5075699" y="774449"/>
                  </a:lnTo>
                  <a:close/>
                </a:path>
              </a:pathLst>
            </a:custGeom>
            <a:ln w="158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47949" y="1665102"/>
              <a:ext cx="1033144" cy="774700"/>
            </a:xfrm>
            <a:custGeom>
              <a:avLst/>
              <a:gdLst/>
              <a:ahLst/>
              <a:cxnLst/>
              <a:rect l="l" t="t" r="r" b="b"/>
              <a:pathLst>
                <a:path w="1033144" h="774700">
                  <a:moveTo>
                    <a:pt x="516299" y="774449"/>
                  </a:moveTo>
                  <a:lnTo>
                    <a:pt x="463511" y="772450"/>
                  </a:lnTo>
                  <a:lnTo>
                    <a:pt x="412247" y="766582"/>
                  </a:lnTo>
                  <a:lnTo>
                    <a:pt x="362768" y="757041"/>
                  </a:lnTo>
                  <a:lnTo>
                    <a:pt x="315332" y="744019"/>
                  </a:lnTo>
                  <a:lnTo>
                    <a:pt x="270200" y="727714"/>
                  </a:lnTo>
                  <a:lnTo>
                    <a:pt x="227631" y="708318"/>
                  </a:lnTo>
                  <a:lnTo>
                    <a:pt x="187885" y="686026"/>
                  </a:lnTo>
                  <a:lnTo>
                    <a:pt x="151220" y="661034"/>
                  </a:lnTo>
                  <a:lnTo>
                    <a:pt x="117897" y="633536"/>
                  </a:lnTo>
                  <a:lnTo>
                    <a:pt x="88175" y="603726"/>
                  </a:lnTo>
                  <a:lnTo>
                    <a:pt x="62314" y="571799"/>
                  </a:lnTo>
                  <a:lnTo>
                    <a:pt x="40573" y="537950"/>
                  </a:lnTo>
                  <a:lnTo>
                    <a:pt x="23211" y="502373"/>
                  </a:lnTo>
                  <a:lnTo>
                    <a:pt x="10489" y="465264"/>
                  </a:lnTo>
                  <a:lnTo>
                    <a:pt x="2665" y="426816"/>
                  </a:lnTo>
                  <a:lnTo>
                    <a:pt x="0" y="387224"/>
                  </a:lnTo>
                  <a:lnTo>
                    <a:pt x="2665" y="347633"/>
                  </a:lnTo>
                  <a:lnTo>
                    <a:pt x="10489" y="309185"/>
                  </a:lnTo>
                  <a:lnTo>
                    <a:pt x="23211" y="272076"/>
                  </a:lnTo>
                  <a:lnTo>
                    <a:pt x="40573" y="236499"/>
                  </a:lnTo>
                  <a:lnTo>
                    <a:pt x="62314" y="202650"/>
                  </a:lnTo>
                  <a:lnTo>
                    <a:pt x="88175" y="170723"/>
                  </a:lnTo>
                  <a:lnTo>
                    <a:pt x="117897" y="140913"/>
                  </a:lnTo>
                  <a:lnTo>
                    <a:pt x="151220" y="113415"/>
                  </a:lnTo>
                  <a:lnTo>
                    <a:pt x="187885" y="88423"/>
                  </a:lnTo>
                  <a:lnTo>
                    <a:pt x="227631" y="66131"/>
                  </a:lnTo>
                  <a:lnTo>
                    <a:pt x="270200" y="46735"/>
                  </a:lnTo>
                  <a:lnTo>
                    <a:pt x="315332" y="30430"/>
                  </a:lnTo>
                  <a:lnTo>
                    <a:pt x="362768" y="17408"/>
                  </a:lnTo>
                  <a:lnTo>
                    <a:pt x="412247" y="7867"/>
                  </a:lnTo>
                  <a:lnTo>
                    <a:pt x="463511" y="1999"/>
                  </a:lnTo>
                  <a:lnTo>
                    <a:pt x="516299" y="0"/>
                  </a:lnTo>
                  <a:lnTo>
                    <a:pt x="569088" y="1999"/>
                  </a:lnTo>
                  <a:lnTo>
                    <a:pt x="620352" y="7867"/>
                  </a:lnTo>
                  <a:lnTo>
                    <a:pt x="669831" y="17408"/>
                  </a:lnTo>
                  <a:lnTo>
                    <a:pt x="717267" y="30430"/>
                  </a:lnTo>
                  <a:lnTo>
                    <a:pt x="762399" y="46735"/>
                  </a:lnTo>
                  <a:lnTo>
                    <a:pt x="804968" y="66131"/>
                  </a:lnTo>
                  <a:lnTo>
                    <a:pt x="844714" y="88423"/>
                  </a:lnTo>
                  <a:lnTo>
                    <a:pt x="881379" y="113415"/>
                  </a:lnTo>
                  <a:lnTo>
                    <a:pt x="914702" y="140913"/>
                  </a:lnTo>
                  <a:lnTo>
                    <a:pt x="944424" y="170723"/>
                  </a:lnTo>
                  <a:lnTo>
                    <a:pt x="970285" y="202650"/>
                  </a:lnTo>
                  <a:lnTo>
                    <a:pt x="992026" y="236499"/>
                  </a:lnTo>
                  <a:lnTo>
                    <a:pt x="1009388" y="272076"/>
                  </a:lnTo>
                  <a:lnTo>
                    <a:pt x="1022110" y="309185"/>
                  </a:lnTo>
                  <a:lnTo>
                    <a:pt x="1029934" y="347633"/>
                  </a:lnTo>
                  <a:lnTo>
                    <a:pt x="1032599" y="387224"/>
                  </a:lnTo>
                  <a:lnTo>
                    <a:pt x="1029934" y="426816"/>
                  </a:lnTo>
                  <a:lnTo>
                    <a:pt x="1022110" y="465264"/>
                  </a:lnTo>
                  <a:lnTo>
                    <a:pt x="1009388" y="502373"/>
                  </a:lnTo>
                  <a:lnTo>
                    <a:pt x="992026" y="537950"/>
                  </a:lnTo>
                  <a:lnTo>
                    <a:pt x="970285" y="571799"/>
                  </a:lnTo>
                  <a:lnTo>
                    <a:pt x="944424" y="603726"/>
                  </a:lnTo>
                  <a:lnTo>
                    <a:pt x="914702" y="633536"/>
                  </a:lnTo>
                  <a:lnTo>
                    <a:pt x="881379" y="661034"/>
                  </a:lnTo>
                  <a:lnTo>
                    <a:pt x="844714" y="686026"/>
                  </a:lnTo>
                  <a:lnTo>
                    <a:pt x="804968" y="708318"/>
                  </a:lnTo>
                  <a:lnTo>
                    <a:pt x="762399" y="727714"/>
                  </a:lnTo>
                  <a:lnTo>
                    <a:pt x="717267" y="744019"/>
                  </a:lnTo>
                  <a:lnTo>
                    <a:pt x="669831" y="757041"/>
                  </a:lnTo>
                  <a:lnTo>
                    <a:pt x="620352" y="766582"/>
                  </a:lnTo>
                  <a:lnTo>
                    <a:pt x="569088" y="772450"/>
                  </a:lnTo>
                  <a:lnTo>
                    <a:pt x="516299" y="774449"/>
                  </a:lnTo>
                  <a:close/>
                </a:path>
              </a:pathLst>
            </a:custGeom>
            <a:solidFill>
              <a:srgbClr val="EDDD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47949" y="1665102"/>
              <a:ext cx="1033144" cy="774700"/>
            </a:xfrm>
            <a:custGeom>
              <a:avLst/>
              <a:gdLst/>
              <a:ahLst/>
              <a:cxnLst/>
              <a:rect l="l" t="t" r="r" b="b"/>
              <a:pathLst>
                <a:path w="1033144" h="774700">
                  <a:moveTo>
                    <a:pt x="0" y="387224"/>
                  </a:moveTo>
                  <a:lnTo>
                    <a:pt x="2665" y="347633"/>
                  </a:lnTo>
                  <a:lnTo>
                    <a:pt x="10489" y="309185"/>
                  </a:lnTo>
                  <a:lnTo>
                    <a:pt x="23211" y="272076"/>
                  </a:lnTo>
                  <a:lnTo>
                    <a:pt x="40573" y="236499"/>
                  </a:lnTo>
                  <a:lnTo>
                    <a:pt x="62314" y="202650"/>
                  </a:lnTo>
                  <a:lnTo>
                    <a:pt x="88175" y="170723"/>
                  </a:lnTo>
                  <a:lnTo>
                    <a:pt x="117897" y="140913"/>
                  </a:lnTo>
                  <a:lnTo>
                    <a:pt x="151220" y="113415"/>
                  </a:lnTo>
                  <a:lnTo>
                    <a:pt x="187885" y="88423"/>
                  </a:lnTo>
                  <a:lnTo>
                    <a:pt x="227631" y="66131"/>
                  </a:lnTo>
                  <a:lnTo>
                    <a:pt x="270200" y="46735"/>
                  </a:lnTo>
                  <a:lnTo>
                    <a:pt x="315332" y="30430"/>
                  </a:lnTo>
                  <a:lnTo>
                    <a:pt x="362768" y="17408"/>
                  </a:lnTo>
                  <a:lnTo>
                    <a:pt x="412247" y="7867"/>
                  </a:lnTo>
                  <a:lnTo>
                    <a:pt x="463511" y="1999"/>
                  </a:lnTo>
                  <a:lnTo>
                    <a:pt x="516299" y="0"/>
                  </a:lnTo>
                  <a:lnTo>
                    <a:pt x="569088" y="1999"/>
                  </a:lnTo>
                  <a:lnTo>
                    <a:pt x="620352" y="7867"/>
                  </a:lnTo>
                  <a:lnTo>
                    <a:pt x="669831" y="17408"/>
                  </a:lnTo>
                  <a:lnTo>
                    <a:pt x="717267" y="30430"/>
                  </a:lnTo>
                  <a:lnTo>
                    <a:pt x="762399" y="46735"/>
                  </a:lnTo>
                  <a:lnTo>
                    <a:pt x="804968" y="66131"/>
                  </a:lnTo>
                  <a:lnTo>
                    <a:pt x="844714" y="88423"/>
                  </a:lnTo>
                  <a:lnTo>
                    <a:pt x="881379" y="113415"/>
                  </a:lnTo>
                  <a:lnTo>
                    <a:pt x="914702" y="140913"/>
                  </a:lnTo>
                  <a:lnTo>
                    <a:pt x="944424" y="170723"/>
                  </a:lnTo>
                  <a:lnTo>
                    <a:pt x="970285" y="202650"/>
                  </a:lnTo>
                  <a:lnTo>
                    <a:pt x="992026" y="236499"/>
                  </a:lnTo>
                  <a:lnTo>
                    <a:pt x="1009388" y="272076"/>
                  </a:lnTo>
                  <a:lnTo>
                    <a:pt x="1022110" y="309185"/>
                  </a:lnTo>
                  <a:lnTo>
                    <a:pt x="1029934" y="347633"/>
                  </a:lnTo>
                  <a:lnTo>
                    <a:pt x="1032599" y="387224"/>
                  </a:lnTo>
                  <a:lnTo>
                    <a:pt x="1029934" y="426816"/>
                  </a:lnTo>
                  <a:lnTo>
                    <a:pt x="1022110" y="465264"/>
                  </a:lnTo>
                  <a:lnTo>
                    <a:pt x="1009388" y="502373"/>
                  </a:lnTo>
                  <a:lnTo>
                    <a:pt x="992026" y="537950"/>
                  </a:lnTo>
                  <a:lnTo>
                    <a:pt x="970285" y="571799"/>
                  </a:lnTo>
                  <a:lnTo>
                    <a:pt x="944424" y="603726"/>
                  </a:lnTo>
                  <a:lnTo>
                    <a:pt x="914702" y="633536"/>
                  </a:lnTo>
                  <a:lnTo>
                    <a:pt x="881379" y="661034"/>
                  </a:lnTo>
                  <a:lnTo>
                    <a:pt x="844714" y="686026"/>
                  </a:lnTo>
                  <a:lnTo>
                    <a:pt x="804968" y="708318"/>
                  </a:lnTo>
                  <a:lnTo>
                    <a:pt x="762399" y="727714"/>
                  </a:lnTo>
                  <a:lnTo>
                    <a:pt x="717267" y="744019"/>
                  </a:lnTo>
                  <a:lnTo>
                    <a:pt x="669831" y="757041"/>
                  </a:lnTo>
                  <a:lnTo>
                    <a:pt x="620352" y="766582"/>
                  </a:lnTo>
                  <a:lnTo>
                    <a:pt x="569088" y="772450"/>
                  </a:lnTo>
                  <a:lnTo>
                    <a:pt x="516299" y="774449"/>
                  </a:lnTo>
                  <a:lnTo>
                    <a:pt x="463511" y="772450"/>
                  </a:lnTo>
                  <a:lnTo>
                    <a:pt x="412247" y="766582"/>
                  </a:lnTo>
                  <a:lnTo>
                    <a:pt x="362768" y="757041"/>
                  </a:lnTo>
                  <a:lnTo>
                    <a:pt x="315332" y="744019"/>
                  </a:lnTo>
                  <a:lnTo>
                    <a:pt x="270200" y="727714"/>
                  </a:lnTo>
                  <a:lnTo>
                    <a:pt x="227631" y="708318"/>
                  </a:lnTo>
                  <a:lnTo>
                    <a:pt x="187885" y="686026"/>
                  </a:lnTo>
                  <a:lnTo>
                    <a:pt x="151220" y="661034"/>
                  </a:lnTo>
                  <a:lnTo>
                    <a:pt x="117897" y="633536"/>
                  </a:lnTo>
                  <a:lnTo>
                    <a:pt x="88175" y="603726"/>
                  </a:lnTo>
                  <a:lnTo>
                    <a:pt x="62314" y="571799"/>
                  </a:lnTo>
                  <a:lnTo>
                    <a:pt x="40573" y="537950"/>
                  </a:lnTo>
                  <a:lnTo>
                    <a:pt x="23211" y="502373"/>
                  </a:lnTo>
                  <a:lnTo>
                    <a:pt x="10489" y="465264"/>
                  </a:lnTo>
                  <a:lnTo>
                    <a:pt x="2665" y="426816"/>
                  </a:lnTo>
                  <a:lnTo>
                    <a:pt x="0" y="387224"/>
                  </a:lnTo>
                  <a:close/>
                </a:path>
              </a:pathLst>
            </a:custGeom>
            <a:ln w="158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42311" y="573779"/>
            <a:ext cx="5664835" cy="793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0" marR="5080" indent="-1816735">
              <a:lnSpc>
                <a:spcPct val="100800"/>
              </a:lnSpc>
              <a:spcBef>
                <a:spcPts val="95"/>
              </a:spcBef>
            </a:pPr>
            <a:r>
              <a:rPr sz="2500" b="1" dirty="0">
                <a:latin typeface="Arial"/>
                <a:cs typeface="Arial"/>
              </a:rPr>
              <a:t>A</a:t>
            </a:r>
            <a:r>
              <a:rPr sz="2500" b="1" spc="-11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jog</a:t>
            </a:r>
            <a:r>
              <a:rPr sz="2500" b="1" spc="-2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mai</a:t>
            </a:r>
            <a:r>
              <a:rPr sz="2500" b="1" spc="-15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állapota</a:t>
            </a:r>
            <a:r>
              <a:rPr sz="2500" b="1" spc="-2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historikus</a:t>
            </a:r>
            <a:r>
              <a:rPr sz="2500" b="1" spc="-15" dirty="0">
                <a:latin typeface="Arial"/>
                <a:cs typeface="Arial"/>
              </a:rPr>
              <a:t> </a:t>
            </a:r>
            <a:r>
              <a:rPr sz="2500" b="1" spc="-10" dirty="0">
                <a:latin typeface="Arial"/>
                <a:cs typeface="Arial"/>
              </a:rPr>
              <a:t>fejlődés eredménye…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40012" y="2662735"/>
            <a:ext cx="5600065" cy="790575"/>
            <a:chOff x="1840012" y="2662735"/>
            <a:chExt cx="5600065" cy="790575"/>
          </a:xfrm>
        </p:grpSpPr>
        <p:sp>
          <p:nvSpPr>
            <p:cNvPr id="10" name="object 10"/>
            <p:cNvSpPr/>
            <p:nvPr/>
          </p:nvSpPr>
          <p:spPr>
            <a:xfrm>
              <a:off x="2364364" y="2670627"/>
              <a:ext cx="5076190" cy="774700"/>
            </a:xfrm>
            <a:custGeom>
              <a:avLst/>
              <a:gdLst/>
              <a:ahLst/>
              <a:cxnLst/>
              <a:rect l="l" t="t" r="r" b="b"/>
              <a:pathLst>
                <a:path w="5076190" h="774700">
                  <a:moveTo>
                    <a:pt x="5075699" y="774449"/>
                  </a:moveTo>
                  <a:lnTo>
                    <a:pt x="387224" y="774449"/>
                  </a:lnTo>
                  <a:lnTo>
                    <a:pt x="0" y="387224"/>
                  </a:lnTo>
                  <a:lnTo>
                    <a:pt x="387224" y="0"/>
                  </a:lnTo>
                  <a:lnTo>
                    <a:pt x="5075699" y="0"/>
                  </a:lnTo>
                  <a:lnTo>
                    <a:pt x="5075699" y="77444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47949" y="2670672"/>
              <a:ext cx="1033144" cy="774700"/>
            </a:xfrm>
            <a:custGeom>
              <a:avLst/>
              <a:gdLst/>
              <a:ahLst/>
              <a:cxnLst/>
              <a:rect l="l" t="t" r="r" b="b"/>
              <a:pathLst>
                <a:path w="1033144" h="774700">
                  <a:moveTo>
                    <a:pt x="516299" y="774449"/>
                  </a:moveTo>
                  <a:lnTo>
                    <a:pt x="463511" y="772450"/>
                  </a:lnTo>
                  <a:lnTo>
                    <a:pt x="412247" y="766582"/>
                  </a:lnTo>
                  <a:lnTo>
                    <a:pt x="362768" y="757040"/>
                  </a:lnTo>
                  <a:lnTo>
                    <a:pt x="315332" y="744019"/>
                  </a:lnTo>
                  <a:lnTo>
                    <a:pt x="270200" y="727713"/>
                  </a:lnTo>
                  <a:lnTo>
                    <a:pt x="227631" y="708317"/>
                  </a:lnTo>
                  <a:lnTo>
                    <a:pt x="187885" y="686026"/>
                  </a:lnTo>
                  <a:lnTo>
                    <a:pt x="151220" y="661034"/>
                  </a:lnTo>
                  <a:lnTo>
                    <a:pt x="117897" y="633535"/>
                  </a:lnTo>
                  <a:lnTo>
                    <a:pt x="88175" y="603726"/>
                  </a:lnTo>
                  <a:lnTo>
                    <a:pt x="62314" y="571799"/>
                  </a:lnTo>
                  <a:lnTo>
                    <a:pt x="40573" y="537950"/>
                  </a:lnTo>
                  <a:lnTo>
                    <a:pt x="23211" y="502373"/>
                  </a:lnTo>
                  <a:lnTo>
                    <a:pt x="10489" y="465264"/>
                  </a:lnTo>
                  <a:lnTo>
                    <a:pt x="2665" y="426816"/>
                  </a:lnTo>
                  <a:lnTo>
                    <a:pt x="0" y="387224"/>
                  </a:lnTo>
                  <a:lnTo>
                    <a:pt x="2665" y="347633"/>
                  </a:lnTo>
                  <a:lnTo>
                    <a:pt x="10489" y="309185"/>
                  </a:lnTo>
                  <a:lnTo>
                    <a:pt x="23211" y="272076"/>
                  </a:lnTo>
                  <a:lnTo>
                    <a:pt x="40573" y="236499"/>
                  </a:lnTo>
                  <a:lnTo>
                    <a:pt x="62314" y="202650"/>
                  </a:lnTo>
                  <a:lnTo>
                    <a:pt x="88175" y="170723"/>
                  </a:lnTo>
                  <a:lnTo>
                    <a:pt x="117897" y="140913"/>
                  </a:lnTo>
                  <a:lnTo>
                    <a:pt x="151220" y="113415"/>
                  </a:lnTo>
                  <a:lnTo>
                    <a:pt x="187885" y="88423"/>
                  </a:lnTo>
                  <a:lnTo>
                    <a:pt x="227631" y="66131"/>
                  </a:lnTo>
                  <a:lnTo>
                    <a:pt x="270200" y="46735"/>
                  </a:lnTo>
                  <a:lnTo>
                    <a:pt x="315332" y="30430"/>
                  </a:lnTo>
                  <a:lnTo>
                    <a:pt x="362768" y="17408"/>
                  </a:lnTo>
                  <a:lnTo>
                    <a:pt x="412247" y="7867"/>
                  </a:lnTo>
                  <a:lnTo>
                    <a:pt x="463511" y="1999"/>
                  </a:lnTo>
                  <a:lnTo>
                    <a:pt x="516299" y="0"/>
                  </a:lnTo>
                  <a:lnTo>
                    <a:pt x="569088" y="1999"/>
                  </a:lnTo>
                  <a:lnTo>
                    <a:pt x="620352" y="7867"/>
                  </a:lnTo>
                  <a:lnTo>
                    <a:pt x="669831" y="17408"/>
                  </a:lnTo>
                  <a:lnTo>
                    <a:pt x="717267" y="30430"/>
                  </a:lnTo>
                  <a:lnTo>
                    <a:pt x="762399" y="46735"/>
                  </a:lnTo>
                  <a:lnTo>
                    <a:pt x="804968" y="66131"/>
                  </a:lnTo>
                  <a:lnTo>
                    <a:pt x="844714" y="88423"/>
                  </a:lnTo>
                  <a:lnTo>
                    <a:pt x="881379" y="113415"/>
                  </a:lnTo>
                  <a:lnTo>
                    <a:pt x="914702" y="140913"/>
                  </a:lnTo>
                  <a:lnTo>
                    <a:pt x="944424" y="170723"/>
                  </a:lnTo>
                  <a:lnTo>
                    <a:pt x="970285" y="202650"/>
                  </a:lnTo>
                  <a:lnTo>
                    <a:pt x="992026" y="236499"/>
                  </a:lnTo>
                  <a:lnTo>
                    <a:pt x="1009388" y="272076"/>
                  </a:lnTo>
                  <a:lnTo>
                    <a:pt x="1022110" y="309185"/>
                  </a:lnTo>
                  <a:lnTo>
                    <a:pt x="1029934" y="347633"/>
                  </a:lnTo>
                  <a:lnTo>
                    <a:pt x="1032599" y="387224"/>
                  </a:lnTo>
                  <a:lnTo>
                    <a:pt x="1029934" y="426816"/>
                  </a:lnTo>
                  <a:lnTo>
                    <a:pt x="1022110" y="465264"/>
                  </a:lnTo>
                  <a:lnTo>
                    <a:pt x="1009388" y="502373"/>
                  </a:lnTo>
                  <a:lnTo>
                    <a:pt x="992026" y="537950"/>
                  </a:lnTo>
                  <a:lnTo>
                    <a:pt x="970285" y="571799"/>
                  </a:lnTo>
                  <a:lnTo>
                    <a:pt x="944424" y="603726"/>
                  </a:lnTo>
                  <a:lnTo>
                    <a:pt x="914702" y="633535"/>
                  </a:lnTo>
                  <a:lnTo>
                    <a:pt x="881379" y="661034"/>
                  </a:lnTo>
                  <a:lnTo>
                    <a:pt x="844714" y="686026"/>
                  </a:lnTo>
                  <a:lnTo>
                    <a:pt x="804968" y="708317"/>
                  </a:lnTo>
                  <a:lnTo>
                    <a:pt x="762399" y="727713"/>
                  </a:lnTo>
                  <a:lnTo>
                    <a:pt x="717267" y="744019"/>
                  </a:lnTo>
                  <a:lnTo>
                    <a:pt x="669831" y="757040"/>
                  </a:lnTo>
                  <a:lnTo>
                    <a:pt x="620352" y="766582"/>
                  </a:lnTo>
                  <a:lnTo>
                    <a:pt x="569088" y="772450"/>
                  </a:lnTo>
                  <a:lnTo>
                    <a:pt x="516299" y="774449"/>
                  </a:lnTo>
                  <a:close/>
                </a:path>
              </a:pathLst>
            </a:custGeom>
            <a:solidFill>
              <a:srgbClr val="EDDD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47949" y="2670672"/>
              <a:ext cx="1033144" cy="774700"/>
            </a:xfrm>
            <a:custGeom>
              <a:avLst/>
              <a:gdLst/>
              <a:ahLst/>
              <a:cxnLst/>
              <a:rect l="l" t="t" r="r" b="b"/>
              <a:pathLst>
                <a:path w="1033144" h="774700">
                  <a:moveTo>
                    <a:pt x="0" y="387224"/>
                  </a:moveTo>
                  <a:lnTo>
                    <a:pt x="2665" y="347633"/>
                  </a:lnTo>
                  <a:lnTo>
                    <a:pt x="10489" y="309185"/>
                  </a:lnTo>
                  <a:lnTo>
                    <a:pt x="23211" y="272076"/>
                  </a:lnTo>
                  <a:lnTo>
                    <a:pt x="40573" y="236499"/>
                  </a:lnTo>
                  <a:lnTo>
                    <a:pt x="62314" y="202650"/>
                  </a:lnTo>
                  <a:lnTo>
                    <a:pt x="88175" y="170723"/>
                  </a:lnTo>
                  <a:lnTo>
                    <a:pt x="117897" y="140913"/>
                  </a:lnTo>
                  <a:lnTo>
                    <a:pt x="151220" y="113415"/>
                  </a:lnTo>
                  <a:lnTo>
                    <a:pt x="187885" y="88423"/>
                  </a:lnTo>
                  <a:lnTo>
                    <a:pt x="227631" y="66131"/>
                  </a:lnTo>
                  <a:lnTo>
                    <a:pt x="270200" y="46735"/>
                  </a:lnTo>
                  <a:lnTo>
                    <a:pt x="315332" y="30430"/>
                  </a:lnTo>
                  <a:lnTo>
                    <a:pt x="362768" y="17408"/>
                  </a:lnTo>
                  <a:lnTo>
                    <a:pt x="412247" y="7867"/>
                  </a:lnTo>
                  <a:lnTo>
                    <a:pt x="463511" y="1999"/>
                  </a:lnTo>
                  <a:lnTo>
                    <a:pt x="516299" y="0"/>
                  </a:lnTo>
                  <a:lnTo>
                    <a:pt x="569088" y="1999"/>
                  </a:lnTo>
                  <a:lnTo>
                    <a:pt x="620352" y="7867"/>
                  </a:lnTo>
                  <a:lnTo>
                    <a:pt x="669831" y="17408"/>
                  </a:lnTo>
                  <a:lnTo>
                    <a:pt x="717267" y="30430"/>
                  </a:lnTo>
                  <a:lnTo>
                    <a:pt x="762399" y="46735"/>
                  </a:lnTo>
                  <a:lnTo>
                    <a:pt x="804968" y="66131"/>
                  </a:lnTo>
                  <a:lnTo>
                    <a:pt x="844714" y="88423"/>
                  </a:lnTo>
                  <a:lnTo>
                    <a:pt x="881379" y="113415"/>
                  </a:lnTo>
                  <a:lnTo>
                    <a:pt x="914702" y="140913"/>
                  </a:lnTo>
                  <a:lnTo>
                    <a:pt x="944424" y="170723"/>
                  </a:lnTo>
                  <a:lnTo>
                    <a:pt x="970285" y="202650"/>
                  </a:lnTo>
                  <a:lnTo>
                    <a:pt x="992026" y="236499"/>
                  </a:lnTo>
                  <a:lnTo>
                    <a:pt x="1009388" y="272076"/>
                  </a:lnTo>
                  <a:lnTo>
                    <a:pt x="1022110" y="309185"/>
                  </a:lnTo>
                  <a:lnTo>
                    <a:pt x="1029934" y="347633"/>
                  </a:lnTo>
                  <a:lnTo>
                    <a:pt x="1032599" y="387224"/>
                  </a:lnTo>
                  <a:lnTo>
                    <a:pt x="1029934" y="426816"/>
                  </a:lnTo>
                  <a:lnTo>
                    <a:pt x="1022110" y="465264"/>
                  </a:lnTo>
                  <a:lnTo>
                    <a:pt x="1009388" y="502373"/>
                  </a:lnTo>
                  <a:lnTo>
                    <a:pt x="992026" y="537950"/>
                  </a:lnTo>
                  <a:lnTo>
                    <a:pt x="970285" y="571799"/>
                  </a:lnTo>
                  <a:lnTo>
                    <a:pt x="944424" y="603726"/>
                  </a:lnTo>
                  <a:lnTo>
                    <a:pt x="914702" y="633535"/>
                  </a:lnTo>
                  <a:lnTo>
                    <a:pt x="881379" y="661034"/>
                  </a:lnTo>
                  <a:lnTo>
                    <a:pt x="844714" y="686026"/>
                  </a:lnTo>
                  <a:lnTo>
                    <a:pt x="804968" y="708317"/>
                  </a:lnTo>
                  <a:lnTo>
                    <a:pt x="762399" y="727713"/>
                  </a:lnTo>
                  <a:lnTo>
                    <a:pt x="717267" y="744019"/>
                  </a:lnTo>
                  <a:lnTo>
                    <a:pt x="669831" y="757040"/>
                  </a:lnTo>
                  <a:lnTo>
                    <a:pt x="620352" y="766582"/>
                  </a:lnTo>
                  <a:lnTo>
                    <a:pt x="569088" y="772450"/>
                  </a:lnTo>
                  <a:lnTo>
                    <a:pt x="516299" y="774449"/>
                  </a:lnTo>
                  <a:lnTo>
                    <a:pt x="463511" y="772450"/>
                  </a:lnTo>
                  <a:lnTo>
                    <a:pt x="412247" y="766582"/>
                  </a:lnTo>
                  <a:lnTo>
                    <a:pt x="362768" y="757040"/>
                  </a:lnTo>
                  <a:lnTo>
                    <a:pt x="315332" y="744019"/>
                  </a:lnTo>
                  <a:lnTo>
                    <a:pt x="270200" y="727713"/>
                  </a:lnTo>
                  <a:lnTo>
                    <a:pt x="227631" y="708317"/>
                  </a:lnTo>
                  <a:lnTo>
                    <a:pt x="187885" y="686026"/>
                  </a:lnTo>
                  <a:lnTo>
                    <a:pt x="151220" y="661034"/>
                  </a:lnTo>
                  <a:lnTo>
                    <a:pt x="117897" y="633535"/>
                  </a:lnTo>
                  <a:lnTo>
                    <a:pt x="88175" y="603726"/>
                  </a:lnTo>
                  <a:lnTo>
                    <a:pt x="62314" y="571799"/>
                  </a:lnTo>
                  <a:lnTo>
                    <a:pt x="40573" y="537950"/>
                  </a:lnTo>
                  <a:lnTo>
                    <a:pt x="23211" y="502373"/>
                  </a:lnTo>
                  <a:lnTo>
                    <a:pt x="10489" y="465264"/>
                  </a:lnTo>
                  <a:lnTo>
                    <a:pt x="2665" y="426816"/>
                  </a:lnTo>
                  <a:lnTo>
                    <a:pt x="0" y="387224"/>
                  </a:lnTo>
                  <a:close/>
                </a:path>
              </a:pathLst>
            </a:custGeom>
            <a:ln w="158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2364364" y="3676199"/>
            <a:ext cx="5076190" cy="774700"/>
          </a:xfrm>
          <a:custGeom>
            <a:avLst/>
            <a:gdLst/>
            <a:ahLst/>
            <a:cxnLst/>
            <a:rect l="l" t="t" r="r" b="b"/>
            <a:pathLst>
              <a:path w="5076190" h="774700">
                <a:moveTo>
                  <a:pt x="5075699" y="774449"/>
                </a:moveTo>
                <a:lnTo>
                  <a:pt x="387224" y="774449"/>
                </a:lnTo>
                <a:lnTo>
                  <a:pt x="0" y="387224"/>
                </a:lnTo>
                <a:lnTo>
                  <a:pt x="387224" y="0"/>
                </a:lnTo>
                <a:lnTo>
                  <a:pt x="5075699" y="0"/>
                </a:lnTo>
                <a:lnTo>
                  <a:pt x="5075699" y="774449"/>
                </a:lnTo>
                <a:close/>
              </a:path>
            </a:pathLst>
          </a:custGeom>
          <a:solidFill>
            <a:srgbClr val="FFA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95600" y="1593603"/>
            <a:ext cx="4571999" cy="26635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065" marR="5080" algn="ctr">
              <a:lnSpc>
                <a:spcPts val="2160"/>
              </a:lnSpc>
              <a:spcBef>
                <a:spcPts val="37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Adatbázisvédelem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level1: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 err="1" smtClean="0">
                <a:solidFill>
                  <a:srgbClr val="FFFFFF"/>
                </a:solidFill>
                <a:latin typeface="Times New Roman"/>
                <a:cs typeface="Times New Roman"/>
              </a:rPr>
              <a:t>védett</a:t>
            </a:r>
            <a:r>
              <a:rPr sz="2000" spc="-10" dirty="0" smtClean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gyűjteményes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mű,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egyébként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művekből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áll</a:t>
            </a:r>
            <a:endParaRPr sz="20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2160"/>
              </a:lnSpc>
              <a:spcBef>
                <a:spcPts val="144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Adatbázisvédelem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level2: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 err="1" smtClean="0">
                <a:solidFill>
                  <a:srgbClr val="FFFFFF"/>
                </a:solidFill>
                <a:latin typeface="Times New Roman"/>
                <a:cs typeface="Times New Roman"/>
              </a:rPr>
              <a:t>védett</a:t>
            </a:r>
            <a:r>
              <a:rPr sz="2000" spc="-10" dirty="0" smtClean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gyűjteményes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mű,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amely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az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adatok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(nem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védett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művek)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gyűjteménye</a:t>
            </a:r>
            <a:endParaRPr sz="2000" dirty="0">
              <a:latin typeface="Times New Roman"/>
              <a:cs typeface="Times New Roman"/>
            </a:endParaRPr>
          </a:p>
          <a:p>
            <a:pPr marL="227329" marR="219075" algn="ctr">
              <a:lnSpc>
                <a:spcPts val="2160"/>
              </a:lnSpc>
              <a:spcBef>
                <a:spcPts val="143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Adatbázisvédelem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level3: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 smtClean="0">
                <a:solidFill>
                  <a:srgbClr val="FFFFFF"/>
                </a:solidFill>
                <a:latin typeface="Times New Roman"/>
                <a:cs typeface="Times New Roman"/>
              </a:rPr>
              <a:t>ne</a:t>
            </a:r>
            <a:r>
              <a:rPr lang="hu-HU" sz="2000" dirty="0" smtClean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2000" dirty="0" err="1" smtClean="0">
                <a:solidFill>
                  <a:srgbClr val="FFFFFF"/>
                </a:solidFill>
                <a:latin typeface="Times New Roman"/>
                <a:cs typeface="Times New Roman"/>
              </a:rPr>
              <a:t>csak</a:t>
            </a:r>
            <a:r>
              <a:rPr sz="2000" spc="-25" dirty="0" smtClean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szerző,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hanem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az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előállító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 smtClean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0" dirty="0" smtClean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védett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40012" y="3668306"/>
            <a:ext cx="1049020" cy="790575"/>
            <a:chOff x="1840012" y="3668306"/>
            <a:chExt cx="1049020" cy="790575"/>
          </a:xfrm>
        </p:grpSpPr>
        <p:sp>
          <p:nvSpPr>
            <p:cNvPr id="16" name="object 16"/>
            <p:cNvSpPr/>
            <p:nvPr/>
          </p:nvSpPr>
          <p:spPr>
            <a:xfrm>
              <a:off x="1847949" y="3676244"/>
              <a:ext cx="1033144" cy="774700"/>
            </a:xfrm>
            <a:custGeom>
              <a:avLst/>
              <a:gdLst/>
              <a:ahLst/>
              <a:cxnLst/>
              <a:rect l="l" t="t" r="r" b="b"/>
              <a:pathLst>
                <a:path w="1033144" h="774700">
                  <a:moveTo>
                    <a:pt x="516299" y="774449"/>
                  </a:moveTo>
                  <a:lnTo>
                    <a:pt x="463511" y="772450"/>
                  </a:lnTo>
                  <a:lnTo>
                    <a:pt x="412247" y="766582"/>
                  </a:lnTo>
                  <a:lnTo>
                    <a:pt x="362768" y="757041"/>
                  </a:lnTo>
                  <a:lnTo>
                    <a:pt x="315332" y="744019"/>
                  </a:lnTo>
                  <a:lnTo>
                    <a:pt x="270200" y="727714"/>
                  </a:lnTo>
                  <a:lnTo>
                    <a:pt x="227631" y="708318"/>
                  </a:lnTo>
                  <a:lnTo>
                    <a:pt x="187885" y="686026"/>
                  </a:lnTo>
                  <a:lnTo>
                    <a:pt x="151220" y="661034"/>
                  </a:lnTo>
                  <a:lnTo>
                    <a:pt x="117897" y="633536"/>
                  </a:lnTo>
                  <a:lnTo>
                    <a:pt x="88175" y="603726"/>
                  </a:lnTo>
                  <a:lnTo>
                    <a:pt x="62314" y="571799"/>
                  </a:lnTo>
                  <a:lnTo>
                    <a:pt x="40573" y="537950"/>
                  </a:lnTo>
                  <a:lnTo>
                    <a:pt x="23211" y="502373"/>
                  </a:lnTo>
                  <a:lnTo>
                    <a:pt x="10489" y="465264"/>
                  </a:lnTo>
                  <a:lnTo>
                    <a:pt x="2665" y="426816"/>
                  </a:lnTo>
                  <a:lnTo>
                    <a:pt x="0" y="387224"/>
                  </a:lnTo>
                  <a:lnTo>
                    <a:pt x="2665" y="347633"/>
                  </a:lnTo>
                  <a:lnTo>
                    <a:pt x="10489" y="309185"/>
                  </a:lnTo>
                  <a:lnTo>
                    <a:pt x="23211" y="272076"/>
                  </a:lnTo>
                  <a:lnTo>
                    <a:pt x="40573" y="236499"/>
                  </a:lnTo>
                  <a:lnTo>
                    <a:pt x="62314" y="202650"/>
                  </a:lnTo>
                  <a:lnTo>
                    <a:pt x="88175" y="170723"/>
                  </a:lnTo>
                  <a:lnTo>
                    <a:pt x="117897" y="140914"/>
                  </a:lnTo>
                  <a:lnTo>
                    <a:pt x="151220" y="113415"/>
                  </a:lnTo>
                  <a:lnTo>
                    <a:pt x="187885" y="88423"/>
                  </a:lnTo>
                  <a:lnTo>
                    <a:pt x="227631" y="66132"/>
                  </a:lnTo>
                  <a:lnTo>
                    <a:pt x="270200" y="46736"/>
                  </a:lnTo>
                  <a:lnTo>
                    <a:pt x="315332" y="30430"/>
                  </a:lnTo>
                  <a:lnTo>
                    <a:pt x="362768" y="17408"/>
                  </a:lnTo>
                  <a:lnTo>
                    <a:pt x="412247" y="7867"/>
                  </a:lnTo>
                  <a:lnTo>
                    <a:pt x="463511" y="1999"/>
                  </a:lnTo>
                  <a:lnTo>
                    <a:pt x="516299" y="0"/>
                  </a:lnTo>
                  <a:lnTo>
                    <a:pt x="569088" y="1999"/>
                  </a:lnTo>
                  <a:lnTo>
                    <a:pt x="620352" y="7867"/>
                  </a:lnTo>
                  <a:lnTo>
                    <a:pt x="669831" y="17408"/>
                  </a:lnTo>
                  <a:lnTo>
                    <a:pt x="717267" y="30430"/>
                  </a:lnTo>
                  <a:lnTo>
                    <a:pt x="762399" y="46736"/>
                  </a:lnTo>
                  <a:lnTo>
                    <a:pt x="804968" y="66132"/>
                  </a:lnTo>
                  <a:lnTo>
                    <a:pt x="844714" y="88423"/>
                  </a:lnTo>
                  <a:lnTo>
                    <a:pt x="881379" y="113415"/>
                  </a:lnTo>
                  <a:lnTo>
                    <a:pt x="914702" y="140914"/>
                  </a:lnTo>
                  <a:lnTo>
                    <a:pt x="944424" y="170723"/>
                  </a:lnTo>
                  <a:lnTo>
                    <a:pt x="970285" y="202650"/>
                  </a:lnTo>
                  <a:lnTo>
                    <a:pt x="992026" y="236499"/>
                  </a:lnTo>
                  <a:lnTo>
                    <a:pt x="1009388" y="272076"/>
                  </a:lnTo>
                  <a:lnTo>
                    <a:pt x="1022110" y="309185"/>
                  </a:lnTo>
                  <a:lnTo>
                    <a:pt x="1029934" y="347633"/>
                  </a:lnTo>
                  <a:lnTo>
                    <a:pt x="1032599" y="387224"/>
                  </a:lnTo>
                  <a:lnTo>
                    <a:pt x="1029934" y="426816"/>
                  </a:lnTo>
                  <a:lnTo>
                    <a:pt x="1022110" y="465264"/>
                  </a:lnTo>
                  <a:lnTo>
                    <a:pt x="1009388" y="502373"/>
                  </a:lnTo>
                  <a:lnTo>
                    <a:pt x="992026" y="537950"/>
                  </a:lnTo>
                  <a:lnTo>
                    <a:pt x="970285" y="571799"/>
                  </a:lnTo>
                  <a:lnTo>
                    <a:pt x="944424" y="603726"/>
                  </a:lnTo>
                  <a:lnTo>
                    <a:pt x="914702" y="633536"/>
                  </a:lnTo>
                  <a:lnTo>
                    <a:pt x="881379" y="661034"/>
                  </a:lnTo>
                  <a:lnTo>
                    <a:pt x="844714" y="686026"/>
                  </a:lnTo>
                  <a:lnTo>
                    <a:pt x="804968" y="708318"/>
                  </a:lnTo>
                  <a:lnTo>
                    <a:pt x="762399" y="727714"/>
                  </a:lnTo>
                  <a:lnTo>
                    <a:pt x="717267" y="744019"/>
                  </a:lnTo>
                  <a:lnTo>
                    <a:pt x="669831" y="757041"/>
                  </a:lnTo>
                  <a:lnTo>
                    <a:pt x="620352" y="766582"/>
                  </a:lnTo>
                  <a:lnTo>
                    <a:pt x="569088" y="772450"/>
                  </a:lnTo>
                  <a:lnTo>
                    <a:pt x="516299" y="774449"/>
                  </a:lnTo>
                  <a:close/>
                </a:path>
              </a:pathLst>
            </a:custGeom>
            <a:solidFill>
              <a:srgbClr val="EDDD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47949" y="3676244"/>
              <a:ext cx="1033144" cy="774700"/>
            </a:xfrm>
            <a:custGeom>
              <a:avLst/>
              <a:gdLst/>
              <a:ahLst/>
              <a:cxnLst/>
              <a:rect l="l" t="t" r="r" b="b"/>
              <a:pathLst>
                <a:path w="1033144" h="774700">
                  <a:moveTo>
                    <a:pt x="0" y="387224"/>
                  </a:moveTo>
                  <a:lnTo>
                    <a:pt x="2665" y="347633"/>
                  </a:lnTo>
                  <a:lnTo>
                    <a:pt x="10489" y="309185"/>
                  </a:lnTo>
                  <a:lnTo>
                    <a:pt x="23211" y="272076"/>
                  </a:lnTo>
                  <a:lnTo>
                    <a:pt x="40573" y="236499"/>
                  </a:lnTo>
                  <a:lnTo>
                    <a:pt x="62314" y="202650"/>
                  </a:lnTo>
                  <a:lnTo>
                    <a:pt x="88175" y="170723"/>
                  </a:lnTo>
                  <a:lnTo>
                    <a:pt x="117897" y="140914"/>
                  </a:lnTo>
                  <a:lnTo>
                    <a:pt x="151220" y="113415"/>
                  </a:lnTo>
                  <a:lnTo>
                    <a:pt x="187885" y="88423"/>
                  </a:lnTo>
                  <a:lnTo>
                    <a:pt x="227631" y="66132"/>
                  </a:lnTo>
                  <a:lnTo>
                    <a:pt x="270200" y="46736"/>
                  </a:lnTo>
                  <a:lnTo>
                    <a:pt x="315332" y="30430"/>
                  </a:lnTo>
                  <a:lnTo>
                    <a:pt x="362768" y="17408"/>
                  </a:lnTo>
                  <a:lnTo>
                    <a:pt x="412247" y="7867"/>
                  </a:lnTo>
                  <a:lnTo>
                    <a:pt x="463511" y="1999"/>
                  </a:lnTo>
                  <a:lnTo>
                    <a:pt x="516299" y="0"/>
                  </a:lnTo>
                  <a:lnTo>
                    <a:pt x="569088" y="1999"/>
                  </a:lnTo>
                  <a:lnTo>
                    <a:pt x="620352" y="7867"/>
                  </a:lnTo>
                  <a:lnTo>
                    <a:pt x="669831" y="17408"/>
                  </a:lnTo>
                  <a:lnTo>
                    <a:pt x="717267" y="30430"/>
                  </a:lnTo>
                  <a:lnTo>
                    <a:pt x="762399" y="46736"/>
                  </a:lnTo>
                  <a:lnTo>
                    <a:pt x="804968" y="66132"/>
                  </a:lnTo>
                  <a:lnTo>
                    <a:pt x="844714" y="88423"/>
                  </a:lnTo>
                  <a:lnTo>
                    <a:pt x="881379" y="113415"/>
                  </a:lnTo>
                  <a:lnTo>
                    <a:pt x="914702" y="140914"/>
                  </a:lnTo>
                  <a:lnTo>
                    <a:pt x="944424" y="170723"/>
                  </a:lnTo>
                  <a:lnTo>
                    <a:pt x="970285" y="202650"/>
                  </a:lnTo>
                  <a:lnTo>
                    <a:pt x="992026" y="236499"/>
                  </a:lnTo>
                  <a:lnTo>
                    <a:pt x="1009388" y="272076"/>
                  </a:lnTo>
                  <a:lnTo>
                    <a:pt x="1022110" y="309185"/>
                  </a:lnTo>
                  <a:lnTo>
                    <a:pt x="1029934" y="347633"/>
                  </a:lnTo>
                  <a:lnTo>
                    <a:pt x="1032599" y="387224"/>
                  </a:lnTo>
                  <a:lnTo>
                    <a:pt x="1029934" y="426816"/>
                  </a:lnTo>
                  <a:lnTo>
                    <a:pt x="1022110" y="465264"/>
                  </a:lnTo>
                  <a:lnTo>
                    <a:pt x="1009388" y="502373"/>
                  </a:lnTo>
                  <a:lnTo>
                    <a:pt x="992026" y="537950"/>
                  </a:lnTo>
                  <a:lnTo>
                    <a:pt x="970285" y="571799"/>
                  </a:lnTo>
                  <a:lnTo>
                    <a:pt x="944424" y="603726"/>
                  </a:lnTo>
                  <a:lnTo>
                    <a:pt x="914702" y="633536"/>
                  </a:lnTo>
                  <a:lnTo>
                    <a:pt x="881379" y="661034"/>
                  </a:lnTo>
                  <a:lnTo>
                    <a:pt x="844714" y="686026"/>
                  </a:lnTo>
                  <a:lnTo>
                    <a:pt x="804968" y="708318"/>
                  </a:lnTo>
                  <a:lnTo>
                    <a:pt x="762399" y="727714"/>
                  </a:lnTo>
                  <a:lnTo>
                    <a:pt x="717267" y="744019"/>
                  </a:lnTo>
                  <a:lnTo>
                    <a:pt x="669831" y="757041"/>
                  </a:lnTo>
                  <a:lnTo>
                    <a:pt x="620352" y="766582"/>
                  </a:lnTo>
                  <a:lnTo>
                    <a:pt x="569088" y="772450"/>
                  </a:lnTo>
                  <a:lnTo>
                    <a:pt x="516299" y="774449"/>
                  </a:lnTo>
                  <a:lnTo>
                    <a:pt x="463511" y="772450"/>
                  </a:lnTo>
                  <a:lnTo>
                    <a:pt x="412247" y="766582"/>
                  </a:lnTo>
                  <a:lnTo>
                    <a:pt x="362768" y="757041"/>
                  </a:lnTo>
                  <a:lnTo>
                    <a:pt x="315332" y="744019"/>
                  </a:lnTo>
                  <a:lnTo>
                    <a:pt x="270200" y="727714"/>
                  </a:lnTo>
                  <a:lnTo>
                    <a:pt x="227631" y="708318"/>
                  </a:lnTo>
                  <a:lnTo>
                    <a:pt x="187885" y="686026"/>
                  </a:lnTo>
                  <a:lnTo>
                    <a:pt x="151220" y="661034"/>
                  </a:lnTo>
                  <a:lnTo>
                    <a:pt x="117897" y="633536"/>
                  </a:lnTo>
                  <a:lnTo>
                    <a:pt x="88175" y="603726"/>
                  </a:lnTo>
                  <a:lnTo>
                    <a:pt x="62314" y="571799"/>
                  </a:lnTo>
                  <a:lnTo>
                    <a:pt x="40573" y="537950"/>
                  </a:lnTo>
                  <a:lnTo>
                    <a:pt x="23211" y="502373"/>
                  </a:lnTo>
                  <a:lnTo>
                    <a:pt x="10489" y="465264"/>
                  </a:lnTo>
                  <a:lnTo>
                    <a:pt x="2665" y="426816"/>
                  </a:lnTo>
                  <a:lnTo>
                    <a:pt x="0" y="387224"/>
                  </a:lnTo>
                  <a:close/>
                </a:path>
              </a:pathLst>
            </a:custGeom>
            <a:ln w="158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2426" y="781695"/>
            <a:ext cx="77158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Magyar</a:t>
            </a:r>
            <a:r>
              <a:rPr sz="3600" b="1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3600" b="1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3600" b="1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védelem</a:t>
            </a:r>
            <a:r>
              <a:rPr sz="3600" b="1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chemeClr val="tx1"/>
                </a:solidFill>
                <a:latin typeface="Arial"/>
                <a:cs typeface="Arial"/>
              </a:rPr>
              <a:t>level1.</a:t>
            </a:r>
            <a:endParaRPr sz="3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1437357"/>
            <a:ext cx="8382000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335" algn="just">
              <a:lnSpc>
                <a:spcPct val="100000"/>
              </a:lnSpc>
              <a:spcBef>
                <a:spcPts val="100"/>
              </a:spcBef>
            </a:pPr>
            <a:r>
              <a:rPr lang="hu-HU" sz="2400" b="1" dirty="0">
                <a:solidFill>
                  <a:schemeClr val="tx1"/>
                </a:solidFill>
                <a:latin typeface="Garamond"/>
                <a:cs typeface="Garamond"/>
              </a:rPr>
              <a:t>G</a:t>
            </a:r>
            <a:r>
              <a:rPr sz="2400" b="1" dirty="0" err="1" smtClean="0">
                <a:solidFill>
                  <a:schemeClr val="tx1"/>
                </a:solidFill>
                <a:latin typeface="Garamond"/>
                <a:cs typeface="Garamond"/>
              </a:rPr>
              <a:t>yűjteményes</a:t>
            </a:r>
            <a:r>
              <a:rPr sz="2400" b="1" spc="225" dirty="0" smtClean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b="1" dirty="0">
                <a:solidFill>
                  <a:schemeClr val="tx1"/>
                </a:solidFill>
                <a:latin typeface="Garamond"/>
                <a:cs typeface="Garamond"/>
              </a:rPr>
              <a:t>mű:</a:t>
            </a:r>
            <a:r>
              <a:rPr sz="2400" b="1" spc="229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a</a:t>
            </a:r>
            <a:r>
              <a:rPr sz="2400" spc="22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gyűjtemény,</a:t>
            </a:r>
            <a:r>
              <a:rPr sz="2400" spc="22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ha</a:t>
            </a:r>
            <a:r>
              <a:rPr sz="2400" spc="229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tartalmának</a:t>
            </a:r>
            <a:r>
              <a:rPr sz="2400" spc="24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b="1" spc="-10" dirty="0">
                <a:solidFill>
                  <a:schemeClr val="tx1"/>
                </a:solidFill>
                <a:latin typeface="Garamond"/>
                <a:cs typeface="Garamond"/>
              </a:rPr>
              <a:t>összeválogatása, </a:t>
            </a:r>
            <a:r>
              <a:rPr sz="2400" b="1" dirty="0">
                <a:solidFill>
                  <a:schemeClr val="tx1"/>
                </a:solidFill>
                <a:latin typeface="Garamond"/>
                <a:cs typeface="Garamond"/>
              </a:rPr>
              <a:t>elrendezése</a:t>
            </a:r>
            <a:r>
              <a:rPr sz="2400" b="1" spc="18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b="1" dirty="0">
                <a:solidFill>
                  <a:schemeClr val="tx1"/>
                </a:solidFill>
                <a:latin typeface="Garamond"/>
                <a:cs typeface="Garamond"/>
              </a:rPr>
              <a:t>vagy</a:t>
            </a:r>
            <a:r>
              <a:rPr sz="2400" b="1" spc="18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b="1" dirty="0">
                <a:solidFill>
                  <a:schemeClr val="tx1"/>
                </a:solidFill>
                <a:latin typeface="Garamond"/>
                <a:cs typeface="Garamond"/>
              </a:rPr>
              <a:t>szerkesztése</a:t>
            </a:r>
            <a:r>
              <a:rPr sz="2400" b="1" spc="21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egyéni,</a:t>
            </a:r>
            <a:r>
              <a:rPr sz="2400" spc="18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eredeti</a:t>
            </a:r>
            <a:r>
              <a:rPr sz="2400" spc="18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jellegű.</a:t>
            </a:r>
            <a:r>
              <a:rPr sz="2400" spc="18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A</a:t>
            </a:r>
            <a:r>
              <a:rPr sz="2400" spc="18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védelem</a:t>
            </a:r>
            <a:r>
              <a:rPr sz="2400" spc="18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spc="-50" dirty="0">
                <a:solidFill>
                  <a:schemeClr val="tx1"/>
                </a:solidFill>
                <a:latin typeface="Garamond"/>
                <a:cs typeface="Garamond"/>
              </a:rPr>
              <a:t>a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gyűjteményes</a:t>
            </a:r>
            <a:r>
              <a:rPr sz="2400" spc="-1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művet</a:t>
            </a:r>
            <a:r>
              <a:rPr sz="2400" spc="-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megilleti</a:t>
            </a:r>
            <a:r>
              <a:rPr sz="2400" spc="-1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akkor</a:t>
            </a:r>
            <a:r>
              <a:rPr sz="2400" spc="-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is,</a:t>
            </a:r>
            <a:r>
              <a:rPr sz="2400" spc="-1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ha</a:t>
            </a:r>
            <a:r>
              <a:rPr sz="2400" spc="-1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annak</a:t>
            </a:r>
            <a:r>
              <a:rPr sz="2400" spc="-1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részei,</a:t>
            </a:r>
            <a:r>
              <a:rPr sz="2400" spc="-1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tartalmi</a:t>
            </a:r>
            <a:r>
              <a:rPr sz="2400" spc="-10" dirty="0">
                <a:solidFill>
                  <a:schemeClr val="tx1"/>
                </a:solidFill>
                <a:latin typeface="Garamond"/>
                <a:cs typeface="Garamond"/>
              </a:rPr>
              <a:t> elemei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nem</a:t>
            </a:r>
            <a:r>
              <a:rPr sz="2400" spc="-5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részesülnek,</a:t>
            </a:r>
            <a:r>
              <a:rPr sz="2400" spc="-5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illetve</a:t>
            </a:r>
            <a:r>
              <a:rPr sz="2400" spc="-5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nem</a:t>
            </a:r>
            <a:r>
              <a:rPr sz="2400" spc="-5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Garamond"/>
                <a:cs typeface="Garamond"/>
              </a:rPr>
              <a:t>részesülhetnek</a:t>
            </a:r>
            <a:r>
              <a:rPr sz="2400" spc="-5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szerzői</a:t>
            </a:r>
            <a:r>
              <a:rPr sz="2400" spc="-4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jogi</a:t>
            </a:r>
            <a:r>
              <a:rPr sz="2400" spc="-5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Garamond"/>
                <a:cs typeface="Garamond"/>
              </a:rPr>
              <a:t>védelemben.</a:t>
            </a:r>
            <a:endParaRPr sz="2400" dirty="0">
              <a:solidFill>
                <a:schemeClr val="tx1"/>
              </a:solidFill>
              <a:latin typeface="Garamond"/>
              <a:cs typeface="Garamond"/>
            </a:endParaRPr>
          </a:p>
          <a:p>
            <a:pPr marL="12700" marR="5080" indent="263525" algn="just">
              <a:lnSpc>
                <a:spcPct val="100000"/>
              </a:lnSpc>
              <a:buFont typeface="Garamond"/>
              <a:buChar char="-"/>
              <a:tabLst>
                <a:tab pos="276225" algn="l"/>
                <a:tab pos="1209675" algn="l"/>
                <a:tab pos="1519555" algn="l"/>
                <a:tab pos="1725295" algn="l"/>
                <a:tab pos="2031364" algn="l"/>
                <a:tab pos="2277745" algn="l"/>
                <a:tab pos="2954655" algn="l"/>
                <a:tab pos="3411220" algn="l"/>
                <a:tab pos="3757929" algn="l"/>
                <a:tab pos="4062729" algn="l"/>
                <a:tab pos="4461510" algn="l"/>
                <a:tab pos="4943475" algn="l"/>
                <a:tab pos="5287010" algn="l"/>
                <a:tab pos="5478780" algn="l"/>
                <a:tab pos="6093460" algn="l"/>
                <a:tab pos="6612890" algn="l"/>
                <a:tab pos="6788150" algn="l"/>
              </a:tabLst>
            </a:pPr>
            <a:r>
              <a:rPr sz="2400" b="1" spc="-10" dirty="0">
                <a:solidFill>
                  <a:schemeClr val="tx1"/>
                </a:solidFill>
                <a:latin typeface="Garamond"/>
                <a:cs typeface="Garamond"/>
              </a:rPr>
              <a:t>szerzői</a:t>
            </a:r>
            <a:r>
              <a:rPr sz="2400" b="1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2400" b="1" spc="-25" dirty="0">
                <a:solidFill>
                  <a:schemeClr val="tx1"/>
                </a:solidFill>
                <a:latin typeface="Garamond"/>
                <a:cs typeface="Garamond"/>
              </a:rPr>
              <a:t>jog</a:t>
            </a:r>
            <a:r>
              <a:rPr sz="2400" b="1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2400" b="1" spc="-50" dirty="0">
                <a:solidFill>
                  <a:schemeClr val="tx1"/>
                </a:solidFill>
                <a:latin typeface="Garamond"/>
                <a:cs typeface="Garamond"/>
              </a:rPr>
              <a:t>a</a:t>
            </a:r>
            <a:r>
              <a:rPr sz="2400" b="1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2400" b="1" spc="-10" dirty="0" err="1" smtClean="0">
                <a:solidFill>
                  <a:schemeClr val="tx1"/>
                </a:solidFill>
                <a:latin typeface="Garamond"/>
                <a:cs typeface="Garamond"/>
              </a:rPr>
              <a:t>szerkesztőt</a:t>
            </a:r>
            <a:r>
              <a:rPr lang="hu-HU" sz="2400" b="1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spc="-10" dirty="0" err="1" smtClean="0">
                <a:solidFill>
                  <a:schemeClr val="tx1"/>
                </a:solidFill>
                <a:latin typeface="Garamond"/>
                <a:cs typeface="Garamond"/>
              </a:rPr>
              <a:t>illeti</a:t>
            </a:r>
            <a:r>
              <a:rPr sz="2400" spc="-10" dirty="0" smtClean="0">
                <a:solidFill>
                  <a:schemeClr val="tx1"/>
                </a:solidFill>
                <a:latin typeface="Garamond"/>
                <a:cs typeface="Garamond"/>
              </a:rPr>
              <a:t>,</a:t>
            </a:r>
            <a:r>
              <a:rPr lang="hu-HU" sz="240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spc="-25" dirty="0" err="1" smtClean="0">
                <a:solidFill>
                  <a:schemeClr val="tx1"/>
                </a:solidFill>
                <a:latin typeface="Garamond"/>
                <a:cs typeface="Garamond"/>
              </a:rPr>
              <a:t>ez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2400" spc="-10" dirty="0" err="1" smtClean="0">
                <a:solidFill>
                  <a:schemeClr val="tx1"/>
                </a:solidFill>
                <a:latin typeface="Garamond"/>
                <a:cs typeface="Garamond"/>
              </a:rPr>
              <a:t>azonban</a:t>
            </a:r>
            <a:r>
              <a:rPr lang="hu-HU" sz="2400" spc="-10" dirty="0" smtClean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2400" spc="-25" dirty="0" err="1" smtClean="0">
                <a:solidFill>
                  <a:schemeClr val="tx1"/>
                </a:solidFill>
                <a:latin typeface="Garamond"/>
                <a:cs typeface="Garamond"/>
              </a:rPr>
              <a:t>nem</a:t>
            </a:r>
            <a:r>
              <a:rPr lang="hu-HU" sz="2400" spc="-25" dirty="0" smtClean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spc="-10" dirty="0" err="1" smtClean="0">
                <a:solidFill>
                  <a:schemeClr val="tx1"/>
                </a:solidFill>
                <a:latin typeface="Garamond"/>
                <a:cs typeface="Garamond"/>
              </a:rPr>
              <a:t>érint</a:t>
            </a:r>
            <a:r>
              <a:rPr lang="hu-HU" sz="2400" spc="-10" dirty="0" smtClean="0">
                <a:solidFill>
                  <a:schemeClr val="tx1"/>
                </a:solidFill>
                <a:latin typeface="Garamond"/>
                <a:cs typeface="Garamond"/>
              </a:rPr>
              <a:t>i a gyűjteménybe felvett egyes művek szerzőinek és szomszédos jogi teljesítmények jogosultjainak önálló jogait</a:t>
            </a:r>
            <a:r>
              <a:rPr lang="hu-HU" sz="2400" spc="-50" dirty="0" smtClean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</a:p>
          <a:p>
            <a:pPr marL="12700" marR="5080" indent="263525" algn="just">
              <a:lnSpc>
                <a:spcPct val="100000"/>
              </a:lnSpc>
              <a:buFont typeface="Garamond"/>
              <a:buChar char="-"/>
              <a:tabLst>
                <a:tab pos="276225" algn="l"/>
                <a:tab pos="1209675" algn="l"/>
                <a:tab pos="1519555" algn="l"/>
                <a:tab pos="1725295" algn="l"/>
                <a:tab pos="2031364" algn="l"/>
                <a:tab pos="2277745" algn="l"/>
                <a:tab pos="2954655" algn="l"/>
                <a:tab pos="3411220" algn="l"/>
                <a:tab pos="3757929" algn="l"/>
                <a:tab pos="4062729" algn="l"/>
                <a:tab pos="4461510" algn="l"/>
                <a:tab pos="4943475" algn="l"/>
                <a:tab pos="5287010" algn="l"/>
                <a:tab pos="5478780" algn="l"/>
                <a:tab pos="6093460" algn="l"/>
                <a:tab pos="6612890" algn="l"/>
                <a:tab pos="6788150" algn="l"/>
              </a:tabLst>
            </a:pPr>
            <a:r>
              <a:rPr sz="2400" b="1" dirty="0" err="1" smtClean="0">
                <a:solidFill>
                  <a:schemeClr val="tx1"/>
                </a:solidFill>
                <a:latin typeface="Garamond"/>
                <a:cs typeface="Garamond"/>
              </a:rPr>
              <a:t>szerzői</a:t>
            </a:r>
            <a:r>
              <a:rPr sz="2400" b="1" spc="204" dirty="0" smtClean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b="1" dirty="0">
                <a:solidFill>
                  <a:schemeClr val="tx1"/>
                </a:solidFill>
                <a:latin typeface="Garamond"/>
                <a:cs typeface="Garamond"/>
              </a:rPr>
              <a:t>jogi</a:t>
            </a:r>
            <a:r>
              <a:rPr sz="2400" b="1" spc="21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b="1" dirty="0">
                <a:solidFill>
                  <a:schemeClr val="tx1"/>
                </a:solidFill>
                <a:latin typeface="Garamond"/>
                <a:cs typeface="Garamond"/>
              </a:rPr>
              <a:t>védelme</a:t>
            </a:r>
            <a:r>
              <a:rPr sz="2400" b="1" spc="20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b="1" dirty="0">
                <a:solidFill>
                  <a:schemeClr val="tx1"/>
                </a:solidFill>
                <a:latin typeface="Garamond"/>
                <a:cs typeface="Garamond"/>
              </a:rPr>
              <a:t>nem</a:t>
            </a:r>
            <a:r>
              <a:rPr sz="2400" b="1" spc="204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b="1" dirty="0">
                <a:solidFill>
                  <a:schemeClr val="tx1"/>
                </a:solidFill>
                <a:latin typeface="Garamond"/>
                <a:cs typeface="Garamond"/>
              </a:rPr>
              <a:t>terjed</a:t>
            </a:r>
            <a:r>
              <a:rPr sz="2400" b="1" spc="21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b="1" dirty="0">
                <a:solidFill>
                  <a:schemeClr val="tx1"/>
                </a:solidFill>
                <a:latin typeface="Garamond"/>
                <a:cs typeface="Garamond"/>
              </a:rPr>
              <a:t>ki</a:t>
            </a:r>
            <a:r>
              <a:rPr sz="2400" b="1" spc="229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>
                <a:solidFill>
                  <a:schemeClr val="tx1"/>
                </a:solidFill>
                <a:latin typeface="Garamond"/>
                <a:cs typeface="Garamond"/>
              </a:rPr>
              <a:t>a</a:t>
            </a:r>
            <a:r>
              <a:rPr sz="2400" spc="21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Garamond"/>
                <a:cs typeface="Garamond"/>
              </a:rPr>
              <a:t>gyűjteményes</a:t>
            </a:r>
            <a:r>
              <a:rPr sz="2400" spc="20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dirty="0" err="1" smtClean="0">
                <a:solidFill>
                  <a:schemeClr val="tx1"/>
                </a:solidFill>
                <a:latin typeface="Garamond"/>
                <a:cs typeface="Garamond"/>
              </a:rPr>
              <a:t>mű</a:t>
            </a:r>
            <a:r>
              <a:rPr lang="hu-HU" sz="2400" spc="229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b="1" spc="-10" dirty="0" err="1" smtClean="0">
                <a:solidFill>
                  <a:schemeClr val="tx1"/>
                </a:solidFill>
                <a:latin typeface="Garamond"/>
                <a:cs typeface="Garamond"/>
              </a:rPr>
              <a:t>tartalmi</a:t>
            </a:r>
            <a:r>
              <a:rPr sz="2400" b="1" spc="-10" dirty="0" smtClean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400" b="1" spc="-10" dirty="0" err="1">
                <a:solidFill>
                  <a:schemeClr val="tx1"/>
                </a:solidFill>
                <a:latin typeface="Garamond"/>
                <a:cs typeface="Garamond"/>
              </a:rPr>
              <a:t>elemeire</a:t>
            </a:r>
            <a:r>
              <a:rPr sz="2400" spc="-10" dirty="0" smtClean="0">
                <a:solidFill>
                  <a:schemeClr val="tx1"/>
                </a:solidFill>
                <a:latin typeface="Garamond"/>
                <a:cs typeface="Garamond"/>
              </a:rPr>
              <a:t>.</a:t>
            </a:r>
            <a:endParaRPr lang="hu-HU" sz="2400" spc="-10" dirty="0" smtClean="0">
              <a:solidFill>
                <a:schemeClr val="tx1"/>
              </a:solidFill>
              <a:latin typeface="Garamond"/>
              <a:cs typeface="Garamond"/>
            </a:endParaRPr>
          </a:p>
          <a:p>
            <a:pPr marL="12700" marR="5080" indent="263525" algn="just">
              <a:lnSpc>
                <a:spcPct val="100000"/>
              </a:lnSpc>
              <a:buFont typeface="Garamond"/>
              <a:buChar char="-"/>
              <a:tabLst>
                <a:tab pos="276225" algn="l"/>
                <a:tab pos="1209675" algn="l"/>
                <a:tab pos="1519555" algn="l"/>
                <a:tab pos="1725295" algn="l"/>
                <a:tab pos="2031364" algn="l"/>
                <a:tab pos="2277745" algn="l"/>
                <a:tab pos="2954655" algn="l"/>
                <a:tab pos="3411220" algn="l"/>
                <a:tab pos="3757929" algn="l"/>
                <a:tab pos="4062729" algn="l"/>
                <a:tab pos="4461510" algn="l"/>
                <a:tab pos="4943475" algn="l"/>
                <a:tab pos="5287010" algn="l"/>
                <a:tab pos="5478780" algn="l"/>
                <a:tab pos="6093460" algn="l"/>
                <a:tab pos="6612890" algn="l"/>
                <a:tab pos="6788150" algn="l"/>
              </a:tabLst>
            </a:pPr>
            <a:r>
              <a:rPr lang="hu-HU" sz="2400" spc="-10" dirty="0" smtClean="0">
                <a:solidFill>
                  <a:schemeClr val="tx1"/>
                </a:solidFill>
                <a:latin typeface="Garamond"/>
                <a:cs typeface="Garamond"/>
              </a:rPr>
              <a:t>Pl. tanulmánykötet, verseskötet, kottagyűjtemény</a:t>
            </a:r>
            <a:endParaRPr sz="2400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424" y="574753"/>
            <a:ext cx="8170352" cy="399399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3287" y="723865"/>
            <a:ext cx="3736261" cy="313845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0387" y="781695"/>
            <a:ext cx="6419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3600" b="1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3600" b="1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védelem</a:t>
            </a:r>
            <a:r>
              <a:rPr sz="3600" b="1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chemeClr val="tx1"/>
                </a:solidFill>
                <a:latin typeface="Arial"/>
                <a:cs typeface="Arial"/>
              </a:rPr>
              <a:t>level2/1.</a:t>
            </a:r>
            <a:endParaRPr sz="3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593" y="1830906"/>
            <a:ext cx="7640955" cy="31418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Adatbázis:</a:t>
            </a:r>
            <a:r>
              <a:rPr sz="2000" b="1" spc="49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önálló</a:t>
            </a:r>
            <a:r>
              <a:rPr sz="2000" spc="49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művek,</a:t>
            </a:r>
            <a:r>
              <a:rPr sz="2000" spc="49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adatok</a:t>
            </a:r>
            <a:r>
              <a:rPr sz="2000" spc="49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vagy</a:t>
            </a:r>
            <a:r>
              <a:rPr sz="2000" spc="49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egyéb</a:t>
            </a:r>
            <a:r>
              <a:rPr sz="2000" spc="484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tartalmi</a:t>
            </a:r>
            <a:r>
              <a:rPr sz="2000" spc="49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Garamond"/>
                <a:cs typeface="Garamond"/>
              </a:rPr>
              <a:t>elemek</a:t>
            </a:r>
            <a:r>
              <a:rPr sz="2000" spc="1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spc="-10" dirty="0" err="1" smtClean="0">
                <a:solidFill>
                  <a:schemeClr val="tx1"/>
                </a:solidFill>
                <a:latin typeface="Garamond"/>
                <a:cs typeface="Garamond"/>
              </a:rPr>
              <a:t>valamely</a:t>
            </a:r>
            <a:r>
              <a:rPr sz="2000" b="1" spc="-10" dirty="0" smtClean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rendszer</a:t>
            </a:r>
            <a:r>
              <a:rPr sz="2000" b="1" spc="25" dirty="0">
                <a:solidFill>
                  <a:schemeClr val="tx1"/>
                </a:solidFill>
                <a:latin typeface="Garamond"/>
                <a:cs typeface="Garamond"/>
              </a:rPr>
              <a:t> 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vagy</a:t>
            </a:r>
            <a:r>
              <a:rPr sz="2000" b="1" spc="30" dirty="0">
                <a:solidFill>
                  <a:schemeClr val="tx1"/>
                </a:solidFill>
                <a:latin typeface="Garamond"/>
                <a:cs typeface="Garamond"/>
              </a:rPr>
              <a:t> 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módszer</a:t>
            </a:r>
            <a:r>
              <a:rPr sz="2000" b="1" spc="30" dirty="0">
                <a:solidFill>
                  <a:schemeClr val="tx1"/>
                </a:solidFill>
                <a:latin typeface="Garamond"/>
                <a:cs typeface="Garamond"/>
              </a:rPr>
              <a:t> 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szerint</a:t>
            </a:r>
            <a:r>
              <a:rPr sz="2000" b="1" spc="30" dirty="0">
                <a:solidFill>
                  <a:schemeClr val="tx1"/>
                </a:solidFill>
                <a:latin typeface="Garamond"/>
                <a:cs typeface="Garamond"/>
              </a:rPr>
              <a:t> 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elrendezett</a:t>
            </a:r>
            <a:r>
              <a:rPr sz="2000" b="1" spc="50" dirty="0">
                <a:solidFill>
                  <a:schemeClr val="tx1"/>
                </a:solidFill>
                <a:latin typeface="Garamond"/>
                <a:cs typeface="Garamond"/>
              </a:rPr>
              <a:t> 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gyűjteménye,</a:t>
            </a:r>
            <a:r>
              <a:rPr sz="2000" b="1" spc="30" dirty="0">
                <a:solidFill>
                  <a:schemeClr val="tx1"/>
                </a:solidFill>
                <a:latin typeface="Garamond"/>
                <a:cs typeface="Garamond"/>
              </a:rPr>
              <a:t>  </a:t>
            </a:r>
            <a:r>
              <a:rPr sz="2000" b="1" spc="-10" dirty="0">
                <a:solidFill>
                  <a:schemeClr val="tx1"/>
                </a:solidFill>
                <a:latin typeface="Garamond"/>
                <a:cs typeface="Garamond"/>
              </a:rPr>
              <a:t>amelynek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tartalmi</a:t>
            </a:r>
            <a:r>
              <a:rPr sz="2000" b="1" spc="6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elemeihez</a:t>
            </a:r>
            <a:r>
              <a:rPr sz="2000" b="1" spc="6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-</a:t>
            </a:r>
            <a:r>
              <a:rPr sz="2000" b="1" spc="6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Garamond"/>
                <a:cs typeface="Garamond"/>
              </a:rPr>
              <a:t>számítástechnikai</a:t>
            </a:r>
            <a:r>
              <a:rPr sz="2000" b="1" spc="6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eszközökkel</a:t>
            </a:r>
            <a:r>
              <a:rPr sz="2000" b="1" spc="6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vagy</a:t>
            </a:r>
            <a:r>
              <a:rPr sz="2000" b="1" spc="6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bármely</a:t>
            </a:r>
            <a:r>
              <a:rPr sz="2000" b="1" spc="6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spc="-25" dirty="0">
                <a:solidFill>
                  <a:schemeClr val="tx1"/>
                </a:solidFill>
                <a:latin typeface="Garamond"/>
                <a:cs typeface="Garamond"/>
              </a:rPr>
              <a:t>más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módon</a:t>
            </a:r>
            <a:r>
              <a:rPr sz="2000" b="1" spc="-2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-</a:t>
            </a:r>
            <a:r>
              <a:rPr sz="2000" b="1" spc="-2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egyedileg</a:t>
            </a:r>
            <a:r>
              <a:rPr sz="2000" b="1" spc="-1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hozzá</a:t>
            </a:r>
            <a:r>
              <a:rPr sz="2000" b="1" spc="-1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lehet</a:t>
            </a:r>
            <a:r>
              <a:rPr sz="2000" b="1" spc="-2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férni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.</a:t>
            </a:r>
            <a:r>
              <a:rPr sz="2000" spc="-2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+</a:t>
            </a:r>
            <a:r>
              <a:rPr sz="2000" spc="-2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Garamond"/>
                <a:cs typeface="Garamond"/>
              </a:rPr>
              <a:t>dokumentáció/-</a:t>
            </a:r>
            <a:r>
              <a:rPr sz="2000" spc="-2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Garamond"/>
                <a:cs typeface="Garamond"/>
              </a:rPr>
              <a:t>szoftver</a:t>
            </a:r>
            <a:endParaRPr sz="2000" dirty="0">
              <a:solidFill>
                <a:schemeClr val="tx1"/>
              </a:solidFill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000" dirty="0">
              <a:solidFill>
                <a:schemeClr val="tx1"/>
              </a:solidFill>
              <a:latin typeface="Garamond"/>
              <a:cs typeface="Garamond"/>
            </a:endParaRPr>
          </a:p>
          <a:p>
            <a:pPr marL="12700" algn="just">
              <a:lnSpc>
                <a:spcPct val="100000"/>
              </a:lnSpc>
            </a:pPr>
            <a:r>
              <a:rPr sz="2000" spc="-10" dirty="0">
                <a:solidFill>
                  <a:schemeClr val="tx1"/>
                </a:solidFill>
                <a:latin typeface="Garamond"/>
                <a:cs typeface="Garamond"/>
              </a:rPr>
              <a:t>Gyűjteményes</a:t>
            </a:r>
            <a:r>
              <a:rPr sz="2000" spc="-5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mű</a:t>
            </a:r>
            <a:r>
              <a:rPr sz="2000" spc="-5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+</a:t>
            </a:r>
            <a:r>
              <a:rPr sz="2000" spc="-5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adatbázis</a:t>
            </a:r>
            <a:r>
              <a:rPr sz="2000" spc="-5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=</a:t>
            </a:r>
            <a:r>
              <a:rPr sz="2000" spc="-5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gyűjteményes</a:t>
            </a:r>
            <a:r>
              <a:rPr sz="2000" spc="-5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műnek</a:t>
            </a:r>
            <a:r>
              <a:rPr sz="2000" spc="-5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minősülő</a:t>
            </a:r>
            <a:r>
              <a:rPr sz="2000" spc="-5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Garamond"/>
                <a:cs typeface="Garamond"/>
              </a:rPr>
              <a:t>adatbázis</a:t>
            </a:r>
            <a:endParaRPr sz="2000" dirty="0">
              <a:solidFill>
                <a:schemeClr val="tx1"/>
              </a:solidFill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000" dirty="0">
              <a:solidFill>
                <a:schemeClr val="tx1"/>
              </a:solidFill>
              <a:latin typeface="Garamond"/>
              <a:cs typeface="Garamond"/>
            </a:endParaRPr>
          </a:p>
          <a:p>
            <a:pPr marL="12700" marR="10160" algn="just">
              <a:lnSpc>
                <a:spcPct val="100000"/>
              </a:lnSpc>
            </a:pP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-</a:t>
            </a:r>
            <a:r>
              <a:rPr sz="2000" spc="29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szerzői</a:t>
            </a:r>
            <a:r>
              <a:rPr sz="2000" spc="29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jogi</a:t>
            </a:r>
            <a:r>
              <a:rPr sz="2000" spc="29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védelemben</a:t>
            </a:r>
            <a:r>
              <a:rPr sz="2000" spc="30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csak</a:t>
            </a:r>
            <a:r>
              <a:rPr sz="2000" spc="29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a</a:t>
            </a:r>
            <a:r>
              <a:rPr sz="2000" spc="29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gyűjteményes</a:t>
            </a:r>
            <a:r>
              <a:rPr sz="2000" spc="29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műnek</a:t>
            </a:r>
            <a:r>
              <a:rPr sz="2000" spc="30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minősülő</a:t>
            </a:r>
            <a:r>
              <a:rPr sz="2000" spc="29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Garamond"/>
                <a:cs typeface="Garamond"/>
              </a:rPr>
              <a:t>adatbázis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részesül!</a:t>
            </a:r>
            <a:r>
              <a:rPr sz="2000" spc="22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(A</a:t>
            </a:r>
            <a:r>
              <a:rPr sz="2000" spc="22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nem</a:t>
            </a:r>
            <a:r>
              <a:rPr sz="2000" spc="22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szerzői</a:t>
            </a:r>
            <a:r>
              <a:rPr sz="2000" spc="229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mű</a:t>
            </a:r>
            <a:r>
              <a:rPr sz="2000" spc="22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adatbázis</a:t>
            </a:r>
            <a:r>
              <a:rPr sz="2000" spc="229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is</a:t>
            </a:r>
            <a:r>
              <a:rPr sz="2000" spc="22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védelem</a:t>
            </a:r>
            <a:r>
              <a:rPr sz="2000" spc="22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alatt</a:t>
            </a:r>
            <a:r>
              <a:rPr sz="2000" spc="22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fog</a:t>
            </a:r>
            <a:r>
              <a:rPr sz="2000" spc="22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állni,</a:t>
            </a:r>
            <a:r>
              <a:rPr sz="2000" spc="22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csak</a:t>
            </a:r>
            <a:r>
              <a:rPr sz="2000" spc="229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spc="-25" dirty="0">
                <a:solidFill>
                  <a:schemeClr val="tx1"/>
                </a:solidFill>
                <a:latin typeface="Garamond"/>
                <a:cs typeface="Garamond"/>
              </a:rPr>
              <a:t>nem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szerzői</a:t>
            </a:r>
            <a:r>
              <a:rPr sz="2000" spc="-4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jogi</a:t>
            </a:r>
            <a:r>
              <a:rPr sz="2000" spc="-4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Garamond"/>
                <a:cs typeface="Garamond"/>
              </a:rPr>
              <a:t>védelem</a:t>
            </a:r>
            <a:r>
              <a:rPr sz="2000" spc="-4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spc="-10" dirty="0" err="1" smtClean="0">
                <a:solidFill>
                  <a:schemeClr val="tx1"/>
                </a:solidFill>
                <a:latin typeface="Garamond"/>
                <a:cs typeface="Garamond"/>
              </a:rPr>
              <a:t>alatt</a:t>
            </a:r>
            <a:r>
              <a:rPr lang="hu-HU" sz="2000" spc="-10" dirty="0" smtClean="0">
                <a:solidFill>
                  <a:schemeClr val="tx1"/>
                </a:solidFill>
                <a:latin typeface="Garamond"/>
                <a:cs typeface="Garamond"/>
              </a:rPr>
              <a:t> – üzleti tito</a:t>
            </a:r>
            <a:r>
              <a:rPr lang="hu-HU" sz="2000" spc="-10" dirty="0" smtClean="0">
                <a:solidFill>
                  <a:schemeClr val="tx1"/>
                </a:solidFill>
                <a:latin typeface="Garamond"/>
                <a:cs typeface="Garamond"/>
              </a:rPr>
              <a:t>k, adatvédelem </a:t>
            </a:r>
            <a:r>
              <a:rPr lang="hu-HU" sz="2000" spc="-10" dirty="0" err="1" smtClean="0">
                <a:solidFill>
                  <a:schemeClr val="tx1"/>
                </a:solidFill>
                <a:latin typeface="Garamond"/>
                <a:cs typeface="Garamond"/>
              </a:rPr>
              <a:t>stb</a:t>
            </a:r>
            <a:r>
              <a:rPr sz="2000" spc="-10" dirty="0" smtClean="0">
                <a:solidFill>
                  <a:schemeClr val="tx1"/>
                </a:solidFill>
                <a:latin typeface="Garamond"/>
                <a:cs typeface="Garamond"/>
              </a:rPr>
              <a:t>.)</a:t>
            </a:r>
            <a:endParaRPr sz="2000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000" y="314684"/>
            <a:ext cx="8535874" cy="399537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37725" y="556284"/>
            <a:ext cx="6983095" cy="4300855"/>
            <a:chOff x="1337725" y="556284"/>
            <a:chExt cx="6983095" cy="43008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7725" y="556284"/>
              <a:ext cx="2236376" cy="32505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21775" y="2336514"/>
              <a:ext cx="5098951" cy="2520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09550"/>
            <a:ext cx="682963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3600" b="1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3600" b="1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dirty="0" err="1">
                <a:solidFill>
                  <a:schemeClr val="tx1"/>
                </a:solidFill>
                <a:latin typeface="Arial"/>
                <a:cs typeface="Arial"/>
              </a:rPr>
              <a:t>védelem</a:t>
            </a:r>
            <a:r>
              <a:rPr sz="3600" b="1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spc="-10" dirty="0" smtClean="0">
                <a:solidFill>
                  <a:schemeClr val="tx1"/>
                </a:solidFill>
                <a:latin typeface="Arial"/>
                <a:cs typeface="Arial"/>
              </a:rPr>
              <a:t>level</a:t>
            </a:r>
            <a:r>
              <a:rPr lang="hu-HU" sz="3600" b="1" spc="-1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spc="-10" dirty="0" smtClean="0">
                <a:solidFill>
                  <a:schemeClr val="tx1"/>
                </a:solidFill>
                <a:latin typeface="Arial"/>
                <a:cs typeface="Arial"/>
              </a:rPr>
              <a:t>2/</a:t>
            </a:r>
            <a:r>
              <a:rPr lang="hu-HU" sz="3600" b="1" spc="-10" dirty="0" smtClean="0">
                <a:solidFill>
                  <a:schemeClr val="tx1"/>
                </a:solidFill>
                <a:latin typeface="Arial"/>
                <a:cs typeface="Arial"/>
              </a:rPr>
              <a:t>2</a:t>
            </a:r>
            <a:r>
              <a:rPr sz="3600" b="1" spc="-10" dirty="0" smtClean="0">
                <a:solidFill>
                  <a:schemeClr val="tx1"/>
                </a:solidFill>
                <a:latin typeface="Arial"/>
                <a:cs typeface="Arial"/>
              </a:rPr>
              <a:t>.</a:t>
            </a:r>
            <a:endParaRPr sz="3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533400" y="971550"/>
            <a:ext cx="4114800" cy="3949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1120775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solidFill>
                  <a:srgbClr val="FFAB40"/>
                </a:solidFill>
                <a:latin typeface="Arial"/>
                <a:cs typeface="Arial"/>
              </a:rPr>
              <a:t>Gyűjteményes</a:t>
            </a:r>
            <a:r>
              <a:rPr sz="2000" spc="-5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AB40"/>
                </a:solidFill>
                <a:latin typeface="Arial"/>
                <a:cs typeface="Arial"/>
              </a:rPr>
              <a:t>mű </a:t>
            </a:r>
            <a:r>
              <a:rPr sz="2000" dirty="0">
                <a:solidFill>
                  <a:srgbClr val="FFAB40"/>
                </a:solidFill>
                <a:latin typeface="Arial"/>
                <a:cs typeface="Arial"/>
              </a:rPr>
              <a:t>(adatbázis</a:t>
            </a:r>
            <a:r>
              <a:rPr sz="2000" spc="-5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AB40"/>
                </a:solidFill>
                <a:latin typeface="Arial"/>
                <a:cs typeface="Arial"/>
              </a:rPr>
              <a:t>nélkül)</a:t>
            </a:r>
            <a:endParaRPr sz="2000" dirty="0">
              <a:latin typeface="Arial"/>
              <a:cs typeface="Arial"/>
            </a:endParaRPr>
          </a:p>
          <a:p>
            <a:pPr marL="323850" marR="1062355" indent="-311785">
              <a:lnSpc>
                <a:spcPct val="120200"/>
              </a:lnSpc>
              <a:spcBef>
                <a:spcPts val="490"/>
              </a:spcBef>
              <a:buSzPct val="114705"/>
              <a:buChar char="●"/>
              <a:tabLst>
                <a:tab pos="323850" algn="l"/>
              </a:tabLst>
            </a:pPr>
            <a:endParaRPr lang="hu-HU" sz="1600" spc="-20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pPr marL="323850" marR="1062355" indent="-311785">
              <a:lnSpc>
                <a:spcPct val="120200"/>
              </a:lnSpc>
              <a:spcBef>
                <a:spcPts val="490"/>
              </a:spcBef>
              <a:buSzPct val="114705"/>
              <a:buChar char="●"/>
              <a:tabLst>
                <a:tab pos="323850" algn="l"/>
              </a:tabLst>
            </a:pPr>
            <a:r>
              <a:rPr sz="1600" spc="-20" dirty="0" err="1" smtClean="0">
                <a:solidFill>
                  <a:schemeClr val="tx1"/>
                </a:solidFill>
                <a:latin typeface="Arial"/>
                <a:cs typeface="Arial"/>
              </a:rPr>
              <a:t>Vagyoni</a:t>
            </a:r>
            <a:r>
              <a:rPr sz="1600" spc="-6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jogok</a:t>
            </a:r>
            <a:r>
              <a:rPr sz="16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chemeClr val="tx1"/>
                </a:solidFill>
                <a:latin typeface="Arial"/>
                <a:cs typeface="Arial"/>
              </a:rPr>
              <a:t>nem </a:t>
            </a:r>
            <a:r>
              <a:rPr sz="1600" spc="-10" dirty="0">
                <a:solidFill>
                  <a:schemeClr val="tx1"/>
                </a:solidFill>
                <a:latin typeface="Arial"/>
                <a:cs typeface="Arial"/>
              </a:rPr>
              <a:t>átruházhatók</a:t>
            </a:r>
            <a:endParaRPr sz="1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23850" marR="5080" indent="-311785">
              <a:lnSpc>
                <a:spcPct val="120200"/>
              </a:lnSpc>
              <a:spcBef>
                <a:spcPts val="1080"/>
              </a:spcBef>
              <a:buSzPct val="114705"/>
              <a:buChar char="●"/>
              <a:tabLst>
                <a:tab pos="323850" algn="l"/>
              </a:tabLst>
            </a:pP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Írásbeli</a:t>
            </a:r>
            <a:r>
              <a:rPr sz="16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"/>
                <a:cs typeface="Arial"/>
              </a:rPr>
              <a:t>szerződést</a:t>
            </a:r>
            <a:r>
              <a:rPr sz="16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kell</a:t>
            </a:r>
            <a:r>
              <a:rPr sz="16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chemeClr val="tx1"/>
                </a:solidFill>
                <a:latin typeface="Arial"/>
                <a:cs typeface="Arial"/>
              </a:rPr>
              <a:t>kötni</a:t>
            </a:r>
            <a:r>
              <a:rPr sz="1600" spc="-50" dirty="0">
                <a:solidFill>
                  <a:schemeClr val="tx1"/>
                </a:solidFill>
                <a:latin typeface="Arial"/>
                <a:cs typeface="Arial"/>
              </a:rPr>
              <a:t> a </a:t>
            </a:r>
            <a:r>
              <a:rPr sz="1600" spc="-10" dirty="0" err="1" smtClean="0">
                <a:solidFill>
                  <a:schemeClr val="tx1"/>
                </a:solidFill>
                <a:latin typeface="Arial"/>
                <a:cs typeface="Arial"/>
              </a:rPr>
              <a:t>felhasználására</a:t>
            </a:r>
            <a:endParaRPr lang="hu-HU" sz="1600" spc="-10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pPr marL="333375" marR="88265" indent="-321310">
              <a:lnSpc>
                <a:spcPct val="133700"/>
              </a:lnSpc>
              <a:spcBef>
                <a:spcPts val="844"/>
              </a:spcBef>
              <a:buSzPct val="152777"/>
              <a:buChar char="●"/>
              <a:tabLst>
                <a:tab pos="334645" algn="l"/>
              </a:tabLst>
            </a:pPr>
            <a:r>
              <a:rPr lang="hu-HU" sz="1600" dirty="0" smtClean="0">
                <a:solidFill>
                  <a:schemeClr val="tx1"/>
                </a:solidFill>
                <a:latin typeface="Arial"/>
                <a:cs typeface="Arial"/>
              </a:rPr>
              <a:t>Egyes</a:t>
            </a:r>
            <a:r>
              <a:rPr lang="hu-HU" sz="1600" spc="-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hu-HU" sz="1600" dirty="0" smtClean="0">
                <a:solidFill>
                  <a:schemeClr val="tx1"/>
                </a:solidFill>
                <a:latin typeface="Arial"/>
                <a:cs typeface="Arial"/>
              </a:rPr>
              <a:t>cselekmények</a:t>
            </a:r>
            <a:r>
              <a:rPr lang="hu-HU" sz="1600" spc="-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hu-HU" sz="1600" spc="-25" dirty="0" smtClean="0">
                <a:solidFill>
                  <a:schemeClr val="tx1"/>
                </a:solidFill>
                <a:latin typeface="Arial"/>
                <a:cs typeface="Arial"/>
              </a:rPr>
              <a:t>nem 	</a:t>
            </a:r>
            <a:r>
              <a:rPr lang="hu-HU" sz="1600" dirty="0" smtClean="0">
                <a:solidFill>
                  <a:schemeClr val="tx1"/>
                </a:solidFill>
                <a:latin typeface="Arial"/>
                <a:cs typeface="Arial"/>
              </a:rPr>
              <a:t>védettek</a:t>
            </a:r>
            <a:r>
              <a:rPr lang="hu-HU" sz="1600" spc="-1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hu-HU" sz="1600" dirty="0" smtClean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hu-HU" sz="1600" spc="-1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hu-HU" sz="1600" dirty="0" smtClean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lang="hu-HU" sz="1600" spc="-1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hu-HU" sz="1600" dirty="0" smtClean="0">
                <a:solidFill>
                  <a:schemeClr val="tx1"/>
                </a:solidFill>
                <a:latin typeface="Arial"/>
                <a:cs typeface="Arial"/>
              </a:rPr>
              <a:t>jog</a:t>
            </a:r>
            <a:r>
              <a:rPr lang="hu-HU" sz="1600" spc="-1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hu-HU" sz="1600" spc="-10" dirty="0" smtClean="0">
                <a:solidFill>
                  <a:schemeClr val="tx1"/>
                </a:solidFill>
                <a:latin typeface="Arial"/>
                <a:cs typeface="Arial"/>
              </a:rPr>
              <a:t>által:</a:t>
            </a:r>
            <a:endParaRPr lang="hu-HU" sz="1600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pPr marL="334645" marR="1092835">
              <a:lnSpc>
                <a:spcPct val="114999"/>
              </a:lnSpc>
            </a:pPr>
            <a:r>
              <a:rPr lang="hu-HU" sz="1600" dirty="0" smtClean="0">
                <a:solidFill>
                  <a:schemeClr val="tx1"/>
                </a:solidFill>
                <a:latin typeface="Arial"/>
                <a:cs typeface="Arial"/>
              </a:rPr>
              <a:t>olvasás,</a:t>
            </a:r>
            <a:r>
              <a:rPr lang="hu-HU" sz="1600" spc="-4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hu-HU" sz="1600" spc="-10" dirty="0" smtClean="0">
                <a:solidFill>
                  <a:schemeClr val="tx1"/>
                </a:solidFill>
                <a:latin typeface="Arial"/>
                <a:cs typeface="Arial"/>
              </a:rPr>
              <a:t>lapozás, böngészés.</a:t>
            </a:r>
            <a:endParaRPr lang="hu-HU" sz="1600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pPr marL="323850" marR="5080" indent="-311785">
              <a:lnSpc>
                <a:spcPct val="120200"/>
              </a:lnSpc>
              <a:spcBef>
                <a:spcPts val="1080"/>
              </a:spcBef>
              <a:buSzPct val="114705"/>
              <a:buChar char="●"/>
              <a:tabLst>
                <a:tab pos="323850" algn="l"/>
              </a:tabLst>
            </a:pPr>
            <a:endParaRPr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5486400" y="971550"/>
            <a:ext cx="248221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solidFill>
                  <a:srgbClr val="FFAB40"/>
                </a:solidFill>
                <a:latin typeface="Arial"/>
                <a:cs typeface="Arial"/>
              </a:rPr>
              <a:t>Gyűjteményes</a:t>
            </a:r>
            <a:r>
              <a:rPr sz="2000" spc="-5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AB40"/>
                </a:solidFill>
                <a:latin typeface="Arial"/>
                <a:cs typeface="Arial"/>
              </a:rPr>
              <a:t>műnek </a:t>
            </a:r>
            <a:r>
              <a:rPr sz="2000" dirty="0">
                <a:solidFill>
                  <a:srgbClr val="FFAB40"/>
                </a:solidFill>
                <a:latin typeface="Arial"/>
                <a:cs typeface="Arial"/>
              </a:rPr>
              <a:t>minősülő</a:t>
            </a:r>
            <a:r>
              <a:rPr sz="2000" spc="-125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AB40"/>
                </a:solidFill>
                <a:latin typeface="Arial"/>
                <a:cs typeface="Arial"/>
              </a:rPr>
              <a:t>adatbázis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5029200" y="1893168"/>
            <a:ext cx="3886200" cy="34586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2100" indent="-279400" algn="just">
              <a:spcBef>
                <a:spcPts val="90"/>
              </a:spcBef>
              <a:buSzPct val="150000"/>
              <a:buChar char="●"/>
              <a:tabLst>
                <a:tab pos="292100" algn="l"/>
              </a:tabLst>
            </a:pPr>
            <a:r>
              <a:rPr sz="1600" spc="-2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Vagyoni</a:t>
            </a:r>
            <a:r>
              <a:rPr lang="hu-HU" sz="1600" spc="-3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jogok</a:t>
            </a:r>
            <a:r>
              <a:rPr lang="hu-HU" sz="1600" spc="-3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átruházhatók</a:t>
            </a:r>
            <a:r>
              <a:rPr sz="1600" spc="-3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600" spc="-1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forgalomképesség</a:t>
            </a:r>
            <a:r>
              <a:rPr sz="16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!)</a:t>
            </a:r>
            <a:endParaRPr sz="16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2100" marR="198120" indent="-280035" algn="just">
              <a:buClr>
                <a:srgbClr val="595959"/>
              </a:buClr>
              <a:buSzPct val="150000"/>
              <a:buChar char="●"/>
              <a:tabLst>
                <a:tab pos="292100" algn="l"/>
              </a:tabLst>
            </a:pPr>
            <a:r>
              <a:rPr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ÚJ</a:t>
            </a:r>
            <a:r>
              <a:rPr sz="1600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(2021)</a:t>
            </a:r>
            <a:r>
              <a:rPr sz="1600" spc="-2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SZABÁLY:</a:t>
            </a:r>
            <a:r>
              <a:rPr sz="1600" spc="-2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Nem</a:t>
            </a:r>
            <a:r>
              <a:rPr sz="1600" spc="-2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kötelező</a:t>
            </a:r>
            <a:r>
              <a:rPr sz="1600" spc="-2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2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szerződés</a:t>
            </a:r>
            <a:r>
              <a:rPr sz="16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írásba</a:t>
            </a:r>
            <a:r>
              <a:rPr sz="1600" spc="-2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foglalása</a:t>
            </a:r>
            <a:r>
              <a:rPr sz="1600" spc="-2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u-HU" sz="1600" spc="-2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2100" marR="198120" indent="-280035" algn="just">
              <a:buClr>
                <a:srgbClr val="595959"/>
              </a:buClr>
              <a:buSzPct val="150000"/>
              <a:buChar char="●"/>
              <a:tabLst>
                <a:tab pos="292100" algn="l"/>
              </a:tabLst>
            </a:pPr>
            <a:r>
              <a:rPr lang="hu-HU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Nem</a:t>
            </a:r>
            <a:r>
              <a:rPr lang="hu-HU" sz="1600" b="1" spc="8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szükséges</a:t>
            </a:r>
            <a:r>
              <a:rPr lang="hu-HU" sz="1600" b="1" spc="8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hu-HU" sz="1600" b="1" spc="8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szerző</a:t>
            </a:r>
            <a:r>
              <a:rPr lang="hu-HU" sz="1600" b="1" spc="8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engedélye</a:t>
            </a:r>
            <a:r>
              <a:rPr lang="hu-HU" sz="1600" b="1" spc="9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ahhoz, </a:t>
            </a:r>
            <a:r>
              <a:rPr lang="hu-HU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hogy</a:t>
            </a:r>
            <a:r>
              <a:rPr lang="hu-HU" sz="1600" spc="3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</a:t>
            </a:r>
            <a:r>
              <a:rPr lang="hu-HU" sz="1600" spc="33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adatbázist</a:t>
            </a:r>
            <a:r>
              <a:rPr lang="hu-HU" sz="1600" spc="3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jogszerűen</a:t>
            </a:r>
            <a:r>
              <a:rPr lang="hu-HU" sz="1600" spc="33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felhasználó </a:t>
            </a:r>
            <a:r>
              <a:rPr lang="hu-HU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személy</a:t>
            </a:r>
            <a:r>
              <a:rPr lang="hu-HU" sz="1600" spc="229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hu-HU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</a:t>
            </a:r>
            <a:r>
              <a:rPr lang="hu-HU" sz="1600" spc="23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hu-HU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adatbázis</a:t>
            </a:r>
            <a:r>
              <a:rPr lang="hu-HU" sz="1600" spc="23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hu-HU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tartalmához</a:t>
            </a:r>
            <a:r>
              <a:rPr lang="hu-HU" sz="1600" spc="229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hu-HU" sz="1600" spc="-2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való </a:t>
            </a:r>
            <a:r>
              <a:rPr lang="hu-HU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hozzáféréshez</a:t>
            </a:r>
            <a:r>
              <a:rPr lang="hu-HU" sz="1600" spc="29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és</a:t>
            </a:r>
            <a:r>
              <a:rPr lang="hu-HU" sz="1600" spc="29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</a:t>
            </a:r>
            <a:r>
              <a:rPr lang="hu-HU" sz="1600" spc="29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adatbázis</a:t>
            </a:r>
            <a:r>
              <a:rPr lang="hu-HU" sz="1600" spc="29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tartalmának </a:t>
            </a:r>
            <a:r>
              <a:rPr lang="hu-HU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rendeltetésszerű</a:t>
            </a:r>
            <a:r>
              <a:rPr lang="hu-HU" sz="1600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felhasználásához</a:t>
            </a:r>
            <a:r>
              <a:rPr lang="hu-HU" sz="1600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szükséges cselekményeket</a:t>
            </a:r>
            <a:r>
              <a:rPr lang="hu-HU" sz="1600" spc="-2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elvégezze.</a:t>
            </a:r>
            <a:endParaRPr lang="hu-HU" sz="16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2100" marR="198120" indent="-280035" algn="just">
              <a:buClr>
                <a:srgbClr val="595959"/>
              </a:buClr>
              <a:buSzPct val="150000"/>
              <a:buChar char="●"/>
              <a:tabLst>
                <a:tab pos="292100" algn="l"/>
              </a:tabLst>
            </a:pPr>
            <a:endParaRPr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19909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1819" y="560936"/>
            <a:ext cx="61937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300" marR="5080" indent="-2388235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Magyar</a:t>
            </a:r>
            <a:r>
              <a:rPr sz="3600" b="1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3600" b="1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3600" b="1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chemeClr val="tx1"/>
                </a:solidFill>
                <a:latin typeface="Arial"/>
                <a:cs typeface="Arial"/>
              </a:rPr>
              <a:t>védelem level3.</a:t>
            </a:r>
            <a:endParaRPr sz="3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5101" y="1940949"/>
            <a:ext cx="69068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970" marR="5080" indent="-255270">
              <a:lnSpc>
                <a:spcPct val="100000"/>
              </a:lnSpc>
              <a:spcBef>
                <a:spcPts val="100"/>
              </a:spcBef>
              <a:buClr>
                <a:srgbClr val="800000"/>
              </a:buClr>
              <a:buFont typeface="Arial"/>
              <a:buChar char="•"/>
              <a:tabLst>
                <a:tab pos="267970" algn="l"/>
                <a:tab pos="721995" algn="l"/>
                <a:tab pos="1033144" algn="l"/>
                <a:tab pos="2850515" algn="l"/>
                <a:tab pos="4177029" algn="l"/>
                <a:tab pos="4488180" algn="l"/>
                <a:tab pos="4714240" algn="l"/>
                <a:tab pos="5753735" algn="l"/>
              </a:tabLst>
            </a:pPr>
            <a:r>
              <a:rPr sz="1600" spc="-25" dirty="0">
                <a:solidFill>
                  <a:schemeClr val="tx1"/>
                </a:solidFill>
                <a:latin typeface="Garamond"/>
                <a:cs typeface="Garamond"/>
              </a:rPr>
              <a:t>[…]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1600" spc="-25" dirty="0">
                <a:solidFill>
                  <a:schemeClr val="tx1"/>
                </a:solidFill>
                <a:latin typeface="Garamond"/>
                <a:cs typeface="Garamond"/>
              </a:rPr>
              <a:t>az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1600" b="1" spc="-10" dirty="0">
                <a:solidFill>
                  <a:schemeClr val="tx1"/>
                </a:solidFill>
                <a:latin typeface="Garamond"/>
                <a:cs typeface="Garamond"/>
              </a:rPr>
              <a:t>adatbázis-előállítók</a:t>
            </a:r>
            <a:r>
              <a:rPr sz="1600" b="1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1600" b="1" spc="-10" dirty="0">
                <a:solidFill>
                  <a:schemeClr val="tx1"/>
                </a:solidFill>
                <a:latin typeface="Garamond"/>
                <a:cs typeface="Garamond"/>
              </a:rPr>
              <a:t>teljesítményei</a:t>
            </a:r>
            <a:r>
              <a:rPr sz="1600" b="1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1600" spc="-25" dirty="0">
                <a:solidFill>
                  <a:schemeClr val="tx1"/>
                </a:solidFill>
                <a:latin typeface="Garamond"/>
                <a:cs typeface="Garamond"/>
              </a:rPr>
              <a:t>az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1600" spc="-50" dirty="0">
                <a:solidFill>
                  <a:schemeClr val="tx1"/>
                </a:solidFill>
                <a:latin typeface="Garamond"/>
                <a:cs typeface="Garamond"/>
              </a:rPr>
              <a:t>e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törvényben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meghatározott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védelemben</a:t>
            </a:r>
            <a:r>
              <a:rPr sz="1600" spc="-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részesülnek</a:t>
            </a:r>
            <a:r>
              <a:rPr sz="1600" spc="-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–</a:t>
            </a:r>
            <a:r>
              <a:rPr sz="1600" spc="-3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nem</a:t>
            </a:r>
            <a:r>
              <a:rPr sz="1600" spc="-3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szerzői,</a:t>
            </a:r>
            <a:r>
              <a:rPr sz="1600" spc="-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hanem</a:t>
            </a:r>
            <a:r>
              <a:rPr sz="1600" spc="-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kapcsolódó</a:t>
            </a:r>
            <a:r>
              <a:rPr sz="1600" spc="-3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jog/sui</a:t>
            </a:r>
            <a:r>
              <a:rPr sz="1600" spc="-3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generis</a:t>
            </a:r>
            <a:r>
              <a:rPr sz="1600" spc="-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védelem</a:t>
            </a:r>
            <a:endParaRPr sz="1600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5101" y="2504829"/>
            <a:ext cx="971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chemeClr val="tx1"/>
                </a:solidFill>
                <a:latin typeface="Arial"/>
                <a:cs typeface="Arial"/>
              </a:rPr>
              <a:t>•</a:t>
            </a:r>
            <a:endParaRPr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7213" y="2504829"/>
            <a:ext cx="24066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6745" algn="l"/>
                <a:tab pos="1726564" algn="l"/>
              </a:tabLst>
            </a:pPr>
            <a:r>
              <a:rPr sz="1600" spc="-20" dirty="0">
                <a:solidFill>
                  <a:schemeClr val="tx1"/>
                </a:solidFill>
                <a:latin typeface="Garamond"/>
                <a:cs typeface="Garamond"/>
              </a:rPr>
              <a:t>Azon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adatbázisok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előállítói</a:t>
            </a:r>
            <a:endParaRPr sz="1600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0783" y="2504829"/>
            <a:ext cx="7016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számára,</a:t>
            </a:r>
            <a:endParaRPr sz="1600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69909" y="2504829"/>
            <a:ext cx="6597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amelyek</a:t>
            </a:r>
            <a:endParaRPr sz="1600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86623" y="2504829"/>
            <a:ext cx="9467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tartalmának</a:t>
            </a:r>
            <a:endParaRPr sz="1600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95382" y="2504829"/>
            <a:ext cx="11658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chemeClr val="tx1"/>
                </a:solidFill>
                <a:latin typeface="Garamond"/>
                <a:cs typeface="Garamond"/>
              </a:rPr>
              <a:t>megszerzése,</a:t>
            </a:r>
            <a:endParaRPr sz="1600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30374" y="2748669"/>
            <a:ext cx="66198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70305" algn="l"/>
                <a:tab pos="1880870" algn="l"/>
                <a:tab pos="2945130" algn="l"/>
                <a:tab pos="4077970" algn="l"/>
                <a:tab pos="4639310" algn="l"/>
                <a:tab pos="5944870" algn="l"/>
              </a:tabLst>
            </a:pPr>
            <a:r>
              <a:rPr sz="1600" b="1" spc="-10" dirty="0">
                <a:solidFill>
                  <a:schemeClr val="tx1"/>
                </a:solidFill>
                <a:latin typeface="Garamond"/>
                <a:cs typeface="Garamond"/>
              </a:rPr>
              <a:t>ellenőrzése</a:t>
            </a:r>
            <a:r>
              <a:rPr sz="1600" b="1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1600" b="1" spc="-10" dirty="0">
                <a:solidFill>
                  <a:schemeClr val="tx1"/>
                </a:solidFill>
                <a:latin typeface="Garamond"/>
                <a:cs typeface="Garamond"/>
              </a:rPr>
              <a:t>illetve</a:t>
            </a:r>
            <a:r>
              <a:rPr sz="1600" b="1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1600" b="1" spc="-10" dirty="0">
                <a:solidFill>
                  <a:schemeClr val="tx1"/>
                </a:solidFill>
                <a:latin typeface="Garamond"/>
                <a:cs typeface="Garamond"/>
              </a:rPr>
              <a:t>előállítása</a:t>
            </a:r>
            <a:r>
              <a:rPr sz="1600" b="1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minőségileg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1600" spc="-20" dirty="0">
                <a:solidFill>
                  <a:schemeClr val="tx1"/>
                </a:solidFill>
                <a:latin typeface="Garamond"/>
                <a:cs typeface="Garamond"/>
              </a:rPr>
              <a:t>vagy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mennyiségileg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	</a:t>
            </a:r>
            <a:r>
              <a:rPr sz="1600" b="1" spc="-10" dirty="0">
                <a:solidFill>
                  <a:schemeClr val="tx1"/>
                </a:solidFill>
                <a:latin typeface="Garamond"/>
                <a:cs typeface="Garamond"/>
              </a:rPr>
              <a:t>jelentős</a:t>
            </a:r>
            <a:endParaRPr sz="1600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5101" y="2916309"/>
            <a:ext cx="6946900" cy="171703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7970" algn="just">
              <a:lnSpc>
                <a:spcPct val="100000"/>
              </a:lnSpc>
              <a:spcBef>
                <a:spcPts val="700"/>
              </a:spcBef>
            </a:pPr>
            <a:r>
              <a:rPr sz="1600" b="1" dirty="0">
                <a:solidFill>
                  <a:schemeClr val="tx1"/>
                </a:solidFill>
                <a:latin typeface="Garamond"/>
                <a:cs typeface="Garamond"/>
              </a:rPr>
              <a:t>ráfordítással</a:t>
            </a:r>
            <a:r>
              <a:rPr sz="1600" b="1" spc="-4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járt.</a:t>
            </a:r>
            <a:endParaRPr sz="1600" dirty="0">
              <a:solidFill>
                <a:schemeClr val="tx1"/>
              </a:solidFill>
              <a:latin typeface="Garamond"/>
              <a:cs typeface="Garamond"/>
            </a:endParaRPr>
          </a:p>
          <a:p>
            <a:pPr marL="267970" marR="18415" indent="-255270" algn="just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67970" algn="l"/>
                <a:tab pos="269875" algn="l"/>
              </a:tabLst>
            </a:pP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	Adatbázis</a:t>
            </a:r>
            <a:r>
              <a:rPr sz="1600" spc="2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előállító</a:t>
            </a:r>
            <a:r>
              <a:rPr sz="1600" spc="25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b="1" dirty="0">
                <a:solidFill>
                  <a:schemeClr val="tx1"/>
                </a:solidFill>
                <a:latin typeface="Garamond"/>
                <a:cs typeface="Garamond"/>
              </a:rPr>
              <a:t>sui</a:t>
            </a:r>
            <a:r>
              <a:rPr sz="1600" b="1" spc="2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b="1" dirty="0">
                <a:solidFill>
                  <a:schemeClr val="tx1"/>
                </a:solidFill>
                <a:latin typeface="Garamond"/>
                <a:cs typeface="Garamond"/>
              </a:rPr>
              <a:t>generis</a:t>
            </a:r>
            <a:r>
              <a:rPr sz="1600" b="1" spc="2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b="1" dirty="0">
                <a:solidFill>
                  <a:schemeClr val="tx1"/>
                </a:solidFill>
                <a:latin typeface="Garamond"/>
                <a:cs typeface="Garamond"/>
              </a:rPr>
              <a:t>jogosultsága</a:t>
            </a:r>
            <a:r>
              <a:rPr sz="1600" b="1" spc="24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b="1" dirty="0">
                <a:solidFill>
                  <a:schemeClr val="tx1"/>
                </a:solidFill>
                <a:latin typeface="Garamond"/>
                <a:cs typeface="Garamond"/>
              </a:rPr>
              <a:t>alapja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:</a:t>
            </a:r>
            <a:r>
              <a:rPr sz="1600" spc="2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ha</a:t>
            </a:r>
            <a:r>
              <a:rPr sz="1600" spc="2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az</a:t>
            </a:r>
            <a:r>
              <a:rPr sz="1600" spc="24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adatbázis</a:t>
            </a:r>
            <a:r>
              <a:rPr sz="1600" spc="2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tartalmának megszerzése,</a:t>
            </a:r>
            <a:r>
              <a:rPr sz="1600" spc="-4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ellenőrzése</a:t>
            </a:r>
            <a:r>
              <a:rPr sz="1600" spc="-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vagy</a:t>
            </a:r>
            <a:r>
              <a:rPr sz="1600" spc="-4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megjelenítése</a:t>
            </a: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b="1" dirty="0">
                <a:solidFill>
                  <a:schemeClr val="tx1"/>
                </a:solidFill>
                <a:latin typeface="Garamond"/>
                <a:cs typeface="Garamond"/>
              </a:rPr>
              <a:t>jelentős</a:t>
            </a:r>
            <a:r>
              <a:rPr sz="1600" b="1" spc="-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b="1" dirty="0">
                <a:solidFill>
                  <a:schemeClr val="tx1"/>
                </a:solidFill>
                <a:latin typeface="Garamond"/>
                <a:cs typeface="Garamond"/>
              </a:rPr>
              <a:t>ráfordítást</a:t>
            </a:r>
            <a:r>
              <a:rPr sz="1600" b="1" spc="-4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b="1" spc="-10" dirty="0">
                <a:solidFill>
                  <a:schemeClr val="tx1"/>
                </a:solidFill>
                <a:latin typeface="Garamond"/>
                <a:cs typeface="Garamond"/>
              </a:rPr>
              <a:t>igényelt</a:t>
            </a: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.</a:t>
            </a:r>
            <a:endParaRPr sz="1600" dirty="0">
              <a:solidFill>
                <a:schemeClr val="tx1"/>
              </a:solidFill>
              <a:latin typeface="Garamond"/>
              <a:cs typeface="Garamond"/>
            </a:endParaRPr>
          </a:p>
          <a:p>
            <a:pPr marL="267970" marR="5080" indent="-255270" algn="just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67970" algn="l"/>
                <a:tab pos="269875" algn="l"/>
              </a:tabLst>
            </a:pP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	Jogosult:</a:t>
            </a:r>
            <a:r>
              <a:rPr sz="1600" spc="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természetes</a:t>
            </a:r>
            <a:r>
              <a:rPr sz="1600" spc="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személy,</a:t>
            </a:r>
            <a:r>
              <a:rPr sz="1600" spc="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jogi</a:t>
            </a:r>
            <a:r>
              <a:rPr sz="1600" spc="4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személy</a:t>
            </a:r>
            <a:r>
              <a:rPr sz="1600" spc="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vagy</a:t>
            </a:r>
            <a:r>
              <a:rPr sz="1600" spc="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jogi</a:t>
            </a:r>
            <a:r>
              <a:rPr sz="1600" spc="4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személyiséggel</a:t>
            </a:r>
            <a:r>
              <a:rPr sz="1600" spc="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nem</a:t>
            </a:r>
            <a:r>
              <a:rPr sz="1600" spc="3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rendelkező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gazdasági</a:t>
            </a:r>
            <a:r>
              <a:rPr sz="1600" spc="18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társaság,</a:t>
            </a:r>
            <a:r>
              <a:rPr sz="1600" spc="18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aki</a:t>
            </a:r>
            <a:r>
              <a:rPr sz="1600" spc="18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vagy</a:t>
            </a:r>
            <a:r>
              <a:rPr sz="1600" spc="18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amely</a:t>
            </a:r>
            <a:r>
              <a:rPr sz="1600" spc="18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saját</a:t>
            </a:r>
            <a:r>
              <a:rPr sz="1600" spc="18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nevében</a:t>
            </a:r>
            <a:r>
              <a:rPr sz="1600" spc="19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és</a:t>
            </a:r>
            <a:r>
              <a:rPr sz="1600" spc="18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kockázatára</a:t>
            </a:r>
            <a:r>
              <a:rPr sz="1600" spc="18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kezdeményezte</a:t>
            </a:r>
            <a:r>
              <a:rPr sz="1600" spc="18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spc="-25" dirty="0">
                <a:solidFill>
                  <a:schemeClr val="tx1"/>
                </a:solidFill>
                <a:latin typeface="Garamond"/>
                <a:cs typeface="Garamond"/>
              </a:rPr>
              <a:t>az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adatbázis</a:t>
            </a:r>
            <a:r>
              <a:rPr sz="1600" spc="-5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előállítását,</a:t>
            </a:r>
            <a:r>
              <a:rPr sz="1600" spc="-5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gondoskodva</a:t>
            </a:r>
            <a:r>
              <a:rPr sz="1600" spc="-5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az</a:t>
            </a:r>
            <a:r>
              <a:rPr sz="1600" spc="-4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ehhez</a:t>
            </a:r>
            <a:r>
              <a:rPr sz="1600" spc="-5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dirty="0">
                <a:solidFill>
                  <a:schemeClr val="tx1"/>
                </a:solidFill>
                <a:latin typeface="Garamond"/>
                <a:cs typeface="Garamond"/>
              </a:rPr>
              <a:t>szükséges</a:t>
            </a:r>
            <a:r>
              <a:rPr sz="1600" spc="-5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Garamond"/>
                <a:cs typeface="Garamond"/>
              </a:rPr>
              <a:t>ráfordításokról.</a:t>
            </a:r>
            <a:endParaRPr sz="1600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438150"/>
            <a:ext cx="61937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300" marR="5080" indent="-2134235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Magyar</a:t>
            </a:r>
            <a:r>
              <a:rPr sz="3600" b="1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3600" b="1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3600" b="1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chemeClr val="tx1"/>
                </a:solidFill>
                <a:latin typeface="Arial"/>
                <a:cs typeface="Arial"/>
              </a:rPr>
              <a:t>védelem </a:t>
            </a: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level</a:t>
            </a:r>
            <a:r>
              <a:rPr sz="3600" b="1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spc="-20" dirty="0">
                <a:solidFill>
                  <a:schemeClr val="tx1"/>
                </a:solidFill>
                <a:latin typeface="Arial"/>
                <a:cs typeface="Arial"/>
              </a:rPr>
              <a:t>3/2.</a:t>
            </a:r>
            <a:endParaRPr sz="3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1733550"/>
            <a:ext cx="7787640" cy="3244478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00"/>
              </a:spcBef>
            </a:pPr>
            <a:r>
              <a:rPr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</a:t>
            </a:r>
            <a:r>
              <a:rPr sz="1900" b="1" spc="-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generis</a:t>
            </a:r>
            <a:r>
              <a:rPr sz="1900" b="1" spc="-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jogok</a:t>
            </a:r>
            <a:r>
              <a:rPr sz="1900" b="1" spc="-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(engedélyezés):</a:t>
            </a:r>
            <a:endParaRPr sz="1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4500" algn="just">
              <a:lnSpc>
                <a:spcPct val="100000"/>
              </a:lnSpc>
              <a:spcBef>
                <a:spcPts val="600"/>
              </a:spcBef>
              <a:buClr>
                <a:srgbClr val="800000"/>
              </a:buClr>
              <a:buFont typeface="Arial"/>
              <a:buChar char="•"/>
              <a:tabLst>
                <a:tab pos="622300" algn="l"/>
              </a:tabLst>
            </a:pPr>
            <a:r>
              <a:rPr lang="hu-HU" sz="1900" b="1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1" spc="-1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Kimásolás</a:t>
            </a:r>
            <a:r>
              <a:rPr sz="19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900" b="1" spc="-7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másolat</a:t>
            </a:r>
            <a:r>
              <a:rPr sz="1900" spc="-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készítése</a:t>
            </a:r>
            <a:r>
              <a:rPr sz="1900" spc="-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útján</a:t>
            </a:r>
            <a:r>
              <a:rPr sz="1900" spc="-7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többszörözzék</a:t>
            </a:r>
            <a:endParaRPr sz="1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4500" marR="5080" algn="just">
              <a:lnSpc>
                <a:spcPct val="100000"/>
              </a:lnSpc>
              <a:spcBef>
                <a:spcPts val="600"/>
              </a:spcBef>
              <a:buClr>
                <a:srgbClr val="800000"/>
              </a:buClr>
              <a:buFont typeface="Arial"/>
              <a:buChar char="•"/>
              <a:tabLst>
                <a:tab pos="622300" algn="l"/>
              </a:tabLst>
            </a:pPr>
            <a:r>
              <a:rPr lang="hu-HU" sz="1900" b="1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1" spc="-1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Újrahasznosítás</a:t>
            </a:r>
            <a:r>
              <a:rPr sz="19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900" b="1" spc="-3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900" spc="-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nyilvánosság</a:t>
            </a:r>
            <a:r>
              <a:rPr sz="1900" spc="-3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számára</a:t>
            </a:r>
            <a:r>
              <a:rPr sz="1900" spc="-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hozzáférhetővé</a:t>
            </a:r>
            <a:r>
              <a:rPr sz="1900" spc="-3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tétel</a:t>
            </a:r>
            <a:r>
              <a:rPr sz="1900" spc="-3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adatbázis</a:t>
            </a:r>
            <a:r>
              <a:rPr sz="1900" spc="-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példányainak</a:t>
            </a:r>
            <a:r>
              <a:rPr sz="1900" spc="-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terjesztésével</a:t>
            </a:r>
            <a:r>
              <a:rPr sz="1900" spc="-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vagy</a:t>
            </a:r>
            <a:r>
              <a:rPr sz="1900" spc="-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nyilvánossághoz</a:t>
            </a:r>
            <a:r>
              <a:rPr sz="1900" spc="-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való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közvetítéssel</a:t>
            </a:r>
            <a:r>
              <a:rPr sz="1900" spc="-6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(jogkimerülés</a:t>
            </a:r>
            <a:r>
              <a:rPr sz="1900" spc="-6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általános</a:t>
            </a:r>
            <a:r>
              <a:rPr sz="1900" spc="-7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szabályai)</a:t>
            </a:r>
            <a:endParaRPr sz="1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4500" marR="36830" algn="just">
              <a:lnSpc>
                <a:spcPct val="100000"/>
              </a:lnSpc>
              <a:spcBef>
                <a:spcPts val="600"/>
              </a:spcBef>
              <a:buClr>
                <a:srgbClr val="800000"/>
              </a:buClr>
              <a:buFont typeface="Arial"/>
              <a:buChar char="•"/>
              <a:tabLst>
                <a:tab pos="444500" algn="l"/>
              </a:tabLst>
            </a:pPr>
            <a:r>
              <a:rPr lang="hu-HU" sz="1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</a:t>
            </a:r>
            <a:r>
              <a:rPr sz="1900" spc="-4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adatbázis</a:t>
            </a:r>
            <a:r>
              <a:rPr sz="1900" spc="-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előállítójának</a:t>
            </a:r>
            <a:r>
              <a:rPr sz="1900" spc="-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hozzájárulása</a:t>
            </a:r>
            <a:r>
              <a:rPr sz="1900" spc="-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nélkül</a:t>
            </a:r>
            <a:r>
              <a:rPr sz="1900" spc="-3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ismételten</a:t>
            </a:r>
            <a:r>
              <a:rPr sz="1900" spc="-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és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rendszeresen</a:t>
            </a:r>
            <a:r>
              <a:rPr sz="1900" spc="-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nem</a:t>
            </a:r>
            <a:r>
              <a:rPr sz="1900" spc="-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másolható</a:t>
            </a:r>
            <a:r>
              <a:rPr sz="1900" spc="-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ki,</a:t>
            </a:r>
            <a:r>
              <a:rPr sz="1900" spc="-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illetve</a:t>
            </a:r>
            <a:r>
              <a:rPr sz="1900" spc="-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nem</a:t>
            </a:r>
            <a:r>
              <a:rPr sz="1900" spc="-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hasznosítható</a:t>
            </a:r>
            <a:r>
              <a:rPr sz="1900" spc="-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újra</a:t>
            </a:r>
            <a:r>
              <a:rPr sz="1900" spc="-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adatbázis</a:t>
            </a:r>
            <a:r>
              <a:rPr sz="1900" spc="-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tartalmának</a:t>
            </a:r>
            <a:r>
              <a:rPr sz="1900" spc="-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jelentéktelen</a:t>
            </a:r>
            <a:r>
              <a:rPr sz="1900" b="1" spc="-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része</a:t>
            </a:r>
            <a:r>
              <a:rPr sz="1900" b="1" spc="-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900" spc="-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</a:t>
            </a:r>
            <a:r>
              <a:rPr sz="1900" spc="-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sz="1900" spc="-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sérelmes</a:t>
            </a:r>
            <a:r>
              <a:rPr sz="1900" spc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</a:t>
            </a:r>
            <a:r>
              <a:rPr sz="1900" spc="-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adatbázis</a:t>
            </a:r>
            <a:r>
              <a:rPr sz="1900" spc="-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rendes</a:t>
            </a:r>
            <a:r>
              <a:rPr sz="1900" spc="-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felhasználására,</a:t>
            </a:r>
            <a:r>
              <a:rPr sz="1900" spc="-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vagy</a:t>
            </a:r>
            <a:r>
              <a:rPr sz="1900" spc="-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indokolatlanul</a:t>
            </a:r>
            <a:r>
              <a:rPr sz="1900" spc="-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károsítja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</a:t>
            </a:r>
            <a:r>
              <a:rPr sz="1900" spc="-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adatbázis</a:t>
            </a:r>
            <a:r>
              <a:rPr sz="1900" spc="-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előállítójának</a:t>
            </a:r>
            <a:r>
              <a:rPr sz="1900" spc="-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jogos</a:t>
            </a:r>
            <a:r>
              <a:rPr sz="1900" spc="-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érdekeit.</a:t>
            </a:r>
            <a:endParaRPr sz="1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5765" y="660403"/>
            <a:ext cx="66211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4295" algn="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Magyar</a:t>
            </a:r>
            <a:r>
              <a:rPr sz="3600" b="1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szerzői</a:t>
            </a:r>
            <a:r>
              <a:rPr sz="3600" b="1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chemeClr val="tx1"/>
                </a:solidFill>
                <a:latin typeface="Arial"/>
                <a:cs typeface="Arial"/>
              </a:rPr>
              <a:t>jogi</a:t>
            </a:r>
            <a:r>
              <a:rPr sz="3600" b="1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chemeClr val="tx1"/>
                </a:solidFill>
                <a:latin typeface="Arial"/>
                <a:cs typeface="Arial"/>
              </a:rPr>
              <a:t>védelem</a:t>
            </a:r>
            <a:endParaRPr sz="3600" dirty="0">
              <a:solidFill>
                <a:schemeClr val="tx1"/>
              </a:solidFill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tabLst>
                <a:tab pos="2554605" algn="l"/>
                <a:tab pos="6595109" algn="l"/>
              </a:tabLst>
            </a:pPr>
            <a:r>
              <a:rPr sz="3600" u="heavy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600" b="1" u="heavy" spc="-10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level3/3.</a:t>
            </a:r>
            <a:r>
              <a:rPr sz="3600" b="1" u="heavy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	</a:t>
            </a:r>
            <a:endParaRPr sz="3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4624" y="1873481"/>
            <a:ext cx="7268209" cy="23431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8610" algn="just">
              <a:lnSpc>
                <a:spcPct val="105000"/>
              </a:lnSpc>
              <a:spcBef>
                <a:spcPts val="100"/>
              </a:spcBef>
            </a:pP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Védelmi</a:t>
            </a:r>
            <a:r>
              <a:rPr sz="2000" b="1" spc="-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idő:</a:t>
            </a:r>
            <a:r>
              <a:rPr sz="2000" b="1" spc="-3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1.</a:t>
            </a:r>
            <a:r>
              <a:rPr sz="2000" spc="-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nyilvánosságra</a:t>
            </a:r>
            <a:r>
              <a:rPr sz="2000" spc="-3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hozatalt</a:t>
            </a:r>
            <a:r>
              <a:rPr sz="2000" spc="36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vagy</a:t>
            </a:r>
            <a:r>
              <a:rPr sz="2000" spc="-3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az</a:t>
            </a:r>
            <a:r>
              <a:rPr sz="2000" spc="-3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Garamond"/>
                <a:cs typeface="Garamond"/>
              </a:rPr>
              <a:t>elkészítést</a:t>
            </a:r>
            <a:r>
              <a:rPr sz="2000" spc="-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Garamond"/>
                <a:cs typeface="Garamond"/>
              </a:rPr>
              <a:t>követő</a:t>
            </a:r>
            <a:r>
              <a:rPr sz="2000" spc="-3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év</a:t>
            </a:r>
            <a:r>
              <a:rPr sz="2000" spc="-3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első</a:t>
            </a:r>
            <a:r>
              <a:rPr sz="2000" spc="-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Garamond"/>
                <a:cs typeface="Garamond"/>
              </a:rPr>
              <a:t>napjától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számított</a:t>
            </a:r>
            <a:r>
              <a:rPr sz="2000" spc="-5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15</a:t>
            </a:r>
            <a:r>
              <a:rPr sz="2000" b="1" spc="-5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év</a:t>
            </a:r>
            <a:r>
              <a:rPr sz="2000" b="1" spc="-5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(többi</a:t>
            </a:r>
            <a:r>
              <a:rPr sz="2000" b="1" spc="-5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szint:</a:t>
            </a:r>
            <a:r>
              <a:rPr sz="2000" b="1" spc="-5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általános</a:t>
            </a:r>
            <a:r>
              <a:rPr sz="2000" b="1" spc="-5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védelmi</a:t>
            </a:r>
            <a:r>
              <a:rPr sz="2000" b="1" spc="-5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Garamond"/>
                <a:cs typeface="Garamond"/>
              </a:rPr>
              <a:t>idő!)</a:t>
            </a:r>
            <a:endParaRPr sz="2000" dirty="0">
              <a:solidFill>
                <a:schemeClr val="tx1"/>
              </a:solidFill>
              <a:latin typeface="Garamond"/>
              <a:cs typeface="Garamond"/>
            </a:endParaRPr>
          </a:p>
          <a:p>
            <a:pPr marL="12700" marR="5080" algn="just">
              <a:lnSpc>
                <a:spcPct val="105000"/>
              </a:lnSpc>
              <a:spcBef>
                <a:spcPts val="600"/>
              </a:spcBef>
            </a:pPr>
            <a:r>
              <a:rPr sz="2000" b="1" dirty="0">
                <a:solidFill>
                  <a:schemeClr val="tx1"/>
                </a:solidFill>
                <a:latin typeface="Garamond"/>
                <a:cs typeface="Garamond"/>
              </a:rPr>
              <a:t>DE:</a:t>
            </a:r>
            <a:r>
              <a:rPr sz="2000" b="1" spc="254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újra</a:t>
            </a:r>
            <a:r>
              <a:rPr sz="2000" spc="254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kezdődik,</a:t>
            </a:r>
            <a:r>
              <a:rPr sz="2000" spc="254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ha</a:t>
            </a:r>
            <a:r>
              <a:rPr sz="2000" spc="254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az</a:t>
            </a:r>
            <a:r>
              <a:rPr sz="2000" spc="254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adatbázis</a:t>
            </a:r>
            <a:r>
              <a:rPr sz="2000" spc="254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tartalmát</a:t>
            </a:r>
            <a:r>
              <a:rPr sz="2000" spc="254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jelentősen</a:t>
            </a:r>
            <a:r>
              <a:rPr sz="2000" spc="254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megváltoztatják</a:t>
            </a:r>
            <a:r>
              <a:rPr sz="2000" spc="254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úgy,</a:t>
            </a:r>
            <a:r>
              <a:rPr sz="2000" spc="254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spc="-20" dirty="0">
                <a:solidFill>
                  <a:schemeClr val="tx1"/>
                </a:solidFill>
                <a:latin typeface="Garamond"/>
                <a:cs typeface="Garamond"/>
              </a:rPr>
              <a:t>hogy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annak</a:t>
            </a:r>
            <a:r>
              <a:rPr sz="2000" spc="31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eredményeként</a:t>
            </a:r>
            <a:r>
              <a:rPr sz="2000" spc="32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a</a:t>
            </a:r>
            <a:r>
              <a:rPr sz="2000" spc="32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megváltoztatott</a:t>
            </a:r>
            <a:r>
              <a:rPr sz="2000" spc="32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adatbázis</a:t>
            </a:r>
            <a:r>
              <a:rPr sz="2000" spc="31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önállóan</a:t>
            </a:r>
            <a:r>
              <a:rPr sz="2000" spc="32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is</a:t>
            </a:r>
            <a:r>
              <a:rPr sz="2000" spc="31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jelentős</a:t>
            </a:r>
            <a:r>
              <a:rPr sz="2000" spc="31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Garamond"/>
                <a:cs typeface="Garamond"/>
              </a:rPr>
              <a:t>ráfordítással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előállítottnak</a:t>
            </a:r>
            <a:r>
              <a:rPr sz="2000" spc="32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számít.</a:t>
            </a:r>
            <a:r>
              <a:rPr sz="2000" spc="32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Az</a:t>
            </a:r>
            <a:r>
              <a:rPr sz="2000" spc="32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adatbázis</a:t>
            </a:r>
            <a:r>
              <a:rPr sz="2000" spc="32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tartalmának</a:t>
            </a:r>
            <a:r>
              <a:rPr sz="2000" spc="32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jelentős</a:t>
            </a:r>
            <a:r>
              <a:rPr sz="2000" spc="32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megváltoztatása</a:t>
            </a:r>
            <a:r>
              <a:rPr sz="2000" spc="32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eredhet</a:t>
            </a:r>
            <a:r>
              <a:rPr sz="2000" spc="32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spc="-25" dirty="0">
                <a:solidFill>
                  <a:schemeClr val="tx1"/>
                </a:solidFill>
                <a:latin typeface="Garamond"/>
                <a:cs typeface="Garamond"/>
              </a:rPr>
              <a:t>az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egymást</a:t>
            </a:r>
            <a:r>
              <a:rPr sz="2000" spc="-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Garamond"/>
                <a:cs typeface="Garamond"/>
              </a:rPr>
              <a:t>követő</a:t>
            </a:r>
            <a:r>
              <a:rPr sz="2000" spc="-3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Garamond"/>
                <a:cs typeface="Garamond"/>
              </a:rPr>
              <a:t>bővítések,</a:t>
            </a:r>
            <a:r>
              <a:rPr sz="2000" spc="-3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elhagyások</a:t>
            </a:r>
            <a:r>
              <a:rPr sz="2000" spc="-35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és</a:t>
            </a:r>
            <a:r>
              <a:rPr sz="2000" spc="-3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módosítások</a:t>
            </a:r>
            <a:r>
              <a:rPr sz="2000" spc="-3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dirty="0">
                <a:solidFill>
                  <a:schemeClr val="tx1"/>
                </a:solidFill>
                <a:latin typeface="Garamond"/>
                <a:cs typeface="Garamond"/>
              </a:rPr>
              <a:t>halmozódásából</a:t>
            </a:r>
            <a:r>
              <a:rPr sz="2000" spc="-30" dirty="0">
                <a:solidFill>
                  <a:schemeClr val="tx1"/>
                </a:solidFill>
                <a:latin typeface="Garamond"/>
                <a:cs typeface="Garamond"/>
              </a:rPr>
              <a:t> </a:t>
            </a:r>
            <a:r>
              <a:rPr sz="2000" spc="-25" dirty="0">
                <a:solidFill>
                  <a:schemeClr val="tx1"/>
                </a:solidFill>
                <a:latin typeface="Garamond"/>
                <a:cs typeface="Garamond"/>
              </a:rPr>
              <a:t>is.</a:t>
            </a:r>
            <a:endParaRPr sz="2000" dirty="0">
              <a:solidFill>
                <a:schemeClr val="tx1"/>
              </a:solidFill>
              <a:latin typeface="Garamond"/>
              <a:cs typeface="Garamo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0800" y="935068"/>
            <a:ext cx="6210935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94144" y="438150"/>
            <a:ext cx="8564245" cy="4103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02260" marR="10160" indent="-290195" algn="just">
              <a:lnSpc>
                <a:spcPct val="118100"/>
              </a:lnSpc>
              <a:spcBef>
                <a:spcPts val="140"/>
              </a:spcBef>
              <a:buSzPct val="116666"/>
              <a:buChar char="●"/>
              <a:tabLst>
                <a:tab pos="304165" algn="l"/>
              </a:tabLst>
            </a:pP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1400" spc="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szük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séges</a:t>
            </a:r>
            <a:r>
              <a:rPr sz="1400" u="heavy" spc="110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az</a:t>
            </a:r>
            <a:r>
              <a:rPr sz="1400" u="heavy" spc="110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adatbázis</a:t>
            </a:r>
            <a:r>
              <a:rPr sz="1400" u="heavy" spc="110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előállítójának</a:t>
            </a:r>
            <a:r>
              <a:rPr sz="1400" u="heavy" spc="110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hozzájárulása</a:t>
            </a:r>
            <a:r>
              <a:rPr sz="1400" u="heavy" spc="105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ahhoz,</a:t>
            </a:r>
            <a:r>
              <a:rPr sz="1400" u="heavy" spc="110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hogy</a:t>
            </a:r>
            <a:r>
              <a:rPr sz="1400" u="heavy" spc="110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a</a:t>
            </a:r>
            <a:r>
              <a:rPr sz="1400" u="heavy" spc="110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nyilvánosságra</a:t>
            </a:r>
            <a:r>
              <a:rPr sz="1400" u="heavy" spc="110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hozott</a:t>
            </a:r>
            <a:r>
              <a:rPr sz="1400" u="heavy" spc="140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 </a:t>
            </a:r>
            <a:r>
              <a:rPr sz="1400" b="1" u="heavy" dirty="0">
                <a:solidFill>
                  <a:schemeClr val="tx1"/>
                </a:solidFill>
                <a:uFill>
                  <a:solidFill>
                    <a:srgbClr val="E7D08F"/>
                  </a:solidFill>
                </a:uFill>
                <a:latin typeface="Arial"/>
                <a:cs typeface="Arial"/>
              </a:rPr>
              <a:t>adatbázis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t</a:t>
            </a:r>
            <a:r>
              <a:rPr sz="1400" b="1" spc="1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spc="-10" dirty="0" err="1">
                <a:solidFill>
                  <a:schemeClr val="tx1"/>
                </a:solidFill>
                <a:latin typeface="Arial"/>
                <a:cs typeface="Arial"/>
              </a:rPr>
              <a:t>jogszerűen</a:t>
            </a:r>
            <a:r>
              <a:rPr sz="1400" b="1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 err="1" smtClean="0">
                <a:solidFill>
                  <a:schemeClr val="tx1"/>
                </a:solidFill>
                <a:latin typeface="Arial"/>
                <a:cs typeface="Arial"/>
              </a:rPr>
              <a:t>felhasználó</a:t>
            </a:r>
            <a:r>
              <a:rPr sz="1400" b="1" spc="18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személy</a:t>
            </a:r>
            <a:r>
              <a:rPr sz="1400" b="1" spc="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400" spc="1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adatbázis</a:t>
            </a:r>
            <a:r>
              <a:rPr sz="1400" spc="1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tartalmának</a:t>
            </a:r>
            <a:r>
              <a:rPr sz="1400" spc="1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jelentéktelen</a:t>
            </a:r>
            <a:r>
              <a:rPr sz="1400" spc="1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részét</a:t>
            </a:r>
            <a:r>
              <a:rPr sz="1400" spc="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400" spc="1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akár</a:t>
            </a:r>
            <a:r>
              <a:rPr sz="1400" spc="1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ismételten</a:t>
            </a:r>
            <a:r>
              <a:rPr sz="1400" spc="1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1400" spc="1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rendszeresen</a:t>
            </a:r>
            <a:r>
              <a:rPr sz="1400" spc="1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z="1400" spc="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400" spc="1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kimásolja, </a:t>
            </a:r>
            <a:r>
              <a:rPr sz="1400" dirty="0" err="1" smtClean="0">
                <a:solidFill>
                  <a:schemeClr val="tx1"/>
                </a:solidFill>
                <a:latin typeface="Arial"/>
                <a:cs typeface="Arial"/>
              </a:rPr>
              <a:t>illetve</a:t>
            </a:r>
            <a:r>
              <a:rPr sz="1400" spc="-3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újrahasznosítsa.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02260" marR="5080" indent="-290195" algn="just">
              <a:lnSpc>
                <a:spcPct val="118100"/>
              </a:lnSpc>
              <a:spcBef>
                <a:spcPts val="1040"/>
              </a:spcBef>
              <a:buSzPct val="116666"/>
              <a:buFont typeface="Arial"/>
              <a:buChar char="●"/>
              <a:tabLst>
                <a:tab pos="304165" algn="l"/>
              </a:tabLst>
            </a:pPr>
            <a:r>
              <a:rPr sz="1400" b="1" dirty="0" err="1">
                <a:solidFill>
                  <a:schemeClr val="tx1"/>
                </a:solidFill>
                <a:latin typeface="Arial"/>
                <a:cs typeface="Arial"/>
              </a:rPr>
              <a:t>Magáncélra</a:t>
            </a:r>
            <a:r>
              <a:rPr sz="1400" b="1" spc="1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 err="1" smtClean="0">
                <a:solidFill>
                  <a:schemeClr val="tx1"/>
                </a:solidFill>
                <a:latin typeface="Arial"/>
                <a:cs typeface="Arial"/>
              </a:rPr>
              <a:t>bárki</a:t>
            </a:r>
            <a:r>
              <a:rPr sz="1400" b="1" spc="185" dirty="0" smtClean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400" dirty="0" err="1">
                <a:solidFill>
                  <a:schemeClr val="tx1"/>
                </a:solidFill>
                <a:latin typeface="Arial"/>
                <a:cs typeface="Arial"/>
              </a:rPr>
              <a:t>kimásolhatja</a:t>
            </a:r>
            <a:r>
              <a:rPr sz="1400" spc="1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400" dirty="0" err="1" smtClean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400" spc="18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adatbázis</a:t>
            </a:r>
            <a:r>
              <a:rPr sz="1400" spc="1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tartalmának</a:t>
            </a:r>
            <a:r>
              <a:rPr sz="1400" spc="1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jelentős</a:t>
            </a:r>
            <a:r>
              <a:rPr sz="1400" spc="175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részét</a:t>
            </a:r>
            <a:r>
              <a:rPr sz="1400" spc="1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is,</a:t>
            </a:r>
            <a:r>
              <a:rPr sz="1400" spc="1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ha</a:t>
            </a:r>
            <a:r>
              <a:rPr sz="1400" spc="1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400" spc="180" dirty="0">
                <a:solidFill>
                  <a:schemeClr val="tx1"/>
                </a:solidFill>
                <a:latin typeface="Arial"/>
                <a:cs typeface="Arial"/>
              </a:rPr>
              <a:t>  </a:t>
            </a:r>
            <a:r>
              <a:rPr sz="1400" dirty="0" err="1">
                <a:solidFill>
                  <a:schemeClr val="tx1"/>
                </a:solidFill>
                <a:latin typeface="Arial"/>
                <a:cs typeface="Arial"/>
              </a:rPr>
              <a:t>jövedelemszerzés</a:t>
            </a:r>
            <a:r>
              <a:rPr sz="1400" spc="1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20" dirty="0" err="1" smtClean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1400" spc="-2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 err="1" smtClean="0">
                <a:solidFill>
                  <a:schemeClr val="tx1"/>
                </a:solidFill>
                <a:latin typeface="Arial"/>
                <a:cs typeface="Arial"/>
              </a:rPr>
              <a:t>jövedelemfokozás</a:t>
            </a:r>
            <a:r>
              <a:rPr sz="1400" spc="42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célját</a:t>
            </a:r>
            <a:r>
              <a:rPr sz="1400" spc="4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közvetve</a:t>
            </a:r>
            <a:r>
              <a:rPr sz="1400" spc="4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sem</a:t>
            </a:r>
            <a:r>
              <a:rPr sz="1400" spc="4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szolgálja.</a:t>
            </a:r>
            <a:r>
              <a:rPr sz="1400" spc="4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1400" spc="4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rendelkezés</a:t>
            </a:r>
            <a:r>
              <a:rPr sz="1400" spc="4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1400" spc="4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vonatkozik</a:t>
            </a:r>
            <a:r>
              <a:rPr sz="1400" spc="4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400" spc="4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számítástechnikai</a:t>
            </a:r>
            <a:r>
              <a:rPr sz="1400" spc="4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 err="1">
                <a:solidFill>
                  <a:schemeClr val="tx1"/>
                </a:solidFill>
                <a:latin typeface="Arial"/>
                <a:cs typeface="Arial"/>
              </a:rPr>
              <a:t>eszközökkel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 err="1" smtClean="0">
                <a:solidFill>
                  <a:schemeClr val="tx1"/>
                </a:solidFill>
                <a:latin typeface="Arial"/>
                <a:cs typeface="Arial"/>
              </a:rPr>
              <a:t>működtetett</a:t>
            </a:r>
            <a:r>
              <a:rPr sz="1400" spc="-6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adatbázisra.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02260" marR="6350" indent="-290195" algn="just">
              <a:lnSpc>
                <a:spcPct val="118100"/>
              </a:lnSpc>
              <a:spcBef>
                <a:spcPts val="1035"/>
              </a:spcBef>
              <a:buSzPct val="116666"/>
              <a:buChar char="●"/>
              <a:tabLst>
                <a:tab pos="304165" algn="l"/>
              </a:tabLst>
            </a:pP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4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forrás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megjelölésével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iskolai</a:t>
            </a:r>
            <a:r>
              <a:rPr sz="1400" b="1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oktatás</a:t>
            </a:r>
            <a:r>
              <a:rPr sz="1400" b="1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1400" b="1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tudományos</a:t>
            </a:r>
            <a:r>
              <a:rPr sz="1400" b="1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kutatás</a:t>
            </a:r>
            <a:r>
              <a:rPr sz="1400" b="1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céljára</a:t>
            </a:r>
            <a:r>
              <a:rPr sz="1400" b="1" spc="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célnak</a:t>
            </a:r>
            <a:r>
              <a:rPr sz="14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megfelelő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módon</a:t>
            </a:r>
            <a:r>
              <a:rPr sz="14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mértékig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4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25" dirty="0" err="1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4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 err="1" smtClean="0">
                <a:solidFill>
                  <a:schemeClr val="tx1"/>
                </a:solidFill>
                <a:latin typeface="Arial"/>
                <a:cs typeface="Arial"/>
              </a:rPr>
              <a:t>adatbázis</a:t>
            </a:r>
            <a:r>
              <a:rPr sz="1400" spc="1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tartalmának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jelentős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része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kimásolható,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ha</a:t>
            </a:r>
            <a:r>
              <a:rPr sz="14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jövedelemszerzés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jövedelemfokozás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célját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közvetve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25" dirty="0" err="1">
                <a:solidFill>
                  <a:schemeClr val="tx1"/>
                </a:solidFill>
                <a:latin typeface="Arial"/>
                <a:cs typeface="Arial"/>
              </a:rPr>
              <a:t>sem</a:t>
            </a:r>
            <a:r>
              <a:rPr sz="14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 err="1" smtClean="0">
                <a:solidFill>
                  <a:schemeClr val="tx1"/>
                </a:solidFill>
                <a:latin typeface="Arial"/>
                <a:cs typeface="Arial"/>
              </a:rPr>
              <a:t>szolgálja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.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02260" marR="5080" indent="-290195" algn="just">
              <a:lnSpc>
                <a:spcPct val="121100"/>
              </a:lnSpc>
              <a:spcBef>
                <a:spcPts val="994"/>
              </a:spcBef>
              <a:buSzPct val="116666"/>
              <a:buFont typeface="Arial"/>
              <a:buChar char="●"/>
              <a:tabLst>
                <a:tab pos="304165" algn="l"/>
              </a:tabLst>
            </a:pP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Bírósági,</a:t>
            </a:r>
            <a:r>
              <a:rPr sz="1400" b="1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továbbá</a:t>
            </a:r>
            <a:r>
              <a:rPr sz="1400" b="1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államigazgatási</a:t>
            </a:r>
            <a:r>
              <a:rPr sz="1400" b="1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1400" b="1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más</a:t>
            </a:r>
            <a:r>
              <a:rPr sz="1400" b="1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hatósági</a:t>
            </a:r>
            <a:r>
              <a:rPr sz="1400" b="1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eljárásban</a:t>
            </a:r>
            <a:r>
              <a:rPr sz="1400" b="1" spc="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bizonyítás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céljára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adatbázis</a:t>
            </a:r>
            <a:r>
              <a:rPr sz="14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tartalmának</a:t>
            </a:r>
            <a:r>
              <a:rPr sz="14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 err="1">
                <a:solidFill>
                  <a:schemeClr val="tx1"/>
                </a:solidFill>
                <a:latin typeface="Arial"/>
                <a:cs typeface="Arial"/>
              </a:rPr>
              <a:t>jelentős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 err="1" smtClean="0">
                <a:solidFill>
                  <a:schemeClr val="tx1"/>
                </a:solidFill>
                <a:latin typeface="Arial"/>
                <a:cs typeface="Arial"/>
              </a:rPr>
              <a:t>része</a:t>
            </a:r>
            <a:r>
              <a:rPr sz="1400" spc="-1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kimásolható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14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újrahasznosítható,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célnak</a:t>
            </a:r>
            <a:r>
              <a:rPr sz="14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megfelelő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módon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14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mértékig.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02260" marR="5080" indent="-290195" algn="just">
              <a:lnSpc>
                <a:spcPct val="118100"/>
              </a:lnSpc>
              <a:spcBef>
                <a:spcPts val="1035"/>
              </a:spcBef>
              <a:buSzPct val="116666"/>
              <a:buChar char="●"/>
              <a:tabLst>
                <a:tab pos="304165" algn="l"/>
              </a:tabLst>
            </a:pP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4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adatbázis</a:t>
            </a:r>
            <a:r>
              <a:rPr sz="14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14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üzletszerű</a:t>
            </a:r>
            <a:r>
              <a:rPr sz="1400" spc="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célra</a:t>
            </a:r>
            <a:r>
              <a:rPr sz="14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szabadon</a:t>
            </a:r>
            <a:r>
              <a:rPr sz="14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kimásolható</a:t>
            </a:r>
            <a:r>
              <a:rPr sz="1400" spc="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14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újrahasznosítható,</a:t>
            </a:r>
            <a:r>
              <a:rPr sz="14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ha</a:t>
            </a:r>
            <a:r>
              <a:rPr sz="1400" spc="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4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kimásolás</a:t>
            </a:r>
            <a:r>
              <a:rPr sz="14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vagy</a:t>
            </a:r>
            <a:r>
              <a:rPr sz="1400" spc="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 err="1">
                <a:solidFill>
                  <a:schemeClr val="tx1"/>
                </a:solidFill>
                <a:latin typeface="Arial"/>
                <a:cs typeface="Arial"/>
              </a:rPr>
              <a:t>újrahasznosítás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 err="1" smtClean="0">
                <a:solidFill>
                  <a:schemeClr val="tx1"/>
                </a:solidFill>
                <a:latin typeface="Arial"/>
                <a:cs typeface="Arial"/>
              </a:rPr>
              <a:t>kizárólag</a:t>
            </a:r>
            <a:r>
              <a:rPr sz="1400" spc="7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f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ogyatékossággal</a:t>
            </a:r>
            <a:r>
              <a:rPr sz="1400" b="1"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élő</a:t>
            </a:r>
            <a:r>
              <a:rPr sz="1400" b="1" spc="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személyek</a:t>
            </a:r>
            <a:r>
              <a:rPr sz="1400" b="1"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tx1"/>
                </a:solidFill>
                <a:latin typeface="Arial"/>
                <a:cs typeface="Arial"/>
              </a:rPr>
              <a:t>javára,</a:t>
            </a:r>
            <a:r>
              <a:rPr sz="1400" b="1" spc="1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fogyatékosságukkal</a:t>
            </a:r>
            <a:r>
              <a:rPr sz="1400" spc="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közvetlen</a:t>
            </a:r>
            <a:r>
              <a:rPr sz="1400" spc="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összefüggésben</a:t>
            </a:r>
            <a:r>
              <a:rPr sz="1400" spc="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történik,</a:t>
            </a:r>
            <a:r>
              <a:rPr sz="1400"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és</a:t>
            </a:r>
            <a:r>
              <a:rPr sz="1400" spc="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az</a:t>
            </a:r>
            <a:r>
              <a:rPr sz="1400" spc="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25" dirty="0" err="1">
                <a:solidFill>
                  <a:schemeClr val="tx1"/>
                </a:solidFill>
                <a:latin typeface="Arial"/>
                <a:cs typeface="Arial"/>
              </a:rPr>
              <a:t>nem</a:t>
            </a:r>
            <a:r>
              <a:rPr sz="14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 err="1" smtClean="0">
                <a:solidFill>
                  <a:schemeClr val="tx1"/>
                </a:solidFill>
                <a:latin typeface="Arial"/>
                <a:cs typeface="Arial"/>
              </a:rPr>
              <a:t>haladja</a:t>
            </a:r>
            <a:r>
              <a:rPr sz="1400" spc="-35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meg</a:t>
            </a:r>
            <a:r>
              <a:rPr sz="14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4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fogyatékosság</a:t>
            </a:r>
            <a:r>
              <a:rPr sz="14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által</a:t>
            </a:r>
            <a:r>
              <a:rPr sz="14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"/>
                <a:cs typeface="Arial"/>
              </a:rPr>
              <a:t>indokolt</a:t>
            </a:r>
            <a:r>
              <a:rPr sz="14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t>mértéket.</a:t>
            </a:r>
            <a:endParaRPr sz="14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66800" y="1352550"/>
            <a:ext cx="6619243" cy="1436735"/>
          </a:xfrm>
        </p:spPr>
        <p:txBody>
          <a:bodyPr/>
          <a:lstStyle/>
          <a:p>
            <a:pPr algn="ctr"/>
            <a:r>
              <a:rPr lang="hu-HU" dirty="0" smtClean="0"/>
              <a:t>KÖSZÖNÖM A FIGYELMET!</a:t>
            </a:r>
            <a:endParaRPr lang="hu-HU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990600" y="2876550"/>
            <a:ext cx="6619244" cy="645300"/>
          </a:xfrm>
        </p:spPr>
        <p:txBody>
          <a:bodyPr/>
          <a:lstStyle/>
          <a:p>
            <a:pPr algn="ctr"/>
            <a:r>
              <a:rPr lang="hu-HU" dirty="0" smtClean="0"/>
              <a:t>TOMASOVSZKY.EDIT@GTK.BME.HU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220416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2390</TotalTime>
  <Words>2921</Words>
  <Application>Microsoft Office PowerPoint</Application>
  <PresentationFormat>Diavetítés a képernyőre (16:9 oldalarány)</PresentationFormat>
  <Paragraphs>285</Paragraphs>
  <Slides>53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53</vt:i4>
      </vt:variant>
    </vt:vector>
  </HeadingPairs>
  <TitlesOfParts>
    <vt:vector size="61" baseType="lpstr">
      <vt:lpstr>Arial</vt:lpstr>
      <vt:lpstr>Century Gothic</vt:lpstr>
      <vt:lpstr>Garamond</vt:lpstr>
      <vt:lpstr>Tahoma</vt:lpstr>
      <vt:lpstr>Times New Roman</vt:lpstr>
      <vt:lpstr>Wingdings</vt:lpstr>
      <vt:lpstr>Wingdings 3</vt:lpstr>
      <vt:lpstr>Ion</vt:lpstr>
      <vt:lpstr>Szellemi alkotások joga Szerzői jog</vt:lpstr>
      <vt:lpstr>Mi minden lehet Szerzői mű?</vt:lpstr>
      <vt:lpstr>Az előadás rövid áttekintése</vt:lpstr>
      <vt:lpstr>Szellemi alkotások joga </vt:lpstr>
      <vt:lpstr>OLTALMI FORMÁK</vt:lpstr>
      <vt:lpstr>Mi nem számít?</vt:lpstr>
      <vt:lpstr>Néhány példa</vt:lpstr>
      <vt:lpstr>kizárások</vt:lpstr>
      <vt:lpstr>A funkcionális alkotások védelmének fejlődése</vt:lpstr>
      <vt:lpstr>Szerzői jog</vt:lpstr>
      <vt:lpstr>A számítógéppel megvalósított találmányok szabadalmi oltalmáról röviden</vt:lpstr>
      <vt:lpstr>A szoftver és az adatbázis gazdasági jelentősége</vt:lpstr>
      <vt:lpstr>PowerPoint-bemutató</vt:lpstr>
      <vt:lpstr>PowerPoint-bemutató</vt:lpstr>
      <vt:lpstr>PowerPoint-bemutató</vt:lpstr>
      <vt:lpstr>PowerPoint-bemutató</vt:lpstr>
      <vt:lpstr>A szoftver és az adatbázis jogi védelmének eszköztára (áttekintés)</vt:lpstr>
      <vt:lpstr>II. Szoftverek szerzői jogi védelme</vt:lpstr>
      <vt:lpstr>II. A szoftver (jogi) fogalma</vt:lpstr>
      <vt:lpstr>A szoftver mint titok védelméről röviden</vt:lpstr>
      <vt:lpstr>A szoftver szerzői jogilag releváns sajátosságai</vt:lpstr>
      <vt:lpstr>A szoftver, mint szerzői mű</vt:lpstr>
      <vt:lpstr>Az egyéni, eredeti jelleg kritériuma</vt:lpstr>
      <vt:lpstr>Egyéni, eredeti jelleg a funkcionális alkotásokban</vt:lpstr>
      <vt:lpstr>PowerPoint-bemutató</vt:lpstr>
      <vt:lpstr>A szoftver átírása más programnyelvre</vt:lpstr>
      <vt:lpstr>Interface nem védett, mint mű</vt:lpstr>
      <vt:lpstr>Nem szoftverként védett, kapcsolódó művek</vt:lpstr>
      <vt:lpstr>PowerPoint-bemutató</vt:lpstr>
      <vt:lpstr>A szoftverfejlesztő, mint szerző</vt:lpstr>
      <vt:lpstr>A szoftveren keletkező engedélyezési (vagyoni) jogok</vt:lpstr>
      <vt:lpstr>A szoftver többszörözése, mint vagyoni jog</vt:lpstr>
      <vt:lpstr>A szoftver átdolgozása, terjesztése, mint vagyoni jog</vt:lpstr>
      <vt:lpstr>Kizárható (szerződhető) kivétel az engedélyezési jog alól</vt:lpstr>
      <vt:lpstr>Nem kizárható kivételek az engedélyezési jog alól - biztonsági másolat</vt:lpstr>
      <vt:lpstr>Nem kizárható kivételek az engedélyezés alól - tanulmányozás</vt:lpstr>
      <vt:lpstr>Nem kizárható kivételek az engedélyezési jog alól - dekompiláció az összekapcsolhatóság érdekében</vt:lpstr>
      <vt:lpstr>... és a személyhez fűződő jogok</vt:lpstr>
      <vt:lpstr>Munkaviszonyban alkotott szoftverek</vt:lpstr>
      <vt:lpstr>III. Az adatbázisok szerzői jogi védelme</vt:lpstr>
      <vt:lpstr>A jog mai állapota historikus fejlődés eredménye…</vt:lpstr>
      <vt:lpstr>Magyar szerzői jogi védelem level1.</vt:lpstr>
      <vt:lpstr>PowerPoint-bemutató</vt:lpstr>
      <vt:lpstr>PowerPoint-bemutató</vt:lpstr>
      <vt:lpstr>Szerzői jogi védelem level2/1.</vt:lpstr>
      <vt:lpstr>PowerPoint-bemutató</vt:lpstr>
      <vt:lpstr>PowerPoint-bemutató</vt:lpstr>
      <vt:lpstr>Szerzői jogi védelem level 2/2.</vt:lpstr>
      <vt:lpstr>Magyar szerzői jogi védelem level3.</vt:lpstr>
      <vt:lpstr>Magyar szerzői jogi védelem level 3/2.</vt:lpstr>
      <vt:lpstr>Magyar szerzői jogi védelem  level3/3. </vt:lpstr>
      <vt:lpstr>PowerPoint-bemutató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Szoftverek szellemi tulajdoni védelemben 2024. </dc:title>
  <cp:lastModifiedBy>User</cp:lastModifiedBy>
  <cp:revision>24</cp:revision>
  <dcterms:created xsi:type="dcterms:W3CDTF">2025-03-10T11:19:18Z</dcterms:created>
  <dcterms:modified xsi:type="dcterms:W3CDTF">2026-03-20T07:25:37Z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2025-03-10T00:00:00Z</vt:filetime>
  </property>
  <property fmtid="{D5CDD505-2E9C-101B-9397-08002B2CF9AE}" pid="3" name="Creator">
    <vt:lpwstr>Google</vt:lpwstr>
  </property>
  <property fmtid="{D5CDD505-2E9C-101B-9397-08002B2CF9AE}" pid="4" name="LastSaved">
    <vt:filetime>2025-03-10T00:00:00Z</vt:filetime>
  </property>
</Properties>
</file>